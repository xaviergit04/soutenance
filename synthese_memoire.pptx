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92640" y="-2103120"/>
            <a:ext cx="5943600" cy="5943600"/>
          </a:xfrm>
          <a:prstGeom prst="ellipse">
            <a:avLst/>
          </a:prstGeom>
          <a:solidFill>
            <a:srgbClr val="141B4D"/>
          </a:solidFill>
        </p:spPr>
      </p:sp>
      <p:sp>
        <p:nvSpPr>
          <p:cNvPr id="3" name="Shape 1"/>
          <p:cNvSpPr/>
          <p:nvPr/>
        </p:nvSpPr>
        <p:spPr>
          <a:xfrm>
            <a:off x="-2194560" y="4297680"/>
            <a:ext cx="4754880" cy="4754880"/>
          </a:xfrm>
          <a:prstGeom prst="ellipse">
            <a:avLst/>
          </a:prstGeom>
          <a:solidFill>
            <a:srgbClr val="141B4D"/>
          </a:solidFill>
        </p:spPr>
      </p:sp>
      <p:sp>
        <p:nvSpPr>
          <p:cNvPr id="4" name="Text 2"/>
          <p:cNvSpPr/>
          <p:nvPr/>
        </p:nvSpPr>
        <p:spPr>
          <a:xfrm>
            <a:off x="731520" y="868680"/>
            <a:ext cx="10698480" cy="365760"/>
          </a:xfrm>
          <a:prstGeom prst="rect">
            <a:avLst/>
          </a:prstGeom>
          <a:noFill/>
        </p:spPr>
        <p:txBody>
          <a:bodyPr wrap="square" rtlCol="0" anchor="ctr"/>
          <a:lstStyle/>
          <a:p>
            <a:pPr marL="0" indent="0">
              <a:buNone/>
            </a:pPr>
            <a:r>
              <a:rPr lang="en-US" sz="1250" b="1" kern="0" spc="200" dirty="0">
                <a:solidFill>
                  <a:srgbClr val="F2A93B"/>
                </a:solidFill>
                <a:latin typeface="Calibri" panose="020F0502020204030204" pitchFamily="34" charset="0"/>
                <a:ea typeface="Calibri" panose="020F0502020204030204" pitchFamily="34" charset="-122"/>
                <a:cs typeface="Calibri" panose="020F0502020204030204" pitchFamily="34" charset="-120"/>
              </a:rPr>
              <a:t>MÉMOIRE DE LICENCE PROFESSIONNELLE  •  GÉNIE LOGICIEL  •  PROMOTION 2023</a:t>
            </a:r>
            <a:endParaRPr lang="en-US" sz="1250" dirty="0"/>
          </a:p>
        </p:txBody>
      </p:sp>
      <p:sp>
        <p:nvSpPr>
          <p:cNvPr id="5" name="Text 3"/>
          <p:cNvSpPr/>
          <p:nvPr/>
        </p:nvSpPr>
        <p:spPr>
          <a:xfrm>
            <a:off x="731520" y="2148840"/>
            <a:ext cx="10698480" cy="1828800"/>
          </a:xfrm>
          <a:prstGeom prst="rect">
            <a:avLst/>
          </a:prstGeom>
          <a:noFill/>
        </p:spPr>
        <p:txBody>
          <a:bodyPr wrap="square" rtlCol="0" anchor="t"/>
          <a:lstStyle/>
          <a:p>
            <a:pPr marL="0" indent="0">
              <a:lnSpc>
                <a:spcPct val="108000"/>
              </a:lnSpc>
              <a:buNone/>
            </a:pPr>
            <a:r>
              <a:rPr lang="en-US" sz="3800" b="1" dirty="0">
                <a:solidFill>
                  <a:srgbClr val="FFFFFF"/>
                </a:solidFill>
                <a:latin typeface="Cambria" panose="02040503050406030204" pitchFamily="34" charset="0"/>
                <a:ea typeface="Cambria" panose="02040503050406030204" pitchFamily="34" charset="-122"/>
                <a:cs typeface="Cambria" panose="02040503050406030204" pitchFamily="34" charset="-120"/>
              </a:rPr>
              <a:t>Plateforme Web &amp; Mobile de Gestion des Biens Immobiliers Résidentiels</a:t>
            </a:r>
            <a:endParaRPr lang="en-US" sz="3800" dirty="0"/>
          </a:p>
        </p:txBody>
      </p:sp>
      <p:sp>
        <p:nvSpPr>
          <p:cNvPr id="6" name="Text 4"/>
          <p:cNvSpPr/>
          <p:nvPr/>
        </p:nvSpPr>
        <p:spPr>
          <a:xfrm>
            <a:off x="731520" y="3794760"/>
            <a:ext cx="10698480" cy="457200"/>
          </a:xfrm>
          <a:prstGeom prst="rect">
            <a:avLst/>
          </a:prstGeom>
          <a:noFill/>
        </p:spPr>
        <p:txBody>
          <a:bodyPr wrap="square" rtlCol="0" anchor="ctr"/>
          <a:lstStyle/>
          <a:p>
            <a:pPr marL="0" indent="0">
              <a:buNone/>
            </a:pPr>
            <a:r>
              <a:rPr lang="en-US" sz="1800" i="1" dirty="0">
                <a:solidFill>
                  <a:srgbClr val="CADCFC"/>
                </a:solidFill>
                <a:latin typeface="Calibri" panose="020F0502020204030204" pitchFamily="34" charset="0"/>
                <a:ea typeface="Calibri" panose="020F0502020204030204" pitchFamily="34" charset="-122"/>
                <a:cs typeface="Calibri" panose="020F0502020204030204" pitchFamily="34" charset="-120"/>
              </a:rPr>
              <a:t>Cas des cours communes &amp; Airbnb — Togo</a:t>
            </a:r>
            <a:endParaRPr lang="en-US" sz="1800" dirty="0"/>
          </a:p>
        </p:txBody>
      </p:sp>
      <p:sp>
        <p:nvSpPr>
          <p:cNvPr id="7" name="Shape 5"/>
          <p:cNvSpPr/>
          <p:nvPr/>
        </p:nvSpPr>
        <p:spPr>
          <a:xfrm>
            <a:off x="731520" y="4480560"/>
            <a:ext cx="2011680" cy="0"/>
          </a:xfrm>
          <a:prstGeom prst="line">
            <a:avLst/>
          </a:prstGeom>
          <a:noFill/>
          <a:ln w="31750">
            <a:solidFill>
              <a:srgbClr val="F2A93B"/>
            </a:solidFill>
            <a:prstDash val="solid"/>
          </a:ln>
        </p:spPr>
      </p:sp>
      <p:sp>
        <p:nvSpPr>
          <p:cNvPr id="8" name="Text 6"/>
          <p:cNvSpPr/>
          <p:nvPr/>
        </p:nvSpPr>
        <p:spPr>
          <a:xfrm>
            <a:off x="731520" y="4800600"/>
            <a:ext cx="9144000" cy="1463040"/>
          </a:xfrm>
          <a:prstGeom prst="rect">
            <a:avLst/>
          </a:prstGeom>
          <a:noFill/>
        </p:spPr>
        <p:txBody>
          <a:bodyPr wrap="square" rtlCol="0" anchor="ctr"/>
          <a:lstStyle/>
          <a:p>
            <a:pPr marL="0" indent="0">
              <a:lnSpc>
                <a:spcPct val="140000"/>
              </a:lnSpc>
              <a:buNone/>
            </a:pPr>
            <a:r>
              <a:rPr lang="en-US" sz="1400" b="1" dirty="0">
                <a:solidFill>
                  <a:srgbClr val="CADCFC"/>
                </a:solidFill>
                <a:latin typeface="Calibri" panose="020F0502020204030204" pitchFamily="34" charset="0"/>
                <a:ea typeface="Calibri" panose="020F0502020204030204" pitchFamily="34" charset="-122"/>
                <a:cs typeface="Calibri" panose="020F0502020204030204" pitchFamily="34" charset="-120"/>
              </a:rPr>
              <a:t>Présenté par : </a:t>
            </a: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G</a:t>
            </a:r>
            <a:r>
              <a:rPr lang="fr-FR" alt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BANDI</a:t>
            </a: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 Wake
</a:t>
            </a:r>
            <a:r>
              <a:rPr lang="en-US" sz="1400" b="1" dirty="0">
                <a:solidFill>
                  <a:srgbClr val="CADCFC"/>
                </a:solidFill>
                <a:latin typeface="Calibri" panose="020F0502020204030204" pitchFamily="34" charset="0"/>
                <a:ea typeface="Calibri" panose="020F0502020204030204" pitchFamily="34" charset="-122"/>
                <a:cs typeface="Calibri" panose="020F0502020204030204" pitchFamily="34" charset="-120"/>
              </a:rPr>
              <a:t>Directeur de mémoire : </a:t>
            </a: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Shaban Abdoulatif, Ingénieur Logiciel
</a:t>
            </a:r>
            <a:r>
              <a:rPr lang="en-US" sz="1400" b="1" dirty="0">
                <a:solidFill>
                  <a:srgbClr val="CADCFC"/>
                </a:solidFill>
                <a:latin typeface="Calibri" panose="020F0502020204030204" pitchFamily="34" charset="0"/>
                <a:ea typeface="Calibri" panose="020F0502020204030204" pitchFamily="34" charset="-122"/>
                <a:cs typeface="Calibri" panose="020F0502020204030204" pitchFamily="34" charset="-120"/>
              </a:rPr>
              <a:t>Établissement : </a:t>
            </a: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Ipnet Institute of Technology (IIT), Lomé</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rtlCol="0" anchor="ctr"/>
          <a:lstStyle/>
          <a:p>
            <a:pPr marL="0" indent="0">
              <a:buNone/>
            </a:pPr>
            <a:r>
              <a:rPr lang="en-US" sz="1300" b="1" kern="0" spc="200" dirty="0">
                <a:solidFill>
                  <a:srgbClr val="F2A93B"/>
                </a:solidFill>
                <a:latin typeface="Calibri" panose="020F0502020204030204" pitchFamily="34" charset="0"/>
                <a:ea typeface="Calibri" panose="020F0502020204030204" pitchFamily="34" charset="-122"/>
                <a:cs typeface="Calibri" panose="020F0502020204030204" pitchFamily="34" charset="-120"/>
              </a:rPr>
              <a:t>CONTEXTE</a:t>
            </a:r>
            <a:endParaRPr lang="en-US" sz="1300" dirty="0"/>
          </a:p>
        </p:txBody>
      </p:sp>
      <p:sp>
        <p:nvSpPr>
          <p:cNvPr id="3" name="Text 1"/>
          <p:cNvSpPr/>
          <p:nvPr/>
        </p:nvSpPr>
        <p:spPr>
          <a:xfrm>
            <a:off x="548640" y="658368"/>
            <a:ext cx="10789920" cy="685800"/>
          </a:xfrm>
          <a:prstGeom prst="rect">
            <a:avLst/>
          </a:prstGeom>
          <a:noFill/>
        </p:spPr>
        <p:txBody>
          <a:bodyPr wrap="square" rtlCol="0" anchor="ctr"/>
          <a:lstStyle/>
          <a:p>
            <a:pPr marL="0" indent="0">
              <a:buNone/>
            </a:pPr>
            <a:r>
              <a:rPr lang="en-US" sz="3000" b="1" dirty="0">
                <a:solidFill>
                  <a:srgbClr val="1E2761"/>
                </a:solidFill>
                <a:latin typeface="Cambria" panose="02040503050406030204" pitchFamily="34" charset="0"/>
                <a:ea typeface="Cambria" panose="02040503050406030204" pitchFamily="34" charset="-122"/>
                <a:cs typeface="Cambria" panose="02040503050406030204" pitchFamily="34" charset="-120"/>
              </a:rPr>
              <a:t>Une gestion locative encore artisanale</a:t>
            </a:r>
            <a:endParaRPr lang="en-US" sz="3000" dirty="0"/>
          </a:p>
        </p:txBody>
      </p:sp>
      <p:sp>
        <p:nvSpPr>
          <p:cNvPr id="4" name="Text 2"/>
          <p:cNvSpPr/>
          <p:nvPr/>
        </p:nvSpPr>
        <p:spPr>
          <a:xfrm>
            <a:off x="548640" y="1600200"/>
            <a:ext cx="6035040" cy="1463040"/>
          </a:xfrm>
          <a:prstGeom prst="rect">
            <a:avLst/>
          </a:prstGeom>
          <a:noFill/>
        </p:spPr>
        <p:txBody>
          <a:bodyPr wrap="square" rtlCol="0" anchor="ctr"/>
          <a:lstStyle/>
          <a:p>
            <a:pPr marL="0" indent="0">
              <a:lnSpc>
                <a:spcPct val="125000"/>
              </a:lnSpc>
              <a:buNone/>
            </a:pPr>
            <a:r>
              <a:rPr lang="en-US" sz="1450" dirty="0">
                <a:solidFill>
                  <a:srgbClr val="44506B"/>
                </a:solidFill>
                <a:latin typeface="Calibri" panose="020F0502020204030204" pitchFamily="34" charset="0"/>
                <a:ea typeface="Calibri" panose="020F0502020204030204" pitchFamily="34" charset="-122"/>
                <a:cs typeface="Calibri" panose="020F0502020204030204" pitchFamily="34" charset="-120"/>
              </a:rPr>
              <a:t>À Lomé comme dans le reste du Togo, la location résidentielle (cours communes, immeubles) et la location de courte durée (Airbnb) reposent encore sur des registres papier, des tableurs isolés et des relances par téléphone ou WhatsApp.</a:t>
            </a:r>
            <a:endParaRPr lang="en-US" sz="1450" dirty="0"/>
          </a:p>
        </p:txBody>
      </p:sp>
      <p:sp>
        <p:nvSpPr>
          <p:cNvPr id="5" name="Shape 3"/>
          <p:cNvSpPr/>
          <p:nvPr/>
        </p:nvSpPr>
        <p:spPr>
          <a:xfrm>
            <a:off x="548640" y="3246120"/>
            <a:ext cx="2606040" cy="2514600"/>
          </a:xfrm>
          <a:prstGeom prst="roundRect">
            <a:avLst>
              <a:gd name="adj" fmla="val 3636"/>
            </a:avLst>
          </a:prstGeom>
          <a:solidFill>
            <a:srgbClr val="F4F7FD"/>
          </a:solidFill>
          <a:effectLst>
            <a:outerShdw blurRad="76200" dist="25400" dir="5400000" algn="bl" rotWithShape="0">
              <a:srgbClr val="000000">
                <a:alpha val="12000"/>
              </a:srgbClr>
            </a:outerShdw>
          </a:effectLst>
        </p:spPr>
      </p:sp>
      <p:sp>
        <p:nvSpPr>
          <p:cNvPr id="6" name="Shape 4"/>
          <p:cNvSpPr/>
          <p:nvPr/>
        </p:nvSpPr>
        <p:spPr>
          <a:xfrm>
            <a:off x="1559052" y="3502152"/>
            <a:ext cx="585216" cy="585216"/>
          </a:xfrm>
          <a:prstGeom prst="ellipse">
            <a:avLst/>
          </a:prstGeom>
          <a:solidFill>
            <a:srgbClr val="1E2761"/>
          </a:solidFill>
        </p:spPr>
      </p:sp>
      <p:sp>
        <p:nvSpPr>
          <p:cNvPr id="7" name="Text 5"/>
          <p:cNvSpPr/>
          <p:nvPr/>
        </p:nvSpPr>
        <p:spPr>
          <a:xfrm>
            <a:off x="1559052" y="3502152"/>
            <a:ext cx="585216" cy="585216"/>
          </a:xfrm>
          <a:prstGeom prst="rect">
            <a:avLst/>
          </a:prstGeom>
          <a:noFill/>
        </p:spPr>
        <p:txBody>
          <a:bodyPr wrap="square" rtlCol="0" anchor="ctr"/>
          <a:lstStyle/>
          <a:p>
            <a:pPr marL="0" indent="0" algn="ctr">
              <a:buNone/>
            </a:pPr>
            <a:r>
              <a:rPr lang="en-US" sz="2110" b="1" dirty="0">
                <a:solidFill>
                  <a:srgbClr val="FFFFFF"/>
                </a:solidFill>
                <a:latin typeface="Calibri" panose="020F0502020204030204" pitchFamily="34" charset="0"/>
                <a:ea typeface="Calibri" panose="020F0502020204030204" pitchFamily="34" charset="-122"/>
                <a:cs typeface="Calibri" panose="020F0502020204030204" pitchFamily="34" charset="-120"/>
              </a:rPr>
              <a:t>📂</a:t>
            </a:r>
            <a:endParaRPr lang="en-US" sz="2110" dirty="0"/>
          </a:p>
        </p:txBody>
      </p:sp>
      <p:sp>
        <p:nvSpPr>
          <p:cNvPr id="8" name="Text 6"/>
          <p:cNvSpPr/>
          <p:nvPr/>
        </p:nvSpPr>
        <p:spPr>
          <a:xfrm>
            <a:off x="685800" y="4206240"/>
            <a:ext cx="2331720" cy="548640"/>
          </a:xfrm>
          <a:prstGeom prst="rect">
            <a:avLst/>
          </a:prstGeom>
          <a:noFill/>
        </p:spPr>
        <p:txBody>
          <a:bodyPr wrap="square" rtlCol="0" anchor="t"/>
          <a:lstStyle/>
          <a:p>
            <a:pPr marL="0" indent="0" algn="ctr">
              <a:buNone/>
            </a:pPr>
            <a:r>
              <a:rPr lang="en-US" sz="1250" b="1" dirty="0">
                <a:solidFill>
                  <a:srgbClr val="1E2761"/>
                </a:solidFill>
                <a:latin typeface="Calibri" panose="020F0502020204030204" pitchFamily="34" charset="0"/>
                <a:ea typeface="Calibri" panose="020F0502020204030204" pitchFamily="34" charset="-122"/>
                <a:cs typeface="Calibri" panose="020F0502020204030204" pitchFamily="34" charset="-120"/>
              </a:rPr>
              <a:t>Perte d'information</a:t>
            </a:r>
            <a:endParaRPr lang="en-US" sz="1250" dirty="0"/>
          </a:p>
        </p:txBody>
      </p:sp>
      <p:sp>
        <p:nvSpPr>
          <p:cNvPr id="9" name="Text 7"/>
          <p:cNvSpPr/>
          <p:nvPr/>
        </p:nvSpPr>
        <p:spPr>
          <a:xfrm>
            <a:off x="685800" y="4709160"/>
            <a:ext cx="2331720" cy="960120"/>
          </a:xfrm>
          <a:prstGeom prst="rect">
            <a:avLst/>
          </a:prstGeom>
          <a:noFill/>
        </p:spPr>
        <p:txBody>
          <a:bodyPr wrap="square" rtlCol="0" anchor="t"/>
          <a:lstStyle/>
          <a:p>
            <a:pPr marL="0" indent="0" algn="ctr">
              <a:lnSpc>
                <a:spcPct val="115000"/>
              </a:lnSpc>
              <a:buNone/>
            </a:pPr>
            <a:r>
              <a:rPr lang="en-US" sz="1050" dirty="0">
                <a:solidFill>
                  <a:srgbClr val="44506B"/>
                </a:solidFill>
                <a:latin typeface="Calibri" panose="020F0502020204030204" pitchFamily="34" charset="0"/>
                <a:ea typeface="Calibri" panose="020F0502020204030204" pitchFamily="34" charset="-122"/>
                <a:cs typeface="Calibri" panose="020F0502020204030204" pitchFamily="34" charset="-120"/>
              </a:rPr>
              <a:t>Carnets perdus, fichiers Excel corrompus, doublons entre supports.</a:t>
            </a:r>
            <a:endParaRPr lang="en-US" sz="1050" dirty="0"/>
          </a:p>
        </p:txBody>
      </p:sp>
      <p:sp>
        <p:nvSpPr>
          <p:cNvPr id="10" name="Shape 8"/>
          <p:cNvSpPr/>
          <p:nvPr/>
        </p:nvSpPr>
        <p:spPr>
          <a:xfrm>
            <a:off x="3355848" y="3246120"/>
            <a:ext cx="2606040" cy="2514600"/>
          </a:xfrm>
          <a:prstGeom prst="roundRect">
            <a:avLst>
              <a:gd name="adj" fmla="val 3636"/>
            </a:avLst>
          </a:prstGeom>
          <a:solidFill>
            <a:srgbClr val="F4F7FD"/>
          </a:solidFill>
          <a:effectLst>
            <a:outerShdw blurRad="76200" dist="25400" dir="5400000" algn="bl" rotWithShape="0">
              <a:srgbClr val="000000">
                <a:alpha val="12000"/>
              </a:srgbClr>
            </a:outerShdw>
          </a:effectLst>
        </p:spPr>
      </p:sp>
      <p:sp>
        <p:nvSpPr>
          <p:cNvPr id="11" name="Shape 9"/>
          <p:cNvSpPr/>
          <p:nvPr/>
        </p:nvSpPr>
        <p:spPr>
          <a:xfrm>
            <a:off x="4366260" y="3502152"/>
            <a:ext cx="585216" cy="585216"/>
          </a:xfrm>
          <a:prstGeom prst="ellipse">
            <a:avLst/>
          </a:prstGeom>
          <a:solidFill>
            <a:srgbClr val="1E2761"/>
          </a:solidFill>
        </p:spPr>
      </p:sp>
      <p:sp>
        <p:nvSpPr>
          <p:cNvPr id="12" name="Text 10"/>
          <p:cNvSpPr/>
          <p:nvPr/>
        </p:nvSpPr>
        <p:spPr>
          <a:xfrm>
            <a:off x="4366260" y="3502152"/>
            <a:ext cx="585216" cy="585216"/>
          </a:xfrm>
          <a:prstGeom prst="rect">
            <a:avLst/>
          </a:prstGeom>
          <a:noFill/>
        </p:spPr>
        <p:txBody>
          <a:bodyPr wrap="square" rtlCol="0" anchor="ctr"/>
          <a:lstStyle/>
          <a:p>
            <a:pPr marL="0" indent="0" algn="ctr">
              <a:buNone/>
            </a:pPr>
            <a:r>
              <a:rPr lang="en-US" sz="2110" b="1" dirty="0">
                <a:solidFill>
                  <a:srgbClr val="FFFFFF"/>
                </a:solidFill>
                <a:latin typeface="Calibri" panose="020F0502020204030204" pitchFamily="34" charset="0"/>
                <a:ea typeface="Calibri" panose="020F0502020204030204" pitchFamily="34" charset="-122"/>
                <a:cs typeface="Calibri" panose="020F0502020204030204" pitchFamily="34" charset="-120"/>
              </a:rPr>
              <a:t>⏱</a:t>
            </a:r>
            <a:endParaRPr lang="en-US" sz="2110" dirty="0"/>
          </a:p>
        </p:txBody>
      </p:sp>
      <p:sp>
        <p:nvSpPr>
          <p:cNvPr id="13" name="Text 11"/>
          <p:cNvSpPr/>
          <p:nvPr/>
        </p:nvSpPr>
        <p:spPr>
          <a:xfrm>
            <a:off x="3493008" y="4206240"/>
            <a:ext cx="2331720" cy="548640"/>
          </a:xfrm>
          <a:prstGeom prst="rect">
            <a:avLst/>
          </a:prstGeom>
          <a:noFill/>
        </p:spPr>
        <p:txBody>
          <a:bodyPr wrap="square" rtlCol="0" anchor="t"/>
          <a:lstStyle/>
          <a:p>
            <a:pPr marL="0" indent="0" algn="ctr">
              <a:buNone/>
            </a:pPr>
            <a:r>
              <a:rPr lang="en-US" sz="1250" b="1" dirty="0">
                <a:solidFill>
                  <a:srgbClr val="1E2761"/>
                </a:solidFill>
                <a:latin typeface="Calibri" panose="020F0502020204030204" pitchFamily="34" charset="0"/>
                <a:ea typeface="Calibri" panose="020F0502020204030204" pitchFamily="34" charset="-122"/>
                <a:cs typeface="Calibri" panose="020F0502020204030204" pitchFamily="34" charset="-120"/>
              </a:rPr>
              <a:t>Détection tardive des impayés</a:t>
            </a:r>
            <a:endParaRPr lang="en-US" sz="1250" dirty="0"/>
          </a:p>
        </p:txBody>
      </p:sp>
      <p:sp>
        <p:nvSpPr>
          <p:cNvPr id="14" name="Text 12"/>
          <p:cNvSpPr/>
          <p:nvPr/>
        </p:nvSpPr>
        <p:spPr>
          <a:xfrm>
            <a:off x="3493008" y="4709160"/>
            <a:ext cx="2331720" cy="960120"/>
          </a:xfrm>
          <a:prstGeom prst="rect">
            <a:avLst/>
          </a:prstGeom>
          <a:noFill/>
        </p:spPr>
        <p:txBody>
          <a:bodyPr wrap="square" rtlCol="0" anchor="t"/>
          <a:lstStyle/>
          <a:p>
            <a:pPr marL="0" indent="0" algn="ctr">
              <a:lnSpc>
                <a:spcPct val="115000"/>
              </a:lnSpc>
              <a:buNone/>
            </a:pPr>
            <a:r>
              <a:rPr lang="en-US" sz="1050" dirty="0">
                <a:solidFill>
                  <a:srgbClr val="44506B"/>
                </a:solidFill>
                <a:latin typeface="Calibri" panose="020F0502020204030204" pitchFamily="34" charset="0"/>
                <a:ea typeface="Calibri" panose="020F0502020204030204" pitchFamily="34" charset="-122"/>
                <a:cs typeface="Calibri" panose="020F0502020204030204" pitchFamily="34" charset="-120"/>
              </a:rPr>
              <a:t>Aucun suivi automatisé des échéances de loyer.</a:t>
            </a:r>
            <a:endParaRPr lang="en-US" sz="1050" dirty="0"/>
          </a:p>
        </p:txBody>
      </p:sp>
      <p:sp>
        <p:nvSpPr>
          <p:cNvPr id="15" name="Shape 13"/>
          <p:cNvSpPr/>
          <p:nvPr/>
        </p:nvSpPr>
        <p:spPr>
          <a:xfrm>
            <a:off x="6163056" y="3246120"/>
            <a:ext cx="2606040" cy="2514600"/>
          </a:xfrm>
          <a:prstGeom prst="roundRect">
            <a:avLst>
              <a:gd name="adj" fmla="val 3636"/>
            </a:avLst>
          </a:prstGeom>
          <a:solidFill>
            <a:srgbClr val="F4F7FD"/>
          </a:solidFill>
          <a:effectLst>
            <a:outerShdw blurRad="76200" dist="25400" dir="5400000" algn="bl" rotWithShape="0">
              <a:srgbClr val="000000">
                <a:alpha val="12000"/>
              </a:srgbClr>
            </a:outerShdw>
          </a:effectLst>
        </p:spPr>
      </p:sp>
      <p:sp>
        <p:nvSpPr>
          <p:cNvPr id="16" name="Shape 14"/>
          <p:cNvSpPr/>
          <p:nvPr/>
        </p:nvSpPr>
        <p:spPr>
          <a:xfrm>
            <a:off x="7173468" y="3502152"/>
            <a:ext cx="585216" cy="585216"/>
          </a:xfrm>
          <a:prstGeom prst="ellipse">
            <a:avLst/>
          </a:prstGeom>
          <a:solidFill>
            <a:srgbClr val="1E2761"/>
          </a:solidFill>
        </p:spPr>
      </p:sp>
      <p:sp>
        <p:nvSpPr>
          <p:cNvPr id="17" name="Text 15"/>
          <p:cNvSpPr/>
          <p:nvPr/>
        </p:nvSpPr>
        <p:spPr>
          <a:xfrm>
            <a:off x="7173468" y="3502152"/>
            <a:ext cx="585216" cy="585216"/>
          </a:xfrm>
          <a:prstGeom prst="rect">
            <a:avLst/>
          </a:prstGeom>
          <a:noFill/>
        </p:spPr>
        <p:txBody>
          <a:bodyPr wrap="square" rtlCol="0" anchor="ctr"/>
          <a:lstStyle/>
          <a:p>
            <a:pPr marL="0" indent="0" algn="ctr">
              <a:buNone/>
            </a:pPr>
            <a:r>
              <a:rPr lang="en-US" sz="2110" b="1" dirty="0">
                <a:solidFill>
                  <a:srgbClr val="FFFFFF"/>
                </a:solidFill>
                <a:latin typeface="Calibri" panose="020F0502020204030204" pitchFamily="34" charset="0"/>
                <a:ea typeface="Calibri" panose="020F0502020204030204" pitchFamily="34" charset="-122"/>
                <a:cs typeface="Calibri" panose="020F0502020204030204" pitchFamily="34" charset="-120"/>
              </a:rPr>
              <a:t>🔒</a:t>
            </a:r>
            <a:endParaRPr lang="en-US" sz="2110" dirty="0"/>
          </a:p>
        </p:txBody>
      </p:sp>
      <p:sp>
        <p:nvSpPr>
          <p:cNvPr id="18" name="Text 16"/>
          <p:cNvSpPr/>
          <p:nvPr/>
        </p:nvSpPr>
        <p:spPr>
          <a:xfrm>
            <a:off x="6300216" y="4206240"/>
            <a:ext cx="2331720" cy="548640"/>
          </a:xfrm>
          <a:prstGeom prst="rect">
            <a:avLst/>
          </a:prstGeom>
          <a:noFill/>
        </p:spPr>
        <p:txBody>
          <a:bodyPr wrap="square" rtlCol="0" anchor="t"/>
          <a:lstStyle/>
          <a:p>
            <a:pPr marL="0" indent="0" algn="ctr">
              <a:buNone/>
            </a:pPr>
            <a:r>
              <a:rPr lang="en-US" sz="1250" b="1" dirty="0">
                <a:solidFill>
                  <a:srgbClr val="1E2761"/>
                </a:solidFill>
                <a:latin typeface="Calibri" panose="020F0502020204030204" pitchFamily="34" charset="0"/>
                <a:ea typeface="Calibri" panose="020F0502020204030204" pitchFamily="34" charset="-122"/>
                <a:cs typeface="Calibri" panose="020F0502020204030204" pitchFamily="34" charset="-120"/>
              </a:rPr>
              <a:t>Absence de traçabilité</a:t>
            </a:r>
            <a:endParaRPr lang="en-US" sz="1250" dirty="0"/>
          </a:p>
        </p:txBody>
      </p:sp>
      <p:sp>
        <p:nvSpPr>
          <p:cNvPr id="19" name="Text 17"/>
          <p:cNvSpPr/>
          <p:nvPr/>
        </p:nvSpPr>
        <p:spPr>
          <a:xfrm>
            <a:off x="6300216" y="4709160"/>
            <a:ext cx="2331720" cy="960120"/>
          </a:xfrm>
          <a:prstGeom prst="rect">
            <a:avLst/>
          </a:prstGeom>
          <a:noFill/>
        </p:spPr>
        <p:txBody>
          <a:bodyPr wrap="square" rtlCol="0" anchor="t"/>
          <a:lstStyle/>
          <a:p>
            <a:pPr marL="0" indent="0" algn="ctr">
              <a:lnSpc>
                <a:spcPct val="115000"/>
              </a:lnSpc>
              <a:buNone/>
            </a:pPr>
            <a:r>
              <a:rPr lang="en-US" sz="1050" dirty="0">
                <a:solidFill>
                  <a:srgbClr val="44506B"/>
                </a:solidFill>
                <a:latin typeface="Calibri" panose="020F0502020204030204" pitchFamily="34" charset="0"/>
                <a:ea typeface="Calibri" panose="020F0502020204030204" pitchFamily="34" charset="-122"/>
                <a:cs typeface="Calibri" panose="020F0502020204030204" pitchFamily="34" charset="-120"/>
              </a:rPr>
              <a:t>Aucune preuve numérique partagée entre bailleur et locataire.</a:t>
            </a:r>
            <a:endParaRPr lang="en-US" sz="1050" dirty="0"/>
          </a:p>
        </p:txBody>
      </p:sp>
      <p:sp>
        <p:nvSpPr>
          <p:cNvPr id="20" name="Shape 18"/>
          <p:cNvSpPr/>
          <p:nvPr/>
        </p:nvSpPr>
        <p:spPr>
          <a:xfrm>
            <a:off x="8970264" y="3246120"/>
            <a:ext cx="2606040" cy="2514600"/>
          </a:xfrm>
          <a:prstGeom prst="roundRect">
            <a:avLst>
              <a:gd name="adj" fmla="val 3636"/>
            </a:avLst>
          </a:prstGeom>
          <a:solidFill>
            <a:srgbClr val="F4F7FD"/>
          </a:solidFill>
          <a:effectLst>
            <a:outerShdw blurRad="76200" dist="25400" dir="5400000" algn="bl" rotWithShape="0">
              <a:srgbClr val="000000">
                <a:alpha val="12000"/>
              </a:srgbClr>
            </a:outerShdw>
          </a:effectLst>
        </p:spPr>
      </p:sp>
      <p:sp>
        <p:nvSpPr>
          <p:cNvPr id="21" name="Shape 19"/>
          <p:cNvSpPr/>
          <p:nvPr/>
        </p:nvSpPr>
        <p:spPr>
          <a:xfrm>
            <a:off x="9980676" y="3502152"/>
            <a:ext cx="585216" cy="585216"/>
          </a:xfrm>
          <a:prstGeom prst="ellipse">
            <a:avLst/>
          </a:prstGeom>
          <a:solidFill>
            <a:srgbClr val="1E2761"/>
          </a:solidFill>
        </p:spPr>
      </p:sp>
      <p:sp>
        <p:nvSpPr>
          <p:cNvPr id="22" name="Text 20"/>
          <p:cNvSpPr/>
          <p:nvPr/>
        </p:nvSpPr>
        <p:spPr>
          <a:xfrm>
            <a:off x="9980676" y="3502152"/>
            <a:ext cx="585216" cy="585216"/>
          </a:xfrm>
          <a:prstGeom prst="rect">
            <a:avLst/>
          </a:prstGeom>
          <a:noFill/>
        </p:spPr>
        <p:txBody>
          <a:bodyPr wrap="square" rtlCol="0" anchor="ctr"/>
          <a:lstStyle/>
          <a:p>
            <a:pPr marL="0" indent="0" algn="ctr">
              <a:buNone/>
            </a:pPr>
            <a:r>
              <a:rPr lang="en-US" sz="2110" b="1" dirty="0">
                <a:solidFill>
                  <a:srgbClr val="FFFFFF"/>
                </a:solidFill>
                <a:latin typeface="Calibri" panose="020F0502020204030204" pitchFamily="34" charset="0"/>
                <a:ea typeface="Calibri" panose="020F0502020204030204" pitchFamily="34" charset="-122"/>
                <a:cs typeface="Calibri" panose="020F0502020204030204" pitchFamily="34" charset="-120"/>
              </a:rPr>
              <a:t>📊</a:t>
            </a:r>
            <a:endParaRPr lang="en-US" sz="2110" dirty="0"/>
          </a:p>
        </p:txBody>
      </p:sp>
      <p:sp>
        <p:nvSpPr>
          <p:cNvPr id="23" name="Text 21"/>
          <p:cNvSpPr/>
          <p:nvPr/>
        </p:nvSpPr>
        <p:spPr>
          <a:xfrm>
            <a:off x="9107424" y="4206240"/>
            <a:ext cx="2331720" cy="548640"/>
          </a:xfrm>
          <a:prstGeom prst="rect">
            <a:avLst/>
          </a:prstGeom>
          <a:noFill/>
        </p:spPr>
        <p:txBody>
          <a:bodyPr wrap="square" rtlCol="0" anchor="t"/>
          <a:lstStyle/>
          <a:p>
            <a:pPr marL="0" indent="0" algn="ctr">
              <a:buNone/>
            </a:pPr>
            <a:r>
              <a:rPr lang="en-US" sz="1250" b="1" dirty="0">
                <a:solidFill>
                  <a:srgbClr val="1E2761"/>
                </a:solidFill>
                <a:latin typeface="Calibri" panose="020F0502020204030204" pitchFamily="34" charset="0"/>
                <a:ea typeface="Calibri" panose="020F0502020204030204" pitchFamily="34" charset="-122"/>
                <a:cs typeface="Calibri" panose="020F0502020204030204" pitchFamily="34" charset="-120"/>
              </a:rPr>
              <a:t>Aucune vision consolidée</a:t>
            </a:r>
            <a:endParaRPr lang="en-US" sz="1250" dirty="0"/>
          </a:p>
        </p:txBody>
      </p:sp>
      <p:sp>
        <p:nvSpPr>
          <p:cNvPr id="24" name="Text 22"/>
          <p:cNvSpPr/>
          <p:nvPr/>
        </p:nvSpPr>
        <p:spPr>
          <a:xfrm>
            <a:off x="9107424" y="4709160"/>
            <a:ext cx="2331720" cy="960120"/>
          </a:xfrm>
          <a:prstGeom prst="rect">
            <a:avLst/>
          </a:prstGeom>
          <a:noFill/>
        </p:spPr>
        <p:txBody>
          <a:bodyPr wrap="square" rtlCol="0" anchor="t"/>
          <a:lstStyle/>
          <a:p>
            <a:pPr marL="0" indent="0" algn="ctr">
              <a:lnSpc>
                <a:spcPct val="115000"/>
              </a:lnSpc>
              <a:buNone/>
            </a:pPr>
            <a:r>
              <a:rPr lang="en-US" sz="1050" dirty="0">
                <a:solidFill>
                  <a:srgbClr val="44506B"/>
                </a:solidFill>
                <a:latin typeface="Calibri" panose="020F0502020204030204" pitchFamily="34" charset="0"/>
                <a:ea typeface="Calibri" panose="020F0502020204030204" pitchFamily="34" charset="-122"/>
                <a:cs typeface="Calibri" panose="020F0502020204030204" pitchFamily="34" charset="-120"/>
              </a:rPr>
              <a:t>Pas d'aide à la décision : occupation, rentabilité, impayés.</a:t>
            </a:r>
            <a:endParaRPr lang="en-US" sz="1050" dirty="0"/>
          </a:p>
        </p:txBody>
      </p:sp>
      <p:sp>
        <p:nvSpPr>
          <p:cNvPr id="25" name="Text 23"/>
          <p:cNvSpPr/>
          <p:nvPr/>
        </p:nvSpPr>
        <p:spPr>
          <a:xfrm>
            <a:off x="457200" y="6519672"/>
            <a:ext cx="7315200" cy="274320"/>
          </a:xfrm>
          <a:prstGeom prst="rect">
            <a:avLst/>
          </a:prstGeom>
          <a:noFill/>
        </p:spPr>
        <p:txBody>
          <a:bodyPr wrap="square" rtlCol="0" anchor="ctr"/>
          <a:lstStyle/>
          <a:p>
            <a:pPr marL="0" indent="0" algn="l">
              <a:buNone/>
            </a:pPr>
            <a:r>
              <a:rPr lang="en-US" sz="900" dirty="0">
                <a:solidFill>
                  <a:srgbClr val="A8B0C7"/>
                </a:solidFill>
                <a:latin typeface="Calibri" panose="020F0502020204030204" pitchFamily="34" charset="0"/>
                <a:ea typeface="Calibri" panose="020F0502020204030204" pitchFamily="34" charset="-122"/>
                <a:cs typeface="Calibri" panose="020F0502020204030204" pitchFamily="34" charset="-120"/>
              </a:rPr>
              <a:t>Mémoire de Licence — Génie Logiciel — Gbandi Wake</a:t>
            </a:r>
            <a:endParaRPr lang="en-US" sz="900" dirty="0"/>
          </a:p>
        </p:txBody>
      </p:sp>
      <p:sp>
        <p:nvSpPr>
          <p:cNvPr id="26" name="Text 24"/>
          <p:cNvSpPr/>
          <p:nvPr/>
        </p:nvSpPr>
        <p:spPr>
          <a:xfrm>
            <a:off x="11521440" y="6519672"/>
            <a:ext cx="365760" cy="274320"/>
          </a:xfrm>
          <a:prstGeom prst="rect">
            <a:avLst/>
          </a:prstGeom>
          <a:noFill/>
        </p:spPr>
        <p:txBody>
          <a:bodyPr wrap="square" rtlCol="0" anchor="ctr"/>
          <a:lstStyle/>
          <a:p>
            <a:pPr marL="0" indent="0" algn="r">
              <a:buNone/>
            </a:pPr>
            <a:r>
              <a:rPr lang="en-US" sz="900" dirty="0">
                <a:solidFill>
                  <a:srgbClr val="A8B0C7"/>
                </a:solidFill>
                <a:latin typeface="Calibri" panose="020F0502020204030204" pitchFamily="34" charset="0"/>
                <a:ea typeface="Calibri" panose="020F0502020204030204" pitchFamily="34" charset="-122"/>
                <a:cs typeface="Calibri" panose="020F0502020204030204"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rtlCol="0" anchor="ctr"/>
          <a:lstStyle/>
          <a:p>
            <a:pPr marL="0" indent="0">
              <a:buNone/>
            </a:pPr>
            <a:r>
              <a:rPr lang="en-US" sz="1300" b="1" kern="0" spc="200" dirty="0">
                <a:solidFill>
                  <a:srgbClr val="F2A93B"/>
                </a:solidFill>
                <a:latin typeface="Calibri" panose="020F0502020204030204" pitchFamily="34" charset="0"/>
                <a:ea typeface="Calibri" panose="020F0502020204030204" pitchFamily="34" charset="-122"/>
                <a:cs typeface="Calibri" panose="020F0502020204030204" pitchFamily="34" charset="-120"/>
              </a:rPr>
              <a:t>PROBLÉMATIQUE</a:t>
            </a:r>
            <a:endParaRPr lang="en-US" sz="1300" dirty="0"/>
          </a:p>
        </p:txBody>
      </p:sp>
      <p:sp>
        <p:nvSpPr>
          <p:cNvPr id="3" name="Text 1"/>
          <p:cNvSpPr/>
          <p:nvPr/>
        </p:nvSpPr>
        <p:spPr>
          <a:xfrm>
            <a:off x="548640" y="658368"/>
            <a:ext cx="10789920" cy="685800"/>
          </a:xfrm>
          <a:prstGeom prst="rect">
            <a:avLst/>
          </a:prstGeom>
          <a:noFill/>
        </p:spPr>
        <p:txBody>
          <a:bodyPr wrap="square" rtlCol="0" anchor="ctr"/>
          <a:lstStyle/>
          <a:p>
            <a:pPr marL="0" indent="0">
              <a:buNone/>
            </a:pPr>
            <a:r>
              <a:rPr lang="en-US" sz="3000" b="1" dirty="0">
                <a:solidFill>
                  <a:srgbClr val="1E2761"/>
                </a:solidFill>
                <a:latin typeface="Cambria" panose="02040503050406030204" pitchFamily="34" charset="0"/>
                <a:ea typeface="Cambria" panose="02040503050406030204" pitchFamily="34" charset="-122"/>
                <a:cs typeface="Cambria" panose="02040503050406030204" pitchFamily="34" charset="-120"/>
              </a:rPr>
              <a:t>Comment automatiser la gestion locative ?</a:t>
            </a:r>
            <a:endParaRPr lang="en-US" sz="3000" dirty="0"/>
          </a:p>
        </p:txBody>
      </p:sp>
      <p:sp>
        <p:nvSpPr>
          <p:cNvPr id="4" name="Shape 2"/>
          <p:cNvSpPr/>
          <p:nvPr/>
        </p:nvSpPr>
        <p:spPr>
          <a:xfrm>
            <a:off x="548640" y="1600200"/>
            <a:ext cx="11064240" cy="1234440"/>
          </a:xfrm>
          <a:prstGeom prst="roundRect">
            <a:avLst>
              <a:gd name="adj" fmla="val 5926"/>
            </a:avLst>
          </a:prstGeom>
          <a:solidFill>
            <a:srgbClr val="1E2761"/>
          </a:solidFill>
        </p:spPr>
      </p:sp>
      <p:sp>
        <p:nvSpPr>
          <p:cNvPr id="5" name="Text 3"/>
          <p:cNvSpPr/>
          <p:nvPr/>
        </p:nvSpPr>
        <p:spPr>
          <a:xfrm>
            <a:off x="868680" y="1737360"/>
            <a:ext cx="10424160" cy="1005840"/>
          </a:xfrm>
          <a:prstGeom prst="rect">
            <a:avLst/>
          </a:prstGeom>
          <a:noFill/>
        </p:spPr>
        <p:txBody>
          <a:bodyPr wrap="square" rtlCol="0" anchor="ctr"/>
          <a:lstStyle/>
          <a:p>
            <a:pPr marL="0" indent="0" algn="l">
              <a:buNone/>
            </a:pPr>
            <a:r>
              <a:rPr lang="en-US" sz="1450" i="1" dirty="0">
                <a:solidFill>
                  <a:srgbClr val="FFFFFF"/>
                </a:solidFill>
                <a:latin typeface="Cambria" panose="02040503050406030204" pitchFamily="34" charset="0"/>
                <a:ea typeface="Cambria" panose="02040503050406030204" pitchFamily="34" charset="-122"/>
                <a:cs typeface="Cambria" panose="02040503050406030204" pitchFamily="34" charset="-120"/>
              </a:rPr>
              <a:t>« Comment concevoir et implémenter une architecture logicielle capable d'automatiser le cycle de gestion immobilière, tout en garantissant la fiabilité des données et l'adaptabilité à deux profils de location distincts ? »</a:t>
            </a:r>
            <a:endParaRPr lang="en-US" sz="1450" dirty="0"/>
          </a:p>
        </p:txBody>
      </p:sp>
      <p:sp>
        <p:nvSpPr>
          <p:cNvPr id="6" name="Text 4"/>
          <p:cNvSpPr/>
          <p:nvPr/>
        </p:nvSpPr>
        <p:spPr>
          <a:xfrm>
            <a:off x="548640" y="3063240"/>
            <a:ext cx="7315200" cy="365760"/>
          </a:xfrm>
          <a:prstGeom prst="rect">
            <a:avLst/>
          </a:prstGeom>
          <a:noFill/>
        </p:spPr>
        <p:txBody>
          <a:bodyPr wrap="square" rtlCol="0" anchor="ctr"/>
          <a:lstStyle/>
          <a:p>
            <a:pPr marL="0" indent="0">
              <a:buNone/>
            </a:pPr>
            <a:r>
              <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rPr>
              <a:t>Trois défis structurent la conception :</a:t>
            </a:r>
            <a:endParaRPr lang="en-US" sz="1500" dirty="0"/>
          </a:p>
        </p:txBody>
      </p:sp>
      <p:sp>
        <p:nvSpPr>
          <p:cNvPr id="7" name="Shape 5"/>
          <p:cNvSpPr/>
          <p:nvPr/>
        </p:nvSpPr>
        <p:spPr>
          <a:xfrm>
            <a:off x="548640" y="3520440"/>
            <a:ext cx="457200" cy="457200"/>
          </a:xfrm>
          <a:prstGeom prst="ellipse">
            <a:avLst/>
          </a:prstGeom>
          <a:solidFill>
            <a:srgbClr val="F2A93B"/>
          </a:solidFill>
        </p:spPr>
      </p:sp>
      <p:sp>
        <p:nvSpPr>
          <p:cNvPr id="8" name="Text 6"/>
          <p:cNvSpPr/>
          <p:nvPr/>
        </p:nvSpPr>
        <p:spPr>
          <a:xfrm>
            <a:off x="548640" y="3520440"/>
            <a:ext cx="457200" cy="457200"/>
          </a:xfrm>
          <a:prstGeom prst="rect">
            <a:avLst/>
          </a:prstGeom>
          <a:noFill/>
        </p:spPr>
        <p:txBody>
          <a:bodyPr wrap="square" rtlCol="0" anchor="ctr"/>
          <a:lstStyle/>
          <a:p>
            <a:pPr marL="0" indent="0" algn="ctr">
              <a:buNone/>
            </a:pPr>
            <a:r>
              <a:rPr lang="en-US" sz="1650" b="1" dirty="0">
                <a:solidFill>
                  <a:srgbClr val="1E2761"/>
                </a:solidFill>
                <a:latin typeface="Calibri" panose="020F0502020204030204" pitchFamily="34" charset="0"/>
                <a:ea typeface="Calibri" panose="020F0502020204030204" pitchFamily="34" charset="-122"/>
                <a:cs typeface="Calibri" panose="020F0502020204030204" pitchFamily="34" charset="-120"/>
              </a:rPr>
              <a:t>1</a:t>
            </a:r>
            <a:endParaRPr lang="en-US" sz="1650" dirty="0"/>
          </a:p>
        </p:txBody>
      </p:sp>
      <p:sp>
        <p:nvSpPr>
          <p:cNvPr id="9" name="Text 7"/>
          <p:cNvSpPr/>
          <p:nvPr/>
        </p:nvSpPr>
        <p:spPr>
          <a:xfrm>
            <a:off x="1234440" y="3474720"/>
            <a:ext cx="9966960" cy="777240"/>
          </a:xfrm>
          <a:prstGeom prst="rect">
            <a:avLst/>
          </a:prstGeom>
          <a:noFill/>
        </p:spPr>
        <p:txBody>
          <a:bodyPr wrap="square" rtlCol="0" anchor="ctr"/>
          <a:lstStyle/>
          <a:p>
            <a:pPr marL="0" indent="0">
              <a:lnSpc>
                <a:spcPct val="115000"/>
              </a:lnSpc>
              <a:buNone/>
            </a:pPr>
            <a:r>
              <a:rPr lang="en-US" sz="1350" dirty="0">
                <a:solidFill>
                  <a:srgbClr val="44506B"/>
                </a:solidFill>
                <a:latin typeface="Calibri" panose="020F0502020204030204" pitchFamily="34" charset="0"/>
                <a:ea typeface="Calibri" panose="020F0502020204030204" pitchFamily="34" charset="-122"/>
                <a:cs typeface="Calibri" panose="020F0502020204030204" pitchFamily="34" charset="-120"/>
              </a:rPr>
              <a:t>Une base de données et une architecture flexibles pour des biens de natures différentes, sans redéveloppement.</a:t>
            </a:r>
            <a:endParaRPr lang="en-US" sz="1350" dirty="0"/>
          </a:p>
        </p:txBody>
      </p:sp>
      <p:sp>
        <p:nvSpPr>
          <p:cNvPr id="10" name="Shape 8"/>
          <p:cNvSpPr/>
          <p:nvPr/>
        </p:nvSpPr>
        <p:spPr>
          <a:xfrm>
            <a:off x="548640" y="4389120"/>
            <a:ext cx="457200" cy="457200"/>
          </a:xfrm>
          <a:prstGeom prst="ellipse">
            <a:avLst/>
          </a:prstGeom>
          <a:solidFill>
            <a:srgbClr val="F2A93B"/>
          </a:solidFill>
        </p:spPr>
      </p:sp>
      <p:sp>
        <p:nvSpPr>
          <p:cNvPr id="11" name="Text 9"/>
          <p:cNvSpPr/>
          <p:nvPr/>
        </p:nvSpPr>
        <p:spPr>
          <a:xfrm>
            <a:off x="548640" y="4389120"/>
            <a:ext cx="457200" cy="457200"/>
          </a:xfrm>
          <a:prstGeom prst="rect">
            <a:avLst/>
          </a:prstGeom>
          <a:noFill/>
        </p:spPr>
        <p:txBody>
          <a:bodyPr wrap="square" rtlCol="0" anchor="ctr"/>
          <a:lstStyle/>
          <a:p>
            <a:pPr marL="0" indent="0" algn="ctr">
              <a:buNone/>
            </a:pPr>
            <a:r>
              <a:rPr lang="en-US" sz="1650" b="1" dirty="0">
                <a:solidFill>
                  <a:srgbClr val="1E2761"/>
                </a:solidFill>
                <a:latin typeface="Calibri" panose="020F0502020204030204" pitchFamily="34" charset="0"/>
                <a:ea typeface="Calibri" panose="020F0502020204030204" pitchFamily="34" charset="-122"/>
                <a:cs typeface="Calibri" panose="020F0502020204030204" pitchFamily="34" charset="-120"/>
              </a:rPr>
              <a:t>2</a:t>
            </a:r>
            <a:endParaRPr lang="en-US" sz="1650" dirty="0"/>
          </a:p>
        </p:txBody>
      </p:sp>
      <p:sp>
        <p:nvSpPr>
          <p:cNvPr id="12" name="Text 10"/>
          <p:cNvSpPr/>
          <p:nvPr/>
        </p:nvSpPr>
        <p:spPr>
          <a:xfrm>
            <a:off x="1234440" y="4343400"/>
            <a:ext cx="9966960" cy="777240"/>
          </a:xfrm>
          <a:prstGeom prst="rect">
            <a:avLst/>
          </a:prstGeom>
          <a:noFill/>
        </p:spPr>
        <p:txBody>
          <a:bodyPr wrap="square" rtlCol="0" anchor="ctr"/>
          <a:lstStyle/>
          <a:p>
            <a:pPr marL="0" indent="0">
              <a:lnSpc>
                <a:spcPct val="115000"/>
              </a:lnSpc>
              <a:buNone/>
            </a:pPr>
            <a:r>
              <a:rPr lang="en-US" sz="1350" dirty="0">
                <a:solidFill>
                  <a:srgbClr val="44506B"/>
                </a:solidFill>
                <a:latin typeface="Calibri" panose="020F0502020204030204" pitchFamily="34" charset="0"/>
                <a:ea typeface="Calibri" panose="020F0502020204030204" pitchFamily="34" charset="-122"/>
                <a:cs typeface="Calibri" panose="020F0502020204030204" pitchFamily="34" charset="-120"/>
              </a:rPr>
              <a:t>Une cohérence parfaite entre l'interface web (propriétaire) et l'application mobile (locataire), en temps réel.</a:t>
            </a:r>
            <a:endParaRPr lang="en-US" sz="1350" dirty="0"/>
          </a:p>
        </p:txBody>
      </p:sp>
      <p:sp>
        <p:nvSpPr>
          <p:cNvPr id="13" name="Shape 11"/>
          <p:cNvSpPr/>
          <p:nvPr/>
        </p:nvSpPr>
        <p:spPr>
          <a:xfrm>
            <a:off x="548640" y="5257800"/>
            <a:ext cx="457200" cy="457200"/>
          </a:xfrm>
          <a:prstGeom prst="ellipse">
            <a:avLst/>
          </a:prstGeom>
          <a:solidFill>
            <a:srgbClr val="F2A93B"/>
          </a:solidFill>
        </p:spPr>
      </p:sp>
      <p:sp>
        <p:nvSpPr>
          <p:cNvPr id="14" name="Text 12"/>
          <p:cNvSpPr/>
          <p:nvPr/>
        </p:nvSpPr>
        <p:spPr>
          <a:xfrm>
            <a:off x="548640" y="5257800"/>
            <a:ext cx="457200" cy="457200"/>
          </a:xfrm>
          <a:prstGeom prst="rect">
            <a:avLst/>
          </a:prstGeom>
          <a:noFill/>
        </p:spPr>
        <p:txBody>
          <a:bodyPr wrap="square" rtlCol="0" anchor="ctr"/>
          <a:lstStyle/>
          <a:p>
            <a:pPr marL="0" indent="0" algn="ctr">
              <a:buNone/>
            </a:pPr>
            <a:r>
              <a:rPr lang="en-US" sz="1650" b="1" dirty="0">
                <a:solidFill>
                  <a:srgbClr val="1E2761"/>
                </a:solidFill>
                <a:latin typeface="Calibri" panose="020F0502020204030204" pitchFamily="34" charset="0"/>
                <a:ea typeface="Calibri" panose="020F0502020204030204" pitchFamily="34" charset="-122"/>
                <a:cs typeface="Calibri" panose="020F0502020204030204" pitchFamily="34" charset="-120"/>
              </a:rPr>
              <a:t>3</a:t>
            </a:r>
            <a:endParaRPr lang="en-US" sz="1650" dirty="0"/>
          </a:p>
        </p:txBody>
      </p:sp>
      <p:sp>
        <p:nvSpPr>
          <p:cNvPr id="15" name="Text 13"/>
          <p:cNvSpPr/>
          <p:nvPr/>
        </p:nvSpPr>
        <p:spPr>
          <a:xfrm>
            <a:off x="1234440" y="5212080"/>
            <a:ext cx="9966960" cy="777240"/>
          </a:xfrm>
          <a:prstGeom prst="rect">
            <a:avLst/>
          </a:prstGeom>
          <a:noFill/>
        </p:spPr>
        <p:txBody>
          <a:bodyPr wrap="square" rtlCol="0" anchor="ctr"/>
          <a:lstStyle/>
          <a:p>
            <a:pPr marL="0" indent="0">
              <a:lnSpc>
                <a:spcPct val="115000"/>
              </a:lnSpc>
              <a:buNone/>
            </a:pPr>
            <a:r>
              <a:rPr lang="en-US" sz="1350" dirty="0">
                <a:solidFill>
                  <a:srgbClr val="44506B"/>
                </a:solidFill>
                <a:latin typeface="Calibri" panose="020F0502020204030204" pitchFamily="34" charset="0"/>
                <a:ea typeface="Calibri" panose="020F0502020204030204" pitchFamily="34" charset="-122"/>
                <a:cs typeface="Calibri" panose="020F0502020204030204" pitchFamily="34" charset="-120"/>
              </a:rPr>
              <a:t>Un système de notifications capable de gérer les échéances et les relances de loyers impayés.</a:t>
            </a:r>
            <a:endParaRPr lang="en-US" sz="1350" dirty="0"/>
          </a:p>
        </p:txBody>
      </p:sp>
      <p:sp>
        <p:nvSpPr>
          <p:cNvPr id="16" name="Text 14"/>
          <p:cNvSpPr/>
          <p:nvPr/>
        </p:nvSpPr>
        <p:spPr>
          <a:xfrm>
            <a:off x="457200" y="6519672"/>
            <a:ext cx="7315200" cy="274320"/>
          </a:xfrm>
          <a:prstGeom prst="rect">
            <a:avLst/>
          </a:prstGeom>
          <a:noFill/>
        </p:spPr>
        <p:txBody>
          <a:bodyPr wrap="square" rtlCol="0" anchor="ctr"/>
          <a:lstStyle/>
          <a:p>
            <a:pPr marL="0" indent="0" algn="l">
              <a:buNone/>
            </a:pPr>
            <a:r>
              <a:rPr lang="en-US" sz="900" dirty="0">
                <a:solidFill>
                  <a:srgbClr val="A8B0C7"/>
                </a:solidFill>
                <a:latin typeface="Calibri" panose="020F0502020204030204" pitchFamily="34" charset="0"/>
                <a:ea typeface="Calibri" panose="020F0502020204030204" pitchFamily="34" charset="-122"/>
                <a:cs typeface="Calibri" panose="020F0502020204030204" pitchFamily="34" charset="-120"/>
              </a:rPr>
              <a:t>Mémoire de Licence — Génie Logiciel — Gbandi Wake</a:t>
            </a:r>
            <a:endParaRPr lang="en-US" sz="900" dirty="0"/>
          </a:p>
        </p:txBody>
      </p:sp>
      <p:sp>
        <p:nvSpPr>
          <p:cNvPr id="17" name="Text 15"/>
          <p:cNvSpPr/>
          <p:nvPr/>
        </p:nvSpPr>
        <p:spPr>
          <a:xfrm>
            <a:off x="11521440" y="6519672"/>
            <a:ext cx="365760" cy="274320"/>
          </a:xfrm>
          <a:prstGeom prst="rect">
            <a:avLst/>
          </a:prstGeom>
          <a:noFill/>
        </p:spPr>
        <p:txBody>
          <a:bodyPr wrap="square" rtlCol="0" anchor="ctr"/>
          <a:lstStyle/>
          <a:p>
            <a:pPr marL="0" indent="0" algn="r">
              <a:buNone/>
            </a:pPr>
            <a:r>
              <a:rPr lang="en-US" sz="900" dirty="0">
                <a:solidFill>
                  <a:srgbClr val="A8B0C7"/>
                </a:solidFill>
                <a:latin typeface="Calibri" panose="020F0502020204030204" pitchFamily="34" charset="0"/>
                <a:ea typeface="Calibri" panose="020F0502020204030204" pitchFamily="34" charset="-122"/>
                <a:cs typeface="Calibri" panose="020F0502020204030204"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rtlCol="0" anchor="ctr"/>
          <a:lstStyle/>
          <a:p>
            <a:pPr marL="0" indent="0">
              <a:buNone/>
            </a:pPr>
            <a:r>
              <a:rPr lang="en-US" sz="1300" b="1" kern="0" spc="200" dirty="0">
                <a:solidFill>
                  <a:srgbClr val="F2A93B"/>
                </a:solidFill>
                <a:latin typeface="Calibri" panose="020F0502020204030204" pitchFamily="34" charset="0"/>
                <a:ea typeface="Calibri" panose="020F0502020204030204" pitchFamily="34" charset="-122"/>
                <a:cs typeface="Calibri" panose="020F0502020204030204" pitchFamily="34" charset="-120"/>
              </a:rPr>
              <a:t>OBJECTIFS DU PROJET</a:t>
            </a:r>
            <a:endParaRPr lang="en-US" sz="1300" dirty="0"/>
          </a:p>
        </p:txBody>
      </p:sp>
      <p:sp>
        <p:nvSpPr>
          <p:cNvPr id="3" name="Text 1"/>
          <p:cNvSpPr/>
          <p:nvPr/>
        </p:nvSpPr>
        <p:spPr>
          <a:xfrm>
            <a:off x="548640" y="658368"/>
            <a:ext cx="10789920" cy="685800"/>
          </a:xfrm>
          <a:prstGeom prst="rect">
            <a:avLst/>
          </a:prstGeom>
          <a:noFill/>
        </p:spPr>
        <p:txBody>
          <a:bodyPr wrap="square" rtlCol="0" anchor="ctr"/>
          <a:lstStyle/>
          <a:p>
            <a:pPr marL="0" indent="0">
              <a:buNone/>
            </a:pPr>
            <a:r>
              <a:rPr lang="en-US" sz="3000" b="1" dirty="0">
                <a:solidFill>
                  <a:srgbClr val="1E2761"/>
                </a:solidFill>
                <a:latin typeface="Cambria" panose="02040503050406030204" pitchFamily="34" charset="0"/>
                <a:ea typeface="Cambria" panose="02040503050406030204" pitchFamily="34" charset="-122"/>
                <a:cs typeface="Cambria" panose="02040503050406030204" pitchFamily="34" charset="-120"/>
              </a:rPr>
              <a:t>Automatiser, centraliser, sécuriser</a:t>
            </a:r>
            <a:endParaRPr lang="en-US" sz="3000" dirty="0"/>
          </a:p>
        </p:txBody>
      </p:sp>
      <p:sp>
        <p:nvSpPr>
          <p:cNvPr id="4" name="Shape 2"/>
          <p:cNvSpPr/>
          <p:nvPr/>
        </p:nvSpPr>
        <p:spPr>
          <a:xfrm>
            <a:off x="548640" y="1554480"/>
            <a:ext cx="11064240" cy="822960"/>
          </a:xfrm>
          <a:prstGeom prst="roundRect">
            <a:avLst>
              <a:gd name="adj" fmla="val 8889"/>
            </a:avLst>
          </a:prstGeom>
          <a:solidFill>
            <a:srgbClr val="CADCFC"/>
          </a:solidFill>
        </p:spPr>
      </p:sp>
      <p:sp>
        <p:nvSpPr>
          <p:cNvPr id="5" name="Text 3"/>
          <p:cNvSpPr/>
          <p:nvPr/>
        </p:nvSpPr>
        <p:spPr>
          <a:xfrm>
            <a:off x="822960" y="1554480"/>
            <a:ext cx="10515600" cy="822960"/>
          </a:xfrm>
          <a:prstGeom prst="rect">
            <a:avLst/>
          </a:prstGeom>
          <a:noFill/>
        </p:spPr>
        <p:txBody>
          <a:bodyPr wrap="square" rtlCol="0" anchor="ctr"/>
          <a:lstStyle/>
          <a:p>
            <a:pPr marL="0" indent="0">
              <a:lnSpc>
                <a:spcPct val="115000"/>
              </a:lnSpc>
              <a:buNone/>
            </a:pPr>
            <a:r>
              <a:rPr lang="en-US" sz="1350" b="1" dirty="0">
                <a:solidFill>
                  <a:srgbClr val="1E2761"/>
                </a:solidFill>
                <a:latin typeface="Calibri" panose="020F0502020204030204" pitchFamily="34" charset="0"/>
                <a:ea typeface="Calibri" panose="020F0502020204030204" pitchFamily="34" charset="-122"/>
                <a:cs typeface="Calibri" panose="020F0502020204030204" pitchFamily="34" charset="-120"/>
              </a:rPr>
              <a:t>Objectif général : </a:t>
            </a:r>
            <a:r>
              <a:rPr lang="en-US" sz="1350" dirty="0">
                <a:solidFill>
                  <a:srgbClr val="44506B"/>
                </a:solidFill>
                <a:latin typeface="Calibri" panose="020F0502020204030204" pitchFamily="34" charset="0"/>
                <a:ea typeface="Calibri" panose="020F0502020204030204" pitchFamily="34" charset="-122"/>
                <a:cs typeface="Calibri" panose="020F0502020204030204" pitchFamily="34" charset="-120"/>
              </a:rPr>
              <a:t>Concevoir et réaliser une application web/mobile dédiée à l'automatisation de la gestion locative, pour garantir la rentabilité des investissements immobiliers.</a:t>
            </a:r>
            <a:endParaRPr lang="en-US" sz="1350" dirty="0"/>
          </a:p>
        </p:txBody>
      </p:sp>
      <p:sp>
        <p:nvSpPr>
          <p:cNvPr id="6" name="Shape 4"/>
          <p:cNvSpPr/>
          <p:nvPr/>
        </p:nvSpPr>
        <p:spPr>
          <a:xfrm>
            <a:off x="548640" y="2697480"/>
            <a:ext cx="3520440" cy="1737360"/>
          </a:xfrm>
          <a:prstGeom prst="roundRect">
            <a:avLst>
              <a:gd name="adj" fmla="val 5263"/>
            </a:avLst>
          </a:prstGeom>
          <a:solidFill>
            <a:srgbClr val="1E2761"/>
          </a:solidFill>
          <a:effectLst>
            <a:outerShdw blurRad="76200" dist="25400" dir="5400000" algn="bl" rotWithShape="0">
              <a:srgbClr val="000000">
                <a:alpha val="15000"/>
              </a:srgbClr>
            </a:outerShdw>
          </a:effectLst>
        </p:spPr>
      </p:sp>
      <p:sp>
        <p:nvSpPr>
          <p:cNvPr id="7" name="Text 5"/>
          <p:cNvSpPr/>
          <p:nvPr/>
        </p:nvSpPr>
        <p:spPr>
          <a:xfrm>
            <a:off x="731520" y="2834640"/>
            <a:ext cx="3154680" cy="777240"/>
          </a:xfrm>
          <a:prstGeom prst="rect">
            <a:avLst/>
          </a:prstGeom>
          <a:noFill/>
        </p:spPr>
        <p:txBody>
          <a:bodyPr wrap="square" rtlCol="0" anchor="ctr"/>
          <a:lstStyle/>
          <a:p>
            <a:pPr marL="0" indent="0" algn="l">
              <a:buNone/>
            </a:pPr>
            <a:r>
              <a:rPr lang="en-US" sz="4400" b="1" dirty="0">
                <a:solidFill>
                  <a:srgbClr val="F2A93B"/>
                </a:solidFill>
                <a:latin typeface="Cambria" panose="02040503050406030204" pitchFamily="34" charset="0"/>
                <a:ea typeface="Cambria" panose="02040503050406030204" pitchFamily="34" charset="-122"/>
                <a:cs typeface="Cambria" panose="02040503050406030204" pitchFamily="34" charset="-120"/>
              </a:rPr>
              <a:t>100%</a:t>
            </a:r>
            <a:endParaRPr lang="en-US" sz="4400" dirty="0"/>
          </a:p>
        </p:txBody>
      </p:sp>
      <p:sp>
        <p:nvSpPr>
          <p:cNvPr id="8" name="Text 6"/>
          <p:cNvSpPr/>
          <p:nvPr/>
        </p:nvSpPr>
        <p:spPr>
          <a:xfrm>
            <a:off x="731520" y="3611880"/>
            <a:ext cx="3154680" cy="777240"/>
          </a:xfrm>
          <a:prstGeom prst="rect">
            <a:avLst/>
          </a:prstGeom>
          <a:noFill/>
        </p:spPr>
        <p:txBody>
          <a:bodyPr wrap="square" rtlCol="0" anchor="ctr"/>
          <a:lstStyle/>
          <a:p>
            <a:pPr marL="0" indent="0">
              <a:lnSpc>
                <a:spcPct val="115000"/>
              </a:lnSpc>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des données de biens et locataires centralisées dans un référentiel unique</a:t>
            </a:r>
            <a:endParaRPr lang="en-US" sz="1200" dirty="0"/>
          </a:p>
        </p:txBody>
      </p:sp>
      <p:sp>
        <p:nvSpPr>
          <p:cNvPr id="9" name="Shape 7"/>
          <p:cNvSpPr/>
          <p:nvPr/>
        </p:nvSpPr>
        <p:spPr>
          <a:xfrm>
            <a:off x="4343400" y="2697480"/>
            <a:ext cx="3520440" cy="1737360"/>
          </a:xfrm>
          <a:prstGeom prst="roundRect">
            <a:avLst>
              <a:gd name="adj" fmla="val 5263"/>
            </a:avLst>
          </a:prstGeom>
          <a:solidFill>
            <a:srgbClr val="1E2761"/>
          </a:solidFill>
          <a:effectLst>
            <a:outerShdw blurRad="76200" dist="25400" dir="5400000" algn="bl" rotWithShape="0">
              <a:srgbClr val="000000">
                <a:alpha val="15000"/>
              </a:srgbClr>
            </a:outerShdw>
          </a:effectLst>
        </p:spPr>
      </p:sp>
      <p:sp>
        <p:nvSpPr>
          <p:cNvPr id="10" name="Text 8"/>
          <p:cNvSpPr/>
          <p:nvPr/>
        </p:nvSpPr>
        <p:spPr>
          <a:xfrm>
            <a:off x="4526280" y="2834640"/>
            <a:ext cx="3154680" cy="777240"/>
          </a:xfrm>
          <a:prstGeom prst="rect">
            <a:avLst/>
          </a:prstGeom>
          <a:noFill/>
        </p:spPr>
        <p:txBody>
          <a:bodyPr wrap="square" rtlCol="0" anchor="ctr"/>
          <a:lstStyle/>
          <a:p>
            <a:pPr marL="0" indent="0" algn="l">
              <a:buNone/>
            </a:pPr>
            <a:r>
              <a:rPr lang="en-US" sz="4400" b="1" dirty="0">
                <a:solidFill>
                  <a:srgbClr val="F2A93B"/>
                </a:solidFill>
                <a:latin typeface="Cambria" panose="02040503050406030204" pitchFamily="34" charset="0"/>
                <a:ea typeface="Cambria" panose="02040503050406030204" pitchFamily="34" charset="-122"/>
                <a:cs typeface="Cambria" panose="02040503050406030204" pitchFamily="34" charset="-120"/>
              </a:rPr>
              <a:t>95%</a:t>
            </a:r>
            <a:endParaRPr lang="en-US" sz="4400" dirty="0"/>
          </a:p>
        </p:txBody>
      </p:sp>
      <p:sp>
        <p:nvSpPr>
          <p:cNvPr id="11" name="Text 9"/>
          <p:cNvSpPr/>
          <p:nvPr/>
        </p:nvSpPr>
        <p:spPr>
          <a:xfrm>
            <a:off x="4526280" y="3611880"/>
            <a:ext cx="3154680" cy="777240"/>
          </a:xfrm>
          <a:prstGeom prst="rect">
            <a:avLst/>
          </a:prstGeom>
          <a:noFill/>
        </p:spPr>
        <p:txBody>
          <a:bodyPr wrap="square" rtlCol="0" anchor="ctr"/>
          <a:lstStyle/>
          <a:p>
            <a:pPr marL="0" indent="0">
              <a:lnSpc>
                <a:spcPct val="115000"/>
              </a:lnSpc>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des avis d'échéance générés et envoyés automatiquement chaque mois</a:t>
            </a:r>
            <a:endParaRPr lang="en-US" sz="1200" dirty="0"/>
          </a:p>
        </p:txBody>
      </p:sp>
      <p:sp>
        <p:nvSpPr>
          <p:cNvPr id="12" name="Shape 10"/>
          <p:cNvSpPr/>
          <p:nvPr/>
        </p:nvSpPr>
        <p:spPr>
          <a:xfrm>
            <a:off x="8138160" y="2697480"/>
            <a:ext cx="3520440" cy="1737360"/>
          </a:xfrm>
          <a:prstGeom prst="roundRect">
            <a:avLst>
              <a:gd name="adj" fmla="val 5263"/>
            </a:avLst>
          </a:prstGeom>
          <a:solidFill>
            <a:srgbClr val="1E2761"/>
          </a:solidFill>
          <a:effectLst>
            <a:outerShdw blurRad="76200" dist="25400" dir="5400000" algn="bl" rotWithShape="0">
              <a:srgbClr val="000000">
                <a:alpha val="15000"/>
              </a:srgbClr>
            </a:outerShdw>
          </a:effectLst>
        </p:spPr>
      </p:sp>
      <p:sp>
        <p:nvSpPr>
          <p:cNvPr id="13" name="Text 11"/>
          <p:cNvSpPr/>
          <p:nvPr/>
        </p:nvSpPr>
        <p:spPr>
          <a:xfrm>
            <a:off x="8321040" y="2834640"/>
            <a:ext cx="3154680" cy="777240"/>
          </a:xfrm>
          <a:prstGeom prst="rect">
            <a:avLst/>
          </a:prstGeom>
          <a:noFill/>
        </p:spPr>
        <p:txBody>
          <a:bodyPr wrap="square" rtlCol="0" anchor="ctr"/>
          <a:lstStyle/>
          <a:p>
            <a:pPr marL="0" indent="0" algn="l">
              <a:buNone/>
            </a:pPr>
            <a:r>
              <a:rPr lang="en-US" sz="4400" b="1" dirty="0">
                <a:solidFill>
                  <a:srgbClr val="F2A93B"/>
                </a:solidFill>
                <a:latin typeface="Cambria" panose="02040503050406030204" pitchFamily="34" charset="0"/>
                <a:ea typeface="Cambria" panose="02040503050406030204" pitchFamily="34" charset="-122"/>
                <a:cs typeface="Cambria" panose="02040503050406030204" pitchFamily="34" charset="-120"/>
              </a:rPr>
              <a:t>100%</a:t>
            </a:r>
            <a:endParaRPr lang="en-US" sz="4400" dirty="0"/>
          </a:p>
        </p:txBody>
      </p:sp>
      <p:sp>
        <p:nvSpPr>
          <p:cNvPr id="14" name="Text 12"/>
          <p:cNvSpPr/>
          <p:nvPr/>
        </p:nvSpPr>
        <p:spPr>
          <a:xfrm>
            <a:off x="8321040" y="3611880"/>
            <a:ext cx="3154680" cy="777240"/>
          </a:xfrm>
          <a:prstGeom prst="rect">
            <a:avLst/>
          </a:prstGeom>
          <a:noFill/>
        </p:spPr>
        <p:txBody>
          <a:bodyPr wrap="square" rtlCol="0" anchor="ctr"/>
          <a:lstStyle/>
          <a:p>
            <a:pPr marL="0" indent="0">
              <a:lnSpc>
                <a:spcPct val="115000"/>
              </a:lnSpc>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des contrats de bail dématérialisés et archivés en toute sécurité</a:t>
            </a:r>
            <a:endParaRPr lang="en-US" sz="1200" dirty="0"/>
          </a:p>
        </p:txBody>
      </p:sp>
      <p:sp>
        <p:nvSpPr>
          <p:cNvPr id="15" name="Text 13"/>
          <p:cNvSpPr/>
          <p:nvPr/>
        </p:nvSpPr>
        <p:spPr>
          <a:xfrm>
            <a:off x="548640" y="4709160"/>
            <a:ext cx="11064240" cy="548640"/>
          </a:xfrm>
          <a:prstGeom prst="rect">
            <a:avLst/>
          </a:prstGeom>
          <a:noFill/>
        </p:spPr>
        <p:txBody>
          <a:bodyPr wrap="square" rtlCol="0" anchor="ctr"/>
          <a:lstStyle/>
          <a:p>
            <a:pPr marL="0" indent="0">
              <a:buNone/>
            </a:pPr>
            <a:r>
              <a:rPr lang="en-US" sz="1300" i="1" dirty="0">
                <a:solidFill>
                  <a:srgbClr val="44506B"/>
                </a:solidFill>
                <a:latin typeface="Calibri" panose="020F0502020204030204" pitchFamily="34" charset="0"/>
                <a:ea typeface="Calibri" panose="020F0502020204030204" pitchFamily="34" charset="-122"/>
                <a:cs typeface="Calibri" panose="020F0502020204030204" pitchFamily="34" charset="-120"/>
              </a:rPr>
              <a:t>Suivi &amp; communication : réactivité des alertes push et amélioration du taux de recouvrement des loyers dès les six premiers mois d'exploitation.</a:t>
            </a:r>
            <a:endParaRPr lang="en-US" sz="1300" dirty="0"/>
          </a:p>
        </p:txBody>
      </p:sp>
      <p:sp>
        <p:nvSpPr>
          <p:cNvPr id="16" name="Text 14"/>
          <p:cNvSpPr/>
          <p:nvPr/>
        </p:nvSpPr>
        <p:spPr>
          <a:xfrm>
            <a:off x="457200" y="6519672"/>
            <a:ext cx="7315200" cy="274320"/>
          </a:xfrm>
          <a:prstGeom prst="rect">
            <a:avLst/>
          </a:prstGeom>
          <a:noFill/>
        </p:spPr>
        <p:txBody>
          <a:bodyPr wrap="square" rtlCol="0" anchor="ctr"/>
          <a:lstStyle/>
          <a:p>
            <a:pPr marL="0" indent="0" algn="l">
              <a:buNone/>
            </a:pPr>
            <a:r>
              <a:rPr lang="en-US" sz="900" dirty="0">
                <a:solidFill>
                  <a:srgbClr val="A8B0C7"/>
                </a:solidFill>
                <a:latin typeface="Calibri" panose="020F0502020204030204" pitchFamily="34" charset="0"/>
                <a:ea typeface="Calibri" panose="020F0502020204030204" pitchFamily="34" charset="-122"/>
                <a:cs typeface="Calibri" panose="020F0502020204030204" pitchFamily="34" charset="-120"/>
              </a:rPr>
              <a:t>Mémoire de Licence — Génie Logiciel — Gbandi Wake</a:t>
            </a:r>
            <a:endParaRPr lang="en-US" sz="900" dirty="0"/>
          </a:p>
        </p:txBody>
      </p:sp>
      <p:sp>
        <p:nvSpPr>
          <p:cNvPr id="17" name="Text 15"/>
          <p:cNvSpPr/>
          <p:nvPr/>
        </p:nvSpPr>
        <p:spPr>
          <a:xfrm>
            <a:off x="11521440" y="6519672"/>
            <a:ext cx="365760" cy="274320"/>
          </a:xfrm>
          <a:prstGeom prst="rect">
            <a:avLst/>
          </a:prstGeom>
          <a:noFill/>
        </p:spPr>
        <p:txBody>
          <a:bodyPr wrap="square" rtlCol="0" anchor="ctr"/>
          <a:lstStyle/>
          <a:p>
            <a:pPr marL="0" indent="0" algn="r">
              <a:buNone/>
            </a:pPr>
            <a:r>
              <a:rPr lang="en-US" sz="900" dirty="0">
                <a:solidFill>
                  <a:srgbClr val="A8B0C7"/>
                </a:solidFill>
                <a:latin typeface="Calibri" panose="020F0502020204030204" pitchFamily="34" charset="0"/>
                <a:ea typeface="Calibri" panose="020F0502020204030204" pitchFamily="34" charset="-122"/>
                <a:cs typeface="Calibri" panose="020F0502020204030204"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rtlCol="0" anchor="ctr"/>
          <a:lstStyle/>
          <a:p>
            <a:pPr marL="0" indent="0">
              <a:buNone/>
            </a:pPr>
            <a:r>
              <a:rPr lang="en-US" sz="1300" b="1" kern="0" spc="200" dirty="0">
                <a:solidFill>
                  <a:srgbClr val="F2A93B"/>
                </a:solidFill>
                <a:latin typeface="Calibri" panose="020F0502020204030204" pitchFamily="34" charset="0"/>
                <a:ea typeface="Calibri" panose="020F0502020204030204" pitchFamily="34" charset="-122"/>
                <a:cs typeface="Calibri" panose="020F0502020204030204" pitchFamily="34" charset="-120"/>
              </a:rPr>
              <a:t>SOLUTION PROPOSÉE</a:t>
            </a:r>
            <a:endParaRPr lang="en-US" sz="1300" dirty="0"/>
          </a:p>
        </p:txBody>
      </p:sp>
      <p:sp>
        <p:nvSpPr>
          <p:cNvPr id="3" name="Text 1"/>
          <p:cNvSpPr/>
          <p:nvPr/>
        </p:nvSpPr>
        <p:spPr>
          <a:xfrm>
            <a:off x="548640" y="658368"/>
            <a:ext cx="10789920" cy="685800"/>
          </a:xfrm>
          <a:prstGeom prst="rect">
            <a:avLst/>
          </a:prstGeom>
          <a:noFill/>
        </p:spPr>
        <p:txBody>
          <a:bodyPr wrap="square" rtlCol="0" anchor="ctr"/>
          <a:lstStyle/>
          <a:p>
            <a:pPr marL="0" indent="0">
              <a:buNone/>
            </a:pPr>
            <a:r>
              <a:rPr lang="en-US" sz="3000" b="1" dirty="0">
                <a:solidFill>
                  <a:srgbClr val="1E2761"/>
                </a:solidFill>
                <a:latin typeface="Cambria" panose="02040503050406030204" pitchFamily="34" charset="0"/>
                <a:ea typeface="Cambria" panose="02040503050406030204" pitchFamily="34" charset="-122"/>
                <a:cs typeface="Cambria" panose="02040503050406030204" pitchFamily="34" charset="-120"/>
              </a:rPr>
              <a:t>Une plateforme, deux profils de gestion</a:t>
            </a:r>
            <a:endParaRPr lang="en-US" sz="3000" dirty="0"/>
          </a:p>
        </p:txBody>
      </p:sp>
      <p:sp>
        <p:nvSpPr>
          <p:cNvPr id="4" name="Shape 2"/>
          <p:cNvSpPr/>
          <p:nvPr/>
        </p:nvSpPr>
        <p:spPr>
          <a:xfrm>
            <a:off x="548640" y="1600200"/>
            <a:ext cx="5349240" cy="4572000"/>
          </a:xfrm>
          <a:prstGeom prst="roundRect">
            <a:avLst>
              <a:gd name="adj" fmla="val 2000"/>
            </a:avLst>
          </a:prstGeom>
          <a:solidFill>
            <a:srgbClr val="1E2761"/>
          </a:solidFill>
          <a:effectLst>
            <a:outerShdw blurRad="76200" dist="25400" dir="5400000" algn="bl" rotWithShape="0">
              <a:srgbClr val="000000">
                <a:alpha val="15000"/>
              </a:srgbClr>
            </a:outerShdw>
          </a:effectLst>
        </p:spPr>
      </p:sp>
      <p:sp>
        <p:nvSpPr>
          <p:cNvPr id="5" name="Text 3"/>
          <p:cNvSpPr/>
          <p:nvPr/>
        </p:nvSpPr>
        <p:spPr>
          <a:xfrm>
            <a:off x="868680" y="1874520"/>
            <a:ext cx="4709160" cy="502920"/>
          </a:xfrm>
          <a:prstGeom prst="rect">
            <a:avLst/>
          </a:prstGeom>
          <a:noFill/>
        </p:spPr>
        <p:txBody>
          <a:bodyPr wrap="square" rtlCol="0" anchor="ctr"/>
          <a:lstStyle/>
          <a:p>
            <a:pPr marL="0" indent="0">
              <a:buNone/>
            </a:pPr>
            <a:r>
              <a:rPr lang="en-US" sz="1800" b="1" dirty="0">
                <a:solidFill>
                  <a:srgbClr val="FFFFFF"/>
                </a:solidFill>
                <a:latin typeface="Cambria" panose="02040503050406030204" pitchFamily="34" charset="0"/>
                <a:ea typeface="Cambria" panose="02040503050406030204" pitchFamily="34" charset="-122"/>
                <a:cs typeface="Cambria" panose="02040503050406030204" pitchFamily="34" charset="-120"/>
              </a:rPr>
              <a:t>Profil A — Location classique</a:t>
            </a:r>
            <a:endParaRPr lang="en-US" sz="1800" dirty="0"/>
          </a:p>
        </p:txBody>
      </p:sp>
      <p:sp>
        <p:nvSpPr>
          <p:cNvPr id="6" name="Text 4"/>
          <p:cNvSpPr/>
          <p:nvPr/>
        </p:nvSpPr>
        <p:spPr>
          <a:xfrm>
            <a:off x="868680" y="2350008"/>
            <a:ext cx="4709160" cy="320040"/>
          </a:xfrm>
          <a:prstGeom prst="rect">
            <a:avLst/>
          </a:prstGeom>
          <a:noFill/>
        </p:spPr>
        <p:txBody>
          <a:bodyPr wrap="square" rtlCol="0" anchor="ctr"/>
          <a:lstStyle/>
          <a:p>
            <a:pPr marL="0" indent="0">
              <a:buNone/>
            </a:pPr>
            <a:r>
              <a:rPr lang="en-US" sz="1200" i="1" dirty="0">
                <a:solidFill>
                  <a:srgbClr val="F2A93B"/>
                </a:solidFill>
                <a:latin typeface="Calibri" panose="020F0502020204030204" pitchFamily="34" charset="0"/>
                <a:ea typeface="Calibri" panose="020F0502020204030204" pitchFamily="34" charset="-122"/>
                <a:cs typeface="Calibri" panose="020F0502020204030204" pitchFamily="34" charset="-120"/>
              </a:rPr>
              <a:t>Bail à durée indéterminée</a:t>
            </a:r>
            <a:endParaRPr lang="en-US" sz="1200" dirty="0"/>
          </a:p>
        </p:txBody>
      </p:sp>
      <p:sp>
        <p:nvSpPr>
          <p:cNvPr id="7" name="Shape 5"/>
          <p:cNvSpPr/>
          <p:nvPr/>
        </p:nvSpPr>
        <p:spPr>
          <a:xfrm>
            <a:off x="868680" y="2770632"/>
            <a:ext cx="4709160" cy="0"/>
          </a:xfrm>
          <a:prstGeom prst="line">
            <a:avLst/>
          </a:prstGeom>
          <a:noFill/>
          <a:ln w="9525">
            <a:solidFill>
              <a:srgbClr val="FFFFFF">
                <a:alpha val="40000"/>
              </a:srgbClr>
            </a:solidFill>
            <a:prstDash val="solid"/>
          </a:ln>
        </p:spPr>
      </p:sp>
      <p:sp>
        <p:nvSpPr>
          <p:cNvPr id="8" name="Text 6"/>
          <p:cNvSpPr/>
          <p:nvPr/>
        </p:nvSpPr>
        <p:spPr>
          <a:xfrm>
            <a:off x="868680" y="2971800"/>
            <a:ext cx="4709160" cy="3017520"/>
          </a:xfrm>
          <a:prstGeom prst="rect">
            <a:avLst/>
          </a:prstGeom>
          <a:noFill/>
        </p:spPr>
        <p:txBody>
          <a:bodyPr wrap="square" rtlCol="0" anchor="t"/>
          <a:lstStyle/>
          <a:p>
            <a:pPr marL="177800" indent="-177800">
              <a:lnSpc>
                <a:spcPct val="115000"/>
              </a:lnSpc>
              <a:spcAft>
                <a:spcPts val="1000"/>
              </a:spcAft>
              <a:buSzPct val="100000"/>
              <a:buChar char="▪"/>
            </a:pPr>
            <a:r>
              <a:rPr lang="en-US" sz="1250" dirty="0">
                <a:solidFill>
                  <a:srgbClr val="CADCFC"/>
                </a:solidFill>
                <a:latin typeface="Calibri" panose="020F0502020204030204" pitchFamily="34" charset="0"/>
                <a:ea typeface="Calibri" panose="020F0502020204030204" pitchFamily="34" charset="-122"/>
                <a:cs typeface="Calibri" panose="020F0502020204030204" pitchFamily="34" charset="-120"/>
              </a:rPr>
              <a:t>Gestion des biens &amp; unités (immeubles, appartements)</a:t>
            </a:r>
            <a:endParaRPr lang="en-US" sz="1250" dirty="0"/>
          </a:p>
          <a:p>
            <a:pPr marL="177800" indent="-177800">
              <a:lnSpc>
                <a:spcPct val="115000"/>
              </a:lnSpc>
              <a:spcAft>
                <a:spcPts val="1000"/>
              </a:spcAft>
              <a:buSzPct val="100000"/>
              <a:buChar char="▪"/>
            </a:pPr>
            <a:r>
              <a:rPr lang="en-US" sz="1250" dirty="0">
                <a:solidFill>
                  <a:srgbClr val="CADCFC"/>
                </a:solidFill>
                <a:latin typeface="Calibri" panose="020F0502020204030204" pitchFamily="34" charset="0"/>
                <a:ea typeface="Calibri" panose="020F0502020204030204" pitchFamily="34" charset="-122"/>
                <a:cs typeface="Calibri" panose="020F0502020204030204" pitchFamily="34" charset="-120"/>
              </a:rPr>
              <a:t>Contrats de bail : création, renouvellement, résiliation</a:t>
            </a:r>
            <a:endParaRPr lang="en-US" sz="1250" dirty="0"/>
          </a:p>
          <a:p>
            <a:pPr marL="177800" indent="-177800">
              <a:lnSpc>
                <a:spcPct val="115000"/>
              </a:lnSpc>
              <a:spcAft>
                <a:spcPts val="1000"/>
              </a:spcAft>
              <a:buSzPct val="100000"/>
              <a:buChar char="▪"/>
            </a:pPr>
            <a:r>
              <a:rPr lang="en-US" sz="1250" dirty="0">
                <a:solidFill>
                  <a:srgbClr val="CADCFC"/>
                </a:solidFill>
                <a:latin typeface="Calibri" panose="020F0502020204030204" pitchFamily="34" charset="0"/>
                <a:ea typeface="Calibri" panose="020F0502020204030204" pitchFamily="34" charset="-122"/>
                <a:cs typeface="Calibri" panose="020F0502020204030204" pitchFamily="34" charset="-120"/>
              </a:rPr>
              <a:t>Quittances automatiques &amp; suivi des impayés</a:t>
            </a:r>
            <a:endParaRPr lang="en-US" sz="1250" dirty="0"/>
          </a:p>
          <a:p>
            <a:pPr marL="177800" indent="-177800">
              <a:lnSpc>
                <a:spcPct val="115000"/>
              </a:lnSpc>
              <a:spcAft>
                <a:spcPts val="1000"/>
              </a:spcAft>
              <a:buSzPct val="100000"/>
              <a:buChar char="▪"/>
            </a:pPr>
            <a:r>
              <a:rPr lang="en-US" sz="1250" dirty="0">
                <a:solidFill>
                  <a:srgbClr val="CADCFC"/>
                </a:solidFill>
                <a:latin typeface="Calibri" panose="020F0502020204030204" pitchFamily="34" charset="0"/>
                <a:ea typeface="Calibri" panose="020F0502020204030204" pitchFamily="34" charset="-122"/>
                <a:cs typeface="Calibri" panose="020F0502020204030204" pitchFamily="34" charset="-120"/>
              </a:rPr>
              <a:t>Notifications push : échéances, relances, confirmations</a:t>
            </a:r>
            <a:endParaRPr lang="en-US" sz="1250" dirty="0"/>
          </a:p>
          <a:p>
            <a:pPr marL="177800" indent="-177800">
              <a:lnSpc>
                <a:spcPct val="115000"/>
              </a:lnSpc>
              <a:spcAft>
                <a:spcPts val="1000"/>
              </a:spcAft>
              <a:buSzPct val="100000"/>
              <a:buChar char="▪"/>
            </a:pPr>
            <a:r>
              <a:rPr lang="en-US" sz="1250" dirty="0">
                <a:solidFill>
                  <a:srgbClr val="CADCFC"/>
                </a:solidFill>
                <a:latin typeface="Calibri" panose="020F0502020204030204" pitchFamily="34" charset="0"/>
                <a:ea typeface="Calibri" panose="020F0502020204030204" pitchFamily="34" charset="-122"/>
                <a:cs typeface="Calibri" panose="020F0502020204030204" pitchFamily="34" charset="-120"/>
              </a:rPr>
              <a:t>Tableau de bord : occupation, revenus, impayés</a:t>
            </a:r>
            <a:endParaRPr lang="en-US" sz="1250" dirty="0"/>
          </a:p>
        </p:txBody>
      </p:sp>
      <p:sp>
        <p:nvSpPr>
          <p:cNvPr id="9" name="Shape 7"/>
          <p:cNvSpPr/>
          <p:nvPr/>
        </p:nvSpPr>
        <p:spPr>
          <a:xfrm>
            <a:off x="6263640" y="1600200"/>
            <a:ext cx="5349240" cy="4572000"/>
          </a:xfrm>
          <a:prstGeom prst="roundRect">
            <a:avLst>
              <a:gd name="adj" fmla="val 2000"/>
            </a:avLst>
          </a:prstGeom>
          <a:solidFill>
            <a:srgbClr val="334A9E"/>
          </a:solidFill>
          <a:effectLst>
            <a:outerShdw blurRad="76200" dist="25400" dir="5400000" algn="bl" rotWithShape="0">
              <a:srgbClr val="000000">
                <a:alpha val="15000"/>
              </a:srgbClr>
            </a:outerShdw>
          </a:effectLst>
        </p:spPr>
      </p:sp>
      <p:sp>
        <p:nvSpPr>
          <p:cNvPr id="10" name="Text 8"/>
          <p:cNvSpPr/>
          <p:nvPr/>
        </p:nvSpPr>
        <p:spPr>
          <a:xfrm>
            <a:off x="6583680" y="1874520"/>
            <a:ext cx="4709160" cy="502920"/>
          </a:xfrm>
          <a:prstGeom prst="rect">
            <a:avLst/>
          </a:prstGeom>
          <a:noFill/>
        </p:spPr>
        <p:txBody>
          <a:bodyPr wrap="square" rtlCol="0" anchor="ctr"/>
          <a:lstStyle/>
          <a:p>
            <a:pPr marL="0" indent="0">
              <a:buNone/>
            </a:pPr>
            <a:r>
              <a:rPr lang="en-US" sz="1800" b="1" dirty="0">
                <a:solidFill>
                  <a:srgbClr val="FFFFFF"/>
                </a:solidFill>
                <a:latin typeface="Cambria" panose="02040503050406030204" pitchFamily="34" charset="0"/>
                <a:ea typeface="Cambria" panose="02040503050406030204" pitchFamily="34" charset="-122"/>
                <a:cs typeface="Cambria" panose="02040503050406030204" pitchFamily="34" charset="-120"/>
              </a:rPr>
              <a:t>Profil B — Appartements de séjour</a:t>
            </a:r>
            <a:endParaRPr lang="en-US" sz="1800" dirty="0"/>
          </a:p>
        </p:txBody>
      </p:sp>
      <p:sp>
        <p:nvSpPr>
          <p:cNvPr id="11" name="Text 9"/>
          <p:cNvSpPr/>
          <p:nvPr/>
        </p:nvSpPr>
        <p:spPr>
          <a:xfrm>
            <a:off x="6583680" y="2350008"/>
            <a:ext cx="4709160" cy="320040"/>
          </a:xfrm>
          <a:prstGeom prst="rect">
            <a:avLst/>
          </a:prstGeom>
          <a:noFill/>
        </p:spPr>
        <p:txBody>
          <a:bodyPr wrap="square" rtlCol="0" anchor="ctr"/>
          <a:lstStyle/>
          <a:p>
            <a:pPr marL="0" indent="0">
              <a:buNone/>
            </a:pPr>
            <a:r>
              <a:rPr lang="en-US" sz="1200" i="1" dirty="0">
                <a:solidFill>
                  <a:srgbClr val="F2A93B"/>
                </a:solidFill>
                <a:latin typeface="Calibri" panose="020F0502020204030204" pitchFamily="34" charset="0"/>
                <a:ea typeface="Calibri" panose="020F0502020204030204" pitchFamily="34" charset="-122"/>
                <a:cs typeface="Calibri" panose="020F0502020204030204" pitchFamily="34" charset="-120"/>
              </a:rPr>
              <a:t>Location de courte durée (Airbnb)</a:t>
            </a:r>
            <a:endParaRPr lang="en-US" sz="1200" dirty="0"/>
          </a:p>
        </p:txBody>
      </p:sp>
      <p:sp>
        <p:nvSpPr>
          <p:cNvPr id="12" name="Shape 10"/>
          <p:cNvSpPr/>
          <p:nvPr/>
        </p:nvSpPr>
        <p:spPr>
          <a:xfrm>
            <a:off x="6583680" y="2770632"/>
            <a:ext cx="4709160" cy="0"/>
          </a:xfrm>
          <a:prstGeom prst="line">
            <a:avLst/>
          </a:prstGeom>
          <a:noFill/>
          <a:ln w="9525">
            <a:solidFill>
              <a:srgbClr val="FFFFFF">
                <a:alpha val="40000"/>
              </a:srgbClr>
            </a:solidFill>
            <a:prstDash val="solid"/>
          </a:ln>
        </p:spPr>
      </p:sp>
      <p:sp>
        <p:nvSpPr>
          <p:cNvPr id="13" name="Text 11"/>
          <p:cNvSpPr/>
          <p:nvPr/>
        </p:nvSpPr>
        <p:spPr>
          <a:xfrm>
            <a:off x="6583680" y="2971800"/>
            <a:ext cx="4709160" cy="3017520"/>
          </a:xfrm>
          <a:prstGeom prst="rect">
            <a:avLst/>
          </a:prstGeom>
          <a:noFill/>
        </p:spPr>
        <p:txBody>
          <a:bodyPr wrap="square" rtlCol="0" anchor="t"/>
          <a:lstStyle/>
          <a:p>
            <a:pPr marL="177800" indent="-177800">
              <a:lnSpc>
                <a:spcPct val="115000"/>
              </a:lnSpc>
              <a:spcAft>
                <a:spcPts val="1000"/>
              </a:spcAft>
              <a:buSzPct val="100000"/>
              <a:buChar char="▪"/>
            </a:pPr>
            <a:r>
              <a:rPr lang="en-US" sz="1250" dirty="0">
                <a:solidFill>
                  <a:srgbClr val="CADCFC"/>
                </a:solidFill>
                <a:latin typeface="Calibri" panose="020F0502020204030204" pitchFamily="34" charset="0"/>
                <a:ea typeface="Calibri" panose="020F0502020204030204" pitchFamily="34" charset="-122"/>
                <a:cs typeface="Calibri" panose="020F0502020204030204" pitchFamily="34" charset="-120"/>
              </a:rPr>
              <a:t>Gestion des appartements meublés &amp; maintenance</a:t>
            </a:r>
            <a:endParaRPr lang="en-US" sz="1250" dirty="0"/>
          </a:p>
          <a:p>
            <a:pPr marL="177800" indent="-177800">
              <a:lnSpc>
                <a:spcPct val="115000"/>
              </a:lnSpc>
              <a:spcAft>
                <a:spcPts val="1000"/>
              </a:spcAft>
              <a:buSzPct val="100000"/>
              <a:buChar char="▪"/>
            </a:pPr>
            <a:r>
              <a:rPr lang="en-US" sz="1250" dirty="0">
                <a:solidFill>
                  <a:srgbClr val="CADCFC"/>
                </a:solidFill>
                <a:latin typeface="Calibri" panose="020F0502020204030204" pitchFamily="34" charset="0"/>
                <a:ea typeface="Calibri" panose="020F0502020204030204" pitchFamily="34" charset="-122"/>
                <a:cs typeface="Calibri" panose="020F0502020204030204" pitchFamily="34" charset="-120"/>
              </a:rPr>
              <a:t>Réservations : calcul auto (tarif × nuits, réductions)</a:t>
            </a:r>
            <a:endParaRPr lang="en-US" sz="1250" dirty="0"/>
          </a:p>
          <a:p>
            <a:pPr marL="177800" indent="-177800">
              <a:lnSpc>
                <a:spcPct val="115000"/>
              </a:lnSpc>
              <a:spcAft>
                <a:spcPts val="1000"/>
              </a:spcAft>
              <a:buSzPct val="100000"/>
              <a:buChar char="▪"/>
            </a:pPr>
            <a:r>
              <a:rPr lang="en-US" sz="1250" dirty="0">
                <a:solidFill>
                  <a:srgbClr val="CADCFC"/>
                </a:solidFill>
                <a:latin typeface="Calibri" panose="020F0502020204030204" pitchFamily="34" charset="0"/>
                <a:ea typeface="Calibri" panose="020F0502020204030204" pitchFamily="34" charset="-122"/>
                <a:cs typeface="Calibri" panose="020F0502020204030204" pitchFamily="34" charset="-120"/>
              </a:rPr>
              <a:t>Suivi des dépenses et rentabilité nette par unité</a:t>
            </a:r>
            <a:endParaRPr lang="en-US" sz="1250" dirty="0"/>
          </a:p>
          <a:p>
            <a:pPr marL="177800" indent="-177800">
              <a:lnSpc>
                <a:spcPct val="115000"/>
              </a:lnSpc>
              <a:spcAft>
                <a:spcPts val="1000"/>
              </a:spcAft>
              <a:buSzPct val="100000"/>
              <a:buChar char="▪"/>
            </a:pPr>
            <a:r>
              <a:rPr lang="en-US" sz="1250" dirty="0">
                <a:solidFill>
                  <a:srgbClr val="CADCFC"/>
                </a:solidFill>
                <a:latin typeface="Calibri" panose="020F0502020204030204" pitchFamily="34" charset="0"/>
                <a:ea typeface="Calibri" panose="020F0502020204030204" pitchFamily="34" charset="-122"/>
                <a:cs typeface="Calibri" panose="020F0502020204030204" pitchFamily="34" charset="-120"/>
              </a:rPr>
              <a:t>Calendrier visuel d'occupation</a:t>
            </a:r>
            <a:endParaRPr lang="en-US" sz="1250" dirty="0"/>
          </a:p>
          <a:p>
            <a:pPr marL="177800" indent="-177800">
              <a:lnSpc>
                <a:spcPct val="115000"/>
              </a:lnSpc>
              <a:spcAft>
                <a:spcPts val="1000"/>
              </a:spcAft>
              <a:buSzPct val="100000"/>
              <a:buChar char="▪"/>
            </a:pPr>
            <a:r>
              <a:rPr lang="en-US" sz="1250" dirty="0">
                <a:solidFill>
                  <a:srgbClr val="CADCFC"/>
                </a:solidFill>
                <a:latin typeface="Calibri" panose="020F0502020204030204" pitchFamily="34" charset="0"/>
                <a:ea typeface="Calibri" panose="020F0502020204030204" pitchFamily="34" charset="-122"/>
                <a:cs typeface="Calibri" panose="020F0502020204030204" pitchFamily="34" charset="-120"/>
              </a:rPr>
              <a:t>Tableau de bord : chiffre d'affaires, bénéfice net</a:t>
            </a:r>
            <a:endParaRPr lang="en-US" sz="1250" dirty="0"/>
          </a:p>
        </p:txBody>
      </p:sp>
      <p:sp>
        <p:nvSpPr>
          <p:cNvPr id="14" name="Text 12"/>
          <p:cNvSpPr/>
          <p:nvPr/>
        </p:nvSpPr>
        <p:spPr>
          <a:xfrm>
            <a:off x="457200" y="6519672"/>
            <a:ext cx="7315200" cy="274320"/>
          </a:xfrm>
          <a:prstGeom prst="rect">
            <a:avLst/>
          </a:prstGeom>
          <a:noFill/>
        </p:spPr>
        <p:txBody>
          <a:bodyPr wrap="square" rtlCol="0" anchor="ctr"/>
          <a:lstStyle/>
          <a:p>
            <a:pPr marL="0" indent="0" algn="l">
              <a:buNone/>
            </a:pPr>
            <a:r>
              <a:rPr lang="en-US" sz="900" dirty="0">
                <a:solidFill>
                  <a:srgbClr val="A8B0C7"/>
                </a:solidFill>
                <a:latin typeface="Calibri" panose="020F0502020204030204" pitchFamily="34" charset="0"/>
                <a:ea typeface="Calibri" panose="020F0502020204030204" pitchFamily="34" charset="-122"/>
                <a:cs typeface="Calibri" panose="020F0502020204030204" pitchFamily="34" charset="-120"/>
              </a:rPr>
              <a:t>Mémoire de Licence — Génie Logiciel — Gbandi Wake</a:t>
            </a:r>
            <a:endParaRPr lang="en-US" sz="900" dirty="0"/>
          </a:p>
        </p:txBody>
      </p:sp>
      <p:sp>
        <p:nvSpPr>
          <p:cNvPr id="15" name="Text 13"/>
          <p:cNvSpPr/>
          <p:nvPr/>
        </p:nvSpPr>
        <p:spPr>
          <a:xfrm>
            <a:off x="11521440" y="6519672"/>
            <a:ext cx="365760" cy="274320"/>
          </a:xfrm>
          <a:prstGeom prst="rect">
            <a:avLst/>
          </a:prstGeom>
          <a:noFill/>
        </p:spPr>
        <p:txBody>
          <a:bodyPr wrap="square" rtlCol="0" anchor="ctr"/>
          <a:lstStyle/>
          <a:p>
            <a:pPr marL="0" indent="0" algn="r">
              <a:buNone/>
            </a:pPr>
            <a:r>
              <a:rPr lang="en-US" sz="900" dirty="0">
                <a:solidFill>
                  <a:srgbClr val="A8B0C7"/>
                </a:solidFill>
                <a:latin typeface="Calibri" panose="020F0502020204030204" pitchFamily="34" charset="0"/>
                <a:ea typeface="Calibri" panose="020F0502020204030204" pitchFamily="34" charset="-122"/>
                <a:cs typeface="Calibri" panose="020F0502020204030204"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rtlCol="0" anchor="ctr"/>
          <a:lstStyle/>
          <a:p>
            <a:pPr marL="0" indent="0">
              <a:buNone/>
            </a:pPr>
            <a:r>
              <a:rPr lang="en-US" sz="1300" b="1" kern="0" spc="200" dirty="0">
                <a:solidFill>
                  <a:srgbClr val="F2A93B"/>
                </a:solidFill>
                <a:latin typeface="Calibri" panose="020F0502020204030204" pitchFamily="34" charset="0"/>
                <a:ea typeface="Calibri" panose="020F0502020204030204" pitchFamily="34" charset="-122"/>
                <a:cs typeface="Calibri" panose="020F0502020204030204" pitchFamily="34" charset="-120"/>
              </a:rPr>
              <a:t>MÉTHODOLOGIE</a:t>
            </a:r>
            <a:endParaRPr lang="en-US" sz="1300" dirty="0"/>
          </a:p>
        </p:txBody>
      </p:sp>
      <p:sp>
        <p:nvSpPr>
          <p:cNvPr id="3" name="Text 1"/>
          <p:cNvSpPr/>
          <p:nvPr/>
        </p:nvSpPr>
        <p:spPr>
          <a:xfrm>
            <a:off x="548640" y="658368"/>
            <a:ext cx="10789920" cy="685800"/>
          </a:xfrm>
          <a:prstGeom prst="rect">
            <a:avLst/>
          </a:prstGeom>
          <a:noFill/>
        </p:spPr>
        <p:txBody>
          <a:bodyPr wrap="square" rtlCol="0" anchor="ctr"/>
          <a:lstStyle/>
          <a:p>
            <a:pPr marL="0" indent="0">
              <a:buNone/>
            </a:pPr>
            <a:r>
              <a:rPr lang="en-US" sz="3000" b="1" dirty="0">
                <a:solidFill>
                  <a:srgbClr val="1E2761"/>
                </a:solidFill>
                <a:latin typeface="Cambria" panose="02040503050406030204" pitchFamily="34" charset="0"/>
                <a:ea typeface="Cambria" panose="02040503050406030204" pitchFamily="34" charset="-122"/>
                <a:cs typeface="Cambria" panose="02040503050406030204" pitchFamily="34" charset="-120"/>
              </a:rPr>
              <a:t>Une approche orientée objet, pilotée par les cas d'utilisation</a:t>
            </a:r>
            <a:endParaRPr lang="en-US" sz="3000" dirty="0"/>
          </a:p>
        </p:txBody>
      </p:sp>
      <p:sp>
        <p:nvSpPr>
          <p:cNvPr id="4" name="Text 2"/>
          <p:cNvSpPr/>
          <p:nvPr/>
        </p:nvSpPr>
        <p:spPr>
          <a:xfrm>
            <a:off x="548640" y="1554480"/>
            <a:ext cx="11064240" cy="731520"/>
          </a:xfrm>
          <a:prstGeom prst="rect">
            <a:avLst/>
          </a:prstGeom>
          <a:noFill/>
        </p:spPr>
        <p:txBody>
          <a:bodyPr wrap="square" rtlCol="0" anchor="ctr"/>
          <a:lstStyle/>
          <a:p>
            <a:pPr marL="0" indent="0">
              <a:lnSpc>
                <a:spcPct val="120000"/>
              </a:lnSpc>
              <a:buNone/>
            </a:pPr>
            <a:r>
              <a:rPr lang="en-US" sz="1350" dirty="0">
                <a:solidFill>
                  <a:srgbClr val="44506B"/>
                </a:solidFill>
                <a:latin typeface="Calibri" panose="020F0502020204030204" pitchFamily="34" charset="0"/>
                <a:ea typeface="Calibri" panose="020F0502020204030204" pitchFamily="34" charset="-122"/>
                <a:cs typeface="Calibri" panose="020F0502020204030204" pitchFamily="34" charset="-120"/>
              </a:rPr>
              <a:t>Modélisation entièrement réalisée en UML 2.x (Draw.io pour les diagrammes structurels, PlantUML pour les diagrammes comportementaux), selon un cycle de vie itératif et incrémental adapté à un projet mené en solo sur 3 à 4 mois.</a:t>
            </a:r>
            <a:endParaRPr lang="en-US" sz="1350" dirty="0"/>
          </a:p>
        </p:txBody>
      </p:sp>
      <p:sp>
        <p:nvSpPr>
          <p:cNvPr id="5" name="Shape 3"/>
          <p:cNvSpPr/>
          <p:nvPr/>
        </p:nvSpPr>
        <p:spPr>
          <a:xfrm>
            <a:off x="548640" y="2514600"/>
            <a:ext cx="3566160" cy="1417320"/>
          </a:xfrm>
          <a:prstGeom prst="roundRect">
            <a:avLst>
              <a:gd name="adj" fmla="val 5161"/>
            </a:avLst>
          </a:prstGeom>
          <a:solidFill>
            <a:srgbClr val="F4F7FD"/>
          </a:solidFill>
          <a:ln w="12700">
            <a:solidFill>
              <a:srgbClr val="CADCFC"/>
            </a:solidFill>
            <a:prstDash val="solid"/>
          </a:ln>
        </p:spPr>
      </p:sp>
      <p:sp>
        <p:nvSpPr>
          <p:cNvPr id="6" name="Text 4"/>
          <p:cNvSpPr/>
          <p:nvPr/>
        </p:nvSpPr>
        <p:spPr>
          <a:xfrm>
            <a:off x="731520" y="2624328"/>
            <a:ext cx="3200400" cy="365760"/>
          </a:xfrm>
          <a:prstGeom prst="rect">
            <a:avLst/>
          </a:prstGeom>
          <a:noFill/>
        </p:spPr>
        <p:txBody>
          <a:bodyPr wrap="square" rtlCol="0" anchor="ctr"/>
          <a:lstStyle/>
          <a:p>
            <a:pPr marL="0" indent="0">
              <a:buNone/>
            </a:pPr>
            <a:r>
              <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rPr>
              <a:t>Contexte</a:t>
            </a:r>
            <a:endParaRPr lang="en-US" sz="1400" dirty="0"/>
          </a:p>
        </p:txBody>
      </p:sp>
      <p:sp>
        <p:nvSpPr>
          <p:cNvPr id="7" name="Text 5"/>
          <p:cNvSpPr/>
          <p:nvPr/>
        </p:nvSpPr>
        <p:spPr>
          <a:xfrm>
            <a:off x="731520" y="3044952"/>
            <a:ext cx="3200400" cy="822960"/>
          </a:xfrm>
          <a:prstGeom prst="rect">
            <a:avLst/>
          </a:prstGeom>
          <a:noFill/>
        </p:spPr>
        <p:txBody>
          <a:bodyPr wrap="square" rtlCol="0" anchor="ctr"/>
          <a:lstStyle/>
          <a:p>
            <a:pPr marL="0" indent="0">
              <a:lnSpc>
                <a:spcPct val="115000"/>
              </a:lnSpc>
              <a:buNone/>
            </a:pPr>
            <a:r>
              <a:rPr lang="en-US" sz="1100" dirty="0">
                <a:solidFill>
                  <a:srgbClr val="44506B"/>
                </a:solidFill>
                <a:latin typeface="Calibri" panose="020F0502020204030204" pitchFamily="34" charset="0"/>
                <a:ea typeface="Calibri" panose="020F0502020204030204" pitchFamily="34" charset="-122"/>
                <a:cs typeface="Calibri" panose="020F0502020204030204" pitchFamily="34" charset="-120"/>
              </a:rPr>
              <a:t>Périmètre du système et acteurs externes (FedaPay)</a:t>
            </a:r>
            <a:endParaRPr lang="en-US" sz="1100" dirty="0"/>
          </a:p>
        </p:txBody>
      </p:sp>
      <p:sp>
        <p:nvSpPr>
          <p:cNvPr id="8" name="Shape 6"/>
          <p:cNvSpPr/>
          <p:nvPr/>
        </p:nvSpPr>
        <p:spPr>
          <a:xfrm>
            <a:off x="4297680" y="2514600"/>
            <a:ext cx="3566160" cy="1417320"/>
          </a:xfrm>
          <a:prstGeom prst="roundRect">
            <a:avLst>
              <a:gd name="adj" fmla="val 5161"/>
            </a:avLst>
          </a:prstGeom>
          <a:solidFill>
            <a:srgbClr val="F4F7FD"/>
          </a:solidFill>
          <a:ln w="12700">
            <a:solidFill>
              <a:srgbClr val="CADCFC"/>
            </a:solidFill>
            <a:prstDash val="solid"/>
          </a:ln>
        </p:spPr>
      </p:sp>
      <p:sp>
        <p:nvSpPr>
          <p:cNvPr id="9" name="Text 7"/>
          <p:cNvSpPr/>
          <p:nvPr/>
        </p:nvSpPr>
        <p:spPr>
          <a:xfrm>
            <a:off x="4480560" y="2624328"/>
            <a:ext cx="3200400" cy="365760"/>
          </a:xfrm>
          <a:prstGeom prst="rect">
            <a:avLst/>
          </a:prstGeom>
          <a:noFill/>
        </p:spPr>
        <p:txBody>
          <a:bodyPr wrap="square" rtlCol="0" anchor="ctr"/>
          <a:lstStyle/>
          <a:p>
            <a:pPr marL="0" indent="0">
              <a:buNone/>
            </a:pPr>
            <a:r>
              <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rPr>
              <a:t>Cas d'utilisation</a:t>
            </a:r>
            <a:endParaRPr lang="en-US" sz="1400" dirty="0"/>
          </a:p>
        </p:txBody>
      </p:sp>
      <p:sp>
        <p:nvSpPr>
          <p:cNvPr id="10" name="Text 8"/>
          <p:cNvSpPr/>
          <p:nvPr/>
        </p:nvSpPr>
        <p:spPr>
          <a:xfrm>
            <a:off x="4480560" y="3044952"/>
            <a:ext cx="3200400" cy="822960"/>
          </a:xfrm>
          <a:prstGeom prst="rect">
            <a:avLst/>
          </a:prstGeom>
          <a:noFill/>
        </p:spPr>
        <p:txBody>
          <a:bodyPr wrap="square" rtlCol="0" anchor="ctr"/>
          <a:lstStyle/>
          <a:p>
            <a:pPr marL="0" indent="0">
              <a:lnSpc>
                <a:spcPct val="115000"/>
              </a:lnSpc>
              <a:buNone/>
            </a:pPr>
            <a:r>
              <a:rPr lang="en-US" sz="1100" dirty="0">
                <a:solidFill>
                  <a:srgbClr val="44506B"/>
                </a:solidFill>
                <a:latin typeface="Calibri" panose="020F0502020204030204" pitchFamily="34" charset="0"/>
                <a:ea typeface="Calibri" panose="020F0502020204030204" pitchFamily="34" charset="-122"/>
                <a:cs typeface="Calibri" panose="020F0502020204030204" pitchFamily="34" charset="-120"/>
              </a:rPr>
              <a:t>Fonctionnalités par acteur : Propriétaire / Locataire</a:t>
            </a:r>
            <a:endParaRPr lang="en-US" sz="1100" dirty="0"/>
          </a:p>
        </p:txBody>
      </p:sp>
      <p:sp>
        <p:nvSpPr>
          <p:cNvPr id="11" name="Shape 9"/>
          <p:cNvSpPr/>
          <p:nvPr/>
        </p:nvSpPr>
        <p:spPr>
          <a:xfrm>
            <a:off x="8046720" y="2514600"/>
            <a:ext cx="3566160" cy="1417320"/>
          </a:xfrm>
          <a:prstGeom prst="roundRect">
            <a:avLst>
              <a:gd name="adj" fmla="val 5161"/>
            </a:avLst>
          </a:prstGeom>
          <a:solidFill>
            <a:srgbClr val="F4F7FD"/>
          </a:solidFill>
          <a:ln w="12700">
            <a:solidFill>
              <a:srgbClr val="CADCFC"/>
            </a:solidFill>
            <a:prstDash val="solid"/>
          </a:ln>
        </p:spPr>
      </p:sp>
      <p:sp>
        <p:nvSpPr>
          <p:cNvPr id="12" name="Text 10"/>
          <p:cNvSpPr/>
          <p:nvPr/>
        </p:nvSpPr>
        <p:spPr>
          <a:xfrm>
            <a:off x="8229600" y="2624328"/>
            <a:ext cx="3200400" cy="365760"/>
          </a:xfrm>
          <a:prstGeom prst="rect">
            <a:avLst/>
          </a:prstGeom>
          <a:noFill/>
        </p:spPr>
        <p:txBody>
          <a:bodyPr wrap="square" rtlCol="0" anchor="ctr"/>
          <a:lstStyle/>
          <a:p>
            <a:pPr marL="0" indent="0">
              <a:buNone/>
            </a:pPr>
            <a:r>
              <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rPr>
              <a:t>Classes</a:t>
            </a:r>
            <a:endParaRPr lang="en-US" sz="1400" dirty="0"/>
          </a:p>
        </p:txBody>
      </p:sp>
      <p:sp>
        <p:nvSpPr>
          <p:cNvPr id="13" name="Text 11"/>
          <p:cNvSpPr/>
          <p:nvPr/>
        </p:nvSpPr>
        <p:spPr>
          <a:xfrm>
            <a:off x="8229600" y="3044952"/>
            <a:ext cx="3200400" cy="822960"/>
          </a:xfrm>
          <a:prstGeom prst="rect">
            <a:avLst/>
          </a:prstGeom>
          <a:noFill/>
        </p:spPr>
        <p:txBody>
          <a:bodyPr wrap="square" rtlCol="0" anchor="ctr"/>
          <a:lstStyle/>
          <a:p>
            <a:pPr marL="0" indent="0">
              <a:lnSpc>
                <a:spcPct val="115000"/>
              </a:lnSpc>
              <a:buNone/>
            </a:pPr>
            <a:r>
              <a:rPr lang="en-US" sz="1100" dirty="0">
                <a:solidFill>
                  <a:srgbClr val="44506B"/>
                </a:solidFill>
                <a:latin typeface="Calibri" panose="020F0502020204030204" pitchFamily="34" charset="0"/>
                <a:ea typeface="Calibri" panose="020F0502020204030204" pitchFamily="34" charset="-122"/>
                <a:cs typeface="Calibri" panose="020F0502020204030204" pitchFamily="34" charset="-120"/>
              </a:rPr>
              <a:t>Entités métier : Bien, Unité, ContratBail, Échéance...</a:t>
            </a:r>
            <a:endParaRPr lang="en-US" sz="1100" dirty="0"/>
          </a:p>
        </p:txBody>
      </p:sp>
      <p:sp>
        <p:nvSpPr>
          <p:cNvPr id="14" name="Shape 12"/>
          <p:cNvSpPr/>
          <p:nvPr/>
        </p:nvSpPr>
        <p:spPr>
          <a:xfrm>
            <a:off x="548640" y="4114800"/>
            <a:ext cx="3566160" cy="1417320"/>
          </a:xfrm>
          <a:prstGeom prst="roundRect">
            <a:avLst>
              <a:gd name="adj" fmla="val 5161"/>
            </a:avLst>
          </a:prstGeom>
          <a:solidFill>
            <a:srgbClr val="F4F7FD"/>
          </a:solidFill>
          <a:ln w="12700">
            <a:solidFill>
              <a:srgbClr val="CADCFC"/>
            </a:solidFill>
            <a:prstDash val="solid"/>
          </a:ln>
        </p:spPr>
      </p:sp>
      <p:sp>
        <p:nvSpPr>
          <p:cNvPr id="15" name="Text 13"/>
          <p:cNvSpPr/>
          <p:nvPr/>
        </p:nvSpPr>
        <p:spPr>
          <a:xfrm>
            <a:off x="731520" y="4224528"/>
            <a:ext cx="3200400" cy="365760"/>
          </a:xfrm>
          <a:prstGeom prst="rect">
            <a:avLst/>
          </a:prstGeom>
          <a:noFill/>
        </p:spPr>
        <p:txBody>
          <a:bodyPr wrap="square" rtlCol="0" anchor="ctr"/>
          <a:lstStyle/>
          <a:p>
            <a:pPr marL="0" indent="0">
              <a:buNone/>
            </a:pPr>
            <a:r>
              <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rPr>
              <a:t>Séquences</a:t>
            </a:r>
            <a:endParaRPr lang="en-US" sz="1400" dirty="0"/>
          </a:p>
        </p:txBody>
      </p:sp>
      <p:sp>
        <p:nvSpPr>
          <p:cNvPr id="16" name="Text 14"/>
          <p:cNvSpPr/>
          <p:nvPr/>
        </p:nvSpPr>
        <p:spPr>
          <a:xfrm>
            <a:off x="731520" y="4645152"/>
            <a:ext cx="3200400" cy="822960"/>
          </a:xfrm>
          <a:prstGeom prst="rect">
            <a:avLst/>
          </a:prstGeom>
          <a:noFill/>
        </p:spPr>
        <p:txBody>
          <a:bodyPr wrap="square" rtlCol="0" anchor="ctr"/>
          <a:lstStyle/>
          <a:p>
            <a:pPr marL="0" indent="0">
              <a:lnSpc>
                <a:spcPct val="115000"/>
              </a:lnSpc>
              <a:buNone/>
            </a:pPr>
            <a:r>
              <a:rPr lang="en-US" sz="1100" dirty="0">
                <a:solidFill>
                  <a:srgbClr val="44506B"/>
                </a:solidFill>
                <a:latin typeface="Calibri" panose="020F0502020204030204" pitchFamily="34" charset="0"/>
                <a:ea typeface="Calibri" panose="020F0502020204030204" pitchFamily="34" charset="-122"/>
                <a:cs typeface="Calibri" panose="020F0502020204030204" pitchFamily="34" charset="-120"/>
              </a:rPr>
              <a:t>Création de bail, paiement Mobile Money, webhook</a:t>
            </a:r>
            <a:endParaRPr lang="en-US" sz="1100" dirty="0"/>
          </a:p>
        </p:txBody>
      </p:sp>
      <p:sp>
        <p:nvSpPr>
          <p:cNvPr id="17" name="Shape 15"/>
          <p:cNvSpPr/>
          <p:nvPr/>
        </p:nvSpPr>
        <p:spPr>
          <a:xfrm>
            <a:off x="4297680" y="4114800"/>
            <a:ext cx="3566160" cy="1417320"/>
          </a:xfrm>
          <a:prstGeom prst="roundRect">
            <a:avLst>
              <a:gd name="adj" fmla="val 5161"/>
            </a:avLst>
          </a:prstGeom>
          <a:solidFill>
            <a:srgbClr val="F4F7FD"/>
          </a:solidFill>
          <a:ln w="12700">
            <a:solidFill>
              <a:srgbClr val="CADCFC"/>
            </a:solidFill>
            <a:prstDash val="solid"/>
          </a:ln>
        </p:spPr>
      </p:sp>
      <p:sp>
        <p:nvSpPr>
          <p:cNvPr id="18" name="Text 16"/>
          <p:cNvSpPr/>
          <p:nvPr/>
        </p:nvSpPr>
        <p:spPr>
          <a:xfrm>
            <a:off x="4480560" y="4224528"/>
            <a:ext cx="3200400" cy="365760"/>
          </a:xfrm>
          <a:prstGeom prst="rect">
            <a:avLst/>
          </a:prstGeom>
          <a:noFill/>
        </p:spPr>
        <p:txBody>
          <a:bodyPr wrap="square" rtlCol="0" anchor="ctr"/>
          <a:lstStyle/>
          <a:p>
            <a:pPr marL="0" indent="0">
              <a:buNone/>
            </a:pPr>
            <a:r>
              <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rPr>
              <a:t>État-transition</a:t>
            </a:r>
            <a:endParaRPr lang="en-US" sz="1400" dirty="0"/>
          </a:p>
        </p:txBody>
      </p:sp>
      <p:sp>
        <p:nvSpPr>
          <p:cNvPr id="19" name="Text 17"/>
          <p:cNvSpPr/>
          <p:nvPr/>
        </p:nvSpPr>
        <p:spPr>
          <a:xfrm>
            <a:off x="4480560" y="4645152"/>
            <a:ext cx="3200400" cy="822960"/>
          </a:xfrm>
          <a:prstGeom prst="rect">
            <a:avLst/>
          </a:prstGeom>
          <a:noFill/>
        </p:spPr>
        <p:txBody>
          <a:bodyPr wrap="square" rtlCol="0" anchor="ctr"/>
          <a:lstStyle/>
          <a:p>
            <a:pPr marL="0" indent="0">
              <a:lnSpc>
                <a:spcPct val="115000"/>
              </a:lnSpc>
              <a:buNone/>
            </a:pPr>
            <a:r>
              <a:rPr lang="en-US" sz="1100" dirty="0">
                <a:solidFill>
                  <a:srgbClr val="44506B"/>
                </a:solidFill>
                <a:latin typeface="Calibri" panose="020F0502020204030204" pitchFamily="34" charset="0"/>
                <a:ea typeface="Calibri" panose="020F0502020204030204" pitchFamily="34" charset="-122"/>
                <a:cs typeface="Calibri" panose="020F0502020204030204" pitchFamily="34" charset="-120"/>
              </a:rPr>
              <a:t>Cycle de vie du bail, de l'échéance, de l'unité</a:t>
            </a:r>
            <a:endParaRPr lang="en-US" sz="1100" dirty="0"/>
          </a:p>
        </p:txBody>
      </p:sp>
      <p:sp>
        <p:nvSpPr>
          <p:cNvPr id="20" name="Shape 18"/>
          <p:cNvSpPr/>
          <p:nvPr/>
        </p:nvSpPr>
        <p:spPr>
          <a:xfrm>
            <a:off x="8046720" y="4114800"/>
            <a:ext cx="3566160" cy="1417320"/>
          </a:xfrm>
          <a:prstGeom prst="roundRect">
            <a:avLst>
              <a:gd name="adj" fmla="val 5161"/>
            </a:avLst>
          </a:prstGeom>
          <a:solidFill>
            <a:srgbClr val="F4F7FD"/>
          </a:solidFill>
          <a:ln w="12700">
            <a:solidFill>
              <a:srgbClr val="CADCFC"/>
            </a:solidFill>
            <a:prstDash val="solid"/>
          </a:ln>
        </p:spPr>
      </p:sp>
      <p:sp>
        <p:nvSpPr>
          <p:cNvPr id="21" name="Text 19"/>
          <p:cNvSpPr/>
          <p:nvPr/>
        </p:nvSpPr>
        <p:spPr>
          <a:xfrm>
            <a:off x="8229600" y="4224528"/>
            <a:ext cx="3200400" cy="365760"/>
          </a:xfrm>
          <a:prstGeom prst="rect">
            <a:avLst/>
          </a:prstGeom>
          <a:noFill/>
        </p:spPr>
        <p:txBody>
          <a:bodyPr wrap="square" rtlCol="0" anchor="ctr"/>
          <a:lstStyle/>
          <a:p>
            <a:pPr marL="0" indent="0">
              <a:buNone/>
            </a:pPr>
            <a:r>
              <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rPr>
              <a:t>Modèle Entité-Relation</a:t>
            </a:r>
            <a:endParaRPr lang="en-US" sz="1400" dirty="0"/>
          </a:p>
        </p:txBody>
      </p:sp>
      <p:sp>
        <p:nvSpPr>
          <p:cNvPr id="22" name="Text 20"/>
          <p:cNvSpPr/>
          <p:nvPr/>
        </p:nvSpPr>
        <p:spPr>
          <a:xfrm>
            <a:off x="8229600" y="4645152"/>
            <a:ext cx="3200400" cy="822960"/>
          </a:xfrm>
          <a:prstGeom prst="rect">
            <a:avLst/>
          </a:prstGeom>
          <a:noFill/>
        </p:spPr>
        <p:txBody>
          <a:bodyPr wrap="square" rtlCol="0" anchor="ctr"/>
          <a:lstStyle/>
          <a:p>
            <a:pPr marL="0" indent="0">
              <a:lnSpc>
                <a:spcPct val="115000"/>
              </a:lnSpc>
              <a:buNone/>
            </a:pPr>
            <a:r>
              <a:rPr lang="en-US" sz="1100" dirty="0">
                <a:solidFill>
                  <a:srgbClr val="44506B"/>
                </a:solidFill>
                <a:latin typeface="Calibri" panose="020F0502020204030204" pitchFamily="34" charset="0"/>
                <a:ea typeface="Calibri" panose="020F0502020204030204" pitchFamily="34" charset="-122"/>
                <a:cs typeface="Calibri" panose="020F0502020204030204" pitchFamily="34" charset="-120"/>
              </a:rPr>
              <a:t>Schéma PostgreSQL généré via Hibernate</a:t>
            </a:r>
            <a:endParaRPr lang="en-US" sz="1100" dirty="0"/>
          </a:p>
        </p:txBody>
      </p:sp>
      <p:sp>
        <p:nvSpPr>
          <p:cNvPr id="23" name="Text 21"/>
          <p:cNvSpPr/>
          <p:nvPr/>
        </p:nvSpPr>
        <p:spPr>
          <a:xfrm>
            <a:off x="457200" y="6519672"/>
            <a:ext cx="7315200" cy="274320"/>
          </a:xfrm>
          <a:prstGeom prst="rect">
            <a:avLst/>
          </a:prstGeom>
          <a:noFill/>
        </p:spPr>
        <p:txBody>
          <a:bodyPr wrap="square" rtlCol="0" anchor="ctr"/>
          <a:lstStyle/>
          <a:p>
            <a:pPr marL="0" indent="0" algn="l">
              <a:buNone/>
            </a:pPr>
            <a:r>
              <a:rPr lang="en-US" sz="900" dirty="0">
                <a:solidFill>
                  <a:srgbClr val="A8B0C7"/>
                </a:solidFill>
                <a:latin typeface="Calibri" panose="020F0502020204030204" pitchFamily="34" charset="0"/>
                <a:ea typeface="Calibri" panose="020F0502020204030204" pitchFamily="34" charset="-122"/>
                <a:cs typeface="Calibri" panose="020F0502020204030204" pitchFamily="34" charset="-120"/>
              </a:rPr>
              <a:t>Mémoire de Licence — Génie Logiciel — Gbandi Wake</a:t>
            </a:r>
            <a:endParaRPr lang="en-US" sz="900" dirty="0"/>
          </a:p>
        </p:txBody>
      </p:sp>
      <p:sp>
        <p:nvSpPr>
          <p:cNvPr id="24" name="Text 22"/>
          <p:cNvSpPr/>
          <p:nvPr/>
        </p:nvSpPr>
        <p:spPr>
          <a:xfrm>
            <a:off x="11521440" y="6519672"/>
            <a:ext cx="365760" cy="274320"/>
          </a:xfrm>
          <a:prstGeom prst="rect">
            <a:avLst/>
          </a:prstGeom>
          <a:noFill/>
        </p:spPr>
        <p:txBody>
          <a:bodyPr wrap="square" rtlCol="0" anchor="ctr"/>
          <a:lstStyle/>
          <a:p>
            <a:pPr marL="0" indent="0" algn="r">
              <a:buNone/>
            </a:pPr>
            <a:r>
              <a:rPr lang="en-US" sz="900" dirty="0">
                <a:solidFill>
                  <a:srgbClr val="A8B0C7"/>
                </a:solidFill>
                <a:latin typeface="Calibri" panose="020F0502020204030204" pitchFamily="34" charset="0"/>
                <a:ea typeface="Calibri" panose="020F0502020204030204" pitchFamily="34" charset="-122"/>
                <a:cs typeface="Calibri" panose="020F0502020204030204"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rtlCol="0" anchor="ctr"/>
          <a:lstStyle/>
          <a:p>
            <a:pPr marL="0" indent="0">
              <a:buNone/>
            </a:pPr>
            <a:r>
              <a:rPr lang="en-US" sz="1300" b="1" kern="0" spc="200" dirty="0">
                <a:solidFill>
                  <a:srgbClr val="F2A93B"/>
                </a:solidFill>
                <a:latin typeface="Calibri" panose="020F0502020204030204" pitchFamily="34" charset="0"/>
                <a:ea typeface="Calibri" panose="020F0502020204030204" pitchFamily="34" charset="-122"/>
                <a:cs typeface="Calibri" panose="020F0502020204030204" pitchFamily="34" charset="-120"/>
              </a:rPr>
              <a:t>ARCHITECTURE TECHNIQUE</a:t>
            </a:r>
            <a:endParaRPr lang="en-US" sz="1300" dirty="0"/>
          </a:p>
        </p:txBody>
      </p:sp>
      <p:sp>
        <p:nvSpPr>
          <p:cNvPr id="3" name="Text 1"/>
          <p:cNvSpPr/>
          <p:nvPr/>
        </p:nvSpPr>
        <p:spPr>
          <a:xfrm>
            <a:off x="548640" y="658368"/>
            <a:ext cx="10789920" cy="640080"/>
          </a:xfrm>
          <a:prstGeom prst="rect">
            <a:avLst/>
          </a:prstGeom>
          <a:noFill/>
        </p:spPr>
        <p:txBody>
          <a:bodyPr wrap="square" rtlCol="0" anchor="ctr"/>
          <a:lstStyle/>
          <a:p>
            <a:pPr marL="0" indent="0">
              <a:buNone/>
            </a:pPr>
            <a:r>
              <a:rPr lang="en-US" sz="2700" b="1" dirty="0">
                <a:solidFill>
                  <a:srgbClr val="FFFFFF"/>
                </a:solidFill>
                <a:latin typeface="Cambria" panose="02040503050406030204" pitchFamily="34" charset="0"/>
                <a:ea typeface="Cambria" panose="02040503050406030204" pitchFamily="34" charset="-122"/>
                <a:cs typeface="Cambria" panose="02040503050406030204" pitchFamily="34" charset="-120"/>
              </a:rPr>
              <a:t>Une architecture trois tiers, sécurisée de bout en bout</a:t>
            </a:r>
            <a:endParaRPr lang="en-US" sz="2700" dirty="0"/>
          </a:p>
        </p:txBody>
      </p:sp>
      <p:sp>
        <p:nvSpPr>
          <p:cNvPr id="4" name="Shape 2"/>
          <p:cNvSpPr/>
          <p:nvPr/>
        </p:nvSpPr>
        <p:spPr>
          <a:xfrm>
            <a:off x="548640" y="1691640"/>
            <a:ext cx="3429000" cy="2103120"/>
          </a:xfrm>
          <a:prstGeom prst="roundRect">
            <a:avLst>
              <a:gd name="adj" fmla="val 4348"/>
            </a:avLst>
          </a:prstGeom>
          <a:solidFill>
            <a:srgbClr val="141B4D"/>
          </a:solidFill>
          <a:ln w="12700">
            <a:solidFill>
              <a:srgbClr val="3A4590"/>
            </a:solidFill>
            <a:prstDash val="solid"/>
          </a:ln>
        </p:spPr>
      </p:sp>
      <p:sp>
        <p:nvSpPr>
          <p:cNvPr id="5" name="Shape 3"/>
          <p:cNvSpPr/>
          <p:nvPr/>
        </p:nvSpPr>
        <p:spPr>
          <a:xfrm>
            <a:off x="777240" y="1920240"/>
            <a:ext cx="502920" cy="502920"/>
          </a:xfrm>
          <a:prstGeom prst="ellipse">
            <a:avLst/>
          </a:prstGeom>
          <a:solidFill>
            <a:srgbClr val="F2A93B"/>
          </a:solidFill>
        </p:spPr>
      </p:sp>
      <p:sp>
        <p:nvSpPr>
          <p:cNvPr id="6" name="Text 4"/>
          <p:cNvSpPr/>
          <p:nvPr/>
        </p:nvSpPr>
        <p:spPr>
          <a:xfrm>
            <a:off x="777240" y="1920240"/>
            <a:ext cx="502920" cy="502920"/>
          </a:xfrm>
          <a:prstGeom prst="rect">
            <a:avLst/>
          </a:prstGeom>
          <a:noFill/>
        </p:spPr>
        <p:txBody>
          <a:bodyPr wrap="square" rtlCol="0" anchor="ctr"/>
          <a:lstStyle/>
          <a:p>
            <a:pPr marL="0" indent="0" algn="ctr">
              <a:buNone/>
            </a:pPr>
            <a:r>
              <a:rPr lang="en-US" sz="1815" b="1" dirty="0">
                <a:solidFill>
                  <a:srgbClr val="1E2761"/>
                </a:solidFill>
                <a:latin typeface="Calibri" panose="020F0502020204030204" pitchFamily="34" charset="0"/>
                <a:ea typeface="Calibri" panose="020F0502020204030204" pitchFamily="34" charset="-122"/>
                <a:cs typeface="Calibri" panose="020F0502020204030204" pitchFamily="34" charset="-120"/>
              </a:rPr>
              <a:t>1</a:t>
            </a:r>
            <a:endParaRPr lang="en-US" sz="1815" dirty="0"/>
          </a:p>
        </p:txBody>
      </p:sp>
      <p:sp>
        <p:nvSpPr>
          <p:cNvPr id="7" name="Text 5"/>
          <p:cNvSpPr/>
          <p:nvPr/>
        </p:nvSpPr>
        <p:spPr>
          <a:xfrm>
            <a:off x="1417320" y="1920240"/>
            <a:ext cx="2377440" cy="502920"/>
          </a:xfrm>
          <a:prstGeom prst="rect">
            <a:avLst/>
          </a:prstGeom>
          <a:noFill/>
        </p:spPr>
        <p:txBody>
          <a:bodyPr wrap="square" rtlCol="0" anchor="ctr"/>
          <a:lstStyle/>
          <a:p>
            <a:pPr marL="0" indent="0">
              <a:buNone/>
            </a:pPr>
            <a:r>
              <a:rPr lang="en-US" sz="1600" b="1" dirty="0">
                <a:solidFill>
                  <a:srgbClr val="FFFFFF"/>
                </a:solidFill>
                <a:latin typeface="Cambria" panose="02040503050406030204" pitchFamily="34" charset="0"/>
                <a:ea typeface="Cambria" panose="02040503050406030204" pitchFamily="34" charset="-122"/>
                <a:cs typeface="Cambria" panose="02040503050406030204" pitchFamily="34" charset="-120"/>
              </a:rPr>
              <a:t>Présentation</a:t>
            </a:r>
            <a:endParaRPr lang="en-US" sz="1600" dirty="0"/>
          </a:p>
        </p:txBody>
      </p:sp>
      <p:sp>
        <p:nvSpPr>
          <p:cNvPr id="8" name="Text 6"/>
          <p:cNvSpPr/>
          <p:nvPr/>
        </p:nvSpPr>
        <p:spPr>
          <a:xfrm>
            <a:off x="777240" y="2560320"/>
            <a:ext cx="2971800" cy="1143000"/>
          </a:xfrm>
          <a:prstGeom prst="rect">
            <a:avLst/>
          </a:prstGeom>
          <a:noFill/>
        </p:spPr>
        <p:txBody>
          <a:bodyPr wrap="square" rtlCol="0" anchor="ctr"/>
          <a:lstStyle/>
          <a:p>
            <a:pPr marL="0" indent="0">
              <a:lnSpc>
                <a:spcPct val="120000"/>
              </a:lnSpc>
              <a:buNone/>
            </a:pPr>
            <a:r>
              <a:rPr lang="en-US" sz="1150" dirty="0">
                <a:solidFill>
                  <a:srgbClr val="CADCFC"/>
                </a:solidFill>
                <a:latin typeface="Calibri" panose="020F0502020204030204" pitchFamily="34" charset="0"/>
                <a:ea typeface="Calibri" panose="020F0502020204030204" pitchFamily="34" charset="-122"/>
                <a:cs typeface="Calibri" panose="020F0502020204030204" pitchFamily="34" charset="-120"/>
              </a:rPr>
              <a:t>Interface web Angular (propriétaire) + application mobile Ionic/Angular (locataire), packagée via Capacitor.</a:t>
            </a:r>
            <a:endParaRPr lang="en-US" sz="1150" dirty="0"/>
          </a:p>
        </p:txBody>
      </p:sp>
      <p:sp>
        <p:nvSpPr>
          <p:cNvPr id="9" name="Text 7"/>
          <p:cNvSpPr/>
          <p:nvPr/>
        </p:nvSpPr>
        <p:spPr>
          <a:xfrm>
            <a:off x="3995928" y="2468880"/>
            <a:ext cx="274320" cy="457200"/>
          </a:xfrm>
          <a:prstGeom prst="rect">
            <a:avLst/>
          </a:prstGeom>
          <a:noFill/>
        </p:spPr>
        <p:txBody>
          <a:bodyPr wrap="square" rtlCol="0" anchor="ctr"/>
          <a:lstStyle/>
          <a:p>
            <a:pPr marL="0" indent="0" algn="ctr">
              <a:buNone/>
            </a:pPr>
            <a:r>
              <a:rPr lang="en-US" sz="2200" dirty="0">
                <a:solidFill>
                  <a:srgbClr val="F2A93B"/>
                </a:solidFill>
              </a:rPr>
              <a:t>→</a:t>
            </a:r>
            <a:endParaRPr lang="en-US" sz="2200" dirty="0"/>
          </a:p>
        </p:txBody>
      </p:sp>
      <p:sp>
        <p:nvSpPr>
          <p:cNvPr id="10" name="Shape 8"/>
          <p:cNvSpPr/>
          <p:nvPr/>
        </p:nvSpPr>
        <p:spPr>
          <a:xfrm>
            <a:off x="4297680" y="1691640"/>
            <a:ext cx="3429000" cy="2103120"/>
          </a:xfrm>
          <a:prstGeom prst="roundRect">
            <a:avLst>
              <a:gd name="adj" fmla="val 4348"/>
            </a:avLst>
          </a:prstGeom>
          <a:solidFill>
            <a:srgbClr val="141B4D"/>
          </a:solidFill>
          <a:ln w="12700">
            <a:solidFill>
              <a:srgbClr val="3A4590"/>
            </a:solidFill>
            <a:prstDash val="solid"/>
          </a:ln>
        </p:spPr>
      </p:sp>
      <p:sp>
        <p:nvSpPr>
          <p:cNvPr id="11" name="Shape 9"/>
          <p:cNvSpPr/>
          <p:nvPr/>
        </p:nvSpPr>
        <p:spPr>
          <a:xfrm>
            <a:off x="4526280" y="1920240"/>
            <a:ext cx="502920" cy="502920"/>
          </a:xfrm>
          <a:prstGeom prst="ellipse">
            <a:avLst/>
          </a:prstGeom>
          <a:solidFill>
            <a:srgbClr val="F2A93B"/>
          </a:solidFill>
        </p:spPr>
      </p:sp>
      <p:sp>
        <p:nvSpPr>
          <p:cNvPr id="12" name="Text 10"/>
          <p:cNvSpPr/>
          <p:nvPr/>
        </p:nvSpPr>
        <p:spPr>
          <a:xfrm>
            <a:off x="4526280" y="1920240"/>
            <a:ext cx="502920" cy="502920"/>
          </a:xfrm>
          <a:prstGeom prst="rect">
            <a:avLst/>
          </a:prstGeom>
          <a:noFill/>
        </p:spPr>
        <p:txBody>
          <a:bodyPr wrap="square" rtlCol="0" anchor="ctr"/>
          <a:lstStyle/>
          <a:p>
            <a:pPr marL="0" indent="0" algn="ctr">
              <a:buNone/>
            </a:pPr>
            <a:r>
              <a:rPr lang="en-US" sz="1815" b="1" dirty="0">
                <a:solidFill>
                  <a:srgbClr val="1E2761"/>
                </a:solidFill>
                <a:latin typeface="Calibri" panose="020F0502020204030204" pitchFamily="34" charset="0"/>
                <a:ea typeface="Calibri" panose="020F0502020204030204" pitchFamily="34" charset="-122"/>
                <a:cs typeface="Calibri" panose="020F0502020204030204" pitchFamily="34" charset="-120"/>
              </a:rPr>
              <a:t>2</a:t>
            </a:r>
            <a:endParaRPr lang="en-US" sz="1815" dirty="0"/>
          </a:p>
        </p:txBody>
      </p:sp>
      <p:sp>
        <p:nvSpPr>
          <p:cNvPr id="13" name="Text 11"/>
          <p:cNvSpPr/>
          <p:nvPr/>
        </p:nvSpPr>
        <p:spPr>
          <a:xfrm>
            <a:off x="5166360" y="1920240"/>
            <a:ext cx="2377440" cy="502920"/>
          </a:xfrm>
          <a:prstGeom prst="rect">
            <a:avLst/>
          </a:prstGeom>
          <a:noFill/>
        </p:spPr>
        <p:txBody>
          <a:bodyPr wrap="square" rtlCol="0" anchor="ctr"/>
          <a:lstStyle/>
          <a:p>
            <a:pPr marL="0" indent="0">
              <a:buNone/>
            </a:pPr>
            <a:r>
              <a:rPr lang="en-US" sz="1600" b="1" dirty="0">
                <a:solidFill>
                  <a:srgbClr val="FFFFFF"/>
                </a:solidFill>
                <a:latin typeface="Cambria" panose="02040503050406030204" pitchFamily="34" charset="0"/>
                <a:ea typeface="Cambria" panose="02040503050406030204" pitchFamily="34" charset="-122"/>
                <a:cs typeface="Cambria" panose="02040503050406030204" pitchFamily="34" charset="-120"/>
              </a:rPr>
              <a:t>Métier</a:t>
            </a:r>
            <a:endParaRPr lang="en-US" sz="1600" dirty="0"/>
          </a:p>
        </p:txBody>
      </p:sp>
      <p:sp>
        <p:nvSpPr>
          <p:cNvPr id="14" name="Text 12"/>
          <p:cNvSpPr/>
          <p:nvPr/>
        </p:nvSpPr>
        <p:spPr>
          <a:xfrm>
            <a:off x="4526280" y="2560320"/>
            <a:ext cx="2971800" cy="1143000"/>
          </a:xfrm>
          <a:prstGeom prst="rect">
            <a:avLst/>
          </a:prstGeom>
          <a:noFill/>
        </p:spPr>
        <p:txBody>
          <a:bodyPr wrap="square" rtlCol="0" anchor="ctr"/>
          <a:lstStyle/>
          <a:p>
            <a:pPr marL="0" indent="0">
              <a:lnSpc>
                <a:spcPct val="120000"/>
              </a:lnSpc>
              <a:buNone/>
            </a:pPr>
            <a:r>
              <a:rPr lang="en-US" sz="1150" dirty="0">
                <a:solidFill>
                  <a:srgbClr val="CADCFC"/>
                </a:solidFill>
                <a:latin typeface="Calibri" panose="020F0502020204030204" pitchFamily="34" charset="0"/>
                <a:ea typeface="Calibri" panose="020F0502020204030204" pitchFamily="34" charset="-122"/>
                <a:cs typeface="Calibri" panose="020F0502020204030204" pitchFamily="34" charset="-120"/>
              </a:rPr>
              <a:t>API REST Spring Boot sécurisée par JWT, architecture en couches Controller / Service / Repository, hébergée sur Render.</a:t>
            </a:r>
            <a:endParaRPr lang="en-US" sz="1150" dirty="0"/>
          </a:p>
        </p:txBody>
      </p:sp>
      <p:sp>
        <p:nvSpPr>
          <p:cNvPr id="15" name="Text 13"/>
          <p:cNvSpPr/>
          <p:nvPr/>
        </p:nvSpPr>
        <p:spPr>
          <a:xfrm>
            <a:off x="7744968" y="2468880"/>
            <a:ext cx="274320" cy="457200"/>
          </a:xfrm>
          <a:prstGeom prst="rect">
            <a:avLst/>
          </a:prstGeom>
          <a:noFill/>
        </p:spPr>
        <p:txBody>
          <a:bodyPr wrap="square" rtlCol="0" anchor="ctr"/>
          <a:lstStyle/>
          <a:p>
            <a:pPr marL="0" indent="0" algn="ctr">
              <a:buNone/>
            </a:pPr>
            <a:r>
              <a:rPr lang="en-US" sz="2200" dirty="0">
                <a:solidFill>
                  <a:srgbClr val="F2A93B"/>
                </a:solidFill>
              </a:rPr>
              <a:t>→</a:t>
            </a:r>
            <a:endParaRPr lang="en-US" sz="2200" dirty="0"/>
          </a:p>
        </p:txBody>
      </p:sp>
      <p:sp>
        <p:nvSpPr>
          <p:cNvPr id="16" name="Shape 14"/>
          <p:cNvSpPr/>
          <p:nvPr/>
        </p:nvSpPr>
        <p:spPr>
          <a:xfrm>
            <a:off x="8046720" y="1691640"/>
            <a:ext cx="3429000" cy="2103120"/>
          </a:xfrm>
          <a:prstGeom prst="roundRect">
            <a:avLst>
              <a:gd name="adj" fmla="val 4348"/>
            </a:avLst>
          </a:prstGeom>
          <a:solidFill>
            <a:srgbClr val="141B4D"/>
          </a:solidFill>
          <a:ln w="12700">
            <a:solidFill>
              <a:srgbClr val="3A4590"/>
            </a:solidFill>
            <a:prstDash val="solid"/>
          </a:ln>
        </p:spPr>
      </p:sp>
      <p:sp>
        <p:nvSpPr>
          <p:cNvPr id="17" name="Shape 15"/>
          <p:cNvSpPr/>
          <p:nvPr/>
        </p:nvSpPr>
        <p:spPr>
          <a:xfrm>
            <a:off x="8275320" y="1920240"/>
            <a:ext cx="502920" cy="502920"/>
          </a:xfrm>
          <a:prstGeom prst="ellipse">
            <a:avLst/>
          </a:prstGeom>
          <a:solidFill>
            <a:srgbClr val="F2A93B"/>
          </a:solidFill>
        </p:spPr>
      </p:sp>
      <p:sp>
        <p:nvSpPr>
          <p:cNvPr id="18" name="Text 16"/>
          <p:cNvSpPr/>
          <p:nvPr/>
        </p:nvSpPr>
        <p:spPr>
          <a:xfrm>
            <a:off x="8275320" y="1920240"/>
            <a:ext cx="502920" cy="502920"/>
          </a:xfrm>
          <a:prstGeom prst="rect">
            <a:avLst/>
          </a:prstGeom>
          <a:noFill/>
        </p:spPr>
        <p:txBody>
          <a:bodyPr wrap="square" rtlCol="0" anchor="ctr"/>
          <a:lstStyle/>
          <a:p>
            <a:pPr marL="0" indent="0" algn="ctr">
              <a:buNone/>
            </a:pPr>
            <a:r>
              <a:rPr lang="en-US" sz="1815" b="1" dirty="0">
                <a:solidFill>
                  <a:srgbClr val="1E2761"/>
                </a:solidFill>
                <a:latin typeface="Calibri" panose="020F0502020204030204" pitchFamily="34" charset="0"/>
                <a:ea typeface="Calibri" panose="020F0502020204030204" pitchFamily="34" charset="-122"/>
                <a:cs typeface="Calibri" panose="020F0502020204030204" pitchFamily="34" charset="-120"/>
              </a:rPr>
              <a:t>3</a:t>
            </a:r>
            <a:endParaRPr lang="en-US" sz="1815" dirty="0"/>
          </a:p>
        </p:txBody>
      </p:sp>
      <p:sp>
        <p:nvSpPr>
          <p:cNvPr id="19" name="Text 17"/>
          <p:cNvSpPr/>
          <p:nvPr/>
        </p:nvSpPr>
        <p:spPr>
          <a:xfrm>
            <a:off x="8915400" y="1920240"/>
            <a:ext cx="2377440" cy="502920"/>
          </a:xfrm>
          <a:prstGeom prst="rect">
            <a:avLst/>
          </a:prstGeom>
          <a:noFill/>
        </p:spPr>
        <p:txBody>
          <a:bodyPr wrap="square" rtlCol="0" anchor="ctr"/>
          <a:lstStyle/>
          <a:p>
            <a:pPr marL="0" indent="0">
              <a:buNone/>
            </a:pPr>
            <a:r>
              <a:rPr lang="en-US" sz="1600" b="1" dirty="0">
                <a:solidFill>
                  <a:srgbClr val="FFFFFF"/>
                </a:solidFill>
                <a:latin typeface="Cambria" panose="02040503050406030204" pitchFamily="34" charset="0"/>
                <a:ea typeface="Cambria" panose="02040503050406030204" pitchFamily="34" charset="-122"/>
                <a:cs typeface="Cambria" panose="02040503050406030204" pitchFamily="34" charset="-120"/>
              </a:rPr>
              <a:t>Données</a:t>
            </a:r>
            <a:endParaRPr lang="en-US" sz="1600" dirty="0"/>
          </a:p>
        </p:txBody>
      </p:sp>
      <p:sp>
        <p:nvSpPr>
          <p:cNvPr id="20" name="Text 18"/>
          <p:cNvSpPr/>
          <p:nvPr/>
        </p:nvSpPr>
        <p:spPr>
          <a:xfrm>
            <a:off x="8275320" y="2560320"/>
            <a:ext cx="2971800" cy="1143000"/>
          </a:xfrm>
          <a:prstGeom prst="rect">
            <a:avLst/>
          </a:prstGeom>
          <a:noFill/>
        </p:spPr>
        <p:txBody>
          <a:bodyPr wrap="square" rtlCol="0" anchor="ctr"/>
          <a:lstStyle/>
          <a:p>
            <a:pPr marL="0" indent="0">
              <a:lnSpc>
                <a:spcPct val="120000"/>
              </a:lnSpc>
              <a:buNone/>
            </a:pPr>
            <a:r>
              <a:rPr lang="en-US" sz="1150" dirty="0">
                <a:solidFill>
                  <a:srgbClr val="CADCFC"/>
                </a:solidFill>
                <a:latin typeface="Calibri" panose="020F0502020204030204" pitchFamily="34" charset="0"/>
                <a:ea typeface="Calibri" panose="020F0502020204030204" pitchFamily="34" charset="-122"/>
                <a:cs typeface="Calibri" panose="020F0502020204030204" pitchFamily="34" charset="-120"/>
              </a:rPr>
              <a:t>Base relationnelle PostgreSQL via Hibernate/JPA, hébergée sur Supabase ; stockage objet pour les fichiers.</a:t>
            </a:r>
            <a:endParaRPr lang="en-US" sz="1150" dirty="0"/>
          </a:p>
        </p:txBody>
      </p:sp>
      <p:sp>
        <p:nvSpPr>
          <p:cNvPr id="21" name="Shape 19"/>
          <p:cNvSpPr/>
          <p:nvPr/>
        </p:nvSpPr>
        <p:spPr>
          <a:xfrm>
            <a:off x="548640" y="4114800"/>
            <a:ext cx="11064240" cy="1737360"/>
          </a:xfrm>
          <a:prstGeom prst="roundRect">
            <a:avLst>
              <a:gd name="adj" fmla="val 5263"/>
            </a:avLst>
          </a:prstGeom>
          <a:solidFill>
            <a:srgbClr val="141B4D"/>
          </a:solidFill>
          <a:ln w="12700">
            <a:solidFill>
              <a:srgbClr val="3A4590"/>
            </a:solidFill>
            <a:prstDash val="solid"/>
          </a:ln>
        </p:spPr>
      </p:sp>
      <p:sp>
        <p:nvSpPr>
          <p:cNvPr id="22" name="Text 20"/>
          <p:cNvSpPr/>
          <p:nvPr/>
        </p:nvSpPr>
        <p:spPr>
          <a:xfrm>
            <a:off x="868680" y="4251960"/>
            <a:ext cx="5486400" cy="365760"/>
          </a:xfrm>
          <a:prstGeom prst="rect">
            <a:avLst/>
          </a:prstGeom>
          <a:noFill/>
        </p:spPr>
        <p:txBody>
          <a:bodyPr wrap="square" rtlCol="0" anchor="ctr"/>
          <a:lstStyle/>
          <a:p>
            <a:pPr marL="0" indent="0">
              <a:buNone/>
            </a:pPr>
            <a:r>
              <a:rPr lang="en-US" sz="1400" b="1" dirty="0">
                <a:solidFill>
                  <a:srgbClr val="F2A93B"/>
                </a:solidFill>
                <a:latin typeface="Calibri" panose="020F0502020204030204" pitchFamily="34" charset="0"/>
                <a:ea typeface="Calibri" panose="020F0502020204030204" pitchFamily="34" charset="-122"/>
                <a:cs typeface="Calibri" panose="020F0502020204030204" pitchFamily="34" charset="-120"/>
              </a:rPr>
              <a:t>Sécurité transversale</a:t>
            </a:r>
            <a:endParaRPr lang="en-US" sz="1400" dirty="0"/>
          </a:p>
        </p:txBody>
      </p:sp>
      <p:sp>
        <p:nvSpPr>
          <p:cNvPr id="23" name="Text 21"/>
          <p:cNvSpPr/>
          <p:nvPr/>
        </p:nvSpPr>
        <p:spPr>
          <a:xfrm>
            <a:off x="868680" y="4617720"/>
            <a:ext cx="10424160" cy="1143000"/>
          </a:xfrm>
          <a:prstGeom prst="rect">
            <a:avLst/>
          </a:prstGeom>
          <a:noFill/>
        </p:spPr>
        <p:txBody>
          <a:bodyPr wrap="square" rtlCol="0" anchor="ctr"/>
          <a:lstStyle/>
          <a:p>
            <a:pPr marL="0" indent="0">
              <a:lnSpc>
                <a:spcPct val="130000"/>
              </a:lnSpc>
              <a:buNone/>
            </a:pPr>
            <a:r>
              <a:rPr lang="en-US" sz="1250" dirty="0">
                <a:solidFill>
                  <a:srgbClr val="CADCFC"/>
                </a:solidFill>
                <a:latin typeface="Calibri" panose="020F0502020204030204" pitchFamily="34" charset="0"/>
                <a:ea typeface="Calibri" panose="020F0502020204030204" pitchFamily="34" charset="-122"/>
                <a:cs typeface="Calibri" panose="020F0502020204030204" pitchFamily="34" charset="-120"/>
              </a:rPr>
              <a:t>• HTTPS + JWT (Access token 15 min / Refresh token 7 jours) sur toutes les communications
</a:t>
            </a:r>
            <a:r>
              <a:rPr lang="en-US" sz="1250" dirty="0">
                <a:solidFill>
                  <a:srgbClr val="CADCFC"/>
                </a:solidFill>
                <a:latin typeface="Calibri" panose="020F0502020204030204" pitchFamily="34" charset="0"/>
                <a:ea typeface="Calibri" panose="020F0502020204030204" pitchFamily="34" charset="-122"/>
                <a:cs typeface="Calibri" panose="020F0502020204030204" pitchFamily="34" charset="-120"/>
              </a:rPr>
              <a:t>• Webhook FedaPay authentifié par signature HMAC-SHA256 (paiements Mobile Money)
</a:t>
            </a:r>
            <a:r>
              <a:rPr lang="en-US" sz="1250" dirty="0">
                <a:solidFill>
                  <a:srgbClr val="CADCFC"/>
                </a:solidFill>
                <a:latin typeface="Calibri" panose="020F0502020204030204" pitchFamily="34" charset="0"/>
                <a:ea typeface="Calibri" panose="020F0502020204030204" pitchFamily="34" charset="-122"/>
                <a:cs typeface="Calibri" panose="020F0502020204030204" pitchFamily="34" charset="-120"/>
              </a:rPr>
              <a:t>• Isolation stricte des données par propriétaire au niveau de la couche Service</a:t>
            </a:r>
            <a:endParaRPr lang="en-US" sz="1250" dirty="0"/>
          </a:p>
        </p:txBody>
      </p:sp>
      <p:sp>
        <p:nvSpPr>
          <p:cNvPr id="24" name="Text 22"/>
          <p:cNvSpPr/>
          <p:nvPr/>
        </p:nvSpPr>
        <p:spPr>
          <a:xfrm>
            <a:off x="457200" y="6519672"/>
            <a:ext cx="7315200" cy="274320"/>
          </a:xfrm>
          <a:prstGeom prst="rect">
            <a:avLst/>
          </a:prstGeom>
          <a:noFill/>
        </p:spPr>
        <p:txBody>
          <a:bodyPr wrap="square" rtlCol="0" anchor="ctr"/>
          <a:lstStyle/>
          <a:p>
            <a:pPr marL="0" indent="0" algn="l">
              <a:buNone/>
            </a:pPr>
            <a:r>
              <a:rPr lang="en-US" sz="900" dirty="0">
                <a:solidFill>
                  <a:srgbClr val="8892C2"/>
                </a:solidFill>
                <a:latin typeface="Calibri" panose="020F0502020204030204" pitchFamily="34" charset="0"/>
                <a:ea typeface="Calibri" panose="020F0502020204030204" pitchFamily="34" charset="-122"/>
                <a:cs typeface="Calibri" panose="020F0502020204030204" pitchFamily="34" charset="-120"/>
              </a:rPr>
              <a:t>Mémoire de Licence — Génie Logiciel — Gbandi Wake</a:t>
            </a:r>
            <a:endParaRPr lang="en-US" sz="900" dirty="0"/>
          </a:p>
        </p:txBody>
      </p:sp>
      <p:sp>
        <p:nvSpPr>
          <p:cNvPr id="25" name="Text 23"/>
          <p:cNvSpPr/>
          <p:nvPr/>
        </p:nvSpPr>
        <p:spPr>
          <a:xfrm>
            <a:off x="11521440" y="6519672"/>
            <a:ext cx="365760" cy="274320"/>
          </a:xfrm>
          <a:prstGeom prst="rect">
            <a:avLst/>
          </a:prstGeom>
          <a:noFill/>
        </p:spPr>
        <p:txBody>
          <a:bodyPr wrap="square" rtlCol="0" anchor="ctr"/>
          <a:lstStyle/>
          <a:p>
            <a:pPr marL="0" indent="0" algn="r">
              <a:buNone/>
            </a:pPr>
            <a:r>
              <a:rPr lang="en-US" sz="900" dirty="0">
                <a:solidFill>
                  <a:srgbClr val="8892C2"/>
                </a:solidFill>
                <a:latin typeface="Calibri" panose="020F0502020204030204" pitchFamily="34" charset="0"/>
                <a:ea typeface="Calibri" panose="020F0502020204030204" pitchFamily="34" charset="-122"/>
                <a:cs typeface="Calibri" panose="020F0502020204030204"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rtlCol="0" anchor="ctr"/>
          <a:lstStyle/>
          <a:p>
            <a:pPr marL="0" indent="0">
              <a:buNone/>
            </a:pPr>
            <a:r>
              <a:rPr lang="en-US" sz="1300" b="1" kern="0" spc="200" dirty="0">
                <a:solidFill>
                  <a:srgbClr val="F2A93B"/>
                </a:solidFill>
                <a:latin typeface="Calibri" panose="020F0502020204030204" pitchFamily="34" charset="0"/>
                <a:ea typeface="Calibri" panose="020F0502020204030204" pitchFamily="34" charset="-122"/>
                <a:cs typeface="Calibri" panose="020F0502020204030204" pitchFamily="34" charset="-120"/>
              </a:rPr>
              <a:t>CHOIX TECHNOLOGIQUES</a:t>
            </a:r>
            <a:endParaRPr lang="en-US" sz="1300" dirty="0"/>
          </a:p>
        </p:txBody>
      </p:sp>
      <p:sp>
        <p:nvSpPr>
          <p:cNvPr id="3" name="Text 1"/>
          <p:cNvSpPr/>
          <p:nvPr/>
        </p:nvSpPr>
        <p:spPr>
          <a:xfrm>
            <a:off x="548640" y="658368"/>
            <a:ext cx="10789920" cy="685800"/>
          </a:xfrm>
          <a:prstGeom prst="rect">
            <a:avLst/>
          </a:prstGeom>
          <a:noFill/>
        </p:spPr>
        <p:txBody>
          <a:bodyPr wrap="square" rtlCol="0" anchor="ctr"/>
          <a:lstStyle/>
          <a:p>
            <a:pPr marL="0" indent="0">
              <a:buNone/>
            </a:pPr>
            <a:r>
              <a:rPr lang="en-US" sz="3000" b="1" dirty="0">
                <a:solidFill>
                  <a:srgbClr val="1E2761"/>
                </a:solidFill>
                <a:latin typeface="Cambria" panose="02040503050406030204" pitchFamily="34" charset="0"/>
                <a:ea typeface="Cambria" panose="02040503050406030204" pitchFamily="34" charset="-122"/>
                <a:cs typeface="Cambria" panose="02040503050406030204" pitchFamily="34" charset="-120"/>
              </a:rPr>
              <a:t>Une stack moderne, adaptée au contexte togolais</a:t>
            </a:r>
            <a:endParaRPr lang="en-US" sz="3000" dirty="0"/>
          </a:p>
        </p:txBody>
      </p:sp>
      <p:sp>
        <p:nvSpPr>
          <p:cNvPr id="4" name="Shape 2"/>
          <p:cNvSpPr/>
          <p:nvPr/>
        </p:nvSpPr>
        <p:spPr>
          <a:xfrm>
            <a:off x="548640" y="1645920"/>
            <a:ext cx="3566160" cy="1600200"/>
          </a:xfrm>
          <a:prstGeom prst="roundRect">
            <a:avLst>
              <a:gd name="adj" fmla="val 5714"/>
            </a:avLst>
          </a:prstGeom>
          <a:solidFill>
            <a:srgbClr val="F4F7FD"/>
          </a:solidFill>
          <a:effectLst>
            <a:outerShdw blurRad="63500" dist="25400" dir="5400000" algn="bl" rotWithShape="0">
              <a:srgbClr val="000000">
                <a:alpha val="10000"/>
              </a:srgbClr>
            </a:outerShdw>
          </a:effectLst>
        </p:spPr>
      </p:sp>
      <p:sp>
        <p:nvSpPr>
          <p:cNvPr id="5" name="Shape 3"/>
          <p:cNvSpPr/>
          <p:nvPr/>
        </p:nvSpPr>
        <p:spPr>
          <a:xfrm>
            <a:off x="777240" y="1874520"/>
            <a:ext cx="457200" cy="457200"/>
          </a:xfrm>
          <a:prstGeom prst="ellipse">
            <a:avLst/>
          </a:prstGeom>
          <a:solidFill>
            <a:srgbClr val="1E2761"/>
          </a:solidFill>
        </p:spPr>
      </p:sp>
      <p:sp>
        <p:nvSpPr>
          <p:cNvPr id="6" name="Text 4"/>
          <p:cNvSpPr/>
          <p:nvPr/>
        </p:nvSpPr>
        <p:spPr>
          <a:xfrm>
            <a:off x="777240" y="1874520"/>
            <a:ext cx="457200" cy="457200"/>
          </a:xfrm>
          <a:prstGeom prst="rect">
            <a:avLst/>
          </a:prstGeom>
          <a:noFill/>
        </p:spPr>
        <p:txBody>
          <a:bodyPr wrap="square" rtlCol="0" anchor="ctr"/>
          <a:lstStyle/>
          <a:p>
            <a:pPr marL="0" indent="0" algn="ctr">
              <a:buNone/>
            </a:pPr>
            <a:r>
              <a:rPr lang="en-US" sz="1650" b="1" dirty="0">
                <a:solidFill>
                  <a:srgbClr val="F2A93B"/>
                </a:solidFill>
                <a:latin typeface="Calibri" panose="020F0502020204030204" pitchFamily="34" charset="0"/>
                <a:ea typeface="Calibri" panose="020F0502020204030204" pitchFamily="34" charset="-122"/>
                <a:cs typeface="Calibri" panose="020F0502020204030204" pitchFamily="34" charset="-120"/>
              </a:rPr>
              <a:t>▣</a:t>
            </a:r>
            <a:endParaRPr lang="en-US" sz="1650" dirty="0"/>
          </a:p>
        </p:txBody>
      </p:sp>
      <p:sp>
        <p:nvSpPr>
          <p:cNvPr id="7" name="Text 5"/>
          <p:cNvSpPr/>
          <p:nvPr/>
        </p:nvSpPr>
        <p:spPr>
          <a:xfrm>
            <a:off x="1371600" y="1847088"/>
            <a:ext cx="2560320" cy="457200"/>
          </a:xfrm>
          <a:prstGeom prst="rect">
            <a:avLst/>
          </a:prstGeom>
          <a:noFill/>
        </p:spPr>
        <p:txBody>
          <a:bodyPr wrap="square" rtlCol="0" anchor="ctr"/>
          <a:lstStyle/>
          <a:p>
            <a:pPr marL="0" indent="0">
              <a:buNone/>
            </a:pPr>
            <a:r>
              <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rPr>
              <a:t>Spring Boot</a:t>
            </a:r>
            <a:endParaRPr lang="en-US" sz="1500" dirty="0"/>
          </a:p>
        </p:txBody>
      </p:sp>
      <p:sp>
        <p:nvSpPr>
          <p:cNvPr id="8" name="Text 6"/>
          <p:cNvSpPr/>
          <p:nvPr/>
        </p:nvSpPr>
        <p:spPr>
          <a:xfrm>
            <a:off x="777240" y="2468880"/>
            <a:ext cx="3108960" cy="685800"/>
          </a:xfrm>
          <a:prstGeom prst="rect">
            <a:avLst/>
          </a:prstGeom>
          <a:noFill/>
        </p:spPr>
        <p:txBody>
          <a:bodyPr wrap="square" rtlCol="0" anchor="ctr"/>
          <a:lstStyle/>
          <a:p>
            <a:pPr marL="0" indent="0">
              <a:lnSpc>
                <a:spcPct val="115000"/>
              </a:lnSpc>
              <a:buNone/>
            </a:pPr>
            <a:r>
              <a:rPr lang="en-US" sz="1100" dirty="0">
                <a:solidFill>
                  <a:srgbClr val="44506B"/>
                </a:solidFill>
                <a:latin typeface="Calibri" panose="020F0502020204030204" pitchFamily="34" charset="0"/>
                <a:ea typeface="Calibri" panose="020F0502020204030204" pitchFamily="34" charset="-122"/>
                <a:cs typeface="Calibri" panose="020F0502020204030204" pitchFamily="34" charset="-120"/>
              </a:rPr>
              <a:t>Backend Java — API REST, Spring Security, JWT</a:t>
            </a:r>
            <a:endParaRPr lang="en-US" sz="1100" dirty="0"/>
          </a:p>
        </p:txBody>
      </p:sp>
      <p:sp>
        <p:nvSpPr>
          <p:cNvPr id="9" name="Shape 7"/>
          <p:cNvSpPr/>
          <p:nvPr/>
        </p:nvSpPr>
        <p:spPr>
          <a:xfrm>
            <a:off x="4297680" y="1645920"/>
            <a:ext cx="3566160" cy="1600200"/>
          </a:xfrm>
          <a:prstGeom prst="roundRect">
            <a:avLst>
              <a:gd name="adj" fmla="val 5714"/>
            </a:avLst>
          </a:prstGeom>
          <a:solidFill>
            <a:srgbClr val="F4F7FD"/>
          </a:solidFill>
          <a:effectLst>
            <a:outerShdw blurRad="63500" dist="25400" dir="5400000" algn="bl" rotWithShape="0">
              <a:srgbClr val="000000">
                <a:alpha val="10000"/>
              </a:srgbClr>
            </a:outerShdw>
          </a:effectLst>
        </p:spPr>
      </p:sp>
      <p:sp>
        <p:nvSpPr>
          <p:cNvPr id="10" name="Shape 8"/>
          <p:cNvSpPr/>
          <p:nvPr/>
        </p:nvSpPr>
        <p:spPr>
          <a:xfrm>
            <a:off x="4526280" y="1874520"/>
            <a:ext cx="457200" cy="457200"/>
          </a:xfrm>
          <a:prstGeom prst="ellipse">
            <a:avLst/>
          </a:prstGeom>
          <a:solidFill>
            <a:srgbClr val="1E2761"/>
          </a:solidFill>
        </p:spPr>
      </p:sp>
      <p:sp>
        <p:nvSpPr>
          <p:cNvPr id="11" name="Text 9"/>
          <p:cNvSpPr/>
          <p:nvPr/>
        </p:nvSpPr>
        <p:spPr>
          <a:xfrm>
            <a:off x="4526280" y="1874520"/>
            <a:ext cx="457200" cy="457200"/>
          </a:xfrm>
          <a:prstGeom prst="rect">
            <a:avLst/>
          </a:prstGeom>
          <a:noFill/>
        </p:spPr>
        <p:txBody>
          <a:bodyPr wrap="square" rtlCol="0" anchor="ctr"/>
          <a:lstStyle/>
          <a:p>
            <a:pPr marL="0" indent="0" algn="ctr">
              <a:buNone/>
            </a:pPr>
            <a:r>
              <a:rPr lang="en-US" sz="1650" b="1" dirty="0">
                <a:solidFill>
                  <a:srgbClr val="F2A93B"/>
                </a:solidFill>
                <a:latin typeface="Calibri" panose="020F0502020204030204" pitchFamily="34" charset="0"/>
                <a:ea typeface="Calibri" panose="020F0502020204030204" pitchFamily="34" charset="-122"/>
                <a:cs typeface="Calibri" panose="020F0502020204030204" pitchFamily="34" charset="-120"/>
              </a:rPr>
              <a:t>▣</a:t>
            </a:r>
            <a:endParaRPr lang="en-US" sz="1650" dirty="0"/>
          </a:p>
        </p:txBody>
      </p:sp>
      <p:sp>
        <p:nvSpPr>
          <p:cNvPr id="12" name="Text 10"/>
          <p:cNvSpPr/>
          <p:nvPr/>
        </p:nvSpPr>
        <p:spPr>
          <a:xfrm>
            <a:off x="5120640" y="1847088"/>
            <a:ext cx="2560320" cy="457200"/>
          </a:xfrm>
          <a:prstGeom prst="rect">
            <a:avLst/>
          </a:prstGeom>
          <a:noFill/>
        </p:spPr>
        <p:txBody>
          <a:bodyPr wrap="square" rtlCol="0" anchor="ctr"/>
          <a:lstStyle/>
          <a:p>
            <a:pPr marL="0" indent="0">
              <a:buNone/>
            </a:pPr>
            <a:r>
              <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rPr>
              <a:t>PostgreSQL</a:t>
            </a:r>
            <a:endParaRPr lang="en-US" sz="1500" dirty="0"/>
          </a:p>
        </p:txBody>
      </p:sp>
      <p:sp>
        <p:nvSpPr>
          <p:cNvPr id="13" name="Text 11"/>
          <p:cNvSpPr/>
          <p:nvPr/>
        </p:nvSpPr>
        <p:spPr>
          <a:xfrm>
            <a:off x="4526280" y="2468880"/>
            <a:ext cx="3108960" cy="685800"/>
          </a:xfrm>
          <a:prstGeom prst="rect">
            <a:avLst/>
          </a:prstGeom>
          <a:noFill/>
        </p:spPr>
        <p:txBody>
          <a:bodyPr wrap="square" rtlCol="0" anchor="ctr"/>
          <a:lstStyle/>
          <a:p>
            <a:pPr marL="0" indent="0">
              <a:lnSpc>
                <a:spcPct val="115000"/>
              </a:lnSpc>
              <a:buNone/>
            </a:pPr>
            <a:r>
              <a:rPr lang="en-US" sz="1100" dirty="0">
                <a:solidFill>
                  <a:srgbClr val="44506B"/>
                </a:solidFill>
                <a:latin typeface="Calibri" panose="020F0502020204030204" pitchFamily="34" charset="0"/>
                <a:ea typeface="Calibri" panose="020F0502020204030204" pitchFamily="34" charset="-122"/>
                <a:cs typeface="Calibri" panose="020F0502020204030204" pitchFamily="34" charset="-120"/>
              </a:rPr>
              <a:t>Base de données relationnelle via Hibernate/JPA</a:t>
            </a:r>
            <a:endParaRPr lang="en-US" sz="1100" dirty="0"/>
          </a:p>
        </p:txBody>
      </p:sp>
      <p:sp>
        <p:nvSpPr>
          <p:cNvPr id="14" name="Shape 12"/>
          <p:cNvSpPr/>
          <p:nvPr/>
        </p:nvSpPr>
        <p:spPr>
          <a:xfrm>
            <a:off x="8046720" y="1645920"/>
            <a:ext cx="3566160" cy="1600200"/>
          </a:xfrm>
          <a:prstGeom prst="roundRect">
            <a:avLst>
              <a:gd name="adj" fmla="val 5714"/>
            </a:avLst>
          </a:prstGeom>
          <a:solidFill>
            <a:srgbClr val="F4F7FD"/>
          </a:solidFill>
          <a:effectLst>
            <a:outerShdw blurRad="63500" dist="25400" dir="5400000" algn="bl" rotWithShape="0">
              <a:srgbClr val="000000">
                <a:alpha val="10000"/>
              </a:srgbClr>
            </a:outerShdw>
          </a:effectLst>
        </p:spPr>
      </p:sp>
      <p:sp>
        <p:nvSpPr>
          <p:cNvPr id="15" name="Shape 13"/>
          <p:cNvSpPr/>
          <p:nvPr/>
        </p:nvSpPr>
        <p:spPr>
          <a:xfrm>
            <a:off x="8275320" y="1874520"/>
            <a:ext cx="457200" cy="457200"/>
          </a:xfrm>
          <a:prstGeom prst="ellipse">
            <a:avLst/>
          </a:prstGeom>
          <a:solidFill>
            <a:srgbClr val="1E2761"/>
          </a:solidFill>
        </p:spPr>
      </p:sp>
      <p:sp>
        <p:nvSpPr>
          <p:cNvPr id="16" name="Text 14"/>
          <p:cNvSpPr/>
          <p:nvPr/>
        </p:nvSpPr>
        <p:spPr>
          <a:xfrm>
            <a:off x="8275320" y="1874520"/>
            <a:ext cx="457200" cy="457200"/>
          </a:xfrm>
          <a:prstGeom prst="rect">
            <a:avLst/>
          </a:prstGeom>
          <a:noFill/>
        </p:spPr>
        <p:txBody>
          <a:bodyPr wrap="square" rtlCol="0" anchor="ctr"/>
          <a:lstStyle/>
          <a:p>
            <a:pPr marL="0" indent="0" algn="ctr">
              <a:buNone/>
            </a:pPr>
            <a:r>
              <a:rPr lang="en-US" sz="1650" b="1" dirty="0">
                <a:solidFill>
                  <a:srgbClr val="F2A93B"/>
                </a:solidFill>
                <a:latin typeface="Calibri" panose="020F0502020204030204" pitchFamily="34" charset="0"/>
                <a:ea typeface="Calibri" panose="020F0502020204030204" pitchFamily="34" charset="-122"/>
                <a:cs typeface="Calibri" panose="020F0502020204030204" pitchFamily="34" charset="-120"/>
              </a:rPr>
              <a:t>▣</a:t>
            </a:r>
            <a:endParaRPr lang="en-US" sz="1650" dirty="0"/>
          </a:p>
        </p:txBody>
      </p:sp>
      <p:sp>
        <p:nvSpPr>
          <p:cNvPr id="17" name="Text 15"/>
          <p:cNvSpPr/>
          <p:nvPr/>
        </p:nvSpPr>
        <p:spPr>
          <a:xfrm>
            <a:off x="8869680" y="1847088"/>
            <a:ext cx="2560320" cy="457200"/>
          </a:xfrm>
          <a:prstGeom prst="rect">
            <a:avLst/>
          </a:prstGeom>
          <a:noFill/>
        </p:spPr>
        <p:txBody>
          <a:bodyPr wrap="square" rtlCol="0" anchor="ctr"/>
          <a:lstStyle/>
          <a:p>
            <a:pPr marL="0" indent="0">
              <a:buNone/>
            </a:pPr>
            <a:r>
              <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rPr>
              <a:t>Angular</a:t>
            </a:r>
            <a:endParaRPr lang="en-US" sz="1500" dirty="0"/>
          </a:p>
        </p:txBody>
      </p:sp>
      <p:sp>
        <p:nvSpPr>
          <p:cNvPr id="18" name="Text 16"/>
          <p:cNvSpPr/>
          <p:nvPr/>
        </p:nvSpPr>
        <p:spPr>
          <a:xfrm>
            <a:off x="8275320" y="2468880"/>
            <a:ext cx="3108960" cy="685800"/>
          </a:xfrm>
          <a:prstGeom prst="rect">
            <a:avLst/>
          </a:prstGeom>
          <a:noFill/>
        </p:spPr>
        <p:txBody>
          <a:bodyPr wrap="square" rtlCol="0" anchor="ctr"/>
          <a:lstStyle/>
          <a:p>
            <a:pPr marL="0" indent="0">
              <a:lnSpc>
                <a:spcPct val="115000"/>
              </a:lnSpc>
              <a:buNone/>
            </a:pPr>
            <a:r>
              <a:rPr lang="en-US" sz="1100" dirty="0">
                <a:solidFill>
                  <a:srgbClr val="44506B"/>
                </a:solidFill>
                <a:latin typeface="Calibri" panose="020F0502020204030204" pitchFamily="34" charset="0"/>
                <a:ea typeface="Calibri" panose="020F0502020204030204" pitchFamily="34" charset="-122"/>
                <a:cs typeface="Calibri" panose="020F0502020204030204" pitchFamily="34" charset="-120"/>
              </a:rPr>
              <a:t>Interface web SPA pour les propriétaires</a:t>
            </a:r>
            <a:endParaRPr lang="en-US" sz="1100" dirty="0"/>
          </a:p>
        </p:txBody>
      </p:sp>
      <p:sp>
        <p:nvSpPr>
          <p:cNvPr id="19" name="Shape 17"/>
          <p:cNvSpPr/>
          <p:nvPr/>
        </p:nvSpPr>
        <p:spPr>
          <a:xfrm>
            <a:off x="548640" y="3474720"/>
            <a:ext cx="3566160" cy="1600200"/>
          </a:xfrm>
          <a:prstGeom prst="roundRect">
            <a:avLst>
              <a:gd name="adj" fmla="val 5714"/>
            </a:avLst>
          </a:prstGeom>
          <a:solidFill>
            <a:srgbClr val="F4F7FD"/>
          </a:solidFill>
          <a:effectLst>
            <a:outerShdw blurRad="63500" dist="25400" dir="5400000" algn="bl" rotWithShape="0">
              <a:srgbClr val="000000">
                <a:alpha val="10000"/>
              </a:srgbClr>
            </a:outerShdw>
          </a:effectLst>
        </p:spPr>
      </p:sp>
      <p:sp>
        <p:nvSpPr>
          <p:cNvPr id="20" name="Shape 18"/>
          <p:cNvSpPr/>
          <p:nvPr/>
        </p:nvSpPr>
        <p:spPr>
          <a:xfrm>
            <a:off x="777240" y="3703320"/>
            <a:ext cx="457200" cy="457200"/>
          </a:xfrm>
          <a:prstGeom prst="ellipse">
            <a:avLst/>
          </a:prstGeom>
          <a:solidFill>
            <a:srgbClr val="1E2761"/>
          </a:solidFill>
        </p:spPr>
      </p:sp>
      <p:sp>
        <p:nvSpPr>
          <p:cNvPr id="21" name="Text 19"/>
          <p:cNvSpPr/>
          <p:nvPr/>
        </p:nvSpPr>
        <p:spPr>
          <a:xfrm>
            <a:off x="777240" y="3703320"/>
            <a:ext cx="457200" cy="457200"/>
          </a:xfrm>
          <a:prstGeom prst="rect">
            <a:avLst/>
          </a:prstGeom>
          <a:noFill/>
        </p:spPr>
        <p:txBody>
          <a:bodyPr wrap="square" rtlCol="0" anchor="ctr"/>
          <a:lstStyle/>
          <a:p>
            <a:pPr marL="0" indent="0" algn="ctr">
              <a:buNone/>
            </a:pPr>
            <a:r>
              <a:rPr lang="en-US" sz="1650" b="1" dirty="0">
                <a:solidFill>
                  <a:srgbClr val="F2A93B"/>
                </a:solidFill>
                <a:latin typeface="Calibri" panose="020F0502020204030204" pitchFamily="34" charset="0"/>
                <a:ea typeface="Calibri" panose="020F0502020204030204" pitchFamily="34" charset="-122"/>
                <a:cs typeface="Calibri" panose="020F0502020204030204" pitchFamily="34" charset="-120"/>
              </a:rPr>
              <a:t>▣</a:t>
            </a:r>
            <a:endParaRPr lang="en-US" sz="1650" dirty="0"/>
          </a:p>
        </p:txBody>
      </p:sp>
      <p:sp>
        <p:nvSpPr>
          <p:cNvPr id="22" name="Text 20"/>
          <p:cNvSpPr/>
          <p:nvPr/>
        </p:nvSpPr>
        <p:spPr>
          <a:xfrm>
            <a:off x="1371600" y="3675888"/>
            <a:ext cx="2560320" cy="457200"/>
          </a:xfrm>
          <a:prstGeom prst="rect">
            <a:avLst/>
          </a:prstGeom>
          <a:noFill/>
        </p:spPr>
        <p:txBody>
          <a:bodyPr wrap="square" rtlCol="0" anchor="ctr"/>
          <a:lstStyle/>
          <a:p>
            <a:pPr marL="0" indent="0">
              <a:buNone/>
            </a:pPr>
            <a:r>
              <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rPr>
              <a:t>Ionic</a:t>
            </a:r>
            <a:endParaRPr lang="en-US" sz="1500" dirty="0"/>
          </a:p>
        </p:txBody>
      </p:sp>
      <p:sp>
        <p:nvSpPr>
          <p:cNvPr id="23" name="Text 21"/>
          <p:cNvSpPr/>
          <p:nvPr/>
        </p:nvSpPr>
        <p:spPr>
          <a:xfrm>
            <a:off x="777240" y="4297680"/>
            <a:ext cx="3108960" cy="685800"/>
          </a:xfrm>
          <a:prstGeom prst="rect">
            <a:avLst/>
          </a:prstGeom>
          <a:noFill/>
        </p:spPr>
        <p:txBody>
          <a:bodyPr wrap="square" rtlCol="0" anchor="ctr"/>
          <a:lstStyle/>
          <a:p>
            <a:pPr marL="0" indent="0">
              <a:lnSpc>
                <a:spcPct val="115000"/>
              </a:lnSpc>
              <a:buNone/>
            </a:pPr>
            <a:r>
              <a:rPr lang="en-US" sz="1100" dirty="0">
                <a:solidFill>
                  <a:srgbClr val="44506B"/>
                </a:solidFill>
                <a:latin typeface="Calibri" panose="020F0502020204030204" pitchFamily="34" charset="0"/>
                <a:ea typeface="Calibri" panose="020F0502020204030204" pitchFamily="34" charset="-122"/>
                <a:cs typeface="Calibri" panose="020F0502020204030204" pitchFamily="34" charset="-120"/>
              </a:rPr>
              <a:t>Application mobile hybride pour les locataires</a:t>
            </a:r>
            <a:endParaRPr lang="en-US" sz="1100" dirty="0"/>
          </a:p>
        </p:txBody>
      </p:sp>
      <p:sp>
        <p:nvSpPr>
          <p:cNvPr id="24" name="Shape 22"/>
          <p:cNvSpPr/>
          <p:nvPr/>
        </p:nvSpPr>
        <p:spPr>
          <a:xfrm>
            <a:off x="4297680" y="3474720"/>
            <a:ext cx="3566160" cy="1600200"/>
          </a:xfrm>
          <a:prstGeom prst="roundRect">
            <a:avLst>
              <a:gd name="adj" fmla="val 5714"/>
            </a:avLst>
          </a:prstGeom>
          <a:solidFill>
            <a:srgbClr val="F4F7FD"/>
          </a:solidFill>
          <a:effectLst>
            <a:outerShdw blurRad="63500" dist="25400" dir="5400000" algn="bl" rotWithShape="0">
              <a:srgbClr val="000000">
                <a:alpha val="10000"/>
              </a:srgbClr>
            </a:outerShdw>
          </a:effectLst>
        </p:spPr>
      </p:sp>
      <p:sp>
        <p:nvSpPr>
          <p:cNvPr id="25" name="Shape 23"/>
          <p:cNvSpPr/>
          <p:nvPr/>
        </p:nvSpPr>
        <p:spPr>
          <a:xfrm>
            <a:off x="4526280" y="3703320"/>
            <a:ext cx="457200" cy="457200"/>
          </a:xfrm>
          <a:prstGeom prst="ellipse">
            <a:avLst/>
          </a:prstGeom>
          <a:solidFill>
            <a:srgbClr val="1E2761"/>
          </a:solidFill>
        </p:spPr>
      </p:sp>
      <p:sp>
        <p:nvSpPr>
          <p:cNvPr id="26" name="Text 24"/>
          <p:cNvSpPr/>
          <p:nvPr/>
        </p:nvSpPr>
        <p:spPr>
          <a:xfrm>
            <a:off x="4526280" y="3703320"/>
            <a:ext cx="457200" cy="457200"/>
          </a:xfrm>
          <a:prstGeom prst="rect">
            <a:avLst/>
          </a:prstGeom>
          <a:noFill/>
        </p:spPr>
        <p:txBody>
          <a:bodyPr wrap="square" rtlCol="0" anchor="ctr"/>
          <a:lstStyle/>
          <a:p>
            <a:pPr marL="0" indent="0" algn="ctr">
              <a:buNone/>
            </a:pPr>
            <a:r>
              <a:rPr lang="en-US" sz="1650" b="1" dirty="0">
                <a:solidFill>
                  <a:srgbClr val="F2A93B"/>
                </a:solidFill>
                <a:latin typeface="Calibri" panose="020F0502020204030204" pitchFamily="34" charset="0"/>
                <a:ea typeface="Calibri" panose="020F0502020204030204" pitchFamily="34" charset="-122"/>
                <a:cs typeface="Calibri" panose="020F0502020204030204" pitchFamily="34" charset="-120"/>
              </a:rPr>
              <a:t>▣</a:t>
            </a:r>
            <a:endParaRPr lang="en-US" sz="1650" dirty="0"/>
          </a:p>
        </p:txBody>
      </p:sp>
      <p:sp>
        <p:nvSpPr>
          <p:cNvPr id="27" name="Text 25"/>
          <p:cNvSpPr/>
          <p:nvPr/>
        </p:nvSpPr>
        <p:spPr>
          <a:xfrm>
            <a:off x="5120640" y="3675888"/>
            <a:ext cx="2560320" cy="457200"/>
          </a:xfrm>
          <a:prstGeom prst="rect">
            <a:avLst/>
          </a:prstGeom>
          <a:noFill/>
        </p:spPr>
        <p:txBody>
          <a:bodyPr wrap="square" rtlCol="0" anchor="ctr"/>
          <a:lstStyle/>
          <a:p>
            <a:pPr marL="0" indent="0">
              <a:buNone/>
            </a:pPr>
            <a:r>
              <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rPr>
              <a:t>FedaPay</a:t>
            </a:r>
            <a:endParaRPr lang="en-US" sz="1500" dirty="0"/>
          </a:p>
        </p:txBody>
      </p:sp>
      <p:sp>
        <p:nvSpPr>
          <p:cNvPr id="28" name="Text 26"/>
          <p:cNvSpPr/>
          <p:nvPr/>
        </p:nvSpPr>
        <p:spPr>
          <a:xfrm>
            <a:off x="4526280" y="4297680"/>
            <a:ext cx="3108960" cy="685800"/>
          </a:xfrm>
          <a:prstGeom prst="rect">
            <a:avLst/>
          </a:prstGeom>
          <a:noFill/>
        </p:spPr>
        <p:txBody>
          <a:bodyPr wrap="square" rtlCol="0" anchor="ctr"/>
          <a:lstStyle/>
          <a:p>
            <a:pPr marL="0" indent="0">
              <a:lnSpc>
                <a:spcPct val="115000"/>
              </a:lnSpc>
              <a:buNone/>
            </a:pPr>
            <a:r>
              <a:rPr lang="en-US" sz="1100" dirty="0">
                <a:solidFill>
                  <a:srgbClr val="44506B"/>
                </a:solidFill>
                <a:latin typeface="Calibri" panose="020F0502020204030204" pitchFamily="34" charset="0"/>
                <a:ea typeface="Calibri" panose="020F0502020204030204" pitchFamily="34" charset="-122"/>
                <a:cs typeface="Calibri" panose="020F0502020204030204" pitchFamily="34" charset="-120"/>
              </a:rPr>
              <a:t>Passerelle Mobile Money : Flooz &amp; T-Money</a:t>
            </a:r>
            <a:endParaRPr lang="en-US" sz="1100" dirty="0"/>
          </a:p>
        </p:txBody>
      </p:sp>
      <p:sp>
        <p:nvSpPr>
          <p:cNvPr id="29" name="Shape 27"/>
          <p:cNvSpPr/>
          <p:nvPr/>
        </p:nvSpPr>
        <p:spPr>
          <a:xfrm>
            <a:off x="8046720" y="3474720"/>
            <a:ext cx="3566160" cy="1600200"/>
          </a:xfrm>
          <a:prstGeom prst="roundRect">
            <a:avLst>
              <a:gd name="adj" fmla="val 5714"/>
            </a:avLst>
          </a:prstGeom>
          <a:solidFill>
            <a:srgbClr val="F4F7FD"/>
          </a:solidFill>
          <a:effectLst>
            <a:outerShdw blurRad="63500" dist="25400" dir="5400000" algn="bl" rotWithShape="0">
              <a:srgbClr val="000000">
                <a:alpha val="10000"/>
              </a:srgbClr>
            </a:outerShdw>
          </a:effectLst>
        </p:spPr>
      </p:sp>
      <p:sp>
        <p:nvSpPr>
          <p:cNvPr id="30" name="Shape 28"/>
          <p:cNvSpPr/>
          <p:nvPr/>
        </p:nvSpPr>
        <p:spPr>
          <a:xfrm>
            <a:off x="8275320" y="3703320"/>
            <a:ext cx="457200" cy="457200"/>
          </a:xfrm>
          <a:prstGeom prst="ellipse">
            <a:avLst/>
          </a:prstGeom>
          <a:solidFill>
            <a:srgbClr val="1E2761"/>
          </a:solidFill>
        </p:spPr>
      </p:sp>
      <p:sp>
        <p:nvSpPr>
          <p:cNvPr id="31" name="Text 29"/>
          <p:cNvSpPr/>
          <p:nvPr/>
        </p:nvSpPr>
        <p:spPr>
          <a:xfrm>
            <a:off x="8275320" y="3703320"/>
            <a:ext cx="457200" cy="457200"/>
          </a:xfrm>
          <a:prstGeom prst="rect">
            <a:avLst/>
          </a:prstGeom>
          <a:noFill/>
        </p:spPr>
        <p:txBody>
          <a:bodyPr wrap="square" rtlCol="0" anchor="ctr"/>
          <a:lstStyle/>
          <a:p>
            <a:pPr marL="0" indent="0" algn="ctr">
              <a:buNone/>
            </a:pPr>
            <a:r>
              <a:rPr lang="en-US" sz="1650" b="1" dirty="0">
                <a:solidFill>
                  <a:srgbClr val="F2A93B"/>
                </a:solidFill>
                <a:latin typeface="Calibri" panose="020F0502020204030204" pitchFamily="34" charset="0"/>
                <a:ea typeface="Calibri" panose="020F0502020204030204" pitchFamily="34" charset="-122"/>
                <a:cs typeface="Calibri" panose="020F0502020204030204" pitchFamily="34" charset="-120"/>
              </a:rPr>
              <a:t>▣</a:t>
            </a:r>
            <a:endParaRPr lang="en-US" sz="1650" dirty="0"/>
          </a:p>
        </p:txBody>
      </p:sp>
      <p:sp>
        <p:nvSpPr>
          <p:cNvPr id="32" name="Text 30"/>
          <p:cNvSpPr/>
          <p:nvPr/>
        </p:nvSpPr>
        <p:spPr>
          <a:xfrm>
            <a:off x="8869680" y="3675888"/>
            <a:ext cx="2560320" cy="457200"/>
          </a:xfrm>
          <a:prstGeom prst="rect">
            <a:avLst/>
          </a:prstGeom>
          <a:noFill/>
        </p:spPr>
        <p:txBody>
          <a:bodyPr wrap="square" rtlCol="0" anchor="ctr"/>
          <a:lstStyle/>
          <a:p>
            <a:pPr marL="0" indent="0">
              <a:buNone/>
            </a:pPr>
            <a:r>
              <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rPr>
              <a:t>Docker / Render</a:t>
            </a:r>
            <a:endParaRPr lang="en-US" sz="1500" dirty="0"/>
          </a:p>
        </p:txBody>
      </p:sp>
      <p:sp>
        <p:nvSpPr>
          <p:cNvPr id="33" name="Text 31"/>
          <p:cNvSpPr/>
          <p:nvPr/>
        </p:nvSpPr>
        <p:spPr>
          <a:xfrm>
            <a:off x="8275320" y="4297680"/>
            <a:ext cx="3108960" cy="685800"/>
          </a:xfrm>
          <a:prstGeom prst="rect">
            <a:avLst/>
          </a:prstGeom>
          <a:noFill/>
        </p:spPr>
        <p:txBody>
          <a:bodyPr wrap="square" rtlCol="0" anchor="ctr"/>
          <a:lstStyle/>
          <a:p>
            <a:pPr marL="0" indent="0">
              <a:lnSpc>
                <a:spcPct val="115000"/>
              </a:lnSpc>
              <a:buNone/>
            </a:pPr>
            <a:r>
              <a:rPr lang="en-US" sz="1100" dirty="0">
                <a:solidFill>
                  <a:srgbClr val="44506B"/>
                </a:solidFill>
                <a:latin typeface="Calibri" panose="020F0502020204030204" pitchFamily="34" charset="0"/>
                <a:ea typeface="Calibri" panose="020F0502020204030204" pitchFamily="34" charset="-122"/>
                <a:cs typeface="Calibri" panose="020F0502020204030204" pitchFamily="34" charset="-120"/>
              </a:rPr>
              <a:t>Conteneurisation et hébergement cloud</a:t>
            </a:r>
            <a:endParaRPr lang="en-US" sz="1100" dirty="0"/>
          </a:p>
        </p:txBody>
      </p:sp>
      <p:sp>
        <p:nvSpPr>
          <p:cNvPr id="34" name="Text 32"/>
          <p:cNvSpPr/>
          <p:nvPr/>
        </p:nvSpPr>
        <p:spPr>
          <a:xfrm>
            <a:off x="457200" y="6519672"/>
            <a:ext cx="7315200" cy="274320"/>
          </a:xfrm>
          <a:prstGeom prst="rect">
            <a:avLst/>
          </a:prstGeom>
          <a:noFill/>
        </p:spPr>
        <p:txBody>
          <a:bodyPr wrap="square" rtlCol="0" anchor="ctr"/>
          <a:lstStyle/>
          <a:p>
            <a:pPr marL="0" indent="0" algn="l">
              <a:buNone/>
            </a:pPr>
            <a:r>
              <a:rPr lang="en-US" sz="900" dirty="0">
                <a:solidFill>
                  <a:srgbClr val="A8B0C7"/>
                </a:solidFill>
                <a:latin typeface="Calibri" panose="020F0502020204030204" pitchFamily="34" charset="0"/>
                <a:ea typeface="Calibri" panose="020F0502020204030204" pitchFamily="34" charset="-122"/>
                <a:cs typeface="Calibri" panose="020F0502020204030204" pitchFamily="34" charset="-120"/>
              </a:rPr>
              <a:t>Mémoire de Licence — Génie Logiciel — Gbandi Wake</a:t>
            </a:r>
            <a:endParaRPr lang="en-US" sz="900" dirty="0"/>
          </a:p>
        </p:txBody>
      </p:sp>
      <p:sp>
        <p:nvSpPr>
          <p:cNvPr id="35" name="Text 33"/>
          <p:cNvSpPr/>
          <p:nvPr/>
        </p:nvSpPr>
        <p:spPr>
          <a:xfrm>
            <a:off x="11521440" y="6519672"/>
            <a:ext cx="365760" cy="274320"/>
          </a:xfrm>
          <a:prstGeom prst="rect">
            <a:avLst/>
          </a:prstGeom>
          <a:noFill/>
        </p:spPr>
        <p:txBody>
          <a:bodyPr wrap="square" rtlCol="0" anchor="ctr"/>
          <a:lstStyle/>
          <a:p>
            <a:pPr marL="0" indent="0" algn="r">
              <a:buNone/>
            </a:pPr>
            <a:r>
              <a:rPr lang="en-US" sz="900" dirty="0">
                <a:solidFill>
                  <a:srgbClr val="A8B0C7"/>
                </a:solidFill>
                <a:latin typeface="Calibri" panose="020F0502020204030204" pitchFamily="34" charset="0"/>
                <a:ea typeface="Calibri" panose="020F0502020204030204" pitchFamily="34" charset="-122"/>
                <a:cs typeface="Calibri" panose="020F0502020204030204"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rtlCol="0" anchor="ctr"/>
          <a:lstStyle/>
          <a:p>
            <a:pPr marL="0" indent="0">
              <a:buNone/>
            </a:pPr>
            <a:r>
              <a:rPr lang="en-US" sz="1300" b="1" kern="0" spc="200" dirty="0">
                <a:solidFill>
                  <a:srgbClr val="F2A93B"/>
                </a:solidFill>
                <a:latin typeface="Calibri" panose="020F0502020204030204" pitchFamily="34" charset="0"/>
                <a:ea typeface="Calibri" panose="020F0502020204030204" pitchFamily="34" charset="-122"/>
                <a:cs typeface="Calibri" panose="020F0502020204030204" pitchFamily="34" charset="-120"/>
              </a:rPr>
              <a:t>FONCTIONNEMENT CLÉ</a:t>
            </a:r>
            <a:endParaRPr lang="en-US" sz="1300" dirty="0"/>
          </a:p>
        </p:txBody>
      </p:sp>
      <p:sp>
        <p:nvSpPr>
          <p:cNvPr id="3" name="Text 1"/>
          <p:cNvSpPr/>
          <p:nvPr/>
        </p:nvSpPr>
        <p:spPr>
          <a:xfrm>
            <a:off x="548640" y="658368"/>
            <a:ext cx="10789920" cy="685800"/>
          </a:xfrm>
          <a:prstGeom prst="rect">
            <a:avLst/>
          </a:prstGeom>
          <a:noFill/>
        </p:spPr>
        <p:txBody>
          <a:bodyPr wrap="square" rtlCol="0" anchor="ctr"/>
          <a:lstStyle/>
          <a:p>
            <a:pPr marL="0" indent="0">
              <a:buNone/>
            </a:pPr>
            <a:r>
              <a:rPr lang="en-US" sz="3000" b="1" dirty="0">
                <a:solidFill>
                  <a:srgbClr val="1E2761"/>
                </a:solidFill>
                <a:latin typeface="Cambria" panose="02040503050406030204" pitchFamily="34" charset="0"/>
                <a:ea typeface="Cambria" panose="02040503050406030204" pitchFamily="34" charset="-122"/>
                <a:cs typeface="Cambria" panose="02040503050406030204" pitchFamily="34" charset="-120"/>
              </a:rPr>
              <a:t>Le paiement du loyer par Mobile Money</a:t>
            </a:r>
            <a:endParaRPr lang="en-US" sz="3000" dirty="0"/>
          </a:p>
        </p:txBody>
      </p:sp>
      <p:sp>
        <p:nvSpPr>
          <p:cNvPr id="4" name="Shape 2"/>
          <p:cNvSpPr/>
          <p:nvPr/>
        </p:nvSpPr>
        <p:spPr>
          <a:xfrm>
            <a:off x="548640" y="2377440"/>
            <a:ext cx="2029968" cy="2834640"/>
          </a:xfrm>
          <a:prstGeom prst="roundRect">
            <a:avLst>
              <a:gd name="adj" fmla="val 4505"/>
            </a:avLst>
          </a:prstGeom>
          <a:solidFill>
            <a:srgbClr val="1E2761"/>
          </a:solidFill>
        </p:spPr>
      </p:sp>
      <p:sp>
        <p:nvSpPr>
          <p:cNvPr id="5" name="Shape 3"/>
          <p:cNvSpPr/>
          <p:nvPr/>
        </p:nvSpPr>
        <p:spPr>
          <a:xfrm>
            <a:off x="1289304" y="2651760"/>
            <a:ext cx="548640" cy="548640"/>
          </a:xfrm>
          <a:prstGeom prst="ellipse">
            <a:avLst/>
          </a:prstGeom>
          <a:solidFill>
            <a:srgbClr val="F2A93B"/>
          </a:solidFill>
        </p:spPr>
      </p:sp>
      <p:sp>
        <p:nvSpPr>
          <p:cNvPr id="6" name="Text 4"/>
          <p:cNvSpPr/>
          <p:nvPr/>
        </p:nvSpPr>
        <p:spPr>
          <a:xfrm>
            <a:off x="1289304" y="2651760"/>
            <a:ext cx="548640" cy="548640"/>
          </a:xfrm>
          <a:prstGeom prst="rect">
            <a:avLst/>
          </a:prstGeom>
          <a:noFill/>
        </p:spPr>
        <p:txBody>
          <a:bodyPr wrap="square" rtlCol="0" anchor="ctr"/>
          <a:lstStyle/>
          <a:p>
            <a:pPr marL="0" indent="0" algn="ctr">
              <a:buNone/>
            </a:pPr>
            <a:r>
              <a:rPr lang="en-US" sz="1980" b="1" dirty="0">
                <a:solidFill>
                  <a:srgbClr val="1E2761"/>
                </a:solidFill>
                <a:latin typeface="Calibri" panose="020F0502020204030204" pitchFamily="34" charset="0"/>
                <a:ea typeface="Calibri" panose="020F0502020204030204" pitchFamily="34" charset="-122"/>
                <a:cs typeface="Calibri" panose="020F0502020204030204" pitchFamily="34" charset="-120"/>
              </a:rPr>
              <a:t>1</a:t>
            </a:r>
            <a:endParaRPr lang="en-US" sz="1980" dirty="0"/>
          </a:p>
        </p:txBody>
      </p:sp>
      <p:sp>
        <p:nvSpPr>
          <p:cNvPr id="7" name="Text 5"/>
          <p:cNvSpPr/>
          <p:nvPr/>
        </p:nvSpPr>
        <p:spPr>
          <a:xfrm>
            <a:off x="685800" y="3383280"/>
            <a:ext cx="1755648" cy="1645920"/>
          </a:xfrm>
          <a:prstGeom prst="rect">
            <a:avLst/>
          </a:prstGeom>
          <a:noFill/>
        </p:spPr>
        <p:txBody>
          <a:bodyPr wrap="square" rtlCol="0" anchor="t"/>
          <a:lstStyle/>
          <a:p>
            <a:pPr marL="0" indent="0" algn="ctr">
              <a:lnSpc>
                <a:spcPct val="120000"/>
              </a:lnSpc>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Le locataire consulte son échéance et lance le paiement depuis l'app mobile</a:t>
            </a:r>
            <a:endParaRPr lang="en-US" sz="1100" dirty="0"/>
          </a:p>
        </p:txBody>
      </p:sp>
      <p:sp>
        <p:nvSpPr>
          <p:cNvPr id="8" name="Text 6"/>
          <p:cNvSpPr/>
          <p:nvPr/>
        </p:nvSpPr>
        <p:spPr>
          <a:xfrm>
            <a:off x="2578608" y="3566160"/>
            <a:ext cx="228600" cy="457200"/>
          </a:xfrm>
          <a:prstGeom prst="rect">
            <a:avLst/>
          </a:prstGeom>
          <a:noFill/>
        </p:spPr>
        <p:txBody>
          <a:bodyPr wrap="square" rtlCol="0" anchor="ctr"/>
          <a:lstStyle/>
          <a:p>
            <a:pPr marL="0" indent="0" algn="ctr">
              <a:buNone/>
            </a:pPr>
            <a:r>
              <a:rPr lang="en-US" sz="1600" dirty="0">
                <a:solidFill>
                  <a:srgbClr val="1E2761"/>
                </a:solidFill>
              </a:rPr>
              <a:t>→</a:t>
            </a:r>
            <a:endParaRPr lang="en-US" sz="1600" dirty="0"/>
          </a:p>
        </p:txBody>
      </p:sp>
      <p:sp>
        <p:nvSpPr>
          <p:cNvPr id="9" name="Shape 7"/>
          <p:cNvSpPr/>
          <p:nvPr/>
        </p:nvSpPr>
        <p:spPr>
          <a:xfrm>
            <a:off x="2807208" y="2377440"/>
            <a:ext cx="2029968" cy="2834640"/>
          </a:xfrm>
          <a:prstGeom prst="roundRect">
            <a:avLst>
              <a:gd name="adj" fmla="val 4505"/>
            </a:avLst>
          </a:prstGeom>
          <a:solidFill>
            <a:srgbClr val="334A9E"/>
          </a:solidFill>
        </p:spPr>
      </p:sp>
      <p:sp>
        <p:nvSpPr>
          <p:cNvPr id="10" name="Shape 8"/>
          <p:cNvSpPr/>
          <p:nvPr/>
        </p:nvSpPr>
        <p:spPr>
          <a:xfrm>
            <a:off x="3547872" y="2651760"/>
            <a:ext cx="548640" cy="548640"/>
          </a:xfrm>
          <a:prstGeom prst="ellipse">
            <a:avLst/>
          </a:prstGeom>
          <a:solidFill>
            <a:srgbClr val="F2A93B"/>
          </a:solidFill>
        </p:spPr>
      </p:sp>
      <p:sp>
        <p:nvSpPr>
          <p:cNvPr id="11" name="Text 9"/>
          <p:cNvSpPr/>
          <p:nvPr/>
        </p:nvSpPr>
        <p:spPr>
          <a:xfrm>
            <a:off x="3547872" y="2651760"/>
            <a:ext cx="548640" cy="548640"/>
          </a:xfrm>
          <a:prstGeom prst="rect">
            <a:avLst/>
          </a:prstGeom>
          <a:noFill/>
        </p:spPr>
        <p:txBody>
          <a:bodyPr wrap="square" rtlCol="0" anchor="ctr"/>
          <a:lstStyle/>
          <a:p>
            <a:pPr marL="0" indent="0" algn="ctr">
              <a:buNone/>
            </a:pPr>
            <a:r>
              <a:rPr lang="en-US" sz="1980" b="1" dirty="0">
                <a:solidFill>
                  <a:srgbClr val="1E2761"/>
                </a:solidFill>
                <a:latin typeface="Calibri" panose="020F0502020204030204" pitchFamily="34" charset="0"/>
                <a:ea typeface="Calibri" panose="020F0502020204030204" pitchFamily="34" charset="-122"/>
                <a:cs typeface="Calibri" panose="020F0502020204030204" pitchFamily="34" charset="-120"/>
              </a:rPr>
              <a:t>2</a:t>
            </a:r>
            <a:endParaRPr lang="en-US" sz="1980" dirty="0"/>
          </a:p>
        </p:txBody>
      </p:sp>
      <p:sp>
        <p:nvSpPr>
          <p:cNvPr id="12" name="Text 10"/>
          <p:cNvSpPr/>
          <p:nvPr/>
        </p:nvSpPr>
        <p:spPr>
          <a:xfrm>
            <a:off x="2944368" y="3383280"/>
            <a:ext cx="1755648" cy="1645920"/>
          </a:xfrm>
          <a:prstGeom prst="rect">
            <a:avLst/>
          </a:prstGeom>
          <a:noFill/>
        </p:spPr>
        <p:txBody>
          <a:bodyPr wrap="square" rtlCol="0" anchor="t"/>
          <a:lstStyle/>
          <a:p>
            <a:pPr marL="0" indent="0" algn="ctr">
              <a:lnSpc>
                <a:spcPct val="120000"/>
              </a:lnSpc>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Le backend crée une transaction et redirige vers la page sécurisée FedaPay</a:t>
            </a:r>
            <a:endParaRPr lang="en-US" sz="1100" dirty="0"/>
          </a:p>
        </p:txBody>
      </p:sp>
      <p:sp>
        <p:nvSpPr>
          <p:cNvPr id="13" name="Text 11"/>
          <p:cNvSpPr/>
          <p:nvPr/>
        </p:nvSpPr>
        <p:spPr>
          <a:xfrm>
            <a:off x="4837176" y="3566160"/>
            <a:ext cx="228600" cy="457200"/>
          </a:xfrm>
          <a:prstGeom prst="rect">
            <a:avLst/>
          </a:prstGeom>
          <a:noFill/>
        </p:spPr>
        <p:txBody>
          <a:bodyPr wrap="square" rtlCol="0" anchor="ctr"/>
          <a:lstStyle/>
          <a:p>
            <a:pPr marL="0" indent="0" algn="ctr">
              <a:buNone/>
            </a:pPr>
            <a:r>
              <a:rPr lang="en-US" sz="1600" dirty="0">
                <a:solidFill>
                  <a:srgbClr val="1E2761"/>
                </a:solidFill>
              </a:rPr>
              <a:t>→</a:t>
            </a:r>
            <a:endParaRPr lang="en-US" sz="1600" dirty="0"/>
          </a:p>
        </p:txBody>
      </p:sp>
      <p:sp>
        <p:nvSpPr>
          <p:cNvPr id="14" name="Shape 12"/>
          <p:cNvSpPr/>
          <p:nvPr/>
        </p:nvSpPr>
        <p:spPr>
          <a:xfrm>
            <a:off x="5065776" y="2377440"/>
            <a:ext cx="2029968" cy="2834640"/>
          </a:xfrm>
          <a:prstGeom prst="roundRect">
            <a:avLst>
              <a:gd name="adj" fmla="val 4505"/>
            </a:avLst>
          </a:prstGeom>
          <a:solidFill>
            <a:srgbClr val="1E2761"/>
          </a:solidFill>
        </p:spPr>
      </p:sp>
      <p:sp>
        <p:nvSpPr>
          <p:cNvPr id="15" name="Shape 13"/>
          <p:cNvSpPr/>
          <p:nvPr/>
        </p:nvSpPr>
        <p:spPr>
          <a:xfrm>
            <a:off x="5806440" y="2651760"/>
            <a:ext cx="548640" cy="548640"/>
          </a:xfrm>
          <a:prstGeom prst="ellipse">
            <a:avLst/>
          </a:prstGeom>
          <a:solidFill>
            <a:srgbClr val="F2A93B"/>
          </a:solidFill>
        </p:spPr>
      </p:sp>
      <p:sp>
        <p:nvSpPr>
          <p:cNvPr id="16" name="Text 14"/>
          <p:cNvSpPr/>
          <p:nvPr/>
        </p:nvSpPr>
        <p:spPr>
          <a:xfrm>
            <a:off x="5806440" y="2651760"/>
            <a:ext cx="548640" cy="548640"/>
          </a:xfrm>
          <a:prstGeom prst="rect">
            <a:avLst/>
          </a:prstGeom>
          <a:noFill/>
        </p:spPr>
        <p:txBody>
          <a:bodyPr wrap="square" rtlCol="0" anchor="ctr"/>
          <a:lstStyle/>
          <a:p>
            <a:pPr marL="0" indent="0" algn="ctr">
              <a:buNone/>
            </a:pPr>
            <a:r>
              <a:rPr lang="en-US" sz="1980" b="1" dirty="0">
                <a:solidFill>
                  <a:srgbClr val="1E2761"/>
                </a:solidFill>
                <a:latin typeface="Calibri" panose="020F0502020204030204" pitchFamily="34" charset="0"/>
                <a:ea typeface="Calibri" panose="020F0502020204030204" pitchFamily="34" charset="-122"/>
                <a:cs typeface="Calibri" panose="020F0502020204030204" pitchFamily="34" charset="-120"/>
              </a:rPr>
              <a:t>3</a:t>
            </a:r>
            <a:endParaRPr lang="en-US" sz="1980" dirty="0"/>
          </a:p>
        </p:txBody>
      </p:sp>
      <p:sp>
        <p:nvSpPr>
          <p:cNvPr id="17" name="Text 15"/>
          <p:cNvSpPr/>
          <p:nvPr/>
        </p:nvSpPr>
        <p:spPr>
          <a:xfrm>
            <a:off x="5202936" y="3383280"/>
            <a:ext cx="1755648" cy="1645920"/>
          </a:xfrm>
          <a:prstGeom prst="rect">
            <a:avLst/>
          </a:prstGeom>
          <a:noFill/>
        </p:spPr>
        <p:txBody>
          <a:bodyPr wrap="square" rtlCol="0" anchor="t"/>
          <a:lstStyle/>
          <a:p>
            <a:pPr marL="0" indent="0" algn="ctr">
              <a:lnSpc>
                <a:spcPct val="120000"/>
              </a:lnSpc>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Le locataire confirme via Flooz ou T-Money (code OTP)</a:t>
            </a:r>
            <a:endParaRPr lang="en-US" sz="1100" dirty="0"/>
          </a:p>
        </p:txBody>
      </p:sp>
      <p:sp>
        <p:nvSpPr>
          <p:cNvPr id="18" name="Text 16"/>
          <p:cNvSpPr/>
          <p:nvPr/>
        </p:nvSpPr>
        <p:spPr>
          <a:xfrm>
            <a:off x="7095744" y="3566160"/>
            <a:ext cx="228600" cy="457200"/>
          </a:xfrm>
          <a:prstGeom prst="rect">
            <a:avLst/>
          </a:prstGeom>
          <a:noFill/>
        </p:spPr>
        <p:txBody>
          <a:bodyPr wrap="square" rtlCol="0" anchor="ctr"/>
          <a:lstStyle/>
          <a:p>
            <a:pPr marL="0" indent="0" algn="ctr">
              <a:buNone/>
            </a:pPr>
            <a:r>
              <a:rPr lang="en-US" sz="1600" dirty="0">
                <a:solidFill>
                  <a:srgbClr val="1E2761"/>
                </a:solidFill>
              </a:rPr>
              <a:t>→</a:t>
            </a:r>
            <a:endParaRPr lang="en-US" sz="1600" dirty="0"/>
          </a:p>
        </p:txBody>
      </p:sp>
      <p:sp>
        <p:nvSpPr>
          <p:cNvPr id="19" name="Shape 17"/>
          <p:cNvSpPr/>
          <p:nvPr/>
        </p:nvSpPr>
        <p:spPr>
          <a:xfrm>
            <a:off x="7324344" y="2377440"/>
            <a:ext cx="2029968" cy="2834640"/>
          </a:xfrm>
          <a:prstGeom prst="roundRect">
            <a:avLst>
              <a:gd name="adj" fmla="val 4505"/>
            </a:avLst>
          </a:prstGeom>
          <a:solidFill>
            <a:srgbClr val="334A9E"/>
          </a:solidFill>
        </p:spPr>
      </p:sp>
      <p:sp>
        <p:nvSpPr>
          <p:cNvPr id="20" name="Shape 18"/>
          <p:cNvSpPr/>
          <p:nvPr/>
        </p:nvSpPr>
        <p:spPr>
          <a:xfrm>
            <a:off x="8065008" y="2651760"/>
            <a:ext cx="548640" cy="548640"/>
          </a:xfrm>
          <a:prstGeom prst="ellipse">
            <a:avLst/>
          </a:prstGeom>
          <a:solidFill>
            <a:srgbClr val="F2A93B"/>
          </a:solidFill>
        </p:spPr>
      </p:sp>
      <p:sp>
        <p:nvSpPr>
          <p:cNvPr id="21" name="Text 19"/>
          <p:cNvSpPr/>
          <p:nvPr/>
        </p:nvSpPr>
        <p:spPr>
          <a:xfrm>
            <a:off x="8065008" y="2651760"/>
            <a:ext cx="548640" cy="548640"/>
          </a:xfrm>
          <a:prstGeom prst="rect">
            <a:avLst/>
          </a:prstGeom>
          <a:noFill/>
        </p:spPr>
        <p:txBody>
          <a:bodyPr wrap="square" rtlCol="0" anchor="ctr"/>
          <a:lstStyle/>
          <a:p>
            <a:pPr marL="0" indent="0" algn="ctr">
              <a:buNone/>
            </a:pPr>
            <a:r>
              <a:rPr lang="en-US" sz="1980" b="1" dirty="0">
                <a:solidFill>
                  <a:srgbClr val="1E2761"/>
                </a:solidFill>
                <a:latin typeface="Calibri" panose="020F0502020204030204" pitchFamily="34" charset="0"/>
                <a:ea typeface="Calibri" panose="020F0502020204030204" pitchFamily="34" charset="-122"/>
                <a:cs typeface="Calibri" panose="020F0502020204030204" pitchFamily="34" charset="-120"/>
              </a:rPr>
              <a:t>4</a:t>
            </a:r>
            <a:endParaRPr lang="en-US" sz="1980" dirty="0"/>
          </a:p>
        </p:txBody>
      </p:sp>
      <p:sp>
        <p:nvSpPr>
          <p:cNvPr id="22" name="Text 20"/>
          <p:cNvSpPr/>
          <p:nvPr/>
        </p:nvSpPr>
        <p:spPr>
          <a:xfrm>
            <a:off x="7461504" y="3383280"/>
            <a:ext cx="1755648" cy="1645920"/>
          </a:xfrm>
          <a:prstGeom prst="rect">
            <a:avLst/>
          </a:prstGeom>
          <a:noFill/>
        </p:spPr>
        <p:txBody>
          <a:bodyPr wrap="square" rtlCol="0" anchor="t"/>
          <a:lstStyle/>
          <a:p>
            <a:pPr marL="0" indent="0" algn="ctr">
              <a:lnSpc>
                <a:spcPct val="120000"/>
              </a:lnSpc>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FedaPay notifie le backend par webhook signé HMAC-SHA256</a:t>
            </a:r>
            <a:endParaRPr lang="en-US" sz="1100" dirty="0"/>
          </a:p>
        </p:txBody>
      </p:sp>
      <p:sp>
        <p:nvSpPr>
          <p:cNvPr id="23" name="Text 21"/>
          <p:cNvSpPr/>
          <p:nvPr/>
        </p:nvSpPr>
        <p:spPr>
          <a:xfrm>
            <a:off x="9354312" y="3566160"/>
            <a:ext cx="228600" cy="457200"/>
          </a:xfrm>
          <a:prstGeom prst="rect">
            <a:avLst/>
          </a:prstGeom>
          <a:noFill/>
        </p:spPr>
        <p:txBody>
          <a:bodyPr wrap="square" rtlCol="0" anchor="ctr"/>
          <a:lstStyle/>
          <a:p>
            <a:pPr marL="0" indent="0" algn="ctr">
              <a:buNone/>
            </a:pPr>
            <a:r>
              <a:rPr lang="en-US" sz="1600" dirty="0">
                <a:solidFill>
                  <a:srgbClr val="1E2761"/>
                </a:solidFill>
              </a:rPr>
              <a:t>→</a:t>
            </a:r>
            <a:endParaRPr lang="en-US" sz="1600" dirty="0"/>
          </a:p>
        </p:txBody>
      </p:sp>
      <p:sp>
        <p:nvSpPr>
          <p:cNvPr id="24" name="Shape 22"/>
          <p:cNvSpPr/>
          <p:nvPr/>
        </p:nvSpPr>
        <p:spPr>
          <a:xfrm>
            <a:off x="9582912" y="2377440"/>
            <a:ext cx="2029968" cy="2834640"/>
          </a:xfrm>
          <a:prstGeom prst="roundRect">
            <a:avLst>
              <a:gd name="adj" fmla="val 4505"/>
            </a:avLst>
          </a:prstGeom>
          <a:solidFill>
            <a:srgbClr val="1E2761"/>
          </a:solidFill>
        </p:spPr>
      </p:sp>
      <p:sp>
        <p:nvSpPr>
          <p:cNvPr id="25" name="Shape 23"/>
          <p:cNvSpPr/>
          <p:nvPr/>
        </p:nvSpPr>
        <p:spPr>
          <a:xfrm>
            <a:off x="10323576" y="2651760"/>
            <a:ext cx="548640" cy="548640"/>
          </a:xfrm>
          <a:prstGeom prst="ellipse">
            <a:avLst/>
          </a:prstGeom>
          <a:solidFill>
            <a:srgbClr val="F2A93B"/>
          </a:solidFill>
        </p:spPr>
      </p:sp>
      <p:sp>
        <p:nvSpPr>
          <p:cNvPr id="26" name="Text 24"/>
          <p:cNvSpPr/>
          <p:nvPr/>
        </p:nvSpPr>
        <p:spPr>
          <a:xfrm>
            <a:off x="10323576" y="2651760"/>
            <a:ext cx="548640" cy="548640"/>
          </a:xfrm>
          <a:prstGeom prst="rect">
            <a:avLst/>
          </a:prstGeom>
          <a:noFill/>
        </p:spPr>
        <p:txBody>
          <a:bodyPr wrap="square" rtlCol="0" anchor="ctr"/>
          <a:lstStyle/>
          <a:p>
            <a:pPr marL="0" indent="0" algn="ctr">
              <a:buNone/>
            </a:pPr>
            <a:r>
              <a:rPr lang="en-US" sz="1980" b="1" dirty="0">
                <a:solidFill>
                  <a:srgbClr val="1E2761"/>
                </a:solidFill>
                <a:latin typeface="Calibri" panose="020F0502020204030204" pitchFamily="34" charset="0"/>
                <a:ea typeface="Calibri" panose="020F0502020204030204" pitchFamily="34" charset="-122"/>
                <a:cs typeface="Calibri" panose="020F0502020204030204" pitchFamily="34" charset="-120"/>
              </a:rPr>
              <a:t>5</a:t>
            </a:r>
            <a:endParaRPr lang="en-US" sz="1980" dirty="0"/>
          </a:p>
        </p:txBody>
      </p:sp>
      <p:sp>
        <p:nvSpPr>
          <p:cNvPr id="27" name="Text 25"/>
          <p:cNvSpPr/>
          <p:nvPr/>
        </p:nvSpPr>
        <p:spPr>
          <a:xfrm>
            <a:off x="9720072" y="3383280"/>
            <a:ext cx="1755648" cy="1645920"/>
          </a:xfrm>
          <a:prstGeom prst="rect">
            <a:avLst/>
          </a:prstGeom>
          <a:noFill/>
        </p:spPr>
        <p:txBody>
          <a:bodyPr wrap="square" rtlCol="0" anchor="t"/>
          <a:lstStyle/>
          <a:p>
            <a:pPr marL="0" indent="0" algn="ctr">
              <a:lnSpc>
                <a:spcPct val="120000"/>
              </a:lnSpc>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L'échéance est soldée et une notification de confirmation est envoyée</a:t>
            </a:r>
            <a:endParaRPr lang="en-US" sz="1100" dirty="0"/>
          </a:p>
        </p:txBody>
      </p:sp>
      <p:sp>
        <p:nvSpPr>
          <p:cNvPr id="28" name="Text 26"/>
          <p:cNvSpPr/>
          <p:nvPr/>
        </p:nvSpPr>
        <p:spPr>
          <a:xfrm>
            <a:off x="548640" y="5486400"/>
            <a:ext cx="11064240" cy="457200"/>
          </a:xfrm>
          <a:prstGeom prst="rect">
            <a:avLst/>
          </a:prstGeom>
          <a:noFill/>
        </p:spPr>
        <p:txBody>
          <a:bodyPr wrap="square" rtlCol="0" anchor="ctr"/>
          <a:lstStyle/>
          <a:p>
            <a:pPr marL="0" indent="0" algn="ctr">
              <a:buNone/>
            </a:pPr>
            <a:r>
              <a:rPr lang="en-US" sz="1300" i="1" dirty="0">
                <a:solidFill>
                  <a:srgbClr val="44506B"/>
                </a:solidFill>
                <a:latin typeface="Calibri" panose="020F0502020204030204" pitchFamily="34" charset="0"/>
                <a:ea typeface="Calibri" panose="020F0502020204030204" pitchFamily="34" charset="-122"/>
                <a:cs typeface="Calibri" panose="020F0502020204030204" pitchFamily="34" charset="-120"/>
              </a:rPr>
              <a:t>Aucune saisie manuelle par le propriétaire : le rapprochement financier est 100 % automatisé.</a:t>
            </a:r>
            <a:endParaRPr lang="en-US" sz="1300" dirty="0"/>
          </a:p>
        </p:txBody>
      </p:sp>
      <p:sp>
        <p:nvSpPr>
          <p:cNvPr id="29" name="Text 27"/>
          <p:cNvSpPr/>
          <p:nvPr/>
        </p:nvSpPr>
        <p:spPr>
          <a:xfrm>
            <a:off x="457200" y="6519672"/>
            <a:ext cx="7315200" cy="274320"/>
          </a:xfrm>
          <a:prstGeom prst="rect">
            <a:avLst/>
          </a:prstGeom>
          <a:noFill/>
        </p:spPr>
        <p:txBody>
          <a:bodyPr wrap="square" rtlCol="0" anchor="ctr"/>
          <a:lstStyle/>
          <a:p>
            <a:pPr marL="0" indent="0" algn="l">
              <a:buNone/>
            </a:pPr>
            <a:r>
              <a:rPr lang="en-US" sz="900" dirty="0">
                <a:solidFill>
                  <a:srgbClr val="A8B0C7"/>
                </a:solidFill>
                <a:latin typeface="Calibri" panose="020F0502020204030204" pitchFamily="34" charset="0"/>
                <a:ea typeface="Calibri" panose="020F0502020204030204" pitchFamily="34" charset="-122"/>
                <a:cs typeface="Calibri" panose="020F0502020204030204" pitchFamily="34" charset="-120"/>
              </a:rPr>
              <a:t>Mémoire de Licence — Génie Logiciel — Gbandi Wake</a:t>
            </a:r>
            <a:endParaRPr lang="en-US" sz="900" dirty="0"/>
          </a:p>
        </p:txBody>
      </p:sp>
      <p:sp>
        <p:nvSpPr>
          <p:cNvPr id="30" name="Text 28"/>
          <p:cNvSpPr/>
          <p:nvPr/>
        </p:nvSpPr>
        <p:spPr>
          <a:xfrm>
            <a:off x="11521440" y="6519672"/>
            <a:ext cx="365760" cy="274320"/>
          </a:xfrm>
          <a:prstGeom prst="rect">
            <a:avLst/>
          </a:prstGeom>
          <a:noFill/>
        </p:spPr>
        <p:txBody>
          <a:bodyPr wrap="square" rtlCol="0" anchor="ctr"/>
          <a:lstStyle/>
          <a:p>
            <a:pPr marL="0" indent="0" algn="r">
              <a:buNone/>
            </a:pPr>
            <a:r>
              <a:rPr lang="en-US" sz="900" dirty="0">
                <a:solidFill>
                  <a:srgbClr val="A8B0C7"/>
                </a:solidFill>
                <a:latin typeface="Calibri" panose="020F0502020204030204" pitchFamily="34" charset="0"/>
                <a:ea typeface="Calibri" panose="020F0502020204030204" pitchFamily="34" charset="-122"/>
                <a:cs typeface="Calibri" panose="020F0502020204030204"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rtlCol="0" anchor="ctr"/>
          <a:lstStyle/>
          <a:p>
            <a:pPr marL="0" indent="0">
              <a:buNone/>
            </a:pPr>
            <a:r>
              <a:rPr lang="en-US" sz="1300" b="1" kern="0" spc="200" dirty="0">
                <a:solidFill>
                  <a:srgbClr val="F2A93B"/>
                </a:solidFill>
                <a:latin typeface="Calibri" panose="020F0502020204030204" pitchFamily="34" charset="0"/>
                <a:ea typeface="Calibri" panose="020F0502020204030204" pitchFamily="34" charset="-122"/>
                <a:cs typeface="Calibri" panose="020F0502020204030204" pitchFamily="34" charset="-120"/>
              </a:rPr>
              <a:t>DÉPLOIEMENT &amp; EXPLOITATION</a:t>
            </a:r>
            <a:endParaRPr lang="en-US" sz="1300" dirty="0"/>
          </a:p>
        </p:txBody>
      </p:sp>
      <p:sp>
        <p:nvSpPr>
          <p:cNvPr id="3" name="Text 1"/>
          <p:cNvSpPr/>
          <p:nvPr/>
        </p:nvSpPr>
        <p:spPr>
          <a:xfrm>
            <a:off x="548640" y="658368"/>
            <a:ext cx="10789920" cy="685800"/>
          </a:xfrm>
          <a:prstGeom prst="rect">
            <a:avLst/>
          </a:prstGeom>
          <a:noFill/>
        </p:spPr>
        <p:txBody>
          <a:bodyPr wrap="square" rtlCol="0" anchor="ctr"/>
          <a:lstStyle/>
          <a:p>
            <a:pPr marL="0" indent="0">
              <a:buNone/>
            </a:pPr>
            <a:r>
              <a:rPr lang="en-US" sz="3000" b="1" dirty="0">
                <a:solidFill>
                  <a:srgbClr val="1E2761"/>
                </a:solidFill>
                <a:latin typeface="Cambria" panose="02040503050406030204" pitchFamily="34" charset="0"/>
                <a:ea typeface="Cambria" panose="02040503050406030204" pitchFamily="34" charset="-122"/>
                <a:cs typeface="Cambria" panose="02040503050406030204" pitchFamily="34" charset="-120"/>
              </a:rPr>
              <a:t>Une infrastructure cloud légère et évolutive</a:t>
            </a:r>
            <a:endParaRPr lang="en-US" sz="3000" dirty="0"/>
          </a:p>
        </p:txBody>
      </p:sp>
      <p:sp>
        <p:nvSpPr>
          <p:cNvPr id="4" name="Shape 2"/>
          <p:cNvSpPr/>
          <p:nvPr/>
        </p:nvSpPr>
        <p:spPr>
          <a:xfrm>
            <a:off x="548640" y="1691640"/>
            <a:ext cx="2651760" cy="2194560"/>
          </a:xfrm>
          <a:prstGeom prst="roundRect">
            <a:avLst>
              <a:gd name="adj" fmla="val 4167"/>
            </a:avLst>
          </a:prstGeom>
          <a:solidFill>
            <a:srgbClr val="F4F7FD"/>
          </a:solidFill>
          <a:effectLst>
            <a:outerShdw blurRad="63500" dist="25400" dir="5400000" algn="bl" rotWithShape="0">
              <a:srgbClr val="000000">
                <a:alpha val="10000"/>
              </a:srgbClr>
            </a:outerShdw>
          </a:effectLst>
        </p:spPr>
      </p:sp>
      <p:sp>
        <p:nvSpPr>
          <p:cNvPr id="5" name="Shape 3"/>
          <p:cNvSpPr/>
          <p:nvPr/>
        </p:nvSpPr>
        <p:spPr>
          <a:xfrm>
            <a:off x="1618488" y="1920240"/>
            <a:ext cx="512064" cy="512064"/>
          </a:xfrm>
          <a:prstGeom prst="ellipse">
            <a:avLst/>
          </a:prstGeom>
          <a:solidFill>
            <a:srgbClr val="1E2761"/>
          </a:solidFill>
        </p:spPr>
      </p:sp>
      <p:sp>
        <p:nvSpPr>
          <p:cNvPr id="6" name="Text 4"/>
          <p:cNvSpPr/>
          <p:nvPr/>
        </p:nvSpPr>
        <p:spPr>
          <a:xfrm>
            <a:off x="1618488" y="1920240"/>
            <a:ext cx="512064" cy="512064"/>
          </a:xfrm>
          <a:prstGeom prst="rect">
            <a:avLst/>
          </a:prstGeom>
          <a:noFill/>
        </p:spPr>
        <p:txBody>
          <a:bodyPr wrap="square" rtlCol="0" anchor="ctr"/>
          <a:lstStyle/>
          <a:p>
            <a:pPr marL="0" indent="0" algn="ctr">
              <a:buNone/>
            </a:pPr>
            <a:r>
              <a:rPr lang="en-US" sz="185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850" dirty="0"/>
          </a:p>
        </p:txBody>
      </p:sp>
      <p:sp>
        <p:nvSpPr>
          <p:cNvPr id="7" name="Text 5"/>
          <p:cNvSpPr/>
          <p:nvPr/>
        </p:nvSpPr>
        <p:spPr>
          <a:xfrm>
            <a:off x="685800" y="2606040"/>
            <a:ext cx="2377440" cy="320040"/>
          </a:xfrm>
          <a:prstGeom prst="rect">
            <a:avLst/>
          </a:prstGeom>
          <a:noFill/>
        </p:spPr>
        <p:txBody>
          <a:bodyPr wrap="square" rtlCol="0" anchor="ctr"/>
          <a:lstStyle/>
          <a:p>
            <a:pPr marL="0" indent="0" algn="ctr">
              <a:buNone/>
            </a:pPr>
            <a:r>
              <a:rPr lang="en-US" sz="1350" b="1" dirty="0">
                <a:solidFill>
                  <a:srgbClr val="1E2761"/>
                </a:solidFill>
                <a:latin typeface="Calibri" panose="020F0502020204030204" pitchFamily="34" charset="0"/>
                <a:ea typeface="Calibri" panose="020F0502020204030204" pitchFamily="34" charset="-122"/>
                <a:cs typeface="Calibri" panose="020F0502020204030204" pitchFamily="34" charset="-120"/>
              </a:rPr>
              <a:t>Backend</a:t>
            </a:r>
            <a:endParaRPr lang="en-US" sz="1350" dirty="0"/>
          </a:p>
        </p:txBody>
      </p:sp>
      <p:sp>
        <p:nvSpPr>
          <p:cNvPr id="8" name="Text 6"/>
          <p:cNvSpPr/>
          <p:nvPr/>
        </p:nvSpPr>
        <p:spPr>
          <a:xfrm>
            <a:off x="685800" y="2926080"/>
            <a:ext cx="2377440" cy="868680"/>
          </a:xfrm>
          <a:prstGeom prst="rect">
            <a:avLst/>
          </a:prstGeom>
          <a:noFill/>
        </p:spPr>
        <p:txBody>
          <a:bodyPr wrap="square" rtlCol="0" anchor="ctr"/>
          <a:lstStyle/>
          <a:p>
            <a:pPr marL="0" indent="0" algn="ctr">
              <a:lnSpc>
                <a:spcPct val="115000"/>
              </a:lnSpc>
              <a:buNone/>
            </a:pPr>
            <a:r>
              <a:rPr lang="en-US" sz="1000" dirty="0">
                <a:solidFill>
                  <a:srgbClr val="44506B"/>
                </a:solidFill>
                <a:latin typeface="Calibri" panose="020F0502020204030204" pitchFamily="34" charset="0"/>
                <a:ea typeface="Calibri" panose="020F0502020204030204" pitchFamily="34" charset="-122"/>
                <a:cs typeface="Calibri" panose="020F0502020204030204" pitchFamily="34" charset="-120"/>
              </a:rPr>
              <a:t>Conteneurisé avec Docker, déployé automatiquement sur Render à chaque push GitHub</a:t>
            </a:r>
            <a:endParaRPr lang="en-US" sz="1000" dirty="0"/>
          </a:p>
        </p:txBody>
      </p:sp>
      <p:sp>
        <p:nvSpPr>
          <p:cNvPr id="9" name="Shape 7"/>
          <p:cNvSpPr/>
          <p:nvPr/>
        </p:nvSpPr>
        <p:spPr>
          <a:xfrm>
            <a:off x="3364992" y="1691640"/>
            <a:ext cx="2651760" cy="2194560"/>
          </a:xfrm>
          <a:prstGeom prst="roundRect">
            <a:avLst>
              <a:gd name="adj" fmla="val 4167"/>
            </a:avLst>
          </a:prstGeom>
          <a:solidFill>
            <a:srgbClr val="F4F7FD"/>
          </a:solidFill>
          <a:effectLst>
            <a:outerShdw blurRad="63500" dist="25400" dir="5400000" algn="bl" rotWithShape="0">
              <a:srgbClr val="000000">
                <a:alpha val="10000"/>
              </a:srgbClr>
            </a:outerShdw>
          </a:effectLst>
        </p:spPr>
      </p:sp>
      <p:sp>
        <p:nvSpPr>
          <p:cNvPr id="10" name="Shape 8"/>
          <p:cNvSpPr/>
          <p:nvPr/>
        </p:nvSpPr>
        <p:spPr>
          <a:xfrm>
            <a:off x="4434840" y="1920240"/>
            <a:ext cx="512064" cy="512064"/>
          </a:xfrm>
          <a:prstGeom prst="ellipse">
            <a:avLst/>
          </a:prstGeom>
          <a:solidFill>
            <a:srgbClr val="1E2761"/>
          </a:solidFill>
        </p:spPr>
      </p:sp>
      <p:sp>
        <p:nvSpPr>
          <p:cNvPr id="11" name="Text 9"/>
          <p:cNvSpPr/>
          <p:nvPr/>
        </p:nvSpPr>
        <p:spPr>
          <a:xfrm>
            <a:off x="4434840" y="1920240"/>
            <a:ext cx="512064" cy="512064"/>
          </a:xfrm>
          <a:prstGeom prst="rect">
            <a:avLst/>
          </a:prstGeom>
          <a:noFill/>
        </p:spPr>
        <p:txBody>
          <a:bodyPr wrap="square" rtlCol="0" anchor="ctr"/>
          <a:lstStyle/>
          <a:p>
            <a:pPr marL="0" indent="0" algn="ctr">
              <a:buNone/>
            </a:pPr>
            <a:r>
              <a:rPr lang="en-US" sz="185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850" dirty="0"/>
          </a:p>
        </p:txBody>
      </p:sp>
      <p:sp>
        <p:nvSpPr>
          <p:cNvPr id="12" name="Text 10"/>
          <p:cNvSpPr/>
          <p:nvPr/>
        </p:nvSpPr>
        <p:spPr>
          <a:xfrm>
            <a:off x="3502152" y="2606040"/>
            <a:ext cx="2377440" cy="320040"/>
          </a:xfrm>
          <a:prstGeom prst="rect">
            <a:avLst/>
          </a:prstGeom>
          <a:noFill/>
        </p:spPr>
        <p:txBody>
          <a:bodyPr wrap="square" rtlCol="0" anchor="ctr"/>
          <a:lstStyle/>
          <a:p>
            <a:pPr marL="0" indent="0" algn="ctr">
              <a:buNone/>
            </a:pPr>
            <a:r>
              <a:rPr lang="en-US" sz="1350" b="1" dirty="0">
                <a:solidFill>
                  <a:srgbClr val="1E2761"/>
                </a:solidFill>
                <a:latin typeface="Calibri" panose="020F0502020204030204" pitchFamily="34" charset="0"/>
                <a:ea typeface="Calibri" panose="020F0502020204030204" pitchFamily="34" charset="-122"/>
                <a:cs typeface="Calibri" panose="020F0502020204030204" pitchFamily="34" charset="-120"/>
              </a:rPr>
              <a:t>Web</a:t>
            </a:r>
            <a:endParaRPr lang="en-US" sz="1350" dirty="0"/>
          </a:p>
        </p:txBody>
      </p:sp>
      <p:sp>
        <p:nvSpPr>
          <p:cNvPr id="13" name="Text 11"/>
          <p:cNvSpPr/>
          <p:nvPr/>
        </p:nvSpPr>
        <p:spPr>
          <a:xfrm>
            <a:off x="3502152" y="2926080"/>
            <a:ext cx="2377440" cy="868680"/>
          </a:xfrm>
          <a:prstGeom prst="rect">
            <a:avLst/>
          </a:prstGeom>
          <a:noFill/>
        </p:spPr>
        <p:txBody>
          <a:bodyPr wrap="square" rtlCol="0" anchor="ctr"/>
          <a:lstStyle/>
          <a:p>
            <a:pPr marL="0" indent="0" algn="ctr">
              <a:lnSpc>
                <a:spcPct val="115000"/>
              </a:lnSpc>
              <a:buNone/>
            </a:pPr>
            <a:r>
              <a:rPr lang="en-US" sz="1000" dirty="0">
                <a:solidFill>
                  <a:srgbClr val="44506B"/>
                </a:solidFill>
                <a:latin typeface="Calibri" panose="020F0502020204030204" pitchFamily="34" charset="0"/>
                <a:ea typeface="Calibri" panose="020F0502020204030204" pitchFamily="34" charset="-122"/>
                <a:cs typeface="Calibri" panose="020F0502020204030204" pitchFamily="34" charset="-120"/>
              </a:rPr>
              <a:t>Site statique Angular (build CI/CD) déployé sur Render</a:t>
            </a:r>
            <a:endParaRPr lang="en-US" sz="1000" dirty="0"/>
          </a:p>
        </p:txBody>
      </p:sp>
      <p:sp>
        <p:nvSpPr>
          <p:cNvPr id="14" name="Shape 12"/>
          <p:cNvSpPr/>
          <p:nvPr/>
        </p:nvSpPr>
        <p:spPr>
          <a:xfrm>
            <a:off x="6181344" y="1691640"/>
            <a:ext cx="2651760" cy="2194560"/>
          </a:xfrm>
          <a:prstGeom prst="roundRect">
            <a:avLst>
              <a:gd name="adj" fmla="val 4167"/>
            </a:avLst>
          </a:prstGeom>
          <a:solidFill>
            <a:srgbClr val="F4F7FD"/>
          </a:solidFill>
          <a:effectLst>
            <a:outerShdw blurRad="63500" dist="25400" dir="5400000" algn="bl" rotWithShape="0">
              <a:srgbClr val="000000">
                <a:alpha val="10000"/>
              </a:srgbClr>
            </a:outerShdw>
          </a:effectLst>
        </p:spPr>
      </p:sp>
      <p:sp>
        <p:nvSpPr>
          <p:cNvPr id="15" name="Shape 13"/>
          <p:cNvSpPr/>
          <p:nvPr/>
        </p:nvSpPr>
        <p:spPr>
          <a:xfrm>
            <a:off x="7251192" y="1920240"/>
            <a:ext cx="512064" cy="512064"/>
          </a:xfrm>
          <a:prstGeom prst="ellipse">
            <a:avLst/>
          </a:prstGeom>
          <a:solidFill>
            <a:srgbClr val="1E2761"/>
          </a:solidFill>
        </p:spPr>
      </p:sp>
      <p:sp>
        <p:nvSpPr>
          <p:cNvPr id="16" name="Text 14"/>
          <p:cNvSpPr/>
          <p:nvPr/>
        </p:nvSpPr>
        <p:spPr>
          <a:xfrm>
            <a:off x="7251192" y="1920240"/>
            <a:ext cx="512064" cy="512064"/>
          </a:xfrm>
          <a:prstGeom prst="rect">
            <a:avLst/>
          </a:prstGeom>
          <a:noFill/>
        </p:spPr>
        <p:txBody>
          <a:bodyPr wrap="square" rtlCol="0" anchor="ctr"/>
          <a:lstStyle/>
          <a:p>
            <a:pPr marL="0" indent="0" algn="ctr">
              <a:buNone/>
            </a:pPr>
            <a:r>
              <a:rPr lang="en-US" sz="185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850" dirty="0"/>
          </a:p>
        </p:txBody>
      </p:sp>
      <p:sp>
        <p:nvSpPr>
          <p:cNvPr id="17" name="Text 15"/>
          <p:cNvSpPr/>
          <p:nvPr/>
        </p:nvSpPr>
        <p:spPr>
          <a:xfrm>
            <a:off x="6318504" y="2606040"/>
            <a:ext cx="2377440" cy="320040"/>
          </a:xfrm>
          <a:prstGeom prst="rect">
            <a:avLst/>
          </a:prstGeom>
          <a:noFill/>
        </p:spPr>
        <p:txBody>
          <a:bodyPr wrap="square" rtlCol="0" anchor="ctr"/>
          <a:lstStyle/>
          <a:p>
            <a:pPr marL="0" indent="0" algn="ctr">
              <a:buNone/>
            </a:pPr>
            <a:r>
              <a:rPr lang="en-US" sz="1350" b="1" dirty="0">
                <a:solidFill>
                  <a:srgbClr val="1E2761"/>
                </a:solidFill>
                <a:latin typeface="Calibri" panose="020F0502020204030204" pitchFamily="34" charset="0"/>
                <a:ea typeface="Calibri" panose="020F0502020204030204" pitchFamily="34" charset="-122"/>
                <a:cs typeface="Calibri" panose="020F0502020204030204" pitchFamily="34" charset="-120"/>
              </a:rPr>
              <a:t>Mobile</a:t>
            </a:r>
            <a:endParaRPr lang="en-US" sz="1350" dirty="0"/>
          </a:p>
        </p:txBody>
      </p:sp>
      <p:sp>
        <p:nvSpPr>
          <p:cNvPr id="18" name="Text 16"/>
          <p:cNvSpPr/>
          <p:nvPr/>
        </p:nvSpPr>
        <p:spPr>
          <a:xfrm>
            <a:off x="6318504" y="2926080"/>
            <a:ext cx="2377440" cy="868680"/>
          </a:xfrm>
          <a:prstGeom prst="rect">
            <a:avLst/>
          </a:prstGeom>
          <a:noFill/>
        </p:spPr>
        <p:txBody>
          <a:bodyPr wrap="square" rtlCol="0" anchor="ctr"/>
          <a:lstStyle/>
          <a:p>
            <a:pPr marL="0" indent="0" algn="ctr">
              <a:lnSpc>
                <a:spcPct val="115000"/>
              </a:lnSpc>
              <a:buNone/>
            </a:pPr>
            <a:r>
              <a:rPr lang="en-US" sz="1000" dirty="0">
                <a:solidFill>
                  <a:srgbClr val="44506B"/>
                </a:solidFill>
                <a:latin typeface="Calibri" panose="020F0502020204030204" pitchFamily="34" charset="0"/>
                <a:ea typeface="Calibri" panose="020F0502020204030204" pitchFamily="34" charset="-122"/>
                <a:cs typeface="Calibri" panose="020F0502020204030204" pitchFamily="34" charset="-120"/>
              </a:rPr>
              <a:t>APK généré via Ionic + Capacitor + Android Studio</a:t>
            </a:r>
            <a:endParaRPr lang="en-US" sz="1000" dirty="0"/>
          </a:p>
        </p:txBody>
      </p:sp>
      <p:sp>
        <p:nvSpPr>
          <p:cNvPr id="19" name="Shape 17"/>
          <p:cNvSpPr/>
          <p:nvPr/>
        </p:nvSpPr>
        <p:spPr>
          <a:xfrm>
            <a:off x="8997696" y="1691640"/>
            <a:ext cx="2651760" cy="2194560"/>
          </a:xfrm>
          <a:prstGeom prst="roundRect">
            <a:avLst>
              <a:gd name="adj" fmla="val 4167"/>
            </a:avLst>
          </a:prstGeom>
          <a:solidFill>
            <a:srgbClr val="F4F7FD"/>
          </a:solidFill>
          <a:effectLst>
            <a:outerShdw blurRad="63500" dist="25400" dir="5400000" algn="bl" rotWithShape="0">
              <a:srgbClr val="000000">
                <a:alpha val="10000"/>
              </a:srgbClr>
            </a:outerShdw>
          </a:effectLst>
        </p:spPr>
      </p:sp>
      <p:sp>
        <p:nvSpPr>
          <p:cNvPr id="20" name="Shape 18"/>
          <p:cNvSpPr/>
          <p:nvPr/>
        </p:nvSpPr>
        <p:spPr>
          <a:xfrm>
            <a:off x="10067544" y="1920240"/>
            <a:ext cx="512064" cy="512064"/>
          </a:xfrm>
          <a:prstGeom prst="ellipse">
            <a:avLst/>
          </a:prstGeom>
          <a:solidFill>
            <a:srgbClr val="1E2761"/>
          </a:solidFill>
        </p:spPr>
      </p:sp>
      <p:sp>
        <p:nvSpPr>
          <p:cNvPr id="21" name="Text 19"/>
          <p:cNvSpPr/>
          <p:nvPr/>
        </p:nvSpPr>
        <p:spPr>
          <a:xfrm>
            <a:off x="10067544" y="1920240"/>
            <a:ext cx="512064" cy="512064"/>
          </a:xfrm>
          <a:prstGeom prst="rect">
            <a:avLst/>
          </a:prstGeom>
          <a:noFill/>
        </p:spPr>
        <p:txBody>
          <a:bodyPr wrap="square" rtlCol="0" anchor="ctr"/>
          <a:lstStyle/>
          <a:p>
            <a:pPr marL="0" indent="0" algn="ctr">
              <a:buNone/>
            </a:pPr>
            <a:r>
              <a:rPr lang="en-US" sz="185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850" dirty="0"/>
          </a:p>
        </p:txBody>
      </p:sp>
      <p:sp>
        <p:nvSpPr>
          <p:cNvPr id="22" name="Text 20"/>
          <p:cNvSpPr/>
          <p:nvPr/>
        </p:nvSpPr>
        <p:spPr>
          <a:xfrm>
            <a:off x="9134856" y="2606040"/>
            <a:ext cx="2377440" cy="320040"/>
          </a:xfrm>
          <a:prstGeom prst="rect">
            <a:avLst/>
          </a:prstGeom>
          <a:noFill/>
        </p:spPr>
        <p:txBody>
          <a:bodyPr wrap="square" rtlCol="0" anchor="ctr"/>
          <a:lstStyle/>
          <a:p>
            <a:pPr marL="0" indent="0" algn="ctr">
              <a:buNone/>
            </a:pPr>
            <a:r>
              <a:rPr lang="en-US" sz="1350" b="1" dirty="0">
                <a:solidFill>
                  <a:srgbClr val="1E2761"/>
                </a:solidFill>
                <a:latin typeface="Calibri" panose="020F0502020204030204" pitchFamily="34" charset="0"/>
                <a:ea typeface="Calibri" panose="020F0502020204030204" pitchFamily="34" charset="-122"/>
                <a:cs typeface="Calibri" panose="020F0502020204030204" pitchFamily="34" charset="-120"/>
              </a:rPr>
              <a:t>Données</a:t>
            </a:r>
            <a:endParaRPr lang="en-US" sz="1350" dirty="0"/>
          </a:p>
        </p:txBody>
      </p:sp>
      <p:sp>
        <p:nvSpPr>
          <p:cNvPr id="23" name="Text 21"/>
          <p:cNvSpPr/>
          <p:nvPr/>
        </p:nvSpPr>
        <p:spPr>
          <a:xfrm>
            <a:off x="9134856" y="2926080"/>
            <a:ext cx="2377440" cy="868680"/>
          </a:xfrm>
          <a:prstGeom prst="rect">
            <a:avLst/>
          </a:prstGeom>
          <a:noFill/>
        </p:spPr>
        <p:txBody>
          <a:bodyPr wrap="square" rtlCol="0" anchor="ctr"/>
          <a:lstStyle/>
          <a:p>
            <a:pPr marL="0" indent="0" algn="ctr">
              <a:lnSpc>
                <a:spcPct val="115000"/>
              </a:lnSpc>
              <a:buNone/>
            </a:pPr>
            <a:r>
              <a:rPr lang="en-US" sz="1000" dirty="0">
                <a:solidFill>
                  <a:srgbClr val="44506B"/>
                </a:solidFill>
                <a:latin typeface="Calibri" panose="020F0502020204030204" pitchFamily="34" charset="0"/>
                <a:ea typeface="Calibri" panose="020F0502020204030204" pitchFamily="34" charset="-122"/>
                <a:cs typeface="Calibri" panose="020F0502020204030204" pitchFamily="34" charset="-120"/>
              </a:rPr>
              <a:t>PostgreSQL sur Supabase, sauvegardes automatiques quotidiennes</a:t>
            </a:r>
            <a:endParaRPr lang="en-US" sz="1000" dirty="0"/>
          </a:p>
        </p:txBody>
      </p:sp>
      <p:sp>
        <p:nvSpPr>
          <p:cNvPr id="24" name="Shape 22"/>
          <p:cNvSpPr/>
          <p:nvPr/>
        </p:nvSpPr>
        <p:spPr>
          <a:xfrm>
            <a:off x="548640" y="4251960"/>
            <a:ext cx="11064240" cy="1508760"/>
          </a:xfrm>
          <a:prstGeom prst="roundRect">
            <a:avLst>
              <a:gd name="adj" fmla="val 6061"/>
            </a:avLst>
          </a:prstGeom>
          <a:solidFill>
            <a:srgbClr val="1E2761"/>
          </a:solidFill>
        </p:spPr>
      </p:sp>
      <p:sp>
        <p:nvSpPr>
          <p:cNvPr id="25" name="Text 23"/>
          <p:cNvSpPr/>
          <p:nvPr/>
        </p:nvSpPr>
        <p:spPr>
          <a:xfrm>
            <a:off x="868680" y="4389120"/>
            <a:ext cx="7315200" cy="365760"/>
          </a:xfrm>
          <a:prstGeom prst="rect">
            <a:avLst/>
          </a:prstGeom>
          <a:noFill/>
        </p:spPr>
        <p:txBody>
          <a:bodyPr wrap="square" rtlCol="0" anchor="ctr"/>
          <a:lstStyle/>
          <a:p>
            <a:pPr marL="0" indent="0">
              <a:buNone/>
            </a:pPr>
            <a:r>
              <a:rPr lang="en-US" sz="1400" b="1" dirty="0">
                <a:solidFill>
                  <a:srgbClr val="F2A93B"/>
                </a:solidFill>
                <a:latin typeface="Calibri" panose="020F0502020204030204" pitchFamily="34" charset="0"/>
                <a:ea typeface="Calibri" panose="020F0502020204030204" pitchFamily="34" charset="-122"/>
                <a:cs typeface="Calibri" panose="020F0502020204030204" pitchFamily="34" charset="-120"/>
              </a:rPr>
              <a:t>Coût d'exploitation en phase de développement</a:t>
            </a:r>
            <a:endParaRPr lang="en-US" sz="1400" dirty="0"/>
          </a:p>
        </p:txBody>
      </p:sp>
      <p:sp>
        <p:nvSpPr>
          <p:cNvPr id="26" name="Text 24"/>
          <p:cNvSpPr/>
          <p:nvPr/>
        </p:nvSpPr>
        <p:spPr>
          <a:xfrm>
            <a:off x="868680" y="4754880"/>
            <a:ext cx="10424160" cy="868680"/>
          </a:xfrm>
          <a:prstGeom prst="rect">
            <a:avLst/>
          </a:prstGeom>
          <a:noFill/>
        </p:spPr>
        <p:txBody>
          <a:bodyPr wrap="square" rtlCol="0" anchor="ctr"/>
          <a:lstStyle/>
          <a:p>
            <a:pPr marL="0" indent="0">
              <a:lnSpc>
                <a:spcPct val="120000"/>
              </a:lnSpc>
              <a:buNone/>
            </a:pPr>
            <a:r>
              <a:rPr lang="en-US" sz="1250" dirty="0">
                <a:solidFill>
                  <a:srgbClr val="CADCFC"/>
                </a:solidFill>
                <a:latin typeface="Calibri" panose="020F0502020204030204" pitchFamily="34" charset="0"/>
                <a:ea typeface="Calibri" panose="020F0502020204030204" pitchFamily="34" charset="-122"/>
                <a:cs typeface="Calibri" panose="020F0502020204030204" pitchFamily="34" charset="-120"/>
              </a:rPr>
              <a:t>Hébergement (Render), stockage (Supabase) et transactions FedaPay en mode sandbox : 0 FCFA — une bascule en production ne nécessite qu'un changement de variables d'environnement, sans modification du code.</a:t>
            </a:r>
            <a:endParaRPr lang="en-US" sz="1250" dirty="0"/>
          </a:p>
        </p:txBody>
      </p:sp>
      <p:sp>
        <p:nvSpPr>
          <p:cNvPr id="27" name="Text 25"/>
          <p:cNvSpPr/>
          <p:nvPr/>
        </p:nvSpPr>
        <p:spPr>
          <a:xfrm>
            <a:off x="457200" y="6519672"/>
            <a:ext cx="7315200" cy="274320"/>
          </a:xfrm>
          <a:prstGeom prst="rect">
            <a:avLst/>
          </a:prstGeom>
          <a:noFill/>
        </p:spPr>
        <p:txBody>
          <a:bodyPr wrap="square" rtlCol="0" anchor="ctr"/>
          <a:lstStyle/>
          <a:p>
            <a:pPr marL="0" indent="0" algn="l">
              <a:buNone/>
            </a:pPr>
            <a:r>
              <a:rPr lang="en-US" sz="900" dirty="0">
                <a:solidFill>
                  <a:srgbClr val="A8B0C7"/>
                </a:solidFill>
                <a:latin typeface="Calibri" panose="020F0502020204030204" pitchFamily="34" charset="0"/>
                <a:ea typeface="Calibri" panose="020F0502020204030204" pitchFamily="34" charset="-122"/>
                <a:cs typeface="Calibri" panose="020F0502020204030204" pitchFamily="34" charset="-120"/>
              </a:rPr>
              <a:t>Mémoire de Licence — Génie Logiciel — Gbandi Wake</a:t>
            </a:r>
            <a:endParaRPr lang="en-US" sz="900" dirty="0"/>
          </a:p>
        </p:txBody>
      </p:sp>
      <p:sp>
        <p:nvSpPr>
          <p:cNvPr id="28" name="Text 26"/>
          <p:cNvSpPr/>
          <p:nvPr/>
        </p:nvSpPr>
        <p:spPr>
          <a:xfrm>
            <a:off x="11521440" y="6519672"/>
            <a:ext cx="365760" cy="274320"/>
          </a:xfrm>
          <a:prstGeom prst="rect">
            <a:avLst/>
          </a:prstGeom>
          <a:noFill/>
        </p:spPr>
        <p:txBody>
          <a:bodyPr wrap="square" rtlCol="0" anchor="ctr"/>
          <a:lstStyle/>
          <a:p>
            <a:pPr marL="0" indent="0" algn="r">
              <a:buNone/>
            </a:pPr>
            <a:r>
              <a:rPr lang="en-US" sz="900" dirty="0">
                <a:solidFill>
                  <a:srgbClr val="A8B0C7"/>
                </a:solidFill>
                <a:latin typeface="Calibri" panose="020F0502020204030204" pitchFamily="34" charset="0"/>
                <a:ea typeface="Calibri" panose="020F0502020204030204" pitchFamily="34" charset="-122"/>
                <a:cs typeface="Calibri" panose="020F0502020204030204"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p:spPr>
        <p:txBody>
          <a:bodyPr wrap="square" rtlCol="0" anchor="ctr"/>
          <a:lstStyle/>
          <a:p>
            <a:pPr marL="0" indent="0">
              <a:buNone/>
            </a:pPr>
            <a:r>
              <a:rPr lang="en-US" sz="1300" b="1" kern="0" spc="200" dirty="0">
                <a:solidFill>
                  <a:srgbClr val="F2A93B"/>
                </a:solidFill>
                <a:latin typeface="Calibri" panose="020F0502020204030204" pitchFamily="34" charset="0"/>
                <a:ea typeface="Calibri" panose="020F0502020204030204" pitchFamily="34" charset="-122"/>
                <a:cs typeface="Calibri" panose="020F0502020204030204" pitchFamily="34" charset="-120"/>
              </a:rPr>
              <a:t>PERSPECTIVES D'ÉVOLUTION</a:t>
            </a:r>
            <a:endParaRPr lang="en-US" sz="1300" dirty="0"/>
          </a:p>
        </p:txBody>
      </p:sp>
      <p:sp>
        <p:nvSpPr>
          <p:cNvPr id="3" name="Text 1"/>
          <p:cNvSpPr/>
          <p:nvPr/>
        </p:nvSpPr>
        <p:spPr>
          <a:xfrm>
            <a:off x="548640" y="658368"/>
            <a:ext cx="10789920" cy="685800"/>
          </a:xfrm>
          <a:prstGeom prst="rect">
            <a:avLst/>
          </a:prstGeom>
          <a:noFill/>
        </p:spPr>
        <p:txBody>
          <a:bodyPr wrap="square" rtlCol="0" anchor="ctr"/>
          <a:lstStyle/>
          <a:p>
            <a:pPr marL="0" indent="0">
              <a:buNone/>
            </a:pPr>
            <a:r>
              <a:rPr lang="en-US" sz="3000" b="1" dirty="0">
                <a:solidFill>
                  <a:srgbClr val="1E2761"/>
                </a:solidFill>
                <a:latin typeface="Cambria" panose="02040503050406030204" pitchFamily="34" charset="0"/>
                <a:ea typeface="Cambria" panose="02040503050406030204" pitchFamily="34" charset="-122"/>
                <a:cs typeface="Cambria" panose="02040503050406030204" pitchFamily="34" charset="-120"/>
              </a:rPr>
              <a:t>Vers une solution commerciale</a:t>
            </a:r>
            <a:endParaRPr lang="en-US" sz="3000" dirty="0"/>
          </a:p>
        </p:txBody>
      </p:sp>
      <p:sp>
        <p:nvSpPr>
          <p:cNvPr id="4" name="Shape 2"/>
          <p:cNvSpPr/>
          <p:nvPr/>
        </p:nvSpPr>
        <p:spPr>
          <a:xfrm>
            <a:off x="548640" y="1828800"/>
            <a:ext cx="3520440" cy="2926080"/>
          </a:xfrm>
          <a:prstGeom prst="roundRect">
            <a:avLst>
              <a:gd name="adj" fmla="val 3125"/>
            </a:avLst>
          </a:prstGeom>
          <a:solidFill>
            <a:srgbClr val="1E2761"/>
          </a:solidFill>
          <a:effectLst>
            <a:outerShdw blurRad="76200" dist="25400" dir="5400000" algn="bl" rotWithShape="0">
              <a:srgbClr val="000000">
                <a:alpha val="15000"/>
              </a:srgbClr>
            </a:outerShdw>
          </a:effectLst>
        </p:spPr>
      </p:sp>
      <p:sp>
        <p:nvSpPr>
          <p:cNvPr id="5" name="Text 3"/>
          <p:cNvSpPr/>
          <p:nvPr/>
        </p:nvSpPr>
        <p:spPr>
          <a:xfrm>
            <a:off x="822960" y="2103120"/>
            <a:ext cx="2971800" cy="457200"/>
          </a:xfrm>
          <a:prstGeom prst="rect">
            <a:avLst/>
          </a:prstGeom>
          <a:noFill/>
        </p:spPr>
        <p:txBody>
          <a:bodyPr wrap="square" rtlCol="0" anchor="ctr"/>
          <a:lstStyle/>
          <a:p>
            <a:pPr marL="0" indent="0">
              <a:buNone/>
            </a:pPr>
            <a:r>
              <a:rPr lang="en-US" sz="1500" b="1" dirty="0">
                <a:solidFill>
                  <a:srgbClr val="F2A93B"/>
                </a:solidFill>
                <a:latin typeface="Calibri" panose="020F0502020204030204" pitchFamily="34" charset="0"/>
                <a:ea typeface="Calibri" panose="020F0502020204030204" pitchFamily="34" charset="-122"/>
                <a:cs typeface="Calibri" panose="020F0502020204030204" pitchFamily="34" charset="-120"/>
              </a:rPr>
              <a:t>Court terme</a:t>
            </a:r>
            <a:endParaRPr lang="en-US" sz="1500" dirty="0"/>
          </a:p>
        </p:txBody>
      </p:sp>
      <p:sp>
        <p:nvSpPr>
          <p:cNvPr id="6" name="Text 4"/>
          <p:cNvSpPr/>
          <p:nvPr/>
        </p:nvSpPr>
        <p:spPr>
          <a:xfrm>
            <a:off x="822960" y="2743200"/>
            <a:ext cx="2971800" cy="1737360"/>
          </a:xfrm>
          <a:prstGeom prst="rect">
            <a:avLst/>
          </a:prstGeom>
          <a:noFill/>
        </p:spPr>
        <p:txBody>
          <a:bodyPr wrap="square" rtlCol="0" anchor="ctr"/>
          <a:lstStyle/>
          <a:p>
            <a:pPr marL="0" indent="0">
              <a:lnSpc>
                <a:spcPct val="125000"/>
              </a:lnSpc>
              <a:buNone/>
            </a:pPr>
            <a:r>
              <a:rPr lang="en-US" sz="1350" dirty="0">
                <a:solidFill>
                  <a:srgbClr val="FFFFFF"/>
                </a:solidFill>
                <a:latin typeface="Calibri" panose="020F0502020204030204" pitchFamily="34" charset="0"/>
                <a:ea typeface="Calibri" panose="020F0502020204030204" pitchFamily="34" charset="-122"/>
                <a:cs typeface="Calibri" panose="020F0502020204030204" pitchFamily="34" charset="-120"/>
              </a:rPr>
              <a:t>Génération automatique de quittances de loyer au format PDF</a:t>
            </a:r>
            <a:endParaRPr lang="en-US" sz="1350" dirty="0"/>
          </a:p>
        </p:txBody>
      </p:sp>
      <p:sp>
        <p:nvSpPr>
          <p:cNvPr id="7" name="Shape 5"/>
          <p:cNvSpPr/>
          <p:nvPr/>
        </p:nvSpPr>
        <p:spPr>
          <a:xfrm>
            <a:off x="4343400" y="1828800"/>
            <a:ext cx="3520440" cy="2926080"/>
          </a:xfrm>
          <a:prstGeom prst="roundRect">
            <a:avLst>
              <a:gd name="adj" fmla="val 3125"/>
            </a:avLst>
          </a:prstGeom>
          <a:solidFill>
            <a:srgbClr val="334A9E"/>
          </a:solidFill>
          <a:effectLst>
            <a:outerShdw blurRad="76200" dist="25400" dir="5400000" algn="bl" rotWithShape="0">
              <a:srgbClr val="000000">
                <a:alpha val="15000"/>
              </a:srgbClr>
            </a:outerShdw>
          </a:effectLst>
        </p:spPr>
      </p:sp>
      <p:sp>
        <p:nvSpPr>
          <p:cNvPr id="8" name="Text 6"/>
          <p:cNvSpPr/>
          <p:nvPr/>
        </p:nvSpPr>
        <p:spPr>
          <a:xfrm>
            <a:off x="4617720" y="2103120"/>
            <a:ext cx="2971800" cy="457200"/>
          </a:xfrm>
          <a:prstGeom prst="rect">
            <a:avLst/>
          </a:prstGeom>
          <a:noFill/>
        </p:spPr>
        <p:txBody>
          <a:bodyPr wrap="square" rtlCol="0" anchor="ctr"/>
          <a:lstStyle/>
          <a:p>
            <a:pPr marL="0" indent="0">
              <a:buNone/>
            </a:pPr>
            <a:r>
              <a:rPr lang="en-US" sz="1500" b="1" dirty="0">
                <a:solidFill>
                  <a:srgbClr val="F2A93B"/>
                </a:solidFill>
                <a:latin typeface="Calibri" panose="020F0502020204030204" pitchFamily="34" charset="0"/>
                <a:ea typeface="Calibri" panose="020F0502020204030204" pitchFamily="34" charset="-122"/>
                <a:cs typeface="Calibri" panose="020F0502020204030204" pitchFamily="34" charset="-120"/>
              </a:rPr>
              <a:t>Moyen terme</a:t>
            </a:r>
            <a:endParaRPr lang="en-US" sz="1500" dirty="0"/>
          </a:p>
        </p:txBody>
      </p:sp>
      <p:sp>
        <p:nvSpPr>
          <p:cNvPr id="9" name="Text 7"/>
          <p:cNvSpPr/>
          <p:nvPr/>
        </p:nvSpPr>
        <p:spPr>
          <a:xfrm>
            <a:off x="4617720" y="2743200"/>
            <a:ext cx="2971800" cy="1737360"/>
          </a:xfrm>
          <a:prstGeom prst="rect">
            <a:avLst/>
          </a:prstGeom>
          <a:noFill/>
        </p:spPr>
        <p:txBody>
          <a:bodyPr wrap="square" rtlCol="0" anchor="ctr"/>
          <a:lstStyle/>
          <a:p>
            <a:pPr marL="0" indent="0">
              <a:lnSpc>
                <a:spcPct val="125000"/>
              </a:lnSpc>
              <a:buNone/>
            </a:pPr>
            <a:r>
              <a:rPr lang="en-US" sz="1350" dirty="0">
                <a:solidFill>
                  <a:srgbClr val="FFFFFF"/>
                </a:solidFill>
                <a:latin typeface="Calibri" panose="020F0502020204030204" pitchFamily="34" charset="0"/>
                <a:ea typeface="Calibri" panose="020F0502020204030204" pitchFamily="34" charset="-122"/>
                <a:cs typeface="Calibri" panose="020F0502020204030204" pitchFamily="34" charset="-120"/>
              </a:rPr>
              <a:t>Version iOS native via Ionic pour élargir l'accès locataire</a:t>
            </a:r>
            <a:endParaRPr lang="en-US" sz="1350" dirty="0"/>
          </a:p>
        </p:txBody>
      </p:sp>
      <p:sp>
        <p:nvSpPr>
          <p:cNvPr id="10" name="Shape 8"/>
          <p:cNvSpPr/>
          <p:nvPr/>
        </p:nvSpPr>
        <p:spPr>
          <a:xfrm>
            <a:off x="8138160" y="1828800"/>
            <a:ext cx="3520440" cy="2926080"/>
          </a:xfrm>
          <a:prstGeom prst="roundRect">
            <a:avLst>
              <a:gd name="adj" fmla="val 3125"/>
            </a:avLst>
          </a:prstGeom>
          <a:solidFill>
            <a:srgbClr val="4A5FB8"/>
          </a:solidFill>
          <a:effectLst>
            <a:outerShdw blurRad="76200" dist="25400" dir="5400000" algn="bl" rotWithShape="0">
              <a:srgbClr val="000000">
                <a:alpha val="15000"/>
              </a:srgbClr>
            </a:outerShdw>
          </a:effectLst>
        </p:spPr>
      </p:sp>
      <p:sp>
        <p:nvSpPr>
          <p:cNvPr id="11" name="Text 9"/>
          <p:cNvSpPr/>
          <p:nvPr/>
        </p:nvSpPr>
        <p:spPr>
          <a:xfrm>
            <a:off x="8412480" y="2103120"/>
            <a:ext cx="2971800" cy="457200"/>
          </a:xfrm>
          <a:prstGeom prst="rect">
            <a:avLst/>
          </a:prstGeom>
          <a:noFill/>
        </p:spPr>
        <p:txBody>
          <a:bodyPr wrap="square" rtlCol="0" anchor="ctr"/>
          <a:lstStyle/>
          <a:p>
            <a:pPr marL="0" indent="0">
              <a:buNone/>
            </a:pPr>
            <a:r>
              <a:rPr lang="en-US" sz="1500" b="1" dirty="0">
                <a:solidFill>
                  <a:srgbClr val="F2A93B"/>
                </a:solidFill>
                <a:latin typeface="Calibri" panose="020F0502020204030204" pitchFamily="34" charset="0"/>
                <a:ea typeface="Calibri" panose="020F0502020204030204" pitchFamily="34" charset="-122"/>
                <a:cs typeface="Calibri" panose="020F0502020204030204" pitchFamily="34" charset="-120"/>
              </a:rPr>
              <a:t>Long terme</a:t>
            </a:r>
            <a:endParaRPr lang="en-US" sz="1500" dirty="0"/>
          </a:p>
        </p:txBody>
      </p:sp>
      <p:sp>
        <p:nvSpPr>
          <p:cNvPr id="12" name="Text 10"/>
          <p:cNvSpPr/>
          <p:nvPr/>
        </p:nvSpPr>
        <p:spPr>
          <a:xfrm>
            <a:off x="8412480" y="2743200"/>
            <a:ext cx="2971800" cy="1737360"/>
          </a:xfrm>
          <a:prstGeom prst="rect">
            <a:avLst/>
          </a:prstGeom>
          <a:noFill/>
        </p:spPr>
        <p:txBody>
          <a:bodyPr wrap="square" rtlCol="0" anchor="ctr"/>
          <a:lstStyle/>
          <a:p>
            <a:pPr marL="0" indent="0">
              <a:lnSpc>
                <a:spcPct val="125000"/>
              </a:lnSpc>
              <a:buNone/>
            </a:pPr>
            <a:r>
              <a:rPr lang="en-US" sz="1350" dirty="0">
                <a:solidFill>
                  <a:srgbClr val="FFFFFF"/>
                </a:solidFill>
                <a:latin typeface="Calibri" panose="020F0502020204030204" pitchFamily="34" charset="0"/>
                <a:ea typeface="Calibri" panose="020F0502020204030204" pitchFamily="34" charset="-122"/>
                <a:cs typeface="Calibri" panose="020F0502020204030204" pitchFamily="34" charset="-120"/>
              </a:rPr>
              <a:t>Module d'intelligence artificielle pour la prévision des risques d'impayés</a:t>
            </a:r>
            <a:endParaRPr lang="en-US" sz="1350" dirty="0"/>
          </a:p>
        </p:txBody>
      </p:sp>
      <p:sp>
        <p:nvSpPr>
          <p:cNvPr id="13" name="Text 11"/>
          <p:cNvSpPr/>
          <p:nvPr/>
        </p:nvSpPr>
        <p:spPr>
          <a:xfrm>
            <a:off x="457200" y="6519672"/>
            <a:ext cx="7315200" cy="274320"/>
          </a:xfrm>
          <a:prstGeom prst="rect">
            <a:avLst/>
          </a:prstGeom>
          <a:noFill/>
        </p:spPr>
        <p:txBody>
          <a:bodyPr wrap="square" rtlCol="0" anchor="ctr"/>
          <a:lstStyle/>
          <a:p>
            <a:pPr marL="0" indent="0" algn="l">
              <a:buNone/>
            </a:pPr>
            <a:r>
              <a:rPr lang="en-US" sz="900" dirty="0">
                <a:solidFill>
                  <a:srgbClr val="A8B0C7"/>
                </a:solidFill>
                <a:latin typeface="Calibri" panose="020F0502020204030204" pitchFamily="34" charset="0"/>
                <a:ea typeface="Calibri" panose="020F0502020204030204" pitchFamily="34" charset="-122"/>
                <a:cs typeface="Calibri" panose="020F0502020204030204" pitchFamily="34" charset="-120"/>
              </a:rPr>
              <a:t>Mémoire de Licence — Génie Logiciel — Gbandi Wake</a:t>
            </a:r>
            <a:endParaRPr lang="en-US" sz="900" dirty="0"/>
          </a:p>
        </p:txBody>
      </p:sp>
      <p:sp>
        <p:nvSpPr>
          <p:cNvPr id="14" name="Text 12"/>
          <p:cNvSpPr/>
          <p:nvPr/>
        </p:nvSpPr>
        <p:spPr>
          <a:xfrm>
            <a:off x="11521440" y="6519672"/>
            <a:ext cx="365760" cy="274320"/>
          </a:xfrm>
          <a:prstGeom prst="rect">
            <a:avLst/>
          </a:prstGeom>
          <a:noFill/>
        </p:spPr>
        <p:txBody>
          <a:bodyPr wrap="square" rtlCol="0" anchor="ctr"/>
          <a:lstStyle/>
          <a:p>
            <a:pPr marL="0" indent="0" algn="r">
              <a:buNone/>
            </a:pPr>
            <a:r>
              <a:rPr lang="en-US" sz="900" dirty="0">
                <a:solidFill>
                  <a:srgbClr val="A8B0C7"/>
                </a:solidFill>
                <a:latin typeface="Calibri" panose="020F0502020204030204" pitchFamily="34" charset="0"/>
                <a:ea typeface="Calibri" panose="020F0502020204030204" pitchFamily="34" charset="-122"/>
                <a:cs typeface="Calibri" panose="020F0502020204030204"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2377440" y="-2103120"/>
            <a:ext cx="5486400" cy="5486400"/>
          </a:xfrm>
          <a:prstGeom prst="ellipse">
            <a:avLst/>
          </a:prstGeom>
          <a:solidFill>
            <a:srgbClr val="141B4D"/>
          </a:solidFill>
        </p:spPr>
      </p:sp>
      <p:sp>
        <p:nvSpPr>
          <p:cNvPr id="3" name="Shape 1"/>
          <p:cNvSpPr/>
          <p:nvPr/>
        </p:nvSpPr>
        <p:spPr>
          <a:xfrm>
            <a:off x="9875520" y="4114800"/>
            <a:ext cx="5029200" cy="5029200"/>
          </a:xfrm>
          <a:prstGeom prst="ellipse">
            <a:avLst/>
          </a:prstGeom>
          <a:solidFill>
            <a:srgbClr val="141B4D"/>
          </a:solidFill>
        </p:spPr>
      </p:sp>
      <p:sp>
        <p:nvSpPr>
          <p:cNvPr id="4" name="Text 2"/>
          <p:cNvSpPr/>
          <p:nvPr/>
        </p:nvSpPr>
        <p:spPr>
          <a:xfrm>
            <a:off x="731520" y="914400"/>
            <a:ext cx="9144000" cy="320040"/>
          </a:xfrm>
          <a:prstGeom prst="rect">
            <a:avLst/>
          </a:prstGeom>
          <a:noFill/>
        </p:spPr>
        <p:txBody>
          <a:bodyPr wrap="square" rtlCol="0" anchor="ctr"/>
          <a:lstStyle/>
          <a:p>
            <a:pPr marL="0" indent="0">
              <a:buNone/>
            </a:pPr>
            <a:r>
              <a:rPr lang="en-US" sz="1300" b="1" kern="0" spc="200" dirty="0">
                <a:solidFill>
                  <a:srgbClr val="F2A93B"/>
                </a:solidFill>
                <a:latin typeface="Calibri" panose="020F0502020204030204" pitchFamily="34" charset="0"/>
                <a:ea typeface="Calibri" panose="020F0502020204030204" pitchFamily="34" charset="-122"/>
                <a:cs typeface="Calibri" panose="020F0502020204030204" pitchFamily="34" charset="-120"/>
              </a:rPr>
              <a:t>CONCLUSION</a:t>
            </a:r>
            <a:endParaRPr lang="en-US" sz="1300" dirty="0"/>
          </a:p>
        </p:txBody>
      </p:sp>
      <p:sp>
        <p:nvSpPr>
          <p:cNvPr id="5" name="Text 3"/>
          <p:cNvSpPr/>
          <p:nvPr/>
        </p:nvSpPr>
        <p:spPr>
          <a:xfrm>
            <a:off x="731520" y="1280160"/>
            <a:ext cx="10698480" cy="1188720"/>
          </a:xfrm>
          <a:prstGeom prst="rect">
            <a:avLst/>
          </a:prstGeom>
          <a:noFill/>
        </p:spPr>
        <p:txBody>
          <a:bodyPr wrap="square" rtlCol="0" anchor="ctr"/>
          <a:lstStyle/>
          <a:p>
            <a:pPr marL="0" indent="0">
              <a:lnSpc>
                <a:spcPct val="110000"/>
              </a:lnSpc>
              <a:buNone/>
            </a:pPr>
            <a:r>
              <a:rPr lang="en-US" sz="2800" b="1" dirty="0">
                <a:solidFill>
                  <a:srgbClr val="FFFFFF"/>
                </a:solidFill>
                <a:latin typeface="Cambria" panose="02040503050406030204" pitchFamily="34" charset="0"/>
                <a:ea typeface="Cambria" panose="02040503050406030204" pitchFamily="34" charset="-122"/>
                <a:cs typeface="Cambria" panose="02040503050406030204" pitchFamily="34" charset="-120"/>
              </a:rPr>
              <a:t>Une plateforme unique pour deux réalités locatives togolaises</a:t>
            </a:r>
            <a:endParaRPr lang="en-US" sz="2800" dirty="0"/>
          </a:p>
        </p:txBody>
      </p:sp>
      <p:sp>
        <p:nvSpPr>
          <p:cNvPr id="6" name="Text 4"/>
          <p:cNvSpPr/>
          <p:nvPr/>
        </p:nvSpPr>
        <p:spPr>
          <a:xfrm>
            <a:off x="731520" y="2606040"/>
            <a:ext cx="10332720" cy="1371600"/>
          </a:xfrm>
          <a:prstGeom prst="rect">
            <a:avLst/>
          </a:prstGeom>
          <a:noFill/>
        </p:spPr>
        <p:txBody>
          <a:bodyPr wrap="square" rtlCol="0" anchor="ctr"/>
          <a:lstStyle/>
          <a:p>
            <a:pPr marL="0" indent="0">
              <a:lnSpc>
                <a:spcPct val="130000"/>
              </a:lnSpc>
              <a:buNone/>
            </a:pPr>
            <a:r>
              <a:rPr lang="en-US" sz="1450" dirty="0">
                <a:solidFill>
                  <a:srgbClr val="CADCFC"/>
                </a:solidFill>
                <a:latin typeface="Calibri" panose="020F0502020204030204" pitchFamily="34" charset="0"/>
                <a:ea typeface="Calibri" panose="020F0502020204030204" pitchFamily="34" charset="-122"/>
                <a:cs typeface="Calibri" panose="020F0502020204030204" pitchFamily="34" charset="-120"/>
              </a:rPr>
              <a:t>En combinant une architecture flexible, une sécurité robuste (JWT, HMAC) et l'intégration native du Mobile Money, ce projet remplace des pratiques manuelles par un outil centralisé, traçable et automatisé — tout en consolidant une expertise complète du cycle de vie logiciel, de l'analyse UML au déploiement cloud.</a:t>
            </a:r>
            <a:endParaRPr lang="en-US" sz="1450" dirty="0"/>
          </a:p>
        </p:txBody>
      </p:sp>
      <p:sp>
        <p:nvSpPr>
          <p:cNvPr id="7" name="Shape 5"/>
          <p:cNvSpPr/>
          <p:nvPr/>
        </p:nvSpPr>
        <p:spPr>
          <a:xfrm>
            <a:off x="731520" y="4206240"/>
            <a:ext cx="2011680" cy="0"/>
          </a:xfrm>
          <a:prstGeom prst="line">
            <a:avLst/>
          </a:prstGeom>
          <a:noFill/>
          <a:ln w="31750">
            <a:solidFill>
              <a:srgbClr val="F2A93B"/>
            </a:solidFill>
            <a:prstDash val="solid"/>
          </a:ln>
        </p:spPr>
      </p:sp>
      <p:sp>
        <p:nvSpPr>
          <p:cNvPr id="8" name="Text 6"/>
          <p:cNvSpPr/>
          <p:nvPr/>
        </p:nvSpPr>
        <p:spPr>
          <a:xfrm>
            <a:off x="731520" y="4434840"/>
            <a:ext cx="7315200" cy="548640"/>
          </a:xfrm>
          <a:prstGeom prst="rect">
            <a:avLst/>
          </a:prstGeom>
          <a:noFill/>
        </p:spPr>
        <p:txBody>
          <a:bodyPr wrap="square" rtlCol="0" anchor="ctr"/>
          <a:lstStyle/>
          <a:p>
            <a:pPr marL="0" indent="0">
              <a:buNone/>
            </a:pPr>
            <a:r>
              <a:rPr lang="en-US" sz="2000" i="1" dirty="0">
                <a:solidFill>
                  <a:srgbClr val="FFFFFF"/>
                </a:solidFill>
                <a:latin typeface="Cambria" panose="02040503050406030204" pitchFamily="34" charset="0"/>
                <a:ea typeface="Cambria" panose="02040503050406030204" pitchFamily="34" charset="-122"/>
                <a:cs typeface="Cambria" panose="02040503050406030204" pitchFamily="34" charset="-120"/>
              </a:rPr>
              <a:t>Merci pour votre attention</a:t>
            </a:r>
            <a:endParaRPr lang="en-US" sz="2000" dirty="0"/>
          </a:p>
        </p:txBody>
      </p:sp>
      <p:sp>
        <p:nvSpPr>
          <p:cNvPr id="9" name="Text 7"/>
          <p:cNvSpPr/>
          <p:nvPr/>
        </p:nvSpPr>
        <p:spPr>
          <a:xfrm>
            <a:off x="731520" y="5029200"/>
            <a:ext cx="7315200" cy="365760"/>
          </a:xfrm>
          <a:prstGeom prst="rect">
            <a:avLst/>
          </a:prstGeom>
          <a:noFill/>
        </p:spPr>
        <p:txBody>
          <a:bodyPr wrap="square" rtlCol="0" anchor="ctr"/>
          <a:lstStyle/>
          <a:p>
            <a:pPr marL="0" indent="0">
              <a:buNone/>
            </a:pPr>
            <a:r>
              <a:rPr lang="en-US" sz="1250" dirty="0">
                <a:solidFill>
                  <a:srgbClr val="8892C2"/>
                </a:solidFill>
                <a:latin typeface="Calibri" panose="020F0502020204030204" pitchFamily="34" charset="0"/>
                <a:ea typeface="Calibri" panose="020F0502020204030204" pitchFamily="34" charset="-122"/>
                <a:cs typeface="Calibri" panose="020F0502020204030204" pitchFamily="34" charset="-120"/>
              </a:rPr>
              <a:t>Gbandi Wake  —  IPNET Institute of Technology  —  2026</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6905</Words>
  <Application>WPS Presentation</Application>
  <PresentationFormat>On-screen Show (16:9)</PresentationFormat>
  <Paragraphs>334</Paragraphs>
  <Slides>12</Slides>
  <Notes>12</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12</vt:i4>
      </vt:variant>
    </vt:vector>
  </HeadingPairs>
  <TitlesOfParts>
    <vt:vector size="24" baseType="lpstr">
      <vt:lpstr>Arial</vt:lpstr>
      <vt:lpstr>SimSun</vt:lpstr>
      <vt:lpstr>Wingdings</vt:lpstr>
      <vt:lpstr>Calibri</vt:lpstr>
      <vt:lpstr>Calibri</vt:lpstr>
      <vt:lpstr>Calibri</vt:lpstr>
      <vt:lpstr>Cambria</vt:lpstr>
      <vt:lpstr>Cambria</vt:lpstr>
      <vt:lpstr>Cambria</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Xavier GBANDI</cp:lastModifiedBy>
  <cp:revision>2</cp:revision>
  <dcterms:created xsi:type="dcterms:W3CDTF">2026-07-15T15:53:00Z</dcterms:created>
  <dcterms:modified xsi:type="dcterms:W3CDTF">2026-07-15T18:04:27Z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1036-12.1.0.26880</vt:lpwstr>
  </property>
  <property fmtid="{D5CDD505-2E9C-101B-9397-08002B2CF9AE}" pid="3" name="ICV">
    <vt:lpwstr>39082772FF6642AD83F36411AE178B4C_12</vt:lpwstr>
  </property>
</Properties>
</file>