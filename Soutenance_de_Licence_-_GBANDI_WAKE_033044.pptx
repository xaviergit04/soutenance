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19.fntdata" ContentType="application/x-fontdata"/>
  <Override PartName="/ppt/fonts/font2.fntdata" ContentType="application/x-fontdata"/>
  <Override PartName="/ppt/fonts/font20.fntdata" ContentType="application/x-fontdata"/>
  <Override PartName="/ppt/fonts/font21.fntdata" ContentType="application/x-fontdata"/>
  <Override PartName="/ppt/fonts/font22.fntdata" ContentType="application/x-fontdata"/>
  <Override PartName="/ppt/fonts/font23.fntdata" ContentType="application/x-fontdata"/>
  <Override PartName="/ppt/fonts/font24.fntdata" ContentType="application/x-fontdata"/>
  <Override PartName="/ppt/fonts/font25.fntdata" ContentType="application/x-fontdata"/>
  <Override PartName="/ppt/fonts/font26.fntdata" ContentType="application/x-fontdata"/>
  <Override PartName="/ppt/fonts/font27.fntdata" ContentType="application/x-fontdata"/>
  <Override PartName="/ppt/fonts/font28.fntdata" ContentType="application/x-fontdata"/>
  <Override PartName="/ppt/fonts/font29.fntdata" ContentType="application/x-fontdata"/>
  <Override PartName="/ppt/fonts/font3.fntdata" ContentType="application/x-fontdata"/>
  <Override PartName="/ppt/fonts/font30.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5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91" r:id="rId6"/>
    <p:sldId id="258" r:id="rId7"/>
    <p:sldId id="259" r:id="rId8"/>
    <p:sldId id="287" r:id="rId9"/>
    <p:sldId id="288" r:id="rId10"/>
    <p:sldId id="289" r:id="rId11"/>
    <p:sldId id="292" r:id="rId12"/>
    <p:sldId id="260" r:id="rId13"/>
    <p:sldId id="293" r:id="rId14"/>
    <p:sldId id="261" r:id="rId15"/>
    <p:sldId id="270" r:id="rId16"/>
    <p:sldId id="290" r:id="rId17"/>
    <p:sldId id="266" r:id="rId18"/>
    <p:sldId id="264" r:id="rId19"/>
    <p:sldId id="273" r:id="rId20"/>
    <p:sldId id="274" r:id="rId21"/>
    <p:sldId id="275" r:id="rId22"/>
    <p:sldId id="276" r:id="rId23"/>
    <p:sldId id="277" r:id="rId24"/>
    <p:sldId id="278" r:id="rId25"/>
    <p:sldId id="294" r:id="rId26"/>
    <p:sldId id="279" r:id="rId27"/>
    <p:sldId id="280" r:id="rId28"/>
    <p:sldId id="263" r:id="rId29"/>
    <p:sldId id="265" r:id="rId30"/>
    <p:sldId id="281" r:id="rId31"/>
    <p:sldId id="296" r:id="rId32"/>
    <p:sldId id="298" r:id="rId33"/>
    <p:sldId id="283" r:id="rId34"/>
    <p:sldId id="284" r:id="rId35"/>
    <p:sldId id="285" r:id="rId36"/>
    <p:sldId id="267" r:id="rId37"/>
  </p:sldIdLst>
  <p:sldSz cx="12192000" cy="6858000"/>
  <p:notesSz cx="6858000" cy="9144000"/>
  <p:embeddedFontLst>
    <p:embeddedFont>
      <p:font typeface="Calibri" panose="020F0502020204030204"/>
      <p:regular r:id="rId41"/>
      <p:bold r:id="rId42"/>
      <p:italic r:id="rId43"/>
      <p:boldItalic r:id="rId44"/>
    </p:embeddedFont>
    <p:embeddedFont>
      <p:font typeface="Lato" panose="020F0502020204030203"/>
      <p:regular r:id="rId45"/>
    </p:embeddedFont>
    <p:embeddedFont>
      <p:font typeface="Poppins" panose="00000500000000000000"/>
      <p:regular r:id="rId46"/>
      <p:bold r:id="rId47"/>
      <p:italic r:id="rId48"/>
      <p:boldItalic r:id="rId49"/>
    </p:embeddedFont>
    <p:embeddedFont>
      <p:font typeface="Lato Light" panose="020F0502020204030203"/>
      <p:regular r:id="rId50"/>
      <p:bold r:id="rId51"/>
      <p:italic r:id="rId52"/>
      <p:boldItalic r:id="rId53"/>
    </p:embeddedFont>
    <p:embeddedFont>
      <p:font typeface="Poppins SemiBold" panose="00000500000000000000"/>
      <p:regular r:id="rId54"/>
      <p:bold r:id="rId55"/>
      <p:italic r:id="rId56"/>
      <p:boldItalic r:id="rId57"/>
    </p:embeddedFont>
    <p:embeddedFont>
      <p:font typeface="Poppins" panose="00000500000000000000" charset="0"/>
      <p:regular r:id="rId58"/>
      <p:bold r:id="rId59"/>
      <p:italic r:id="rId60"/>
      <p:boldItalic r:id="rId61"/>
    </p:embeddedFont>
    <p:embeddedFont>
      <p:font typeface="Lato" panose="020F0502020204030203" charset="0"/>
      <p:regular r:id="rId62"/>
    </p:embeddedFont>
    <p:embeddedFont>
      <p:font typeface="Calibri" panose="020F0502020204030204" pitchFamily="34" charset="-122"/>
      <p:regular r:id="rId63"/>
      <p:bold r:id="rId64"/>
      <p:italic r:id="rId65"/>
      <p:boldItalic r:id="rId66"/>
    </p:embeddedFont>
    <p:embeddedFont>
      <p:font typeface="Cambria" panose="02040503050406030204" pitchFamily="34" charset="-122"/>
      <p:regular r:id="rId67"/>
      <p:bold r:id="rId68"/>
      <p:italic r:id="rId69"/>
      <p:boldItalic r:id="rId70"/>
    </p:embeddedFont>
  </p:embeddedFontLst>
  <p:custDataLst>
    <p:tags r:id="rId71"/>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000000"/>
          </p15:clr>
        </p15:guide>
        <p15:guide id="2" pos="2937"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2937"/>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1" Type="http://schemas.openxmlformats.org/officeDocument/2006/relationships/tags" Target="tags/tag50.xml"/><Relationship Id="rId70" Type="http://schemas.openxmlformats.org/officeDocument/2006/relationships/font" Target="fonts/font30.fntdata"/><Relationship Id="rId7" Type="http://schemas.openxmlformats.org/officeDocument/2006/relationships/slide" Target="slides/slide4.xml"/><Relationship Id="rId69" Type="http://schemas.openxmlformats.org/officeDocument/2006/relationships/font" Target="fonts/font29.fntdata"/><Relationship Id="rId68" Type="http://schemas.openxmlformats.org/officeDocument/2006/relationships/font" Target="fonts/font28.fntdata"/><Relationship Id="rId67" Type="http://schemas.openxmlformats.org/officeDocument/2006/relationships/font" Target="fonts/font27.fntdata"/><Relationship Id="rId66" Type="http://schemas.openxmlformats.org/officeDocument/2006/relationships/font" Target="fonts/font26.fntdata"/><Relationship Id="rId65" Type="http://schemas.openxmlformats.org/officeDocument/2006/relationships/font" Target="fonts/font25.fntdata"/><Relationship Id="rId64" Type="http://schemas.openxmlformats.org/officeDocument/2006/relationships/font" Target="fonts/font24.fntdata"/><Relationship Id="rId63" Type="http://schemas.openxmlformats.org/officeDocument/2006/relationships/font" Target="fonts/font23.fntdata"/><Relationship Id="rId62" Type="http://schemas.openxmlformats.org/officeDocument/2006/relationships/font" Target="fonts/font22.fntdata"/><Relationship Id="rId61" Type="http://schemas.openxmlformats.org/officeDocument/2006/relationships/font" Target="fonts/font21.fntdata"/><Relationship Id="rId60" Type="http://schemas.openxmlformats.org/officeDocument/2006/relationships/font" Target="fonts/font20.fntdata"/><Relationship Id="rId6" Type="http://schemas.openxmlformats.org/officeDocument/2006/relationships/slide" Target="slides/slide3.xml"/><Relationship Id="rId59" Type="http://schemas.openxmlformats.org/officeDocument/2006/relationships/font" Target="fonts/font19.fntdata"/><Relationship Id="rId58" Type="http://schemas.openxmlformats.org/officeDocument/2006/relationships/font" Target="fonts/font18.fntdata"/><Relationship Id="rId57" Type="http://schemas.openxmlformats.org/officeDocument/2006/relationships/font" Target="fonts/font17.fntdata"/><Relationship Id="rId56" Type="http://schemas.openxmlformats.org/officeDocument/2006/relationships/font" Target="fonts/font16.fntdata"/><Relationship Id="rId55" Type="http://schemas.openxmlformats.org/officeDocument/2006/relationships/font" Target="fonts/font15.fntdata"/><Relationship Id="rId54" Type="http://schemas.openxmlformats.org/officeDocument/2006/relationships/font" Target="fonts/font14.fntdata"/><Relationship Id="rId53" Type="http://schemas.openxmlformats.org/officeDocument/2006/relationships/font" Target="fonts/font13.fntdata"/><Relationship Id="rId52" Type="http://schemas.openxmlformats.org/officeDocument/2006/relationships/font" Target="fonts/font12.fntdata"/><Relationship Id="rId51" Type="http://schemas.openxmlformats.org/officeDocument/2006/relationships/font" Target="fonts/font11.fntdata"/><Relationship Id="rId50" Type="http://schemas.openxmlformats.org/officeDocument/2006/relationships/font" Target="fonts/font10.fntdata"/><Relationship Id="rId5" Type="http://schemas.openxmlformats.org/officeDocument/2006/relationships/slide" Target="slides/slide2.xml"/><Relationship Id="rId49" Type="http://schemas.openxmlformats.org/officeDocument/2006/relationships/font" Target="fonts/font9.fntdata"/><Relationship Id="rId48" Type="http://schemas.openxmlformats.org/officeDocument/2006/relationships/font" Target="fonts/font8.fntdata"/><Relationship Id="rId47" Type="http://schemas.openxmlformats.org/officeDocument/2006/relationships/font" Target="fonts/font7.fntdata"/><Relationship Id="rId46" Type="http://schemas.openxmlformats.org/officeDocument/2006/relationships/font" Target="fonts/font6.fntdata"/><Relationship Id="rId45" Type="http://schemas.openxmlformats.org/officeDocument/2006/relationships/font" Target="fonts/font5.fntdata"/><Relationship Id="rId44" Type="http://schemas.openxmlformats.org/officeDocument/2006/relationships/font" Target="fonts/font4.fntdata"/><Relationship Id="rId43" Type="http://schemas.openxmlformats.org/officeDocument/2006/relationships/font" Target="fonts/font3.fntdata"/><Relationship Id="rId42" Type="http://schemas.openxmlformats.org/officeDocument/2006/relationships/font" Target="fonts/font2.fntdata"/><Relationship Id="rId41" Type="http://schemas.openxmlformats.org/officeDocument/2006/relationships/font" Target="fonts/font1.fntdata"/><Relationship Id="rId40" Type="http://schemas.openxmlformats.org/officeDocument/2006/relationships/tableStyles" Target="tableStyles.xml"/><Relationship Id="rId4" Type="http://schemas.openxmlformats.org/officeDocument/2006/relationships/notesMaster" Target="notesMasters/notesMaster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4" name="Shape 124"/>
        <p:cNvGrpSpPr/>
        <p:nvPr/>
      </p:nvGrpSpPr>
      <p:grpSpPr>
        <a:xfrm>
          <a:off x="0" y="0"/>
          <a:ext cx="0" cy="0"/>
          <a:chOff x="0" y="0"/>
          <a:chExt cx="0" cy="0"/>
        </a:xfrm>
      </p:grpSpPr>
      <p:sp>
        <p:nvSpPr>
          <p:cNvPr id="125" name="Google Shape;125;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6" name="Google Shape;126;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3" name="Shape 143"/>
        <p:cNvGrpSpPr/>
        <p:nvPr/>
      </p:nvGrpSpPr>
      <p:grpSpPr>
        <a:xfrm>
          <a:off x="0" y="0"/>
          <a:ext cx="0" cy="0"/>
          <a:chOff x="0" y="0"/>
          <a:chExt cx="0" cy="0"/>
        </a:xfrm>
      </p:grpSpPr>
      <p:sp>
        <p:nvSpPr>
          <p:cNvPr id="144" name="Google Shape;144;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5" name="Google Shape;145;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3" name="Shape 143"/>
        <p:cNvGrpSpPr/>
        <p:nvPr/>
      </p:nvGrpSpPr>
      <p:grpSpPr>
        <a:xfrm>
          <a:off x="0" y="0"/>
          <a:ext cx="0" cy="0"/>
          <a:chOff x="0" y="0"/>
          <a:chExt cx="0" cy="0"/>
        </a:xfrm>
      </p:grpSpPr>
      <p:sp>
        <p:nvSpPr>
          <p:cNvPr id="144" name="Google Shape;144;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5" name="Google Shape;145;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3" name="Shape 143"/>
        <p:cNvGrpSpPr/>
        <p:nvPr/>
      </p:nvGrpSpPr>
      <p:grpSpPr>
        <a:xfrm>
          <a:off x="0" y="0"/>
          <a:ext cx="0" cy="0"/>
          <a:chOff x="0" y="0"/>
          <a:chExt cx="0" cy="0"/>
        </a:xfrm>
      </p:grpSpPr>
      <p:sp>
        <p:nvSpPr>
          <p:cNvPr id="144" name="Google Shape;144;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5" name="Google Shape;145;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3" name="Shape 143"/>
        <p:cNvGrpSpPr/>
        <p:nvPr/>
      </p:nvGrpSpPr>
      <p:grpSpPr>
        <a:xfrm>
          <a:off x="0" y="0"/>
          <a:ext cx="0" cy="0"/>
          <a:chOff x="0" y="0"/>
          <a:chExt cx="0" cy="0"/>
        </a:xfrm>
      </p:grpSpPr>
      <p:sp>
        <p:nvSpPr>
          <p:cNvPr id="144" name="Google Shape;144;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5" name="Google Shape;145;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3" name="Shape 143"/>
        <p:cNvGrpSpPr/>
        <p:nvPr/>
      </p:nvGrpSpPr>
      <p:grpSpPr>
        <a:xfrm>
          <a:off x="0" y="0"/>
          <a:ext cx="0" cy="0"/>
          <a:chOff x="0" y="0"/>
          <a:chExt cx="0" cy="0"/>
        </a:xfrm>
      </p:grpSpPr>
      <p:sp>
        <p:nvSpPr>
          <p:cNvPr id="144" name="Google Shape;144;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5" name="Google Shape;145;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4" name="Shape 164"/>
        <p:cNvGrpSpPr/>
        <p:nvPr/>
      </p:nvGrpSpPr>
      <p:grpSpPr>
        <a:xfrm>
          <a:off x="0" y="0"/>
          <a:ext cx="0" cy="0"/>
          <a:chOff x="0" y="0"/>
          <a:chExt cx="0" cy="0"/>
        </a:xfrm>
      </p:grpSpPr>
      <p:sp>
        <p:nvSpPr>
          <p:cNvPr id="165" name="Google Shape;165;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6" name="Google Shape;166;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3" name="Shape 143"/>
        <p:cNvGrpSpPr/>
        <p:nvPr/>
      </p:nvGrpSpPr>
      <p:grpSpPr>
        <a:xfrm>
          <a:off x="0" y="0"/>
          <a:ext cx="0" cy="0"/>
          <a:chOff x="0" y="0"/>
          <a:chExt cx="0" cy="0"/>
        </a:xfrm>
      </p:grpSpPr>
      <p:sp>
        <p:nvSpPr>
          <p:cNvPr id="144" name="Google Shape;144;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5" name="Google Shape;145;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1" name="Shape 201"/>
        <p:cNvGrpSpPr/>
        <p:nvPr/>
      </p:nvGrpSpPr>
      <p:grpSpPr>
        <a:xfrm>
          <a:off x="0" y="0"/>
          <a:ext cx="0" cy="0"/>
          <a:chOff x="0" y="0"/>
          <a:chExt cx="0" cy="0"/>
        </a:xfrm>
      </p:grpSpPr>
      <p:sp>
        <p:nvSpPr>
          <p:cNvPr id="202" name="Google Shape;202;p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3" name="Google Shape;203;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0" name="Shape 310"/>
        <p:cNvGrpSpPr/>
        <p:nvPr/>
      </p:nvGrpSpPr>
      <p:grpSpPr>
        <a:xfrm>
          <a:off x="0" y="0"/>
          <a:ext cx="0" cy="0"/>
          <a:chOff x="0" y="0"/>
          <a:chExt cx="0" cy="0"/>
        </a:xfrm>
      </p:grpSpPr>
      <p:sp>
        <p:nvSpPr>
          <p:cNvPr id="311" name="Google Shape;311;p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12" name="Google Shape;312;p1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7" name="Shape 267"/>
        <p:cNvGrpSpPr/>
        <p:nvPr/>
      </p:nvGrpSpPr>
      <p:grpSpPr>
        <a:xfrm>
          <a:off x="0" y="0"/>
          <a:ext cx="0" cy="0"/>
          <a:chOff x="0" y="0"/>
          <a:chExt cx="0" cy="0"/>
        </a:xfrm>
      </p:grpSpPr>
      <p:sp>
        <p:nvSpPr>
          <p:cNvPr id="268" name="Google Shape;268;p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69" name="Google Shape;269;p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8" name="Shape 248"/>
        <p:cNvGrpSpPr/>
        <p:nvPr/>
      </p:nvGrpSpPr>
      <p:grpSpPr>
        <a:xfrm>
          <a:off x="0" y="0"/>
          <a:ext cx="0" cy="0"/>
          <a:chOff x="0" y="0"/>
          <a:chExt cx="0" cy="0"/>
        </a:xfrm>
      </p:grpSpPr>
      <p:sp>
        <p:nvSpPr>
          <p:cNvPr id="249" name="Google Shape;249;p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50" name="Google Shape;250;p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8" name="Shape 298"/>
        <p:cNvGrpSpPr/>
        <p:nvPr/>
      </p:nvGrpSpPr>
      <p:grpSpPr>
        <a:xfrm>
          <a:off x="0" y="0"/>
          <a:ext cx="0" cy="0"/>
          <a:chOff x="0" y="0"/>
          <a:chExt cx="0" cy="0"/>
        </a:xfrm>
      </p:grpSpPr>
      <p:sp>
        <p:nvSpPr>
          <p:cNvPr id="299" name="Google Shape;299;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0" name="Google Shape;300;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7" name="Shape 337"/>
        <p:cNvGrpSpPr/>
        <p:nvPr/>
      </p:nvGrpSpPr>
      <p:grpSpPr>
        <a:xfrm>
          <a:off x="0" y="0"/>
          <a:ext cx="0" cy="0"/>
          <a:chOff x="0" y="0"/>
          <a:chExt cx="0" cy="0"/>
        </a:xfrm>
      </p:grpSpPr>
      <p:sp>
        <p:nvSpPr>
          <p:cNvPr id="338" name="Google Shape;338;p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39" name="Google Shape;339;p1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1" name="Shape 11"/>
        <p:cNvGrpSpPr/>
        <p:nvPr/>
      </p:nvGrpSpPr>
      <p:grpSpPr>
        <a:xfrm>
          <a:off x="0" y="0"/>
          <a:ext cx="0" cy="0"/>
          <a:chOff x="0" y="0"/>
          <a:chExt cx="0" cy="0"/>
        </a:xfrm>
      </p:grpSpPr>
      <p:sp>
        <p:nvSpPr>
          <p:cNvPr id="12" name="Google Shape;12;p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4" name="Google Shape;24;p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6" name="Google Shape;36;p6"/>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7" name="Google Shape;37;p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3" name="Google Shape;43;p7"/>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4" name="Google Shape;44;p7"/>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5" name="Google Shape;45;p7"/>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6" name="Google Shape;46;p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57" name="Google Shape;57;p9"/>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58" name="Google Shape;58;p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type="pic" idx="2"/>
          </p:nvPr>
        </p:nvSpPr>
        <p:spPr>
          <a:xfrm>
            <a:off x="1792288" y="612775"/>
            <a:ext cx="5486400" cy="4114800"/>
          </a:xfrm>
          <a:prstGeom prst="rect">
            <a:avLst/>
          </a:prstGeom>
          <a:noFill/>
          <a:ln>
            <a:noFill/>
          </a:ln>
        </p:spPr>
      </p:sp>
      <p:sp>
        <p:nvSpPr>
          <p:cNvPr id="64" name="Google Shape;64;p10"/>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5" name="Google Shape;65;p1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1" name="Google Shape;71;p1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7" name="Google Shape;77;p1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re et texte">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smtClean="0"/>
              <a:t>Cliquez pour modifier le style du titre du masque</a:t>
            </a:r>
            <a:endParaRPr lang="fr-FR"/>
          </a:p>
        </p:txBody>
      </p:sp>
      <p:sp>
        <p:nvSpPr>
          <p:cNvPr id="3" name="Espace réservé du texte 2"/>
          <p:cNvSpPr>
            <a:spLocks noGrp="1"/>
          </p:cNvSpPr>
          <p:nvPr>
            <p:ph type="body" idx="1" hasCustomPrompt="1"/>
          </p:nvPr>
        </p:nvSpPr>
        <p:spPr/>
        <p:txBody>
          <a:body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10"/>
          </p:nvPr>
        </p:nvSpPr>
        <p:spPr/>
        <p:txBody>
          <a:bodyPr/>
          <a:lstStyle/>
          <a:p/>
        </p:txBody>
      </p:sp>
      <p:sp>
        <p:nvSpPr>
          <p:cNvPr id="5" name="Espace réservé du pied de page 4"/>
          <p:cNvSpPr>
            <a:spLocks noGrp="1"/>
          </p:cNvSpPr>
          <p:nvPr>
            <p:ph type="ftr" sz="quarter" idx="11"/>
          </p:nvPr>
        </p:nvSpPr>
        <p:spPr/>
        <p:txBody>
          <a:bodyPr/>
          <a:lstStyle/>
          <a:p/>
        </p:txBody>
      </p:sp>
      <p:sp>
        <p:nvSpPr>
          <p:cNvPr id="6" name="Espace réservé du numéro de diapositive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_Slide-34_35">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6" name="Title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Your slide title here</a:t>
            </a:r>
            <a:endParaRPr lang="zh-CN" altLang="en-US"/>
          </a:p>
        </p:txBody>
      </p:sp>
      <p:sp>
        <p:nvSpPr>
          <p:cNvPr id="7" name="Picture Placeholder 6"/>
          <p:cNvSpPr>
            <a:spLocks noGrp="1"/>
          </p:cNvSpPr>
          <p:nvPr>
            <p:ph type="pic" idx="16394" hasCustomPrompt="1"/>
            <p:custDataLst>
              <p:tags r:id="rId3"/>
            </p:custDataLst>
          </p:nvPr>
        </p:nvSpPr>
        <p:spPr>
          <a:xfrm>
            <a:off x="609600" y="19304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8" name="Text Placeholder 7"/>
          <p:cNvSpPr>
            <a:spLocks noGrp="1"/>
          </p:cNvSpPr>
          <p:nvPr>
            <p:ph type="body" idx="16386" hasCustomPrompt="1"/>
            <p:custDataLst>
              <p:tags r:id="rId4"/>
            </p:custDataLst>
          </p:nvPr>
        </p:nvSpPr>
        <p:spPr>
          <a:xfrm>
            <a:off x="1778000" y="1930400"/>
            <a:ext cx="40894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Item title</a:t>
            </a:r>
            <a:endParaRPr lang="zh-CN" altLang="en-US" smtClean="0"/>
          </a:p>
        </p:txBody>
      </p:sp>
      <p:sp>
        <p:nvSpPr>
          <p:cNvPr id="9" name="Text Placeholder 8"/>
          <p:cNvSpPr>
            <a:spLocks noGrp="1"/>
          </p:cNvSpPr>
          <p:nvPr>
            <p:ph type="body" idx="16387" hasCustomPrompt="1"/>
            <p:custDataLst>
              <p:tags r:id="rId5"/>
            </p:custDataLst>
          </p:nvPr>
        </p:nvSpPr>
        <p:spPr>
          <a:xfrm>
            <a:off x="1778000" y="2438400"/>
            <a:ext cx="4089400" cy="12192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Enter title text here</a:t>
            </a:r>
            <a:endParaRPr lang="zh-CN" altLang="en-US" smtClean="0"/>
          </a:p>
        </p:txBody>
      </p:sp>
      <p:sp>
        <p:nvSpPr>
          <p:cNvPr id="10" name="Picture Placeholder 9"/>
          <p:cNvSpPr>
            <a:spLocks noGrp="1"/>
          </p:cNvSpPr>
          <p:nvPr>
            <p:ph type="pic" idx="16395" hasCustomPrompt="1"/>
            <p:custDataLst>
              <p:tags r:id="rId6"/>
            </p:custDataLst>
          </p:nvPr>
        </p:nvSpPr>
        <p:spPr>
          <a:xfrm>
            <a:off x="6324600" y="19304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1" name="Text Placeholder 10"/>
          <p:cNvSpPr>
            <a:spLocks noGrp="1"/>
          </p:cNvSpPr>
          <p:nvPr>
            <p:ph type="body" idx="16388" hasCustomPrompt="1"/>
            <p:custDataLst>
              <p:tags r:id="rId7"/>
            </p:custDataLst>
          </p:nvPr>
        </p:nvSpPr>
        <p:spPr>
          <a:xfrm>
            <a:off x="7493000" y="1930400"/>
            <a:ext cx="40894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Item title</a:t>
            </a:r>
            <a:endParaRPr lang="zh-CN" altLang="en-US" smtClean="0"/>
          </a:p>
        </p:txBody>
      </p:sp>
      <p:sp>
        <p:nvSpPr>
          <p:cNvPr id="12" name="Text Placeholder 11"/>
          <p:cNvSpPr>
            <a:spLocks noGrp="1"/>
          </p:cNvSpPr>
          <p:nvPr>
            <p:ph type="body" idx="16389" hasCustomPrompt="1"/>
            <p:custDataLst>
              <p:tags r:id="rId8"/>
            </p:custDataLst>
          </p:nvPr>
        </p:nvSpPr>
        <p:spPr>
          <a:xfrm>
            <a:off x="7493000" y="2438400"/>
            <a:ext cx="4089400" cy="12192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Enter title text here</a:t>
            </a:r>
            <a:endParaRPr lang="zh-CN" altLang="en-US" smtClean="0"/>
          </a:p>
        </p:txBody>
      </p:sp>
      <p:sp>
        <p:nvSpPr>
          <p:cNvPr id="13" name="Picture Placeholder 12"/>
          <p:cNvSpPr>
            <a:spLocks noGrp="1"/>
          </p:cNvSpPr>
          <p:nvPr>
            <p:ph type="pic" idx="16396" hasCustomPrompt="1"/>
            <p:custDataLst>
              <p:tags r:id="rId9"/>
            </p:custDataLst>
          </p:nvPr>
        </p:nvSpPr>
        <p:spPr>
          <a:xfrm>
            <a:off x="609600" y="41148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Text Placeholder 13"/>
          <p:cNvSpPr>
            <a:spLocks noGrp="1"/>
          </p:cNvSpPr>
          <p:nvPr>
            <p:ph type="body" idx="16390" hasCustomPrompt="1"/>
            <p:custDataLst>
              <p:tags r:id="rId10"/>
            </p:custDataLst>
          </p:nvPr>
        </p:nvSpPr>
        <p:spPr>
          <a:xfrm>
            <a:off x="1778000" y="4114800"/>
            <a:ext cx="40894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Item title</a:t>
            </a:r>
            <a:endParaRPr lang="zh-CN" altLang="en-US" smtClean="0"/>
          </a:p>
        </p:txBody>
      </p:sp>
      <p:sp>
        <p:nvSpPr>
          <p:cNvPr id="15" name="Text Placeholder 14"/>
          <p:cNvSpPr>
            <a:spLocks noGrp="1"/>
          </p:cNvSpPr>
          <p:nvPr>
            <p:ph type="body" idx="16391" hasCustomPrompt="1"/>
            <p:custDataLst>
              <p:tags r:id="rId11"/>
            </p:custDataLst>
          </p:nvPr>
        </p:nvSpPr>
        <p:spPr>
          <a:xfrm>
            <a:off x="1778000" y="4622800"/>
            <a:ext cx="4089400" cy="12192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Enter title text here</a:t>
            </a:r>
            <a:endParaRPr lang="zh-CN" altLang="en-US" smtClean="0"/>
          </a:p>
        </p:txBody>
      </p:sp>
      <p:sp>
        <p:nvSpPr>
          <p:cNvPr id="16" name="Picture Placeholder 15"/>
          <p:cNvSpPr>
            <a:spLocks noGrp="1"/>
          </p:cNvSpPr>
          <p:nvPr>
            <p:ph type="pic" idx="16397" hasCustomPrompt="1"/>
            <p:custDataLst>
              <p:tags r:id="rId12"/>
            </p:custDataLst>
          </p:nvPr>
        </p:nvSpPr>
        <p:spPr>
          <a:xfrm>
            <a:off x="6324600" y="41148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7" name="Text Placeholder 16"/>
          <p:cNvSpPr>
            <a:spLocks noGrp="1"/>
          </p:cNvSpPr>
          <p:nvPr>
            <p:ph type="body" idx="16392" hasCustomPrompt="1"/>
            <p:custDataLst>
              <p:tags r:id="rId13"/>
            </p:custDataLst>
          </p:nvPr>
        </p:nvSpPr>
        <p:spPr>
          <a:xfrm>
            <a:off x="7493000" y="4114800"/>
            <a:ext cx="4089400" cy="406400"/>
          </a:xfrm>
          <a:noFill/>
        </p:spPr>
        <p:txBody>
          <a:bodyPr lIns="0" tIns="0" rIns="0" bIns="0" anchor="t">
            <a:normAutofit/>
          </a:bodyPr>
          <a:lstStyle>
            <a:lvl1pPr marL="0" indent="0" algn="l">
              <a:lnSpc>
                <a:spcPct val="111000"/>
              </a:lnSpc>
              <a:buNone/>
              <a:defRPr sz="2400" b="0" spc="0">
                <a:solidFill>
                  <a:schemeClr val="tx1"/>
                </a:solidFill>
              </a:defRPr>
            </a:lvl1pPr>
            <a:lvl5pPr marL="0" indent="0" algn="l">
              <a:lnSpc>
                <a:spcPct val="111000"/>
              </a:lnSpc>
              <a:spcBef>
                <a:spcPct val="0"/>
              </a:spcBef>
              <a:spcAft>
                <a:spcPct val="0"/>
              </a:spcAft>
              <a:buNone/>
              <a:defRPr/>
            </a:lvl5pPr>
          </a:lstStyle>
          <a:p>
            <a:pPr lvl="0"/>
            <a:r>
              <a:rPr lang="zh-CN" altLang="en-US" smtClean="0"/>
              <a:t>Item title</a:t>
            </a:r>
            <a:endParaRPr lang="zh-CN" altLang="en-US" smtClean="0"/>
          </a:p>
        </p:txBody>
      </p:sp>
      <p:sp>
        <p:nvSpPr>
          <p:cNvPr id="18" name="Text Placeholder 17"/>
          <p:cNvSpPr>
            <a:spLocks noGrp="1"/>
          </p:cNvSpPr>
          <p:nvPr>
            <p:ph type="body" idx="16393" hasCustomPrompt="1"/>
            <p:custDataLst>
              <p:tags r:id="rId14"/>
            </p:custDataLst>
          </p:nvPr>
        </p:nvSpPr>
        <p:spPr>
          <a:xfrm>
            <a:off x="7493000" y="4622800"/>
            <a:ext cx="4089400" cy="1219200"/>
          </a:xfrm>
          <a:noFill/>
        </p:spPr>
        <p:txBody>
          <a:bodyPr lIns="0" tIns="0" rIns="0" bIns="0" anchor="t">
            <a:normAutofit/>
          </a:bodyPr>
          <a:lstStyle>
            <a:lvl1pPr marL="0" indent="0" algn="l">
              <a:lnSpc>
                <a:spcPct val="125000"/>
              </a:lnSpc>
              <a:buNone/>
              <a:defRPr sz="1600" b="0" spc="0">
                <a:solidFill>
                  <a:schemeClr val="tx1"/>
                </a:solidFill>
              </a:defRPr>
            </a:lvl1pPr>
            <a:lvl5pPr marL="0" indent="0" algn="l">
              <a:lnSpc>
                <a:spcPct val="125000"/>
              </a:lnSpc>
              <a:spcBef>
                <a:spcPct val="0"/>
              </a:spcBef>
              <a:spcAft>
                <a:spcPct val="0"/>
              </a:spcAft>
              <a:buNone/>
              <a:defRPr/>
            </a:lvl5pPr>
          </a:lstStyle>
          <a:p>
            <a:pPr lvl="0"/>
            <a:r>
              <a:rPr lang="zh-CN" altLang="en-US" smtClean="0"/>
              <a:t>Enter title text here</a:t>
            </a:r>
            <a:endParaRPr lang="zh-CN" altLang="en-US" smtClean="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tags" Target="../tags/tag14.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tags" Target="../tags/tag15.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tags" Target="../tags/tag16.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tags" Target="../tags/tag17.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1.jpeg"/><Relationship Id="rId1" Type="http://schemas.openxmlformats.org/officeDocument/2006/relationships/tags" Target="../tags/tag18.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tags" Target="../tags/tag19.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tags" Target="../tags/tag20.xml"/></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tags" Target="../tags/tag21.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1.jpeg"/><Relationship Id="rId1" Type="http://schemas.openxmlformats.org/officeDocument/2006/relationships/tags" Target="../tags/tag22.xml"/></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tags" Target="../tags/tag23.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1.jpeg"/><Relationship Id="rId1" Type="http://schemas.openxmlformats.org/officeDocument/2006/relationships/tags" Target="../tags/tag24.xml"/></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7.png"/><Relationship Id="rId7" Type="http://schemas.openxmlformats.org/officeDocument/2006/relationships/image" Target="../media/image26.png"/><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1.jpeg"/><Relationship Id="rId10" Type="http://schemas.openxmlformats.org/officeDocument/2006/relationships/notesSlide" Target="../notesSlides/notesSlide12.xml"/><Relationship Id="rId1" Type="http://schemas.openxmlformats.org/officeDocument/2006/relationships/tags" Target="../tags/tag25.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jpeg"/><Relationship Id="rId1" Type="http://schemas.openxmlformats.org/officeDocument/2006/relationships/tags" Target="../tags/tag26.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8.png"/><Relationship Id="rId2" Type="http://schemas.openxmlformats.org/officeDocument/2006/relationships/image" Target="../media/image1.jpeg"/><Relationship Id="rId1" Type="http://schemas.openxmlformats.org/officeDocument/2006/relationships/tags" Target="../tags/tag27.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xml"/><Relationship Id="rId4" Type="http://schemas.openxmlformats.org/officeDocument/2006/relationships/image" Target="../media/image30.png"/><Relationship Id="rId3" Type="http://schemas.openxmlformats.org/officeDocument/2006/relationships/image" Target="../media/image1.jpeg"/><Relationship Id="rId2" Type="http://schemas.openxmlformats.org/officeDocument/2006/relationships/tags" Target="../tags/tag28.xml"/><Relationship Id="rId1" Type="http://schemas.openxmlformats.org/officeDocument/2006/relationships/image" Target="../media/image29.png"/></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1.jpeg"/><Relationship Id="rId1" Type="http://schemas.openxmlformats.org/officeDocument/2006/relationships/tags" Target="../tags/tag29.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5.png"/><Relationship Id="rId2" Type="http://schemas.openxmlformats.org/officeDocument/2006/relationships/image" Target="../media/image1.jpeg"/><Relationship Id="rId1" Type="http://schemas.openxmlformats.org/officeDocument/2006/relationships/tags" Target="../tags/tag30.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6.png"/><Relationship Id="rId3" Type="http://schemas.openxmlformats.org/officeDocument/2006/relationships/image" Target="../media/image29.png"/><Relationship Id="rId2" Type="http://schemas.openxmlformats.org/officeDocument/2006/relationships/image" Target="../media/image1.jpeg"/><Relationship Id="rId1" Type="http://schemas.openxmlformats.org/officeDocument/2006/relationships/tags" Target="../tags/tag31.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7.png"/><Relationship Id="rId2" Type="http://schemas.openxmlformats.org/officeDocument/2006/relationships/image" Target="../media/image1.jpeg"/><Relationship Id="rId1" Type="http://schemas.openxmlformats.org/officeDocument/2006/relationships/tags" Target="../tags/tag32.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8.png"/><Relationship Id="rId2" Type="http://schemas.openxmlformats.org/officeDocument/2006/relationships/image" Target="../media/image1.jpeg"/><Relationship Id="rId1" Type="http://schemas.openxmlformats.org/officeDocument/2006/relationships/tags" Target="../tags/tag33.xml"/></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9.png"/><Relationship Id="rId3" Type="http://schemas.openxmlformats.org/officeDocument/2006/relationships/image" Target="../media/image29.png"/><Relationship Id="rId2" Type="http://schemas.openxmlformats.org/officeDocument/2006/relationships/image" Target="../media/image1.jpeg"/><Relationship Id="rId1" Type="http://schemas.openxmlformats.org/officeDocument/2006/relationships/tags" Target="../tags/tag34.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0.png"/><Relationship Id="rId2" Type="http://schemas.openxmlformats.org/officeDocument/2006/relationships/image" Target="../media/image1.jpeg"/><Relationship Id="rId1" Type="http://schemas.openxmlformats.org/officeDocument/2006/relationships/tags" Target="../tags/tag35.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1.png"/><Relationship Id="rId2" Type="http://schemas.openxmlformats.org/officeDocument/2006/relationships/image" Target="../media/image1.jpeg"/><Relationship Id="rId1" Type="http://schemas.openxmlformats.org/officeDocument/2006/relationships/tags" Target="../tags/tag36.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2.png"/><Relationship Id="rId2" Type="http://schemas.openxmlformats.org/officeDocument/2006/relationships/image" Target="../media/image1.jpeg"/><Relationship Id="rId1" Type="http://schemas.openxmlformats.org/officeDocument/2006/relationships/tags" Target="../tags/tag37.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3.png"/><Relationship Id="rId2" Type="http://schemas.openxmlformats.org/officeDocument/2006/relationships/image" Target="../media/image1.jpeg"/><Relationship Id="rId1" Type="http://schemas.openxmlformats.org/officeDocument/2006/relationships/tags" Target="../tags/tag38.xml"/></Relationships>
</file>

<file path=ppt/slides/_rels/slide26.xml.rels><?xml version="1.0" encoding="UTF-8" standalone="yes"?>
<Relationships xmlns="http://schemas.openxmlformats.org/package/2006/relationships"><Relationship Id="rId9" Type="http://schemas.openxmlformats.org/officeDocument/2006/relationships/image" Target="../media/image50.png"/><Relationship Id="rId8" Type="http://schemas.openxmlformats.org/officeDocument/2006/relationships/image" Target="../media/image49.png"/><Relationship Id="rId7" Type="http://schemas.openxmlformats.org/officeDocument/2006/relationships/image" Target="../media/image48.png"/><Relationship Id="rId6" Type="http://schemas.openxmlformats.org/officeDocument/2006/relationships/image" Target="../media/image47.png"/><Relationship Id="rId5" Type="http://schemas.openxmlformats.org/officeDocument/2006/relationships/image" Target="../media/image46.jpeg"/><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1.jpeg"/><Relationship Id="rId15" Type="http://schemas.openxmlformats.org/officeDocument/2006/relationships/notesSlide" Target="../notesSlides/notesSlide15.xml"/><Relationship Id="rId14" Type="http://schemas.openxmlformats.org/officeDocument/2006/relationships/slideLayout" Target="../slideLayouts/slideLayout1.xml"/><Relationship Id="rId13" Type="http://schemas.openxmlformats.org/officeDocument/2006/relationships/image" Target="../media/image54.jpeg"/><Relationship Id="rId12" Type="http://schemas.openxmlformats.org/officeDocument/2006/relationships/image" Target="../media/image53.png"/><Relationship Id="rId11" Type="http://schemas.openxmlformats.org/officeDocument/2006/relationships/image" Target="../media/image52.png"/><Relationship Id="rId10" Type="http://schemas.openxmlformats.org/officeDocument/2006/relationships/image" Target="../media/image51.png"/><Relationship Id="rId1" Type="http://schemas.openxmlformats.org/officeDocument/2006/relationships/tags" Target="../tags/tag39.xml"/></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xml"/><Relationship Id="rId3" Type="http://schemas.openxmlformats.org/officeDocument/2006/relationships/image" Target="../media/image55.png"/><Relationship Id="rId2" Type="http://schemas.openxmlformats.org/officeDocument/2006/relationships/image" Target="../media/image1.jpeg"/><Relationship Id="rId1" Type="http://schemas.openxmlformats.org/officeDocument/2006/relationships/tags" Target="../tags/tag40.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jpeg"/><Relationship Id="rId1" Type="http://schemas.openxmlformats.org/officeDocument/2006/relationships/tags" Target="../tags/tag41.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6.png"/><Relationship Id="rId2" Type="http://schemas.openxmlformats.org/officeDocument/2006/relationships/image" Target="../media/image1.jpeg"/><Relationship Id="rId1" Type="http://schemas.openxmlformats.org/officeDocument/2006/relationships/tags" Target="../tags/tag42.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7.png"/><Relationship Id="rId2" Type="http://schemas.openxmlformats.org/officeDocument/2006/relationships/image" Target="../media/image1.jpeg"/><Relationship Id="rId1" Type="http://schemas.openxmlformats.org/officeDocument/2006/relationships/tags" Target="../tags/tag43.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jpeg"/><Relationship Id="rId1" Type="http://schemas.openxmlformats.org/officeDocument/2006/relationships/tags" Target="../tags/tag44.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jpeg"/><Relationship Id="rId1" Type="http://schemas.openxmlformats.org/officeDocument/2006/relationships/tags" Target="../tags/tag45.xml"/></Relationships>
</file>

<file path=ppt/slides/_rels/slide33.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48.xml"/><Relationship Id="rId5" Type="http://schemas.openxmlformats.org/officeDocument/2006/relationships/image" Target="../media/image59.svg"/><Relationship Id="rId4" Type="http://schemas.openxmlformats.org/officeDocument/2006/relationships/image" Target="../media/image58.png"/><Relationship Id="rId3" Type="http://schemas.openxmlformats.org/officeDocument/2006/relationships/tags" Target="../tags/tag47.xml"/><Relationship Id="rId2" Type="http://schemas.openxmlformats.org/officeDocument/2006/relationships/image" Target="../media/image1.jpeg"/><Relationship Id="rId1" Type="http://schemas.openxmlformats.org/officeDocument/2006/relationships/tags" Target="../tags/tag46.xml"/></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tags" Target="../tags/tag4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83" name="Shape 83"/>
        <p:cNvGrpSpPr/>
        <p:nvPr/>
      </p:nvGrpSpPr>
      <p:grpSpPr>
        <a:xfrm>
          <a:off x="0" y="0"/>
          <a:ext cx="0" cy="0"/>
          <a:chOff x="0" y="0"/>
          <a:chExt cx="0" cy="0"/>
        </a:xfrm>
      </p:grpSpPr>
      <p:pic>
        <p:nvPicPr>
          <p:cNvPr id="84" name="Google Shape;84;p13" descr="Empty office hall"/>
          <p:cNvPicPr preferRelativeResize="0"/>
          <p:nvPr>
            <p:custDataLst>
              <p:tags r:id="rId1"/>
            </p:custDataLst>
          </p:nvPr>
        </p:nvPicPr>
        <p:blipFill rotWithShape="1">
          <a:blip r:embed="rId2"/>
          <a:srcRect t="7802" b="7802"/>
          <a:stretch>
            <a:fillRect/>
          </a:stretch>
        </p:blipFill>
        <p:spPr>
          <a:xfrm>
            <a:off x="0" y="15240"/>
            <a:ext cx="12192000" cy="6858000"/>
          </a:xfrm>
          <a:prstGeom prst="rect">
            <a:avLst/>
          </a:prstGeom>
          <a:noFill/>
          <a:ln>
            <a:noFill/>
          </a:ln>
        </p:spPr>
      </p:pic>
      <p:pic>
        <p:nvPicPr>
          <p:cNvPr id="85" name="Google Shape;85;p13" descr="image.png"/>
          <p:cNvPicPr preferRelativeResize="0"/>
          <p:nvPr/>
        </p:nvPicPr>
        <p:blipFill rotWithShape="1">
          <a:blip r:embed="rId3"/>
          <a:srcRect/>
          <a:stretch>
            <a:fillRect/>
          </a:stretch>
        </p:blipFill>
        <p:spPr>
          <a:xfrm>
            <a:off x="713740" y="4981575"/>
            <a:ext cx="10621010" cy="1416685"/>
          </a:xfrm>
          <a:prstGeom prst="rect">
            <a:avLst/>
          </a:prstGeom>
          <a:noFill/>
          <a:ln>
            <a:noFill/>
          </a:ln>
        </p:spPr>
      </p:pic>
      <p:pic>
        <p:nvPicPr>
          <p:cNvPr id="86" name="Google Shape;86;p13" descr="image.png"/>
          <p:cNvPicPr preferRelativeResize="0"/>
          <p:nvPr/>
        </p:nvPicPr>
        <p:blipFill rotWithShape="1">
          <a:blip r:embed="rId4">
            <a:alphaModFix amt="40000"/>
          </a:blip>
          <a:srcRect/>
          <a:stretch>
            <a:fillRect/>
          </a:stretch>
        </p:blipFill>
        <p:spPr>
          <a:xfrm>
            <a:off x="2165985" y="5326380"/>
            <a:ext cx="3417570" cy="873125"/>
          </a:xfrm>
          <a:prstGeom prst="rect">
            <a:avLst/>
          </a:prstGeom>
          <a:noFill/>
          <a:ln>
            <a:noFill/>
          </a:ln>
        </p:spPr>
      </p:pic>
      <p:pic>
        <p:nvPicPr>
          <p:cNvPr id="87" name="Google Shape;87;p13" descr="image.png"/>
          <p:cNvPicPr preferRelativeResize="0"/>
          <p:nvPr/>
        </p:nvPicPr>
        <p:blipFill rotWithShape="1">
          <a:blip r:embed="rId4">
            <a:alphaModFix amt="40000"/>
          </a:blip>
          <a:srcRect/>
          <a:stretch>
            <a:fillRect/>
          </a:stretch>
        </p:blipFill>
        <p:spPr>
          <a:xfrm>
            <a:off x="7259955" y="5261610"/>
            <a:ext cx="3527425" cy="1121410"/>
          </a:xfrm>
          <a:prstGeom prst="rect">
            <a:avLst/>
          </a:prstGeom>
          <a:noFill/>
          <a:ln>
            <a:noFill/>
          </a:ln>
        </p:spPr>
      </p:pic>
      <p:sp>
        <p:nvSpPr>
          <p:cNvPr id="89" name="Google Shape;89;p13"/>
          <p:cNvSpPr txBox="1"/>
          <p:nvPr/>
        </p:nvSpPr>
        <p:spPr>
          <a:xfrm>
            <a:off x="2025015" y="1120775"/>
            <a:ext cx="7778115" cy="102552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36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rPr>
              <a:t>SOUTENANCE DE </a:t>
            </a:r>
            <a:r>
              <a:rPr lang="fr-FR" altLang="en-US" sz="36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rPr>
              <a:t>MEMOIRE</a:t>
            </a:r>
            <a:endParaRPr lang="fr-FR" altLang="en-US" sz="36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endParaRPr>
          </a:p>
          <a:p>
            <a:pPr marL="0" marR="0" lvl="0" indent="0" algn="ctr" rtl="0">
              <a:spcBef>
                <a:spcPts val="0"/>
              </a:spcBef>
              <a:spcAft>
                <a:spcPts val="0"/>
              </a:spcAft>
              <a:buNone/>
            </a:pPr>
            <a:r>
              <a:rPr lang="fr-FR" altLang="en-US" sz="36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rPr>
              <a:t>LICENCE GENIE LOGICIEL</a:t>
            </a:r>
            <a:endParaRPr lang="fr-FR" altLang="en-US" sz="36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endParaRPr>
          </a:p>
        </p:txBody>
      </p:sp>
      <p:sp>
        <p:nvSpPr>
          <p:cNvPr id="90" name="Google Shape;90;p13"/>
          <p:cNvSpPr txBox="1"/>
          <p:nvPr/>
        </p:nvSpPr>
        <p:spPr>
          <a:xfrm>
            <a:off x="1095375" y="2742565"/>
            <a:ext cx="9504045" cy="1483995"/>
          </a:xfrm>
          <a:prstGeom prst="rect">
            <a:avLst/>
          </a:prstGeom>
          <a:noFill/>
          <a:ln>
            <a:noFill/>
          </a:ln>
        </p:spPr>
        <p:txBody>
          <a:bodyPr spcFirstLastPara="1" wrap="square" lIns="0" tIns="0" rIns="0" bIns="0" anchor="t" anchorCtr="0">
            <a:noAutofit/>
          </a:bodyPr>
          <a:lstStyle/>
          <a:p>
            <a:pPr marL="0" marR="0" lvl="0" indent="0" algn="ctr" rtl="0">
              <a:lnSpc>
                <a:spcPct val="125000"/>
              </a:lnSpc>
              <a:spcBef>
                <a:spcPts val="0"/>
              </a:spcBef>
              <a:spcAft>
                <a:spcPts val="0"/>
              </a:spcAft>
              <a:buNone/>
            </a:pPr>
            <a:r>
              <a:rPr lang="en-US" sz="3150" b="1" i="0" u="none" strike="noStrike" cap="none">
                <a:solidFill>
                  <a:schemeClr val="tx1"/>
                </a:solidFill>
                <a:latin typeface="Times New Roman" panose="02020603050405020304" charset="0"/>
                <a:ea typeface="Poppins" panose="00000500000000000000"/>
                <a:cs typeface="Times New Roman" panose="02020603050405020304" charset="0"/>
                <a:sym typeface="Poppins" panose="00000500000000000000"/>
              </a:rPr>
              <a:t>Plateforme Web &amp; Mobile de Gestion des Biens Immobiliers Résidentiels</a:t>
            </a:r>
            <a:endParaRPr lang="en-US" sz="3150" b="1" i="0" u="none" strike="noStrike" cap="none">
              <a:solidFill>
                <a:schemeClr val="tx1"/>
              </a:solidFill>
              <a:latin typeface="Times New Roman" panose="02020603050405020304" charset="0"/>
              <a:ea typeface="Poppins" panose="00000500000000000000"/>
              <a:cs typeface="Times New Roman" panose="02020603050405020304" charset="0"/>
              <a:sym typeface="Poppins" panose="00000500000000000000"/>
            </a:endParaRPr>
          </a:p>
        </p:txBody>
      </p:sp>
      <p:sp>
        <p:nvSpPr>
          <p:cNvPr id="91" name="Google Shape;91;p13"/>
          <p:cNvSpPr txBox="1"/>
          <p:nvPr/>
        </p:nvSpPr>
        <p:spPr>
          <a:xfrm>
            <a:off x="1085850" y="4040505"/>
            <a:ext cx="9363075" cy="60896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fr-FR" altLang="en-US" sz="2000" b="1" i="0" u="none" strike="noStrike" cap="none">
                <a:solidFill>
                  <a:schemeClr val="tx1"/>
                </a:solidFill>
                <a:latin typeface="Times New Roman" panose="02020603050405020304" charset="0"/>
                <a:ea typeface="Lato Light" panose="020F0502020204030203"/>
                <a:cs typeface="Times New Roman" panose="02020603050405020304" charset="0"/>
                <a:sym typeface="Lato Light" panose="020F0502020204030203"/>
              </a:rPr>
              <a:t>Cas des </a:t>
            </a:r>
            <a:r>
              <a:rPr lang="en-US" sz="2000" b="1" i="0" u="none" strike="noStrike" cap="none">
                <a:solidFill>
                  <a:schemeClr val="tx1"/>
                </a:solidFill>
                <a:latin typeface="Times New Roman" panose="02020603050405020304" charset="0"/>
                <a:ea typeface="Lato Light" panose="020F0502020204030203"/>
                <a:cs typeface="Times New Roman" panose="02020603050405020304" charset="0"/>
                <a:sym typeface="Lato Light" panose="020F0502020204030203"/>
              </a:rPr>
              <a:t>Cours Communes</a:t>
            </a:r>
            <a:endParaRPr lang="en-US" sz="2000" b="1" i="0" u="none" strike="noStrike" cap="none">
              <a:solidFill>
                <a:schemeClr val="tx1"/>
              </a:solidFill>
              <a:latin typeface="Times New Roman" panose="02020603050405020304" charset="0"/>
              <a:ea typeface="Lato Light" panose="020F0502020204030203"/>
              <a:cs typeface="Times New Roman" panose="02020603050405020304" charset="0"/>
              <a:sym typeface="Lato Light" panose="020F0502020204030203"/>
            </a:endParaRPr>
          </a:p>
        </p:txBody>
      </p:sp>
      <p:sp>
        <p:nvSpPr>
          <p:cNvPr id="92" name="Google Shape;92;p13"/>
          <p:cNvSpPr txBox="1"/>
          <p:nvPr/>
        </p:nvSpPr>
        <p:spPr>
          <a:xfrm>
            <a:off x="2394585" y="5469255"/>
            <a:ext cx="2960370" cy="24574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chemeClr val="tx1"/>
                </a:solidFill>
                <a:latin typeface="Times New Roman" panose="02020603050405020304" charset="0"/>
                <a:ea typeface="Poppins SemiBold" panose="00000500000000000000"/>
                <a:cs typeface="Times New Roman" panose="02020603050405020304" charset="0"/>
                <a:sym typeface="Poppins SemiBold" panose="00000500000000000000"/>
              </a:rPr>
              <a:t>PRÉSENTÉ PAR</a:t>
            </a:r>
            <a:endParaRPr lang="en-US" sz="1600" b="1" i="0" u="none" strike="noStrike" cap="none">
              <a:solidFill>
                <a:schemeClr val="tx1"/>
              </a:solidFill>
              <a:latin typeface="Times New Roman" panose="02020603050405020304" charset="0"/>
              <a:ea typeface="Poppins SemiBold" panose="00000500000000000000"/>
              <a:cs typeface="Times New Roman" panose="02020603050405020304" charset="0"/>
              <a:sym typeface="Poppins SemiBold" panose="00000500000000000000"/>
            </a:endParaRPr>
          </a:p>
        </p:txBody>
      </p:sp>
      <p:sp>
        <p:nvSpPr>
          <p:cNvPr id="93" name="Google Shape;93;p13"/>
          <p:cNvSpPr txBox="1"/>
          <p:nvPr/>
        </p:nvSpPr>
        <p:spPr>
          <a:xfrm>
            <a:off x="2394585" y="5707380"/>
            <a:ext cx="2819400" cy="30734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rPr>
              <a:t>GBANDI WAKE</a:t>
            </a:r>
            <a:endParaRPr lang="en-US" sz="20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endParaRPr>
          </a:p>
        </p:txBody>
      </p:sp>
      <p:sp>
        <p:nvSpPr>
          <p:cNvPr id="94" name="Google Shape;94;p13"/>
          <p:cNvSpPr txBox="1"/>
          <p:nvPr/>
        </p:nvSpPr>
        <p:spPr>
          <a:xfrm>
            <a:off x="7629525" y="5404485"/>
            <a:ext cx="2960370" cy="24574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a:solidFill>
                  <a:schemeClr val="tx1"/>
                </a:solidFill>
                <a:latin typeface="Times New Roman" panose="02020603050405020304" charset="0"/>
                <a:ea typeface="Poppins SemiBold" panose="00000500000000000000"/>
                <a:cs typeface="Times New Roman" panose="02020603050405020304" charset="0"/>
                <a:sym typeface="Poppins SemiBold" panose="00000500000000000000"/>
              </a:rPr>
              <a:t>SOUS LA DIRECTION DE</a:t>
            </a:r>
            <a:endParaRPr lang="en-US" sz="1600" b="1" i="0" u="none" strike="noStrike" cap="none">
              <a:solidFill>
                <a:schemeClr val="tx1"/>
              </a:solidFill>
              <a:latin typeface="Times New Roman" panose="02020603050405020304" charset="0"/>
              <a:ea typeface="Poppins SemiBold" panose="00000500000000000000"/>
              <a:cs typeface="Times New Roman" panose="02020603050405020304" charset="0"/>
              <a:sym typeface="Poppins SemiBold" panose="00000500000000000000"/>
            </a:endParaRPr>
          </a:p>
        </p:txBody>
      </p:sp>
      <p:sp>
        <p:nvSpPr>
          <p:cNvPr id="95" name="Google Shape;95;p13"/>
          <p:cNvSpPr txBox="1"/>
          <p:nvPr/>
        </p:nvSpPr>
        <p:spPr>
          <a:xfrm>
            <a:off x="7629525" y="5642610"/>
            <a:ext cx="2819400" cy="61531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rPr>
              <a:t>M. SHABAN Abdoulatif </a:t>
            </a:r>
            <a:br>
              <a:rPr lang="en-US" sz="2000" b="1" i="0" u="none" strike="noStrike" cap="none">
                <a:solidFill>
                  <a:schemeClr val="tx1"/>
                </a:solidFill>
                <a:latin typeface="Times New Roman" panose="02020603050405020304" charset="0"/>
                <a:ea typeface="Calibri" panose="020F0502020204030204"/>
                <a:cs typeface="Times New Roman" panose="02020603050405020304" charset="0"/>
                <a:sym typeface="Calibri" panose="020F0502020204030204"/>
              </a:rPr>
            </a:br>
            <a:r>
              <a:rPr lang="en-US" sz="20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rPr>
              <a:t>Ingénieur Logiciel</a:t>
            </a:r>
            <a:endParaRPr lang="en-US" sz="20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endParaRPr>
          </a:p>
        </p:txBody>
      </p:sp>
      <p:pic>
        <p:nvPicPr>
          <p:cNvPr id="2" name="Image 1" descr="WPS Photos(1)"/>
          <p:cNvPicPr>
            <a:picLocks noChangeAspect="1"/>
          </p:cNvPicPr>
          <p:nvPr/>
        </p:nvPicPr>
        <p:blipFill>
          <a:blip r:embed="rId5"/>
          <a:stretch>
            <a:fillRect/>
          </a:stretch>
        </p:blipFill>
        <p:spPr>
          <a:xfrm>
            <a:off x="5715" y="15240"/>
            <a:ext cx="2388870" cy="91757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01" name="Shape 101"/>
        <p:cNvGrpSpPr/>
        <p:nvPr/>
      </p:nvGrpSpPr>
      <p:grpSpPr>
        <a:xfrm>
          <a:off x="0" y="0"/>
          <a:ext cx="0" cy="0"/>
          <a:chOff x="0" y="0"/>
          <a:chExt cx="0" cy="0"/>
        </a:xfrm>
      </p:grpSpPr>
      <p:pic>
        <p:nvPicPr>
          <p:cNvPr id="102" name="Google Shape;102;p14"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pic>
        <p:nvPicPr>
          <p:cNvPr id="103" name="Google Shape;103;p14" descr="image.png"/>
          <p:cNvPicPr preferRelativeResize="0"/>
          <p:nvPr/>
        </p:nvPicPr>
        <p:blipFill rotWithShape="1">
          <a:blip r:embed="rId3"/>
          <a:srcRect/>
          <a:stretch>
            <a:fillRect/>
          </a:stretch>
        </p:blipFill>
        <p:spPr>
          <a:xfrm>
            <a:off x="1809750" y="3248025"/>
            <a:ext cx="2730400" cy="1114425"/>
          </a:xfrm>
          <a:prstGeom prst="rect">
            <a:avLst/>
          </a:prstGeom>
          <a:noFill/>
          <a:ln>
            <a:noFill/>
          </a:ln>
        </p:spPr>
      </p:pic>
      <p:pic>
        <p:nvPicPr>
          <p:cNvPr id="104" name="Google Shape;104;p14" descr="image.png"/>
          <p:cNvPicPr preferRelativeResize="0"/>
          <p:nvPr/>
        </p:nvPicPr>
        <p:blipFill rotWithShape="1">
          <a:blip r:embed="rId4"/>
          <a:srcRect/>
          <a:stretch>
            <a:fillRect/>
          </a:stretch>
        </p:blipFill>
        <p:spPr>
          <a:xfrm>
            <a:off x="4730650" y="3248025"/>
            <a:ext cx="2730549" cy="1114425"/>
          </a:xfrm>
          <a:prstGeom prst="rect">
            <a:avLst/>
          </a:prstGeom>
          <a:noFill/>
          <a:ln>
            <a:noFill/>
          </a:ln>
        </p:spPr>
      </p:pic>
      <p:pic>
        <p:nvPicPr>
          <p:cNvPr id="105" name="Google Shape;105;p14" descr="image.png"/>
          <p:cNvPicPr preferRelativeResize="0"/>
          <p:nvPr/>
        </p:nvPicPr>
        <p:blipFill rotWithShape="1">
          <a:blip r:embed="rId3"/>
          <a:srcRect/>
          <a:stretch>
            <a:fillRect/>
          </a:stretch>
        </p:blipFill>
        <p:spPr>
          <a:xfrm>
            <a:off x="7651700" y="3248025"/>
            <a:ext cx="2730400" cy="1114425"/>
          </a:xfrm>
          <a:prstGeom prst="rect">
            <a:avLst/>
          </a:prstGeom>
          <a:noFill/>
          <a:ln>
            <a:noFill/>
          </a:ln>
        </p:spPr>
      </p:pic>
      <p:pic>
        <p:nvPicPr>
          <p:cNvPr id="106" name="Google Shape;106;p14" descr="image.png"/>
          <p:cNvPicPr preferRelativeResize="0"/>
          <p:nvPr/>
        </p:nvPicPr>
        <p:blipFill rotWithShape="1">
          <a:blip r:embed="rId5"/>
          <a:srcRect/>
          <a:stretch>
            <a:fillRect/>
          </a:stretch>
        </p:blipFill>
        <p:spPr>
          <a:xfrm>
            <a:off x="1809750" y="4552950"/>
            <a:ext cx="2730400" cy="942975"/>
          </a:xfrm>
          <a:prstGeom prst="rect">
            <a:avLst/>
          </a:prstGeom>
          <a:noFill/>
          <a:ln>
            <a:noFill/>
          </a:ln>
        </p:spPr>
      </p:pic>
      <p:pic>
        <p:nvPicPr>
          <p:cNvPr id="107" name="Google Shape;107;p14" descr="image.png"/>
          <p:cNvPicPr preferRelativeResize="0"/>
          <p:nvPr/>
        </p:nvPicPr>
        <p:blipFill rotWithShape="1">
          <a:blip r:embed="rId6"/>
          <a:srcRect/>
          <a:stretch>
            <a:fillRect/>
          </a:stretch>
        </p:blipFill>
        <p:spPr>
          <a:xfrm>
            <a:off x="4730650" y="4552950"/>
            <a:ext cx="2730549" cy="942975"/>
          </a:xfrm>
          <a:prstGeom prst="rect">
            <a:avLst/>
          </a:prstGeom>
          <a:noFill/>
          <a:ln>
            <a:noFill/>
          </a:ln>
        </p:spPr>
      </p:pic>
      <p:pic>
        <p:nvPicPr>
          <p:cNvPr id="108" name="Google Shape;108;p14" descr="image.png"/>
          <p:cNvPicPr preferRelativeResize="0"/>
          <p:nvPr/>
        </p:nvPicPr>
        <p:blipFill rotWithShape="1">
          <a:blip r:embed="rId5"/>
          <a:srcRect/>
          <a:stretch>
            <a:fillRect/>
          </a:stretch>
        </p:blipFill>
        <p:spPr>
          <a:xfrm>
            <a:off x="7651700" y="4552950"/>
            <a:ext cx="2730400" cy="942975"/>
          </a:xfrm>
          <a:prstGeom prst="rect">
            <a:avLst/>
          </a:prstGeom>
          <a:noFill/>
          <a:ln>
            <a:noFill/>
          </a:ln>
        </p:spPr>
      </p:pic>
      <p:sp>
        <p:nvSpPr>
          <p:cNvPr id="109" name="Google Shape;109;p14"/>
          <p:cNvSpPr/>
          <p:nvPr/>
        </p:nvSpPr>
        <p:spPr>
          <a:xfrm>
            <a:off x="5715000" y="1362075"/>
            <a:ext cx="762000" cy="38100"/>
          </a:xfrm>
          <a:prstGeom prst="rect">
            <a:avLst/>
          </a:prstGeom>
          <a:solidFill>
            <a:schemeClr val="tx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1" i="0" u="none" strike="noStrike" cap="none">
              <a:solidFill>
                <a:schemeClr val="tx1"/>
              </a:solidFill>
              <a:latin typeface="Calibri" panose="020F0502020204030204"/>
              <a:ea typeface="Calibri" panose="020F0502020204030204"/>
              <a:cs typeface="Calibri" panose="020F0502020204030204"/>
              <a:sym typeface="Calibri" panose="020F0502020204030204"/>
            </a:endParaRPr>
          </a:p>
        </p:txBody>
      </p:sp>
      <p:sp>
        <p:nvSpPr>
          <p:cNvPr id="110" name="Google Shape;110;p14"/>
          <p:cNvSpPr txBox="1"/>
          <p:nvPr/>
        </p:nvSpPr>
        <p:spPr>
          <a:xfrm>
            <a:off x="3395662" y="1638300"/>
            <a:ext cx="5400675" cy="73850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fr-FR" altLang="en-US" sz="4800" b="1" i="0" u="none" strike="noStrike" cap="none">
                <a:solidFill>
                  <a:schemeClr val="tx1"/>
                </a:solidFill>
                <a:latin typeface="Times New Roman" panose="02020603050405020304" charset="0"/>
                <a:ea typeface="Poppins SemiBold" panose="00000500000000000000"/>
                <a:cs typeface="Times New Roman" panose="02020603050405020304" charset="0"/>
                <a:sym typeface="Poppins SemiBold" panose="00000500000000000000"/>
              </a:rPr>
              <a:t>Plan</a:t>
            </a:r>
            <a:endParaRPr lang="fr-FR" altLang="en-US" sz="4800" b="1" i="0" u="none" strike="noStrike" cap="none">
              <a:solidFill>
                <a:schemeClr val="tx1"/>
              </a:solidFill>
              <a:latin typeface="Times New Roman" panose="02020603050405020304" charset="0"/>
              <a:ea typeface="Poppins SemiBold" panose="00000500000000000000"/>
              <a:cs typeface="Times New Roman" panose="02020603050405020304" charset="0"/>
              <a:sym typeface="Poppins SemiBold" panose="00000500000000000000"/>
            </a:endParaRPr>
          </a:p>
        </p:txBody>
      </p:sp>
      <p:sp>
        <p:nvSpPr>
          <p:cNvPr id="112" name="Google Shape;112;p14"/>
          <p:cNvSpPr txBox="1"/>
          <p:nvPr/>
        </p:nvSpPr>
        <p:spPr>
          <a:xfrm>
            <a:off x="2760980" y="2893695"/>
            <a:ext cx="699770" cy="28257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2400" b="1" i="0" u="none" strike="noStrike" cap="none">
                <a:solidFill>
                  <a:schemeClr val="tx1"/>
                </a:solidFill>
                <a:latin typeface="Lato" panose="020F0502020204030203"/>
                <a:ea typeface="Lato" panose="020F0502020204030203"/>
                <a:cs typeface="Lato" panose="020F0502020204030203"/>
                <a:sym typeface="Lato" panose="020F0502020204030203"/>
              </a:rPr>
              <a:t>01</a:t>
            </a:r>
            <a:endParaRPr lang="en-US" sz="24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sp>
        <p:nvSpPr>
          <p:cNvPr id="113" name="Google Shape;113;p14"/>
          <p:cNvSpPr txBox="1"/>
          <p:nvPr/>
        </p:nvSpPr>
        <p:spPr>
          <a:xfrm>
            <a:off x="1914525" y="3248025"/>
            <a:ext cx="2331085" cy="69088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fr-FR" altLang="en-US" sz="20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rPr>
              <a:t>Introduction &amp; </a:t>
            </a:r>
            <a:r>
              <a:rPr lang="en-US" sz="20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rPr>
              <a:t>Contexte</a:t>
            </a:r>
            <a:endParaRPr lang="en-US" sz="20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endParaRPr>
          </a:p>
        </p:txBody>
      </p:sp>
      <p:sp>
        <p:nvSpPr>
          <p:cNvPr id="114" name="Google Shape;114;p14"/>
          <p:cNvSpPr txBox="1"/>
          <p:nvPr/>
        </p:nvSpPr>
        <p:spPr>
          <a:xfrm>
            <a:off x="5848350" y="2876550"/>
            <a:ext cx="533400" cy="20891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2400" b="1" i="0" u="none" strike="noStrike" cap="none">
                <a:solidFill>
                  <a:schemeClr val="tx1"/>
                </a:solidFill>
                <a:latin typeface="Lato" panose="020F0502020204030203"/>
                <a:ea typeface="Lato" panose="020F0502020204030203"/>
                <a:cs typeface="Lato" panose="020F0502020204030203"/>
                <a:sym typeface="Lato" panose="020F0502020204030203"/>
              </a:rPr>
              <a:t>02</a:t>
            </a:r>
            <a:endParaRPr lang="en-US" sz="24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sp>
        <p:nvSpPr>
          <p:cNvPr id="115" name="Google Shape;115;p14"/>
          <p:cNvSpPr txBox="1"/>
          <p:nvPr/>
        </p:nvSpPr>
        <p:spPr>
          <a:xfrm>
            <a:off x="4935220" y="3248025"/>
            <a:ext cx="2330450" cy="3886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fr-FR" altLang="en-US" sz="20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rPr>
              <a:t>Problématique</a:t>
            </a:r>
            <a:endParaRPr lang="fr-FR" altLang="en-US" sz="20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endParaRPr>
          </a:p>
        </p:txBody>
      </p:sp>
      <p:sp>
        <p:nvSpPr>
          <p:cNvPr id="116" name="Google Shape;116;p14"/>
          <p:cNvSpPr txBox="1"/>
          <p:nvPr/>
        </p:nvSpPr>
        <p:spPr>
          <a:xfrm>
            <a:off x="8769350" y="2876550"/>
            <a:ext cx="525780" cy="28257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2400" b="1" i="0" u="none" strike="noStrike" cap="none">
                <a:solidFill>
                  <a:schemeClr val="tx1"/>
                </a:solidFill>
                <a:latin typeface="Lato" panose="020F0502020204030203"/>
                <a:ea typeface="Lato" panose="020F0502020204030203"/>
                <a:cs typeface="Lato" panose="020F0502020204030203"/>
                <a:sym typeface="Lato" panose="020F0502020204030203"/>
              </a:rPr>
              <a:t>03</a:t>
            </a:r>
            <a:endParaRPr lang="en-US" sz="24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sp>
        <p:nvSpPr>
          <p:cNvPr id="117" name="Google Shape;117;p14"/>
          <p:cNvSpPr txBox="1"/>
          <p:nvPr/>
        </p:nvSpPr>
        <p:spPr>
          <a:xfrm>
            <a:off x="7756525" y="3248025"/>
            <a:ext cx="2583815" cy="54292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fr-FR" altLang="en-US" sz="20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rPr>
              <a:t>Critique de l’Existant</a:t>
            </a:r>
            <a:endParaRPr lang="fr-FR" altLang="en-US" sz="20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endParaRPr>
          </a:p>
        </p:txBody>
      </p:sp>
      <p:sp>
        <p:nvSpPr>
          <p:cNvPr id="118" name="Google Shape;118;p14"/>
          <p:cNvSpPr txBox="1"/>
          <p:nvPr/>
        </p:nvSpPr>
        <p:spPr>
          <a:xfrm>
            <a:off x="2902585" y="4181475"/>
            <a:ext cx="527050" cy="30797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2400" b="1" i="0" u="none" strike="noStrike" cap="none">
                <a:solidFill>
                  <a:schemeClr val="tx1"/>
                </a:solidFill>
                <a:latin typeface="Lato" panose="020F0502020204030203"/>
                <a:ea typeface="Lato" panose="020F0502020204030203"/>
                <a:cs typeface="Lato" panose="020F0502020204030203"/>
                <a:sym typeface="Lato" panose="020F0502020204030203"/>
              </a:rPr>
              <a:t>04</a:t>
            </a:r>
            <a:endParaRPr lang="en-US" sz="24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sp>
        <p:nvSpPr>
          <p:cNvPr id="119" name="Google Shape;119;p14"/>
          <p:cNvSpPr txBox="1"/>
          <p:nvPr/>
        </p:nvSpPr>
        <p:spPr>
          <a:xfrm>
            <a:off x="1914525" y="4552950"/>
            <a:ext cx="2330350" cy="30734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fr-FR" altLang="en-US" sz="20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rPr>
              <a:t>Objectifs du projet</a:t>
            </a:r>
            <a:endParaRPr lang="fr-FR" altLang="en-US" sz="20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endParaRPr>
          </a:p>
        </p:txBody>
      </p:sp>
      <p:sp>
        <p:nvSpPr>
          <p:cNvPr id="120" name="Google Shape;120;p14"/>
          <p:cNvSpPr txBox="1"/>
          <p:nvPr/>
        </p:nvSpPr>
        <p:spPr>
          <a:xfrm>
            <a:off x="5848350" y="4181475"/>
            <a:ext cx="502285" cy="2921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2400" b="1" i="0" u="none" strike="noStrike" cap="none">
                <a:solidFill>
                  <a:schemeClr val="tx1"/>
                </a:solidFill>
                <a:latin typeface="Lato" panose="020F0502020204030203"/>
                <a:ea typeface="Lato" panose="020F0502020204030203"/>
                <a:cs typeface="Lato" panose="020F0502020204030203"/>
                <a:sym typeface="Lato" panose="020F0502020204030203"/>
              </a:rPr>
              <a:t>05</a:t>
            </a:r>
            <a:endParaRPr lang="en-US" sz="24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sp>
        <p:nvSpPr>
          <p:cNvPr id="121" name="Google Shape;121;p14"/>
          <p:cNvSpPr txBox="1"/>
          <p:nvPr/>
        </p:nvSpPr>
        <p:spPr>
          <a:xfrm>
            <a:off x="4835525" y="4552950"/>
            <a:ext cx="2720340" cy="61531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fr-FR" altLang="en-US" sz="20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rPr>
              <a:t>Conception</a:t>
            </a:r>
            <a:r>
              <a:rPr lang="en-US" sz="20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rPr>
              <a:t> &amp; </a:t>
            </a:r>
            <a:r>
              <a:rPr lang="fr-FR" altLang="en-US" sz="20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rPr>
              <a:t>Réalisation</a:t>
            </a:r>
            <a:endParaRPr lang="fr-FR" altLang="en-US" sz="20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endParaRPr>
          </a:p>
        </p:txBody>
      </p:sp>
      <p:sp>
        <p:nvSpPr>
          <p:cNvPr id="122" name="Google Shape;122;p14"/>
          <p:cNvSpPr txBox="1"/>
          <p:nvPr/>
        </p:nvSpPr>
        <p:spPr>
          <a:xfrm>
            <a:off x="8769350" y="4181475"/>
            <a:ext cx="517525" cy="17208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2400" b="1" i="0" u="none" strike="noStrike" cap="none">
                <a:solidFill>
                  <a:schemeClr val="tx1"/>
                </a:solidFill>
                <a:latin typeface="Lato" panose="020F0502020204030203"/>
                <a:ea typeface="Lato" panose="020F0502020204030203"/>
                <a:cs typeface="Lato" panose="020F0502020204030203"/>
                <a:sym typeface="Lato" panose="020F0502020204030203"/>
              </a:rPr>
              <a:t>06</a:t>
            </a:r>
            <a:endParaRPr lang="en-US" sz="24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sp>
        <p:nvSpPr>
          <p:cNvPr id="123" name="Google Shape;123;p14"/>
          <p:cNvSpPr txBox="1"/>
          <p:nvPr/>
        </p:nvSpPr>
        <p:spPr>
          <a:xfrm>
            <a:off x="7756475" y="4552950"/>
            <a:ext cx="2330350" cy="30734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fr-FR" altLang="en-US" sz="20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rPr>
              <a:t>Démonstration</a:t>
            </a:r>
            <a:endParaRPr lang="fr-FR" altLang="en-US" sz="20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endParaRPr>
          </a:p>
        </p:txBody>
      </p:sp>
      <p:pic>
        <p:nvPicPr>
          <p:cNvPr id="4" name="Google Shape;108;p14" descr="image.png"/>
          <p:cNvPicPr preferRelativeResize="0"/>
          <p:nvPr/>
        </p:nvPicPr>
        <p:blipFill rotWithShape="1">
          <a:blip r:embed="rId5"/>
          <a:srcRect/>
          <a:stretch>
            <a:fillRect/>
          </a:stretch>
        </p:blipFill>
        <p:spPr>
          <a:xfrm>
            <a:off x="4730700" y="5704840"/>
            <a:ext cx="2730400" cy="942975"/>
          </a:xfrm>
          <a:prstGeom prst="rect">
            <a:avLst/>
          </a:prstGeom>
          <a:noFill/>
          <a:ln>
            <a:noFill/>
          </a:ln>
        </p:spPr>
      </p:pic>
      <p:sp>
        <p:nvSpPr>
          <p:cNvPr id="2" name="Google Shape;122;p14"/>
          <p:cNvSpPr txBox="1"/>
          <p:nvPr/>
        </p:nvSpPr>
        <p:spPr>
          <a:xfrm>
            <a:off x="5878830" y="5333365"/>
            <a:ext cx="517525" cy="17208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2400" b="1" i="0" u="none" strike="noStrike" cap="none">
                <a:solidFill>
                  <a:schemeClr val="tx1"/>
                </a:solidFill>
                <a:latin typeface="Lato" panose="020F0502020204030203"/>
                <a:ea typeface="Lato" panose="020F0502020204030203"/>
                <a:cs typeface="Lato" panose="020F0502020204030203"/>
                <a:sym typeface="Lato" panose="020F0502020204030203"/>
              </a:rPr>
              <a:t>0</a:t>
            </a:r>
            <a:r>
              <a:rPr lang="fr-FR" altLang="en-US" sz="2400" b="1" i="0" u="none" strike="noStrike" cap="none">
                <a:solidFill>
                  <a:schemeClr val="tx1"/>
                </a:solidFill>
                <a:latin typeface="Lato" panose="020F0502020204030203"/>
                <a:ea typeface="Lato" panose="020F0502020204030203"/>
                <a:cs typeface="Lato" panose="020F0502020204030203"/>
                <a:sym typeface="Lato" panose="020F0502020204030203"/>
              </a:rPr>
              <a:t>7</a:t>
            </a:r>
            <a:endParaRPr lang="fr-FR" altLang="en-US" sz="24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sp>
        <p:nvSpPr>
          <p:cNvPr id="3" name="Google Shape;123;p14"/>
          <p:cNvSpPr txBox="1"/>
          <p:nvPr/>
        </p:nvSpPr>
        <p:spPr>
          <a:xfrm>
            <a:off x="4835475" y="5704840"/>
            <a:ext cx="2330350" cy="61531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0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rPr>
              <a:t>Conclusion &amp; Perspectives</a:t>
            </a:r>
            <a:endParaRPr lang="en-US" sz="20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endParaRPr>
          </a:p>
        </p:txBody>
      </p:sp>
      <p:sp>
        <p:nvSpPr>
          <p:cNvPr id="135" name="Google Shape;135;p15"/>
          <p:cNvSpPr txBox="1"/>
          <p:nvPr/>
        </p:nvSpPr>
        <p:spPr>
          <a:xfrm>
            <a:off x="11451590" y="6320155"/>
            <a:ext cx="370205" cy="1752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i="0" u="none" strike="noStrike" cap="none">
                <a:solidFill>
                  <a:schemeClr val="tx1"/>
                </a:solidFill>
                <a:latin typeface="Lato" panose="020F0502020204030203"/>
                <a:ea typeface="Lato" panose="020F0502020204030203"/>
                <a:cs typeface="Lato" panose="020F0502020204030203"/>
                <a:sym typeface="Lato" panose="020F0502020204030203"/>
              </a:rPr>
              <a:t>0</a:t>
            </a:r>
            <a:r>
              <a:rPr lang="en-US" altLang="en-US" sz="1800" b="1" i="0" u="none" strike="noStrike" cap="none">
                <a:solidFill>
                  <a:schemeClr val="tx1"/>
                </a:solidFill>
                <a:latin typeface="Lato" panose="020F0502020204030203"/>
                <a:ea typeface="Lato" panose="020F0502020204030203"/>
                <a:cs typeface="Lato" panose="020F0502020204030203"/>
                <a:sym typeface="Lato" panose="020F0502020204030203"/>
              </a:rPr>
              <a:t>1</a:t>
            </a:r>
            <a:endParaRPr lang="en-US" altLang="en-US" sz="18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12"/>
                                        </p:tgtEl>
                                        <p:attrNameLst>
                                          <p:attrName>style.visibility</p:attrName>
                                        </p:attrNameLst>
                                      </p:cBhvr>
                                      <p:to>
                                        <p:strVal val="visible"/>
                                      </p:to>
                                    </p:set>
                                    <p:animEffect transition="in" filter="strips(downLeft)">
                                      <p:cBhvr>
                                        <p:cTn id="7" dur="500"/>
                                        <p:tgtEl>
                                          <p:spTgt spid="112"/>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113"/>
                                        </p:tgtEl>
                                        <p:attrNameLst>
                                          <p:attrName>style.visibility</p:attrName>
                                        </p:attrNameLst>
                                      </p:cBhvr>
                                      <p:to>
                                        <p:strVal val="visible"/>
                                      </p:to>
                                    </p:set>
                                    <p:animEffect transition="in" filter="strips(downLeft)">
                                      <p:cBhvr>
                                        <p:cTn id="10" dur="500"/>
                                        <p:tgtEl>
                                          <p:spTgt spid="113"/>
                                        </p:tgtEl>
                                      </p:cBhvr>
                                    </p:animEffect>
                                  </p:childTnLst>
                                </p:cTn>
                              </p:par>
                            </p:childTnLst>
                          </p:cTn>
                        </p:par>
                      </p:childTnLst>
                    </p:cTn>
                  </p:par>
                  <p:par>
                    <p:cTn id="11" fill="hold">
                      <p:stCondLst>
                        <p:cond delay="indefinite"/>
                      </p:stCondLst>
                      <p:childTnLst>
                        <p:par>
                          <p:cTn id="12" fill="hold">
                            <p:stCondLst>
                              <p:cond delay="0"/>
                            </p:stCondLst>
                            <p:childTnLst>
                              <p:par>
                                <p:cTn id="13" presetID="18" presetClass="entr" presetSubtype="12" fill="hold" grpId="0" nodeType="clickEffect">
                                  <p:stCondLst>
                                    <p:cond delay="0"/>
                                  </p:stCondLst>
                                  <p:childTnLst>
                                    <p:set>
                                      <p:cBhvr>
                                        <p:cTn id="14" dur="1" fill="hold">
                                          <p:stCondLst>
                                            <p:cond delay="0"/>
                                          </p:stCondLst>
                                        </p:cTn>
                                        <p:tgtEl>
                                          <p:spTgt spid="114"/>
                                        </p:tgtEl>
                                        <p:attrNameLst>
                                          <p:attrName>style.visibility</p:attrName>
                                        </p:attrNameLst>
                                      </p:cBhvr>
                                      <p:to>
                                        <p:strVal val="visible"/>
                                      </p:to>
                                    </p:set>
                                    <p:animEffect transition="in" filter="strips(downLeft)">
                                      <p:cBhvr>
                                        <p:cTn id="15" dur="500"/>
                                        <p:tgtEl>
                                          <p:spTgt spid="114"/>
                                        </p:tgtEl>
                                      </p:cBhvr>
                                    </p:animEffect>
                                  </p:childTnLst>
                                </p:cTn>
                              </p:par>
                              <p:par>
                                <p:cTn id="16" presetID="18" presetClass="entr" presetSubtype="12" fill="hold" grpId="0" nodeType="withEffect">
                                  <p:stCondLst>
                                    <p:cond delay="0"/>
                                  </p:stCondLst>
                                  <p:childTnLst>
                                    <p:set>
                                      <p:cBhvr>
                                        <p:cTn id="17" dur="1" fill="hold">
                                          <p:stCondLst>
                                            <p:cond delay="0"/>
                                          </p:stCondLst>
                                        </p:cTn>
                                        <p:tgtEl>
                                          <p:spTgt spid="115"/>
                                        </p:tgtEl>
                                        <p:attrNameLst>
                                          <p:attrName>style.visibility</p:attrName>
                                        </p:attrNameLst>
                                      </p:cBhvr>
                                      <p:to>
                                        <p:strVal val="visible"/>
                                      </p:to>
                                    </p:set>
                                    <p:animEffect transition="in" filter="strips(downLeft)">
                                      <p:cBhvr>
                                        <p:cTn id="18" dur="500"/>
                                        <p:tgtEl>
                                          <p:spTgt spid="115"/>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12" fill="hold" grpId="0" nodeType="clickEffect">
                                  <p:stCondLst>
                                    <p:cond delay="0"/>
                                  </p:stCondLst>
                                  <p:childTnLst>
                                    <p:set>
                                      <p:cBhvr>
                                        <p:cTn id="22" dur="1" fill="hold">
                                          <p:stCondLst>
                                            <p:cond delay="0"/>
                                          </p:stCondLst>
                                        </p:cTn>
                                        <p:tgtEl>
                                          <p:spTgt spid="116"/>
                                        </p:tgtEl>
                                        <p:attrNameLst>
                                          <p:attrName>style.visibility</p:attrName>
                                        </p:attrNameLst>
                                      </p:cBhvr>
                                      <p:to>
                                        <p:strVal val="visible"/>
                                      </p:to>
                                    </p:set>
                                    <p:animEffect transition="in" filter="strips(downLeft)">
                                      <p:cBhvr>
                                        <p:cTn id="23" dur="500"/>
                                        <p:tgtEl>
                                          <p:spTgt spid="116"/>
                                        </p:tgtEl>
                                      </p:cBhvr>
                                    </p:animEffect>
                                  </p:childTnLst>
                                </p:cTn>
                              </p:par>
                              <p:par>
                                <p:cTn id="24" presetID="18" presetClass="entr" presetSubtype="12" fill="hold" grpId="0" nodeType="withEffect">
                                  <p:stCondLst>
                                    <p:cond delay="0"/>
                                  </p:stCondLst>
                                  <p:childTnLst>
                                    <p:set>
                                      <p:cBhvr>
                                        <p:cTn id="25" dur="1" fill="hold">
                                          <p:stCondLst>
                                            <p:cond delay="0"/>
                                          </p:stCondLst>
                                        </p:cTn>
                                        <p:tgtEl>
                                          <p:spTgt spid="117"/>
                                        </p:tgtEl>
                                        <p:attrNameLst>
                                          <p:attrName>style.visibility</p:attrName>
                                        </p:attrNameLst>
                                      </p:cBhvr>
                                      <p:to>
                                        <p:strVal val="visible"/>
                                      </p:to>
                                    </p:set>
                                    <p:animEffect transition="in" filter="strips(downLeft)">
                                      <p:cBhvr>
                                        <p:cTn id="26" dur="500"/>
                                        <p:tgtEl>
                                          <p:spTgt spid="117"/>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12" fill="hold" grpId="0" nodeType="clickEffect">
                                  <p:stCondLst>
                                    <p:cond delay="0"/>
                                  </p:stCondLst>
                                  <p:childTnLst>
                                    <p:set>
                                      <p:cBhvr>
                                        <p:cTn id="30" dur="1" fill="hold">
                                          <p:stCondLst>
                                            <p:cond delay="0"/>
                                          </p:stCondLst>
                                        </p:cTn>
                                        <p:tgtEl>
                                          <p:spTgt spid="118"/>
                                        </p:tgtEl>
                                        <p:attrNameLst>
                                          <p:attrName>style.visibility</p:attrName>
                                        </p:attrNameLst>
                                      </p:cBhvr>
                                      <p:to>
                                        <p:strVal val="visible"/>
                                      </p:to>
                                    </p:set>
                                    <p:animEffect transition="in" filter="strips(downLeft)">
                                      <p:cBhvr>
                                        <p:cTn id="31" dur="500"/>
                                        <p:tgtEl>
                                          <p:spTgt spid="118"/>
                                        </p:tgtEl>
                                      </p:cBhvr>
                                    </p:animEffect>
                                  </p:childTnLst>
                                </p:cTn>
                              </p:par>
                              <p:par>
                                <p:cTn id="32" presetID="18" presetClass="entr" presetSubtype="12" fill="hold" grpId="0" nodeType="withEffect">
                                  <p:stCondLst>
                                    <p:cond delay="0"/>
                                  </p:stCondLst>
                                  <p:childTnLst>
                                    <p:set>
                                      <p:cBhvr>
                                        <p:cTn id="33" dur="1" fill="hold">
                                          <p:stCondLst>
                                            <p:cond delay="0"/>
                                          </p:stCondLst>
                                        </p:cTn>
                                        <p:tgtEl>
                                          <p:spTgt spid="119"/>
                                        </p:tgtEl>
                                        <p:attrNameLst>
                                          <p:attrName>style.visibility</p:attrName>
                                        </p:attrNameLst>
                                      </p:cBhvr>
                                      <p:to>
                                        <p:strVal val="visible"/>
                                      </p:to>
                                    </p:set>
                                    <p:animEffect transition="in" filter="strips(downLeft)">
                                      <p:cBhvr>
                                        <p:cTn id="34" dur="500"/>
                                        <p:tgtEl>
                                          <p:spTgt spid="119"/>
                                        </p:tgtEl>
                                      </p:cBhvr>
                                    </p:animEffect>
                                  </p:childTnLst>
                                </p:cTn>
                              </p:par>
                            </p:childTnLst>
                          </p:cTn>
                        </p:par>
                      </p:childTnLst>
                    </p:cTn>
                  </p:par>
                  <p:par>
                    <p:cTn id="35" fill="hold">
                      <p:stCondLst>
                        <p:cond delay="indefinite"/>
                      </p:stCondLst>
                      <p:childTnLst>
                        <p:par>
                          <p:cTn id="36" fill="hold">
                            <p:stCondLst>
                              <p:cond delay="0"/>
                            </p:stCondLst>
                            <p:childTnLst>
                              <p:par>
                                <p:cTn id="37" presetID="18" presetClass="entr" presetSubtype="12" fill="hold" grpId="0" nodeType="clickEffect">
                                  <p:stCondLst>
                                    <p:cond delay="0"/>
                                  </p:stCondLst>
                                  <p:childTnLst>
                                    <p:set>
                                      <p:cBhvr>
                                        <p:cTn id="38" dur="1" fill="hold">
                                          <p:stCondLst>
                                            <p:cond delay="0"/>
                                          </p:stCondLst>
                                        </p:cTn>
                                        <p:tgtEl>
                                          <p:spTgt spid="120"/>
                                        </p:tgtEl>
                                        <p:attrNameLst>
                                          <p:attrName>style.visibility</p:attrName>
                                        </p:attrNameLst>
                                      </p:cBhvr>
                                      <p:to>
                                        <p:strVal val="visible"/>
                                      </p:to>
                                    </p:set>
                                    <p:animEffect transition="in" filter="strips(downLeft)">
                                      <p:cBhvr>
                                        <p:cTn id="39" dur="500"/>
                                        <p:tgtEl>
                                          <p:spTgt spid="120"/>
                                        </p:tgtEl>
                                      </p:cBhvr>
                                    </p:animEffect>
                                  </p:childTnLst>
                                </p:cTn>
                              </p:par>
                              <p:par>
                                <p:cTn id="40" presetID="18" presetClass="entr" presetSubtype="12" fill="hold" grpId="0" nodeType="withEffect">
                                  <p:stCondLst>
                                    <p:cond delay="0"/>
                                  </p:stCondLst>
                                  <p:childTnLst>
                                    <p:set>
                                      <p:cBhvr>
                                        <p:cTn id="41" dur="1" fill="hold">
                                          <p:stCondLst>
                                            <p:cond delay="0"/>
                                          </p:stCondLst>
                                        </p:cTn>
                                        <p:tgtEl>
                                          <p:spTgt spid="121"/>
                                        </p:tgtEl>
                                        <p:attrNameLst>
                                          <p:attrName>style.visibility</p:attrName>
                                        </p:attrNameLst>
                                      </p:cBhvr>
                                      <p:to>
                                        <p:strVal val="visible"/>
                                      </p:to>
                                    </p:set>
                                    <p:animEffect transition="in" filter="strips(downLeft)">
                                      <p:cBhvr>
                                        <p:cTn id="42" dur="500"/>
                                        <p:tgtEl>
                                          <p:spTgt spid="121"/>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12" fill="hold" grpId="0" nodeType="clickEffect">
                                  <p:stCondLst>
                                    <p:cond delay="0"/>
                                  </p:stCondLst>
                                  <p:childTnLst>
                                    <p:set>
                                      <p:cBhvr>
                                        <p:cTn id="46" dur="1" fill="hold">
                                          <p:stCondLst>
                                            <p:cond delay="0"/>
                                          </p:stCondLst>
                                        </p:cTn>
                                        <p:tgtEl>
                                          <p:spTgt spid="122"/>
                                        </p:tgtEl>
                                        <p:attrNameLst>
                                          <p:attrName>style.visibility</p:attrName>
                                        </p:attrNameLst>
                                      </p:cBhvr>
                                      <p:to>
                                        <p:strVal val="visible"/>
                                      </p:to>
                                    </p:set>
                                    <p:animEffect transition="in" filter="strips(downLeft)">
                                      <p:cBhvr>
                                        <p:cTn id="47" dur="500"/>
                                        <p:tgtEl>
                                          <p:spTgt spid="122"/>
                                        </p:tgtEl>
                                      </p:cBhvr>
                                    </p:animEffect>
                                  </p:childTnLst>
                                </p:cTn>
                              </p:par>
                              <p:par>
                                <p:cTn id="48" presetID="18" presetClass="entr" presetSubtype="12" fill="hold" grpId="0" nodeType="withEffect">
                                  <p:stCondLst>
                                    <p:cond delay="0"/>
                                  </p:stCondLst>
                                  <p:childTnLst>
                                    <p:set>
                                      <p:cBhvr>
                                        <p:cTn id="49" dur="1" fill="hold">
                                          <p:stCondLst>
                                            <p:cond delay="0"/>
                                          </p:stCondLst>
                                        </p:cTn>
                                        <p:tgtEl>
                                          <p:spTgt spid="123"/>
                                        </p:tgtEl>
                                        <p:attrNameLst>
                                          <p:attrName>style.visibility</p:attrName>
                                        </p:attrNameLst>
                                      </p:cBhvr>
                                      <p:to>
                                        <p:strVal val="visible"/>
                                      </p:to>
                                    </p:set>
                                    <p:animEffect transition="in" filter="strips(downLeft)">
                                      <p:cBhvr>
                                        <p:cTn id="50" dur="500"/>
                                        <p:tgtEl>
                                          <p:spTgt spid="123"/>
                                        </p:tgtEl>
                                      </p:cBhvr>
                                    </p:animEffect>
                                  </p:childTnLst>
                                </p:cTn>
                              </p:par>
                            </p:childTnLst>
                          </p:cTn>
                        </p:par>
                      </p:childTnLst>
                    </p:cTn>
                  </p:par>
                  <p:par>
                    <p:cTn id="51" fill="hold">
                      <p:stCondLst>
                        <p:cond delay="indefinite"/>
                      </p:stCondLst>
                      <p:childTnLst>
                        <p:par>
                          <p:cTn id="52" fill="hold">
                            <p:stCondLst>
                              <p:cond delay="0"/>
                            </p:stCondLst>
                            <p:childTnLst>
                              <p:par>
                                <p:cTn id="53" presetID="18" presetClass="entr" presetSubtype="12" fill="hold" grpId="0" nodeType="click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strips(downLeft)">
                                      <p:cBhvr>
                                        <p:cTn id="55" dur="500"/>
                                        <p:tgtEl>
                                          <p:spTgt spid="2"/>
                                        </p:tgtEl>
                                      </p:cBhvr>
                                    </p:animEffect>
                                  </p:childTnLst>
                                </p:cTn>
                              </p:par>
                              <p:par>
                                <p:cTn id="56" presetID="18" presetClass="entr" presetSubtype="12" fill="hold" grpId="0" nodeType="with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strips(downLeft)">
                                      <p:cBhvr>
                                        <p:cTn id="5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p:bldP spid="113" grpId="0"/>
      <p:bldP spid="112" grpId="1"/>
      <p:bldP spid="113" grpId="1"/>
      <p:bldP spid="114" grpId="0"/>
      <p:bldP spid="115" grpId="0"/>
      <p:bldP spid="114" grpId="1"/>
      <p:bldP spid="115" grpId="1"/>
      <p:bldP spid="116" grpId="0"/>
      <p:bldP spid="117" grpId="0"/>
      <p:bldP spid="116" grpId="1"/>
      <p:bldP spid="117" grpId="1"/>
      <p:bldP spid="118" grpId="0"/>
      <p:bldP spid="119" grpId="0"/>
      <p:bldP spid="118" grpId="1"/>
      <p:bldP spid="119" grpId="1"/>
      <p:bldP spid="120" grpId="0"/>
      <p:bldP spid="121" grpId="0"/>
      <p:bldP spid="120" grpId="1"/>
      <p:bldP spid="121" grpId="1"/>
      <p:bldP spid="122" grpId="0"/>
      <p:bldP spid="123" grpId="0"/>
      <p:bldP spid="122" grpId="1"/>
      <p:bldP spid="123" grpId="1"/>
      <p:bldP spid="2" grpId="0"/>
      <p:bldP spid="3" grpId="0"/>
      <p:bldP spid="2" grpId="1"/>
      <p:bldP spid="3" grpI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01" name="Shape 101"/>
        <p:cNvGrpSpPr/>
        <p:nvPr/>
      </p:nvGrpSpPr>
      <p:grpSpPr>
        <a:xfrm>
          <a:off x="0" y="0"/>
          <a:ext cx="0" cy="0"/>
          <a:chOff x="0" y="0"/>
          <a:chExt cx="0" cy="0"/>
        </a:xfrm>
      </p:grpSpPr>
      <p:pic>
        <p:nvPicPr>
          <p:cNvPr id="102" name="Google Shape;102;p14" descr="Empty office hall"/>
          <p:cNvPicPr preferRelativeResize="0"/>
          <p:nvPr>
            <p:custDataLst>
              <p:tags r:id="rId1"/>
            </p:custDataLst>
          </p:nvPr>
        </p:nvPicPr>
        <p:blipFill rotWithShape="1">
          <a:blip r:embed="rId2"/>
          <a:srcRect t="7802" b="7802"/>
          <a:stretch>
            <a:fillRect/>
          </a:stretch>
        </p:blipFill>
        <p:spPr>
          <a:xfrm>
            <a:off x="0" y="-15240"/>
            <a:ext cx="12192000" cy="6858000"/>
          </a:xfrm>
          <a:prstGeom prst="rect">
            <a:avLst/>
          </a:prstGeom>
          <a:noFill/>
          <a:ln>
            <a:noFill/>
          </a:ln>
        </p:spPr>
      </p:pic>
      <p:pic>
        <p:nvPicPr>
          <p:cNvPr id="103" name="Google Shape;103;p14" descr="image.png"/>
          <p:cNvPicPr preferRelativeResize="0"/>
          <p:nvPr/>
        </p:nvPicPr>
        <p:blipFill rotWithShape="1">
          <a:blip r:embed="rId3"/>
          <a:srcRect/>
          <a:stretch>
            <a:fillRect/>
          </a:stretch>
        </p:blipFill>
        <p:spPr>
          <a:xfrm>
            <a:off x="1809750" y="3248025"/>
            <a:ext cx="2730400" cy="1114425"/>
          </a:xfrm>
          <a:prstGeom prst="rect">
            <a:avLst/>
          </a:prstGeom>
          <a:noFill/>
          <a:ln>
            <a:noFill/>
          </a:ln>
        </p:spPr>
      </p:pic>
      <p:pic>
        <p:nvPicPr>
          <p:cNvPr id="104" name="Google Shape;104;p14" descr="image.png"/>
          <p:cNvPicPr preferRelativeResize="0"/>
          <p:nvPr/>
        </p:nvPicPr>
        <p:blipFill rotWithShape="1">
          <a:blip r:embed="rId4"/>
          <a:srcRect/>
          <a:stretch>
            <a:fillRect/>
          </a:stretch>
        </p:blipFill>
        <p:spPr>
          <a:xfrm>
            <a:off x="4730650" y="3248025"/>
            <a:ext cx="2730549" cy="1114425"/>
          </a:xfrm>
          <a:prstGeom prst="rect">
            <a:avLst/>
          </a:prstGeom>
          <a:noFill/>
          <a:ln>
            <a:noFill/>
          </a:ln>
        </p:spPr>
      </p:pic>
      <p:pic>
        <p:nvPicPr>
          <p:cNvPr id="105" name="Google Shape;105;p14" descr="image.png"/>
          <p:cNvPicPr preferRelativeResize="0"/>
          <p:nvPr/>
        </p:nvPicPr>
        <p:blipFill rotWithShape="1">
          <a:blip r:embed="rId3"/>
          <a:srcRect/>
          <a:stretch>
            <a:fillRect/>
          </a:stretch>
        </p:blipFill>
        <p:spPr>
          <a:xfrm>
            <a:off x="7651700" y="3248025"/>
            <a:ext cx="2730400" cy="1114425"/>
          </a:xfrm>
          <a:prstGeom prst="rect">
            <a:avLst/>
          </a:prstGeom>
          <a:noFill/>
          <a:ln>
            <a:noFill/>
          </a:ln>
        </p:spPr>
      </p:pic>
      <p:pic>
        <p:nvPicPr>
          <p:cNvPr id="106" name="Google Shape;106;p14" descr="image.png"/>
          <p:cNvPicPr preferRelativeResize="0"/>
          <p:nvPr/>
        </p:nvPicPr>
        <p:blipFill rotWithShape="1">
          <a:blip r:embed="rId5"/>
          <a:srcRect/>
          <a:stretch>
            <a:fillRect/>
          </a:stretch>
        </p:blipFill>
        <p:spPr>
          <a:xfrm>
            <a:off x="1809750" y="4552950"/>
            <a:ext cx="2730400" cy="942975"/>
          </a:xfrm>
          <a:prstGeom prst="rect">
            <a:avLst/>
          </a:prstGeom>
          <a:noFill/>
          <a:ln>
            <a:noFill/>
          </a:ln>
        </p:spPr>
      </p:pic>
      <p:pic>
        <p:nvPicPr>
          <p:cNvPr id="107" name="Google Shape;107;p14" descr="image.png"/>
          <p:cNvPicPr preferRelativeResize="0"/>
          <p:nvPr/>
        </p:nvPicPr>
        <p:blipFill rotWithShape="1">
          <a:blip r:embed="rId6"/>
          <a:srcRect/>
          <a:stretch>
            <a:fillRect/>
          </a:stretch>
        </p:blipFill>
        <p:spPr>
          <a:xfrm>
            <a:off x="4730650" y="4552950"/>
            <a:ext cx="2730549" cy="942975"/>
          </a:xfrm>
          <a:prstGeom prst="rect">
            <a:avLst/>
          </a:prstGeom>
          <a:noFill/>
          <a:ln>
            <a:noFill/>
          </a:ln>
        </p:spPr>
      </p:pic>
      <p:pic>
        <p:nvPicPr>
          <p:cNvPr id="108" name="Google Shape;108;p14" descr="image.png"/>
          <p:cNvPicPr preferRelativeResize="0"/>
          <p:nvPr/>
        </p:nvPicPr>
        <p:blipFill rotWithShape="1">
          <a:blip r:embed="rId5"/>
          <a:srcRect/>
          <a:stretch>
            <a:fillRect/>
          </a:stretch>
        </p:blipFill>
        <p:spPr>
          <a:xfrm>
            <a:off x="7651700" y="4552950"/>
            <a:ext cx="2730400" cy="942975"/>
          </a:xfrm>
          <a:prstGeom prst="rect">
            <a:avLst/>
          </a:prstGeom>
          <a:noFill/>
          <a:ln>
            <a:noFill/>
          </a:ln>
        </p:spPr>
      </p:pic>
      <p:pic>
        <p:nvPicPr>
          <p:cNvPr id="4" name="Google Shape;108;p14" descr="image.png"/>
          <p:cNvPicPr preferRelativeResize="0"/>
          <p:nvPr/>
        </p:nvPicPr>
        <p:blipFill rotWithShape="1">
          <a:blip r:embed="rId5"/>
          <a:srcRect/>
          <a:stretch>
            <a:fillRect/>
          </a:stretch>
        </p:blipFill>
        <p:spPr>
          <a:xfrm>
            <a:off x="4730700" y="5704840"/>
            <a:ext cx="2730400" cy="942975"/>
          </a:xfrm>
          <a:prstGeom prst="rect">
            <a:avLst/>
          </a:prstGeom>
          <a:noFill/>
          <a:ln>
            <a:noFill/>
          </a:ln>
        </p:spPr>
      </p:pic>
      <p:sp>
        <p:nvSpPr>
          <p:cNvPr id="142" name="Google Shape;142;p15"/>
          <p:cNvSpPr txBox="1"/>
          <p:nvPr/>
        </p:nvSpPr>
        <p:spPr>
          <a:xfrm>
            <a:off x="2336165" y="2966085"/>
            <a:ext cx="8163560" cy="751205"/>
          </a:xfrm>
          <a:prstGeom prst="rect">
            <a:avLst/>
          </a:prstGeom>
          <a:noFill/>
          <a:ln>
            <a:solidFill>
              <a:schemeClr val="tx1"/>
            </a:solidFill>
          </a:ln>
        </p:spPr>
        <p:txBody>
          <a:bodyPr spcFirstLastPara="1" wrap="square" lIns="0" tIns="0" rIns="0" bIns="0" anchor="t" anchorCtr="0">
            <a:noAutofit/>
          </a:bodyPr>
          <a:lstStyle/>
          <a:p>
            <a:pPr marL="0" marR="0" lvl="0" indent="0" algn="ctr" rtl="0">
              <a:lnSpc>
                <a:spcPct val="120000"/>
              </a:lnSpc>
              <a:spcBef>
                <a:spcPts val="0"/>
              </a:spcBef>
              <a:spcAft>
                <a:spcPts val="0"/>
              </a:spcAft>
              <a:buNone/>
            </a:pPr>
            <a:r>
              <a:rPr lang="en-US" sz="4000" b="1" i="0" cap="all">
                <a:solidFill>
                  <a:srgbClr val="1E293B"/>
                </a:solidFill>
                <a:uFillTx/>
                <a:latin typeface="Poppins" panose="00000500000000000000" charset="0"/>
                <a:ea typeface="Poppins" panose="00000500000000000000"/>
                <a:cs typeface="Poppins" panose="00000500000000000000"/>
                <a:sym typeface="Poppins" panose="00000500000000000000"/>
              </a:rPr>
              <a:t>Intro</a:t>
            </a:r>
            <a:r>
              <a:rPr lang="fr-FR" altLang="en-US" sz="4000" b="1" i="0" cap="all">
                <a:solidFill>
                  <a:srgbClr val="1E293B"/>
                </a:solidFill>
                <a:uFillTx/>
                <a:latin typeface="Poppins" panose="00000500000000000000" charset="0"/>
                <a:ea typeface="Poppins" panose="00000500000000000000"/>
                <a:cs typeface="Poppins" panose="00000500000000000000"/>
                <a:sym typeface="Poppins" panose="00000500000000000000"/>
              </a:rPr>
              <a:t>Du</a:t>
            </a:r>
            <a:r>
              <a:rPr lang="en-US" sz="4000" b="1" i="0" cap="all">
                <a:solidFill>
                  <a:srgbClr val="1E293B"/>
                </a:solidFill>
                <a:uFillTx/>
                <a:latin typeface="Poppins" panose="00000500000000000000" charset="0"/>
                <a:ea typeface="Poppins" panose="00000500000000000000"/>
                <a:cs typeface="Poppins" panose="00000500000000000000"/>
                <a:sym typeface="Poppins" panose="00000500000000000000"/>
              </a:rPr>
              <a:t>ction &amp; Contexte </a:t>
            </a:r>
            <a:endParaRPr lang="en-US" sz="4000" b="1" i="0" cap="all">
              <a:solidFill>
                <a:srgbClr val="1E293B"/>
              </a:solidFill>
              <a:uFillTx/>
              <a:latin typeface="Poppins" panose="00000500000000000000" charset="0"/>
              <a:ea typeface="Poppins" panose="00000500000000000000"/>
              <a:cs typeface="Poppins" panose="00000500000000000000"/>
              <a:sym typeface="Poppins" panose="00000500000000000000"/>
            </a:endParaRPr>
          </a:p>
        </p:txBody>
      </p:sp>
      <p:sp>
        <p:nvSpPr>
          <p:cNvPr id="135" name="Google Shape;135;p15"/>
          <p:cNvSpPr txBox="1"/>
          <p:nvPr/>
        </p:nvSpPr>
        <p:spPr>
          <a:xfrm>
            <a:off x="11503660" y="6286500"/>
            <a:ext cx="285750" cy="25717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i="0" u="none" strike="noStrike" cap="none">
                <a:solidFill>
                  <a:schemeClr val="tx1"/>
                </a:solidFill>
                <a:latin typeface="Lato" panose="020F0502020204030203"/>
                <a:ea typeface="Lato" panose="020F0502020204030203"/>
                <a:cs typeface="Lato" panose="020F0502020204030203"/>
                <a:sym typeface="Lato" panose="020F0502020204030203"/>
              </a:rPr>
              <a:t>0</a:t>
            </a:r>
            <a:r>
              <a:rPr lang="en-US" altLang="en-US" sz="1800" b="1" i="0" u="none" strike="noStrike" cap="none">
                <a:solidFill>
                  <a:schemeClr val="tx1"/>
                </a:solidFill>
                <a:latin typeface="Lato" panose="020F0502020204030203"/>
                <a:ea typeface="Lato" panose="020F0502020204030203"/>
                <a:cs typeface="Lato" panose="020F0502020204030203"/>
                <a:sym typeface="Lato" panose="020F0502020204030203"/>
              </a:rPr>
              <a:t>2</a:t>
            </a:r>
            <a:endParaRPr lang="en-US" altLang="en-US" sz="18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sp>
        <p:nvSpPr>
          <p:cNvPr id="134" name="Google Shape;134;p15"/>
          <p:cNvSpPr txBox="1"/>
          <p:nvPr/>
        </p:nvSpPr>
        <p:spPr>
          <a:xfrm>
            <a:off x="571500" y="6286500"/>
            <a:ext cx="3486150"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sz="12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27" name="Shape 127"/>
        <p:cNvGrpSpPr/>
        <p:nvPr/>
      </p:nvGrpSpPr>
      <p:grpSpPr>
        <a:xfrm>
          <a:off x="0" y="0"/>
          <a:ext cx="0" cy="0"/>
          <a:chOff x="0" y="0"/>
          <a:chExt cx="0" cy="0"/>
        </a:xfrm>
      </p:grpSpPr>
      <p:pic>
        <p:nvPicPr>
          <p:cNvPr id="128" name="Google Shape;128;p15"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132" name="Google Shape;132;p15"/>
          <p:cNvSpPr txBox="1"/>
          <p:nvPr/>
        </p:nvSpPr>
        <p:spPr>
          <a:xfrm>
            <a:off x="57150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133" name="Google Shape;133;p15"/>
          <p:cNvSpPr txBox="1"/>
          <p:nvPr/>
        </p:nvSpPr>
        <p:spPr>
          <a:xfrm>
            <a:off x="9491662" y="471487"/>
            <a:ext cx="2128837"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0" i="0" u="none" strike="noStrike" cap="none">
                <a:solidFill>
                  <a:srgbClr val="475569"/>
                </a:solidFill>
                <a:latin typeface="Lato" panose="020F0502020204030203"/>
                <a:ea typeface="Lato" panose="020F0502020204030203"/>
                <a:cs typeface="Lato" panose="020F0502020204030203"/>
                <a:sym typeface="Lato" panose="020F0502020204030203"/>
              </a:rPr>
              <a:t>CONTEXTE IMMOBILIER AU TOGO</a:t>
            </a:r>
            <a:endParaRPr lang="en-US" sz="975"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34" name="Google Shape;134;p15"/>
          <p:cNvSpPr txBox="1"/>
          <p:nvPr/>
        </p:nvSpPr>
        <p:spPr>
          <a:xfrm>
            <a:off x="571500" y="6286500"/>
            <a:ext cx="3486150"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sz="12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135" name="Google Shape;135;p15"/>
          <p:cNvSpPr txBox="1"/>
          <p:nvPr/>
        </p:nvSpPr>
        <p:spPr>
          <a:xfrm>
            <a:off x="11487150" y="6286500"/>
            <a:ext cx="440690" cy="142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i="0" u="none" strike="noStrike" cap="none">
                <a:solidFill>
                  <a:schemeClr val="tx1"/>
                </a:solidFill>
                <a:latin typeface="Lato" panose="020F0502020204030203"/>
                <a:ea typeface="Lato" panose="020F0502020204030203"/>
                <a:cs typeface="Lato" panose="020F0502020204030203"/>
                <a:sym typeface="Lato" panose="020F0502020204030203"/>
              </a:rPr>
              <a:t>03</a:t>
            </a:r>
            <a:endParaRPr lang="en-US" sz="18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pic>
        <p:nvPicPr>
          <p:cNvPr id="6" name="Picture 13" descr="image.png"/>
          <p:cNvPicPr>
            <a:picLocks noChangeAspect="1"/>
          </p:cNvPicPr>
          <p:nvPr/>
        </p:nvPicPr>
        <p:blipFill>
          <a:blip r:embed="rId3"/>
          <a:stretch>
            <a:fillRect/>
          </a:stretch>
        </p:blipFill>
        <p:spPr>
          <a:xfrm>
            <a:off x="6244590" y="1351280"/>
            <a:ext cx="5682615" cy="3832860"/>
          </a:xfrm>
          <a:prstGeom prst="rect">
            <a:avLst/>
          </a:prstGeom>
        </p:spPr>
      </p:pic>
      <p:sp>
        <p:nvSpPr>
          <p:cNvPr id="2" name="TextBox 14"/>
          <p:cNvSpPr txBox="1"/>
          <p:nvPr/>
        </p:nvSpPr>
        <p:spPr>
          <a:xfrm>
            <a:off x="695325" y="1456055"/>
            <a:ext cx="5014912" cy="778510"/>
          </a:xfrm>
          <a:prstGeom prst="rect">
            <a:avLst/>
          </a:prstGeom>
          <a:noFill/>
        </p:spPr>
        <p:txBody>
          <a:bodyPr wrap="square" lIns="0" tIns="0" rIns="0" bIns="0" anchor="t">
            <a:spAutoFit/>
          </a:bodyPr>
          <a:lstStyle/>
          <a:p>
            <a:pPr algn="just">
              <a:lnSpc>
                <a:spcPts val="2025"/>
              </a:lnSpc>
            </a:pPr>
            <a:r>
              <a:rPr sz="2400" b="1" i="0" u="none">
                <a:solidFill>
                  <a:srgbClr val="334155"/>
                </a:solidFill>
                <a:latin typeface="Times New Roman" panose="02020603050405020304" charset="0"/>
                <a:cs typeface="Times New Roman" panose="02020603050405020304" charset="0"/>
              </a:rPr>
              <a:t>Essor Urbain à Lomé</a:t>
            </a:r>
            <a:r>
              <a:rPr sz="1800" b="1" i="0" u="none">
                <a:solidFill>
                  <a:srgbClr val="334155"/>
                </a:solidFill>
                <a:latin typeface="Times New Roman" panose="02020603050405020304" charset="0"/>
                <a:cs typeface="Times New Roman" panose="02020603050405020304" charset="0"/>
              </a:rPr>
              <a:t> :</a:t>
            </a:r>
            <a:r>
              <a:rPr sz="1800" b="0" i="0" u="none">
                <a:solidFill>
                  <a:srgbClr val="334155"/>
                </a:solidFill>
                <a:latin typeface="Times New Roman" panose="02020603050405020304" charset="0"/>
                <a:cs typeface="Times New Roman" panose="02020603050405020304" charset="0"/>
              </a:rPr>
              <a:t> </a:t>
            </a:r>
            <a:r>
              <a:rPr sz="2000" b="0" i="0" u="none">
                <a:solidFill>
                  <a:srgbClr val="334155"/>
                </a:solidFill>
                <a:latin typeface="Times New Roman" panose="02020603050405020304" charset="0"/>
                <a:cs typeface="Times New Roman" panose="02020603050405020304" charset="0"/>
              </a:rPr>
              <a:t>Forte dynamique démographique </a:t>
            </a:r>
            <a:r>
              <a:rPr lang="fr-FR" sz="2000" b="0" i="0" u="none">
                <a:solidFill>
                  <a:srgbClr val="334155"/>
                </a:solidFill>
                <a:latin typeface="Times New Roman" panose="02020603050405020304" charset="0"/>
                <a:cs typeface="Times New Roman" panose="02020603050405020304" charset="0"/>
              </a:rPr>
              <a:t>caractérisée par </a:t>
            </a:r>
            <a:r>
              <a:rPr sz="2000" b="0" i="0" u="none">
                <a:solidFill>
                  <a:srgbClr val="334155"/>
                </a:solidFill>
                <a:latin typeface="Times New Roman" panose="02020603050405020304" charset="0"/>
                <a:cs typeface="Times New Roman" panose="02020603050405020304" charset="0"/>
              </a:rPr>
              <a:t>la multiplication</a:t>
            </a:r>
            <a:r>
              <a:rPr lang="fr-FR" sz="2000" b="0" i="0" u="none">
                <a:solidFill>
                  <a:srgbClr val="334155"/>
                </a:solidFill>
                <a:latin typeface="Times New Roman" panose="02020603050405020304" charset="0"/>
                <a:cs typeface="Times New Roman" panose="02020603050405020304" charset="0"/>
              </a:rPr>
              <a:t> d’immeubles et</a:t>
            </a:r>
            <a:r>
              <a:rPr sz="2000" b="0" i="0" u="none">
                <a:solidFill>
                  <a:srgbClr val="334155"/>
                </a:solidFill>
                <a:latin typeface="Times New Roman" panose="02020603050405020304" charset="0"/>
                <a:cs typeface="Times New Roman" panose="02020603050405020304" charset="0"/>
              </a:rPr>
              <a:t> </a:t>
            </a:r>
            <a:r>
              <a:rPr lang="fr-FR" sz="2000" b="0" i="0" u="none">
                <a:solidFill>
                  <a:srgbClr val="334155"/>
                </a:solidFill>
                <a:latin typeface="Times New Roman" panose="02020603050405020304" charset="0"/>
                <a:cs typeface="Times New Roman" panose="02020603050405020304" charset="0"/>
              </a:rPr>
              <a:t>des cours communes</a:t>
            </a:r>
            <a:r>
              <a:rPr sz="2000" b="0" i="0" u="none">
                <a:solidFill>
                  <a:srgbClr val="334155"/>
                </a:solidFill>
                <a:latin typeface="Times New Roman" panose="02020603050405020304" charset="0"/>
                <a:cs typeface="Times New Roman" panose="02020603050405020304" charset="0"/>
              </a:rPr>
              <a:t>.</a:t>
            </a:r>
            <a:endParaRPr sz="2000" b="0" i="0" u="none">
              <a:solidFill>
                <a:srgbClr val="334155"/>
              </a:solidFill>
              <a:latin typeface="Times New Roman" panose="02020603050405020304" charset="0"/>
              <a:cs typeface="Times New Roman" panose="02020603050405020304" charset="0"/>
            </a:endParaRPr>
          </a:p>
        </p:txBody>
      </p:sp>
      <p:sp>
        <p:nvSpPr>
          <p:cNvPr id="3" name="TextBox 15"/>
          <p:cNvSpPr txBox="1"/>
          <p:nvPr/>
        </p:nvSpPr>
        <p:spPr>
          <a:xfrm>
            <a:off x="571500" y="3060700"/>
            <a:ext cx="5014912" cy="1038225"/>
          </a:xfrm>
          <a:prstGeom prst="rect">
            <a:avLst/>
          </a:prstGeom>
          <a:noFill/>
        </p:spPr>
        <p:txBody>
          <a:bodyPr wrap="square" lIns="0" tIns="0" rIns="0" bIns="0" anchor="t">
            <a:spAutoFit/>
          </a:bodyPr>
          <a:lstStyle/>
          <a:p>
            <a:pPr algn="just">
              <a:lnSpc>
                <a:spcPts val="2025"/>
              </a:lnSpc>
            </a:pPr>
            <a:r>
              <a:rPr sz="2800" b="1" i="0" u="none">
                <a:solidFill>
                  <a:srgbClr val="334155"/>
                </a:solidFill>
                <a:latin typeface="Times New Roman" panose="02020603050405020304" charset="0"/>
                <a:cs typeface="Times New Roman" panose="02020603050405020304" charset="0"/>
              </a:rPr>
              <a:t>Décalage Technologique</a:t>
            </a:r>
            <a:r>
              <a:rPr sz="2000" b="1" i="0" u="none">
                <a:solidFill>
                  <a:srgbClr val="334155"/>
                </a:solidFill>
                <a:latin typeface="Times New Roman" panose="02020603050405020304" charset="0"/>
                <a:cs typeface="Times New Roman" panose="02020603050405020304" charset="0"/>
              </a:rPr>
              <a:t> :</a:t>
            </a:r>
            <a:r>
              <a:rPr sz="2000" b="0" i="0" u="none">
                <a:solidFill>
                  <a:srgbClr val="334155"/>
                </a:solidFill>
                <a:latin typeface="Times New Roman" panose="02020603050405020304" charset="0"/>
                <a:cs typeface="Times New Roman" panose="02020603050405020304" charset="0"/>
              </a:rPr>
              <a:t> Prédominance </a:t>
            </a:r>
            <a:r>
              <a:rPr lang="fr-FR" sz="2000" b="0" i="0" u="none">
                <a:solidFill>
                  <a:srgbClr val="334155"/>
                </a:solidFill>
                <a:latin typeface="Times New Roman" panose="02020603050405020304" charset="0"/>
                <a:cs typeface="Times New Roman" panose="02020603050405020304" charset="0"/>
              </a:rPr>
              <a:t>de l’utilisation des </a:t>
            </a:r>
            <a:r>
              <a:rPr sz="2000" b="0" i="0" u="none">
                <a:solidFill>
                  <a:srgbClr val="334155"/>
                </a:solidFill>
                <a:latin typeface="Times New Roman" panose="02020603050405020304" charset="0"/>
                <a:cs typeface="Times New Roman" panose="02020603050405020304" charset="0"/>
              </a:rPr>
              <a:t>registres </a:t>
            </a:r>
            <a:r>
              <a:rPr lang="fr-FR" sz="2000" b="0" i="0" u="none">
                <a:solidFill>
                  <a:srgbClr val="334155"/>
                </a:solidFill>
                <a:latin typeface="Times New Roman" panose="02020603050405020304" charset="0"/>
                <a:cs typeface="Times New Roman" panose="02020603050405020304" charset="0"/>
              </a:rPr>
              <a:t>papiers </a:t>
            </a:r>
            <a:r>
              <a:rPr sz="2000" b="0" i="0" u="none">
                <a:solidFill>
                  <a:srgbClr val="334155"/>
                </a:solidFill>
                <a:latin typeface="Times New Roman" panose="02020603050405020304" charset="0"/>
                <a:cs typeface="Times New Roman" panose="02020603050405020304" charset="0"/>
              </a:rPr>
              <a:t>malgré la digitalisation croissante de la société.</a:t>
            </a:r>
            <a:endParaRPr sz="2000" b="0" i="0" u="none">
              <a:solidFill>
                <a:srgbClr val="334155"/>
              </a:solidFill>
              <a:latin typeface="Times New Roman" panose="02020603050405020304" charset="0"/>
              <a:cs typeface="Times New Roman" panose="02020603050405020304" charset="0"/>
            </a:endParaRPr>
          </a:p>
        </p:txBody>
      </p:sp>
      <p:sp>
        <p:nvSpPr>
          <p:cNvPr id="4" name="TextBox 16"/>
          <p:cNvSpPr txBox="1"/>
          <p:nvPr/>
        </p:nvSpPr>
        <p:spPr>
          <a:xfrm>
            <a:off x="590550" y="4925060"/>
            <a:ext cx="5014912" cy="259080"/>
          </a:xfrm>
          <a:prstGeom prst="rect">
            <a:avLst/>
          </a:prstGeom>
          <a:noFill/>
        </p:spPr>
        <p:txBody>
          <a:bodyPr wrap="square" lIns="0" tIns="0" rIns="0" bIns="0" anchor="t">
            <a:spAutoFit/>
          </a:bodyPr>
          <a:lstStyle/>
          <a:p>
            <a:pPr algn="just">
              <a:lnSpc>
                <a:spcPts val="2025"/>
              </a:lnSpc>
            </a:pPr>
            <a:r>
              <a:rPr lang="fr-FR" sz="2000" b="1" i="0" u="none">
                <a:solidFill>
                  <a:srgbClr val="334155"/>
                </a:solidFill>
                <a:latin typeface="Lato" panose="020F0502020204030203"/>
              </a:rPr>
              <a:t>Adhésion massive au </a:t>
            </a:r>
            <a:r>
              <a:rPr sz="2000" b="1" i="0" u="none">
                <a:solidFill>
                  <a:srgbClr val="334155"/>
                </a:solidFill>
                <a:latin typeface="Lato" panose="020F0502020204030203"/>
              </a:rPr>
              <a:t>Mobile Money</a:t>
            </a:r>
            <a:r>
              <a:rPr sz="1600" b="1" i="0" u="none">
                <a:solidFill>
                  <a:srgbClr val="334155"/>
                </a:solidFill>
                <a:latin typeface="Lato" panose="020F0502020204030203"/>
              </a:rPr>
              <a:t> </a:t>
            </a:r>
            <a:r>
              <a:rPr sz="1600" b="0" i="0" u="none">
                <a:solidFill>
                  <a:srgbClr val="334155"/>
                </a:solidFill>
                <a:latin typeface="Lato" panose="020F0502020204030203"/>
              </a:rPr>
              <a:t>.</a:t>
            </a:r>
            <a:endParaRPr sz="1600" b="0" i="0" u="none">
              <a:solidFill>
                <a:srgbClr val="334155"/>
              </a:solidFill>
              <a:latin typeface="Lato" panose="020F0502020204030203"/>
            </a:endParaRPr>
          </a:p>
        </p:txBody>
      </p:sp>
      <p:pic>
        <p:nvPicPr>
          <p:cNvPr id="5" name="Picture 23" descr="image.png"/>
          <p:cNvPicPr>
            <a:picLocks noChangeAspect="1"/>
          </p:cNvPicPr>
          <p:nvPr/>
        </p:nvPicPr>
        <p:blipFill>
          <a:blip r:embed="rId4"/>
          <a:stretch>
            <a:fillRect/>
          </a:stretch>
        </p:blipFill>
        <p:spPr>
          <a:xfrm>
            <a:off x="352425" y="1479867"/>
            <a:ext cx="238125" cy="200025"/>
          </a:xfrm>
          <a:prstGeom prst="rect">
            <a:avLst/>
          </a:prstGeom>
        </p:spPr>
      </p:pic>
      <p:pic>
        <p:nvPicPr>
          <p:cNvPr id="25" name="Picture 24" descr="image.png"/>
          <p:cNvPicPr>
            <a:picLocks noChangeAspect="1"/>
          </p:cNvPicPr>
          <p:nvPr/>
        </p:nvPicPr>
        <p:blipFill>
          <a:blip r:embed="rId5"/>
          <a:stretch>
            <a:fillRect/>
          </a:stretch>
        </p:blipFill>
        <p:spPr>
          <a:xfrm>
            <a:off x="228600" y="3084512"/>
            <a:ext cx="190500" cy="200025"/>
          </a:xfrm>
          <a:prstGeom prst="rect">
            <a:avLst/>
          </a:prstGeom>
        </p:spPr>
      </p:pic>
      <p:pic>
        <p:nvPicPr>
          <p:cNvPr id="26" name="Picture 25" descr="image.png"/>
          <p:cNvPicPr>
            <a:picLocks noChangeAspect="1"/>
          </p:cNvPicPr>
          <p:nvPr/>
        </p:nvPicPr>
        <p:blipFill>
          <a:blip r:embed="rId6"/>
          <a:stretch>
            <a:fillRect/>
          </a:stretch>
        </p:blipFill>
        <p:spPr>
          <a:xfrm>
            <a:off x="247650" y="4948872"/>
            <a:ext cx="123825" cy="2000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4"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down)">
                                      <p:cBhvr>
                                        <p:cTn id="15" dur="500"/>
                                        <p:tgtEl>
                                          <p:spTgt spid="3"/>
                                        </p:tgtEl>
                                      </p:cBhvr>
                                    </p:animEffect>
                                  </p:childTnLst>
                                </p:cTn>
                              </p:par>
                              <p:par>
                                <p:cTn id="16" presetID="22" presetClass="entr" presetSubtype="4" fill="hold"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ipe(down)">
                                      <p:cBhvr>
                                        <p:cTn id="18" dur="50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down)">
                                      <p:cBhvr>
                                        <p:cTn id="23" dur="500"/>
                                        <p:tgtEl>
                                          <p:spTgt spid="4"/>
                                        </p:tgtEl>
                                      </p:cBhvr>
                                    </p:animEffect>
                                  </p:childTnLst>
                                </p:cTn>
                              </p:par>
                              <p:par>
                                <p:cTn id="24" presetID="22" presetClass="entr" presetSubtype="4" fill="hold"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wipe(down)">
                                      <p:cBhvr>
                                        <p:cTn id="2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P spid="4" grpId="0"/>
      <p:bldP spid="4" grpId="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46" name="Shape 146"/>
        <p:cNvGrpSpPr/>
        <p:nvPr/>
      </p:nvGrpSpPr>
      <p:grpSpPr>
        <a:xfrm>
          <a:off x="0" y="0"/>
          <a:ext cx="0" cy="0"/>
          <a:chOff x="0" y="0"/>
          <a:chExt cx="0" cy="0"/>
        </a:xfrm>
      </p:grpSpPr>
      <p:pic>
        <p:nvPicPr>
          <p:cNvPr id="147" name="Google Shape;147;p16"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150" name="Google Shape;150;p16"/>
          <p:cNvSpPr txBox="1"/>
          <p:nvPr/>
        </p:nvSpPr>
        <p:spPr>
          <a:xfrm>
            <a:off x="57150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Times New Roman" panose="02020603050405020304" charset="0"/>
                <a:ea typeface="Poppins" panose="00000500000000000000"/>
                <a:cs typeface="Times New Roman" panose="02020603050405020304" charset="0"/>
                <a:sym typeface="Poppins" panose="00000500000000000000"/>
              </a:rPr>
              <a:t>RENTAL</a:t>
            </a:r>
            <a:endParaRPr lang="en-US" sz="1200" b="1" i="0" u="none" strike="noStrike" cap="none">
              <a:solidFill>
                <a:srgbClr val="3B82F6"/>
              </a:solidFill>
              <a:latin typeface="Times New Roman" panose="02020603050405020304" charset="0"/>
              <a:ea typeface="Poppins" panose="00000500000000000000"/>
              <a:cs typeface="Times New Roman" panose="02020603050405020304" charset="0"/>
              <a:sym typeface="Poppins" panose="00000500000000000000"/>
            </a:endParaRPr>
          </a:p>
        </p:txBody>
      </p:sp>
      <p:sp>
        <p:nvSpPr>
          <p:cNvPr id="151" name="Google Shape;151;p16"/>
          <p:cNvSpPr txBox="1"/>
          <p:nvPr/>
        </p:nvSpPr>
        <p:spPr>
          <a:xfrm>
            <a:off x="9948862" y="471487"/>
            <a:ext cx="1671637"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0" i="0" u="none" strike="noStrike" cap="none">
                <a:solidFill>
                  <a:srgbClr val="475569"/>
                </a:solidFill>
                <a:latin typeface="Times New Roman" panose="02020603050405020304" charset="0"/>
                <a:ea typeface="Lato" panose="020F0502020204030203"/>
                <a:cs typeface="Times New Roman" panose="02020603050405020304" charset="0"/>
                <a:sym typeface="Lato" panose="020F0502020204030203"/>
              </a:rPr>
              <a:t>LES LIMITATIONS MÉTIERS</a:t>
            </a:r>
            <a:endParaRPr lang="en-US" sz="975" b="0" i="0" u="none" strike="noStrike" cap="none">
              <a:solidFill>
                <a:srgbClr val="475569"/>
              </a:solidFill>
              <a:latin typeface="Times New Roman" panose="02020603050405020304" charset="0"/>
              <a:ea typeface="Lato" panose="020F0502020204030203"/>
              <a:cs typeface="Times New Roman" panose="02020603050405020304" charset="0"/>
              <a:sym typeface="Lato" panose="020F0502020204030203"/>
            </a:endParaRPr>
          </a:p>
        </p:txBody>
      </p:sp>
      <p:sp>
        <p:nvSpPr>
          <p:cNvPr id="152" name="Google Shape;152;p16"/>
          <p:cNvSpPr txBox="1"/>
          <p:nvPr/>
        </p:nvSpPr>
        <p:spPr>
          <a:xfrm>
            <a:off x="571500" y="6286500"/>
            <a:ext cx="3486150"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Lato" panose="020F0502020204030203" charset="0"/>
                <a:ea typeface="Lato" panose="020F0502020204030203"/>
                <a:cs typeface="Lato" panose="020F0502020204030203" charset="0"/>
                <a:sym typeface="Lato" panose="020F0502020204030203"/>
              </a:rPr>
              <a:t>Ipnet Institute of Technology — Soutenance de Licence Professionnelle</a:t>
            </a:r>
            <a:endParaRPr lang="en-US" sz="1200" b="0" i="0" u="none" strike="noStrike" cap="none">
              <a:solidFill>
                <a:srgbClr val="475569"/>
              </a:solidFill>
              <a:latin typeface="Lato" panose="020F0502020204030203" charset="0"/>
              <a:ea typeface="Lato" panose="020F0502020204030203"/>
              <a:cs typeface="Lato" panose="020F0502020204030203" charset="0"/>
              <a:sym typeface="Lato" panose="020F0502020204030203"/>
            </a:endParaRPr>
          </a:p>
        </p:txBody>
      </p:sp>
      <p:sp>
        <p:nvSpPr>
          <p:cNvPr id="153" name="Google Shape;153;p16"/>
          <p:cNvSpPr txBox="1"/>
          <p:nvPr/>
        </p:nvSpPr>
        <p:spPr>
          <a:xfrm>
            <a:off x="11487150" y="6286500"/>
            <a:ext cx="356870" cy="4527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i="0" u="none" strike="noStrike" cap="none">
                <a:solidFill>
                  <a:schemeClr val="tx1"/>
                </a:solidFill>
                <a:latin typeface="Lato" panose="020F0502020204030203" charset="0"/>
                <a:ea typeface="Lato" panose="020F0502020204030203"/>
                <a:cs typeface="Lato" panose="020F0502020204030203" charset="0"/>
                <a:sym typeface="Lato" panose="020F0502020204030203"/>
              </a:rPr>
              <a:t>04</a:t>
            </a:r>
            <a:endParaRPr lang="en-US" sz="1800" b="1" i="0" u="none" strike="noStrike" cap="none">
              <a:solidFill>
                <a:schemeClr val="tx1"/>
              </a:solidFill>
              <a:latin typeface="Lato" panose="020F0502020204030203" charset="0"/>
              <a:ea typeface="Lato" panose="020F0502020204030203"/>
              <a:cs typeface="Lato" panose="020F0502020204030203" charset="0"/>
              <a:sym typeface="Lato" panose="020F0502020204030203"/>
            </a:endParaRPr>
          </a:p>
        </p:txBody>
      </p:sp>
      <p:sp>
        <p:nvSpPr>
          <p:cNvPr id="6" name="Zone de texte 5"/>
          <p:cNvSpPr txBox="1"/>
          <p:nvPr/>
        </p:nvSpPr>
        <p:spPr>
          <a:xfrm>
            <a:off x="2323465" y="2414905"/>
            <a:ext cx="8166735" cy="1399540"/>
          </a:xfrm>
          <a:prstGeom prst="rect">
            <a:avLst/>
          </a:prstGeom>
          <a:noFill/>
          <a:ln>
            <a:solidFill>
              <a:schemeClr val="tx1"/>
            </a:solidFill>
          </a:ln>
        </p:spPr>
        <p:txBody>
          <a:bodyPr wrap="square" rtlCol="0" anchor="t">
            <a:noAutofit/>
          </a:bodyPr>
          <a:p>
            <a:pPr marL="0" indent="0" algn="ctr">
              <a:lnSpc>
                <a:spcPct val="105000"/>
              </a:lnSpc>
              <a:buNone/>
            </a:pPr>
            <a:r>
              <a:rPr lang="en-US" sz="6600" b="1" cap="all">
                <a:solidFill>
                  <a:srgbClr val="1E293B"/>
                </a:solidFill>
                <a:uFillTx/>
                <a:latin typeface="Times New Roman" panose="02020603050405020304" charset="0"/>
                <a:ea typeface="Poppins" panose="00000500000000000000"/>
                <a:cs typeface="Times New Roman" panose="02020603050405020304" charset="0"/>
                <a:sym typeface="Poppins" panose="00000500000000000000"/>
              </a:rPr>
              <a:t>Pro</a:t>
            </a:r>
            <a:r>
              <a:rPr lang="fr-FR" altLang="en-US" sz="6600" b="1" cap="all">
                <a:solidFill>
                  <a:srgbClr val="1E293B"/>
                </a:solidFill>
                <a:uFillTx/>
                <a:latin typeface="Times New Roman" panose="02020603050405020304" charset="0"/>
                <a:ea typeface="Poppins" panose="00000500000000000000"/>
                <a:cs typeface="Times New Roman" panose="02020603050405020304" charset="0"/>
                <a:sym typeface="Poppins" panose="00000500000000000000"/>
              </a:rPr>
              <a:t>blématique</a:t>
            </a:r>
            <a:endParaRPr lang="fr-FR" altLang="en-US" sz="6600" b="1" cap="all" dirty="0">
              <a:solidFill>
                <a:srgbClr val="1E293B"/>
              </a:solidFill>
              <a:uFillTx/>
              <a:latin typeface="Times New Roman" panose="02020603050405020304" charset="0"/>
              <a:ea typeface="Poppins" panose="00000500000000000000"/>
              <a:cs typeface="Times New Roman" panose="02020603050405020304" charset="0"/>
              <a:sym typeface="Poppins" panose="00000500000000000000"/>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46" name="Shape 146"/>
        <p:cNvGrpSpPr/>
        <p:nvPr/>
      </p:nvGrpSpPr>
      <p:grpSpPr>
        <a:xfrm>
          <a:off x="0" y="0"/>
          <a:ext cx="0" cy="0"/>
          <a:chOff x="0" y="0"/>
          <a:chExt cx="0" cy="0"/>
        </a:xfrm>
      </p:grpSpPr>
      <p:pic>
        <p:nvPicPr>
          <p:cNvPr id="147" name="Google Shape;147;p16"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150" name="Google Shape;150;p16"/>
          <p:cNvSpPr txBox="1"/>
          <p:nvPr/>
        </p:nvSpPr>
        <p:spPr>
          <a:xfrm>
            <a:off x="57150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Times New Roman" panose="02020603050405020304" charset="0"/>
                <a:ea typeface="Poppins" panose="00000500000000000000"/>
                <a:cs typeface="Times New Roman" panose="02020603050405020304" charset="0"/>
                <a:sym typeface="Poppins" panose="00000500000000000000"/>
              </a:rPr>
              <a:t>RENTAL</a:t>
            </a:r>
            <a:endParaRPr lang="en-US" sz="1200" b="1" i="0" u="none" strike="noStrike" cap="none">
              <a:solidFill>
                <a:srgbClr val="3B82F6"/>
              </a:solidFill>
              <a:latin typeface="Times New Roman" panose="02020603050405020304" charset="0"/>
              <a:ea typeface="Poppins" panose="00000500000000000000"/>
              <a:cs typeface="Times New Roman" panose="02020603050405020304" charset="0"/>
              <a:sym typeface="Poppins" panose="00000500000000000000"/>
            </a:endParaRPr>
          </a:p>
        </p:txBody>
      </p:sp>
      <p:sp>
        <p:nvSpPr>
          <p:cNvPr id="152" name="Google Shape;152;p16"/>
          <p:cNvSpPr txBox="1"/>
          <p:nvPr/>
        </p:nvSpPr>
        <p:spPr>
          <a:xfrm>
            <a:off x="571500" y="6286500"/>
            <a:ext cx="3486150"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Lato" panose="020F0502020204030203" charset="0"/>
                <a:ea typeface="Lato" panose="020F0502020204030203"/>
                <a:cs typeface="Lato" panose="020F0502020204030203" charset="0"/>
                <a:sym typeface="Lato" panose="020F0502020204030203"/>
              </a:rPr>
              <a:t>Ipnet Institute of Technology — Soutenance de Licence Professionnelle</a:t>
            </a:r>
            <a:endParaRPr lang="en-US" sz="1200" b="0" i="0" u="none" strike="noStrike" cap="none">
              <a:solidFill>
                <a:srgbClr val="475569"/>
              </a:solidFill>
              <a:latin typeface="Lato" panose="020F0502020204030203" charset="0"/>
              <a:ea typeface="Lato" panose="020F0502020204030203"/>
              <a:cs typeface="Lato" panose="020F0502020204030203" charset="0"/>
              <a:sym typeface="Lato" panose="020F0502020204030203"/>
            </a:endParaRPr>
          </a:p>
        </p:txBody>
      </p:sp>
      <p:sp>
        <p:nvSpPr>
          <p:cNvPr id="153" name="Google Shape;153;p16"/>
          <p:cNvSpPr txBox="1"/>
          <p:nvPr/>
        </p:nvSpPr>
        <p:spPr>
          <a:xfrm>
            <a:off x="11487150" y="6286500"/>
            <a:ext cx="369570" cy="14287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i="0" u="none" strike="noStrike" cap="none">
                <a:solidFill>
                  <a:schemeClr val="tx1"/>
                </a:solidFill>
                <a:latin typeface="Lato" panose="020F0502020204030203" charset="0"/>
                <a:ea typeface="Lato" panose="020F0502020204030203"/>
                <a:cs typeface="Lato" panose="020F0502020204030203" charset="0"/>
                <a:sym typeface="Lato" panose="020F0502020204030203"/>
              </a:rPr>
              <a:t>0</a:t>
            </a:r>
            <a:r>
              <a:rPr lang="en-US" altLang="en-US" sz="1800" b="1" i="0" u="none" strike="noStrike" cap="none">
                <a:solidFill>
                  <a:schemeClr val="tx1"/>
                </a:solidFill>
                <a:latin typeface="Lato" panose="020F0502020204030203" charset="0"/>
                <a:ea typeface="Lato" panose="020F0502020204030203"/>
                <a:cs typeface="Lato" panose="020F0502020204030203" charset="0"/>
                <a:sym typeface="Lato" panose="020F0502020204030203"/>
              </a:rPr>
              <a:t>5</a:t>
            </a:r>
            <a:endParaRPr lang="en-US" altLang="en-US" sz="1800" b="1" i="0" u="none" strike="noStrike" cap="none">
              <a:solidFill>
                <a:schemeClr val="tx1"/>
              </a:solidFill>
              <a:latin typeface="Lato" panose="020F0502020204030203" charset="0"/>
              <a:ea typeface="Lato" panose="020F0502020204030203"/>
              <a:cs typeface="Lato" panose="020F0502020204030203" charset="0"/>
              <a:sym typeface="Lato" panose="020F0502020204030203"/>
            </a:endParaRPr>
          </a:p>
        </p:txBody>
      </p:sp>
      <p:sp>
        <p:nvSpPr>
          <p:cNvPr id="21" name="Shape 0"/>
          <p:cNvSpPr/>
          <p:nvPr/>
        </p:nvSpPr>
        <p:spPr>
          <a:xfrm>
            <a:off x="571500" y="1266190"/>
            <a:ext cx="3291840" cy="384048"/>
          </a:xfrm>
          <a:prstGeom prst="roundRect">
            <a:avLst>
              <a:gd name="adj" fmla="val 50000"/>
            </a:avLst>
          </a:prstGeom>
          <a:solidFill>
            <a:schemeClr val="bg2">
              <a:lumMod val="60000"/>
              <a:lumOff val="40000"/>
            </a:schemeClr>
          </a:solidFill>
        </p:spPr>
      </p:sp>
      <p:sp>
        <p:nvSpPr>
          <p:cNvPr id="22" name="Text 1"/>
          <p:cNvSpPr/>
          <p:nvPr/>
        </p:nvSpPr>
        <p:spPr>
          <a:xfrm>
            <a:off x="571500" y="1266190"/>
            <a:ext cx="3291840" cy="384048"/>
          </a:xfrm>
          <a:prstGeom prst="rect">
            <a:avLst/>
          </a:prstGeom>
          <a:noFill/>
        </p:spPr>
        <p:txBody>
          <a:bodyPr wrap="square" rtlCol="0" anchor="ctr"/>
          <a:lstStyle/>
          <a:p>
            <a:pPr marL="0" indent="0" algn="ctr">
              <a:buNone/>
            </a:pPr>
            <a:r>
              <a:rPr lang="en-US" sz="1200" b="1" kern="0" spc="200" dirty="0">
                <a:solidFill>
                  <a:srgbClr val="FFFFFF"/>
                </a:solidFill>
                <a:latin typeface="Times New Roman" panose="02020603050405020304" charset="0"/>
                <a:ea typeface="Calibri" panose="020F0502020204030204" pitchFamily="34" charset="-122"/>
                <a:cs typeface="Times New Roman" panose="02020603050405020304" charset="0"/>
              </a:rPr>
              <a:t>ARCHIVAGE PAPIER</a:t>
            </a:r>
            <a:endParaRPr lang="en-US" sz="1200" b="1" kern="0" spc="200"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23" name="Text 2"/>
          <p:cNvSpPr/>
          <p:nvPr/>
        </p:nvSpPr>
        <p:spPr>
          <a:xfrm>
            <a:off x="571500" y="1860550"/>
            <a:ext cx="6766560" cy="1005840"/>
          </a:xfrm>
          <a:prstGeom prst="rect">
            <a:avLst/>
          </a:prstGeom>
          <a:noFill/>
        </p:spPr>
        <p:txBody>
          <a:bodyPr wrap="square" rtlCol="0" anchor="ctr"/>
          <a:lstStyle/>
          <a:p>
            <a:pPr marL="0" indent="0">
              <a:lnSpc>
                <a:spcPct val="105000"/>
              </a:lnSpc>
              <a:buNone/>
            </a:pPr>
            <a:r>
              <a:rPr lang="en-US" sz="3000" b="1" dirty="0">
                <a:solidFill>
                  <a:srgbClr val="1B2A4A"/>
                </a:solidFill>
                <a:latin typeface="Times New Roman" panose="02020603050405020304" charset="0"/>
                <a:ea typeface="Cambria" panose="02040503050406030204" pitchFamily="34" charset="-122"/>
                <a:cs typeface="Times New Roman" panose="02020603050405020304" charset="0"/>
              </a:rPr>
              <a:t>Pertes d'informations </a:t>
            </a:r>
            <a:endParaRPr lang="en-US" sz="3000" b="1" dirty="0">
              <a:solidFill>
                <a:srgbClr val="1B2A4A"/>
              </a:solidFill>
              <a:latin typeface="Times New Roman" panose="02020603050405020304" charset="0"/>
              <a:ea typeface="Cambria" panose="02040503050406030204" pitchFamily="34" charset="-122"/>
              <a:cs typeface="Times New Roman" panose="02020603050405020304" charset="0"/>
            </a:endParaRPr>
          </a:p>
        </p:txBody>
      </p:sp>
      <p:sp>
        <p:nvSpPr>
          <p:cNvPr id="24" name="Text 3"/>
          <p:cNvSpPr/>
          <p:nvPr/>
        </p:nvSpPr>
        <p:spPr>
          <a:xfrm>
            <a:off x="571500" y="3003550"/>
            <a:ext cx="6309360" cy="1188720"/>
          </a:xfrm>
          <a:prstGeom prst="rect">
            <a:avLst/>
          </a:prstGeom>
          <a:noFill/>
        </p:spPr>
        <p:txBody>
          <a:bodyPr wrap="square" rtlCol="0" anchor="ctr"/>
          <a:lstStyle/>
          <a:p>
            <a:pPr marL="0" indent="0">
              <a:lnSpc>
                <a:spcPct val="135000"/>
              </a:lnSpc>
              <a:buNone/>
            </a:pPr>
            <a:r>
              <a:rPr lang="en-US" sz="2000" dirty="0">
                <a:solidFill>
                  <a:schemeClr val="tx1"/>
                </a:solidFill>
                <a:latin typeface="Times New Roman" panose="02020603050405020304" charset="0"/>
                <a:ea typeface="Calibri" panose="020F0502020204030204" pitchFamily="34" charset="-122"/>
                <a:cs typeface="Times New Roman" panose="02020603050405020304" charset="0"/>
              </a:rPr>
              <a:t>L'archivage sur carnets papier ou registres physiques expose à d'importants risques d'altération et de destruction accidentelle.</a:t>
            </a:r>
            <a:endParaRPr lang="en-US" sz="20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25" name="Shape 4"/>
          <p:cNvSpPr/>
          <p:nvPr/>
        </p:nvSpPr>
        <p:spPr>
          <a:xfrm>
            <a:off x="571500" y="4512310"/>
            <a:ext cx="6309360" cy="1417320"/>
          </a:xfrm>
          <a:prstGeom prst="roundRect">
            <a:avLst>
              <a:gd name="adj" fmla="val 5161"/>
            </a:avLst>
          </a:prstGeom>
          <a:solidFill>
            <a:srgbClr val="F2F4F8"/>
          </a:solidFill>
        </p:spPr>
      </p:sp>
      <p:sp>
        <p:nvSpPr>
          <p:cNvPr id="26" name="Text 5"/>
          <p:cNvSpPr/>
          <p:nvPr/>
        </p:nvSpPr>
        <p:spPr>
          <a:xfrm>
            <a:off x="571500" y="4695190"/>
            <a:ext cx="2743200" cy="274320"/>
          </a:xfrm>
          <a:prstGeom prst="rect">
            <a:avLst/>
          </a:prstGeom>
          <a:noFill/>
        </p:spPr>
        <p:txBody>
          <a:bodyPr wrap="square" rtlCol="0" anchor="ctr"/>
          <a:lstStyle/>
          <a:p>
            <a:pPr marL="0" indent="0">
              <a:buNone/>
            </a:pPr>
            <a:r>
              <a:rPr lang="en-US" sz="1800" b="1" kern="0" spc="150" dirty="0">
                <a:solidFill>
                  <a:srgbClr val="C1443B"/>
                </a:solidFill>
                <a:latin typeface="Times New Roman" panose="02020603050405020304" charset="0"/>
                <a:ea typeface="Calibri" panose="020F0502020204030204" pitchFamily="34" charset="-122"/>
                <a:cs typeface="Times New Roman" panose="02020603050405020304" charset="0"/>
              </a:rPr>
              <a:t>RISQUE</a:t>
            </a:r>
            <a:endParaRPr lang="en-US" sz="1800" b="1" kern="0" spc="150" dirty="0">
              <a:solidFill>
                <a:srgbClr val="C1443B"/>
              </a:solidFill>
              <a:latin typeface="Times New Roman" panose="02020603050405020304" charset="0"/>
              <a:ea typeface="Calibri" panose="020F0502020204030204" pitchFamily="34" charset="-122"/>
              <a:cs typeface="Times New Roman" panose="02020603050405020304" charset="0"/>
            </a:endParaRPr>
          </a:p>
        </p:txBody>
      </p:sp>
      <p:sp>
        <p:nvSpPr>
          <p:cNvPr id="27" name="Text 6"/>
          <p:cNvSpPr/>
          <p:nvPr/>
        </p:nvSpPr>
        <p:spPr>
          <a:xfrm>
            <a:off x="571500" y="4969510"/>
            <a:ext cx="5760720" cy="868680"/>
          </a:xfrm>
          <a:prstGeom prst="rect">
            <a:avLst/>
          </a:prstGeom>
          <a:noFill/>
        </p:spPr>
        <p:txBody>
          <a:bodyPr wrap="square" rtlCol="0" anchor="ctr"/>
          <a:lstStyle/>
          <a:p>
            <a:pPr marL="0" indent="0">
              <a:lnSpc>
                <a:spcPct val="125000"/>
              </a:lnSpc>
              <a:buNone/>
            </a:pPr>
            <a:r>
              <a:rPr lang="en-US" sz="2000" dirty="0">
                <a:solidFill>
                  <a:srgbClr val="1B2A4A"/>
                </a:solidFill>
                <a:latin typeface="Times New Roman" panose="02020603050405020304" charset="0"/>
                <a:ea typeface="Calibri" panose="020F0502020204030204" pitchFamily="34" charset="-122"/>
                <a:cs typeface="Times New Roman" panose="02020603050405020304" charset="0"/>
              </a:rPr>
              <a:t>Perte définitive et irréversible des données de l'activité aucune sauvegarde, aucune traçabilité.</a:t>
            </a:r>
            <a:endParaRPr lang="en-US" sz="2000" dirty="0">
              <a:solidFill>
                <a:srgbClr val="1B2A4A"/>
              </a:solidFill>
              <a:latin typeface="Times New Roman" panose="02020603050405020304" charset="0"/>
              <a:ea typeface="Calibri" panose="020F0502020204030204" pitchFamily="34" charset="-122"/>
              <a:cs typeface="Times New Roman" panose="02020603050405020304" charset="0"/>
            </a:endParaRPr>
          </a:p>
        </p:txBody>
      </p:sp>
      <p:sp>
        <p:nvSpPr>
          <p:cNvPr id="28" name="Shape 7"/>
          <p:cNvSpPr/>
          <p:nvPr/>
        </p:nvSpPr>
        <p:spPr>
          <a:xfrm>
            <a:off x="7703820" y="2180590"/>
            <a:ext cx="3108960" cy="1965960"/>
          </a:xfrm>
          <a:prstGeom prst="roundRect">
            <a:avLst>
              <a:gd name="adj" fmla="val 2791"/>
            </a:avLst>
          </a:prstGeom>
          <a:solidFill>
            <a:srgbClr val="F2F4F8"/>
          </a:solidFill>
          <a:ln w="9525">
            <a:solidFill>
              <a:srgbClr val="C3CADA"/>
            </a:solidFill>
            <a:prstDash val="solid"/>
          </a:ln>
        </p:spPr>
      </p:sp>
      <p:sp>
        <p:nvSpPr>
          <p:cNvPr id="29" name="Shape 8"/>
          <p:cNvSpPr/>
          <p:nvPr/>
        </p:nvSpPr>
        <p:spPr>
          <a:xfrm>
            <a:off x="7904988" y="2436622"/>
            <a:ext cx="3108960" cy="1965960"/>
          </a:xfrm>
          <a:prstGeom prst="roundRect">
            <a:avLst>
              <a:gd name="adj" fmla="val 2791"/>
            </a:avLst>
          </a:prstGeom>
          <a:solidFill>
            <a:srgbClr val="E3E7EF"/>
          </a:solidFill>
          <a:ln w="9525">
            <a:solidFill>
              <a:srgbClr val="C3CADA"/>
            </a:solidFill>
            <a:prstDash val="solid"/>
          </a:ln>
        </p:spPr>
      </p:sp>
      <p:sp>
        <p:nvSpPr>
          <p:cNvPr id="30" name="Shape 9"/>
          <p:cNvSpPr/>
          <p:nvPr/>
        </p:nvSpPr>
        <p:spPr>
          <a:xfrm>
            <a:off x="8106156" y="2692654"/>
            <a:ext cx="3108960" cy="1965960"/>
          </a:xfrm>
          <a:prstGeom prst="roundRect">
            <a:avLst>
              <a:gd name="adj" fmla="val 2791"/>
            </a:avLst>
          </a:prstGeom>
          <a:solidFill>
            <a:srgbClr val="D5DAE6"/>
          </a:solidFill>
          <a:ln w="9525">
            <a:solidFill>
              <a:srgbClr val="C3CADA"/>
            </a:solidFill>
            <a:prstDash val="solid"/>
          </a:ln>
          <a:effectLst>
            <a:outerShdw blurRad="76200" dist="38100" dir="5400000" algn="bl" rotWithShape="0">
              <a:srgbClr val="666677">
                <a:alpha val="25000"/>
              </a:srgbClr>
            </a:outerShdw>
          </a:effectLst>
        </p:spPr>
      </p:sp>
      <p:sp>
        <p:nvSpPr>
          <p:cNvPr id="31" name="Shape 10"/>
          <p:cNvSpPr/>
          <p:nvPr/>
        </p:nvSpPr>
        <p:spPr>
          <a:xfrm>
            <a:off x="8023860" y="2564638"/>
            <a:ext cx="2468880" cy="0"/>
          </a:xfrm>
          <a:prstGeom prst="line">
            <a:avLst/>
          </a:prstGeom>
          <a:noFill/>
          <a:ln w="12700">
            <a:solidFill>
              <a:srgbClr val="AEB7C7"/>
            </a:solidFill>
            <a:prstDash val="solid"/>
          </a:ln>
        </p:spPr>
      </p:sp>
      <p:sp>
        <p:nvSpPr>
          <p:cNvPr id="32" name="Shape 11"/>
          <p:cNvSpPr/>
          <p:nvPr/>
        </p:nvSpPr>
        <p:spPr>
          <a:xfrm>
            <a:off x="8023860" y="2857246"/>
            <a:ext cx="2468880" cy="0"/>
          </a:xfrm>
          <a:prstGeom prst="line">
            <a:avLst/>
          </a:prstGeom>
          <a:noFill/>
          <a:ln w="12700">
            <a:solidFill>
              <a:srgbClr val="AEB7C7"/>
            </a:solidFill>
            <a:prstDash val="solid"/>
          </a:ln>
        </p:spPr>
      </p:sp>
      <p:sp>
        <p:nvSpPr>
          <p:cNvPr id="33" name="Shape 12"/>
          <p:cNvSpPr/>
          <p:nvPr/>
        </p:nvSpPr>
        <p:spPr>
          <a:xfrm>
            <a:off x="8023860" y="3149854"/>
            <a:ext cx="2468880" cy="0"/>
          </a:xfrm>
          <a:prstGeom prst="line">
            <a:avLst/>
          </a:prstGeom>
          <a:noFill/>
          <a:ln w="12700">
            <a:solidFill>
              <a:srgbClr val="AEB7C7"/>
            </a:solidFill>
            <a:prstDash val="solid"/>
          </a:ln>
        </p:spPr>
      </p:sp>
      <p:sp>
        <p:nvSpPr>
          <p:cNvPr id="34" name="Shape 13"/>
          <p:cNvSpPr/>
          <p:nvPr/>
        </p:nvSpPr>
        <p:spPr>
          <a:xfrm>
            <a:off x="8023860" y="3442462"/>
            <a:ext cx="2468880" cy="0"/>
          </a:xfrm>
          <a:prstGeom prst="line">
            <a:avLst/>
          </a:prstGeom>
          <a:noFill/>
          <a:ln w="12700">
            <a:solidFill>
              <a:srgbClr val="AEB7C7"/>
            </a:solidFill>
            <a:prstDash val="solid"/>
          </a:ln>
        </p:spPr>
      </p:sp>
      <p:sp>
        <p:nvSpPr>
          <p:cNvPr id="35" name="Shape 14"/>
          <p:cNvSpPr/>
          <p:nvPr/>
        </p:nvSpPr>
        <p:spPr>
          <a:xfrm>
            <a:off x="8023860" y="3735070"/>
            <a:ext cx="2468880" cy="0"/>
          </a:xfrm>
          <a:prstGeom prst="line">
            <a:avLst/>
          </a:prstGeom>
          <a:noFill/>
          <a:ln w="12700">
            <a:solidFill>
              <a:srgbClr val="AEB7C7"/>
            </a:solidFill>
            <a:prstDash val="solid"/>
          </a:ln>
        </p:spPr>
      </p:sp>
      <p:sp>
        <p:nvSpPr>
          <p:cNvPr id="36" name="Shape 15"/>
          <p:cNvSpPr/>
          <p:nvPr/>
        </p:nvSpPr>
        <p:spPr>
          <a:xfrm rot="-1080000" flipV="1">
            <a:off x="7566660" y="3597910"/>
            <a:ext cx="3657600" cy="822960"/>
          </a:xfrm>
          <a:prstGeom prst="line">
            <a:avLst/>
          </a:prstGeom>
          <a:noFill/>
          <a:ln w="28575">
            <a:solidFill>
              <a:srgbClr val="C1443B"/>
            </a:solidFill>
            <a:prstDash val="solid"/>
          </a:ln>
        </p:spPr>
      </p:sp>
      <p:sp>
        <p:nvSpPr>
          <p:cNvPr id="37" name="Shape 16"/>
          <p:cNvSpPr/>
          <p:nvPr/>
        </p:nvSpPr>
        <p:spPr>
          <a:xfrm>
            <a:off x="10035540" y="1860550"/>
            <a:ext cx="960120" cy="960120"/>
          </a:xfrm>
          <a:prstGeom prst="ellipse">
            <a:avLst/>
          </a:prstGeom>
          <a:solidFill>
            <a:schemeClr val="bg1"/>
          </a:solidFill>
        </p:spPr>
      </p:sp>
      <p:pic>
        <p:nvPicPr>
          <p:cNvPr id="38" name="Image 0" descr="icon-file-warning.png"/>
          <p:cNvPicPr>
            <a:picLocks noChangeAspect="1"/>
          </p:cNvPicPr>
          <p:nvPr/>
        </p:nvPicPr>
        <p:blipFill>
          <a:blip r:embed="rId3"/>
          <a:stretch>
            <a:fillRect/>
          </a:stretch>
        </p:blipFill>
        <p:spPr>
          <a:xfrm>
            <a:off x="10251567" y="2076577"/>
            <a:ext cx="528066" cy="52806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46" name="Shape 146"/>
        <p:cNvGrpSpPr/>
        <p:nvPr/>
      </p:nvGrpSpPr>
      <p:grpSpPr>
        <a:xfrm>
          <a:off x="0" y="0"/>
          <a:ext cx="0" cy="0"/>
          <a:chOff x="0" y="0"/>
          <a:chExt cx="0" cy="0"/>
        </a:xfrm>
      </p:grpSpPr>
      <p:pic>
        <p:nvPicPr>
          <p:cNvPr id="147" name="Google Shape;147;p16"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150" name="Google Shape;150;p16"/>
          <p:cNvSpPr txBox="1"/>
          <p:nvPr/>
        </p:nvSpPr>
        <p:spPr>
          <a:xfrm>
            <a:off x="57150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Times New Roman" panose="02020603050405020304" charset="0"/>
                <a:ea typeface="Poppins" panose="00000500000000000000"/>
                <a:cs typeface="Times New Roman" panose="02020603050405020304" charset="0"/>
                <a:sym typeface="Poppins" panose="00000500000000000000"/>
              </a:rPr>
              <a:t>RENTAL</a:t>
            </a:r>
            <a:endParaRPr lang="en-US" sz="1200" b="1" i="0" u="none" strike="noStrike" cap="none">
              <a:solidFill>
                <a:srgbClr val="3B82F6"/>
              </a:solidFill>
              <a:latin typeface="Times New Roman" panose="02020603050405020304" charset="0"/>
              <a:ea typeface="Poppins" panose="00000500000000000000"/>
              <a:cs typeface="Times New Roman" panose="02020603050405020304" charset="0"/>
              <a:sym typeface="Poppins" panose="00000500000000000000"/>
            </a:endParaRPr>
          </a:p>
        </p:txBody>
      </p:sp>
      <p:sp>
        <p:nvSpPr>
          <p:cNvPr id="152" name="Google Shape;152;p16"/>
          <p:cNvSpPr txBox="1"/>
          <p:nvPr/>
        </p:nvSpPr>
        <p:spPr>
          <a:xfrm>
            <a:off x="571500" y="6365240"/>
            <a:ext cx="3486150"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Lato" panose="020F0502020204030203" charset="0"/>
                <a:ea typeface="Lato" panose="020F0502020204030203"/>
                <a:cs typeface="Lato" panose="020F0502020204030203" charset="0"/>
                <a:sym typeface="Lato" panose="020F0502020204030203"/>
              </a:rPr>
              <a:t>Ipnet Institute of Technology — Soutenance de Licence Professionnelle</a:t>
            </a:r>
            <a:endParaRPr lang="en-US" sz="1200" b="0" i="0" u="none" strike="noStrike" cap="none">
              <a:solidFill>
                <a:srgbClr val="475569"/>
              </a:solidFill>
              <a:latin typeface="Lato" panose="020F0502020204030203" charset="0"/>
              <a:ea typeface="Lato" panose="020F0502020204030203"/>
              <a:cs typeface="Lato" panose="020F0502020204030203" charset="0"/>
              <a:sym typeface="Lato" panose="020F0502020204030203"/>
            </a:endParaRPr>
          </a:p>
        </p:txBody>
      </p:sp>
      <p:sp>
        <p:nvSpPr>
          <p:cNvPr id="153" name="Google Shape;153;p16"/>
          <p:cNvSpPr txBox="1"/>
          <p:nvPr/>
        </p:nvSpPr>
        <p:spPr>
          <a:xfrm>
            <a:off x="11487150" y="6286500"/>
            <a:ext cx="379730" cy="2768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chemeClr val="tx1"/>
                </a:solidFill>
                <a:latin typeface="Lato" panose="020F0502020204030203" charset="0"/>
                <a:ea typeface="Lato" panose="020F0502020204030203"/>
                <a:cs typeface="Lato" panose="020F0502020204030203" charset="0"/>
                <a:sym typeface="Lato" panose="020F0502020204030203"/>
              </a:rPr>
              <a:t>0</a:t>
            </a:r>
            <a:r>
              <a:rPr lang="en-US" altLang="en-US" sz="1800" b="1" i="0" u="none" strike="noStrike" cap="none">
                <a:solidFill>
                  <a:schemeClr val="tx1"/>
                </a:solidFill>
                <a:latin typeface="Lato" panose="020F0502020204030203" charset="0"/>
                <a:ea typeface="Lato" panose="020F0502020204030203"/>
                <a:cs typeface="Lato" panose="020F0502020204030203" charset="0"/>
                <a:sym typeface="Lato" panose="020F0502020204030203"/>
              </a:rPr>
              <a:t>6</a:t>
            </a:r>
            <a:endParaRPr lang="en-US" altLang="en-US" sz="1800" b="1" i="0" u="none" strike="noStrike" cap="none">
              <a:solidFill>
                <a:schemeClr val="tx1"/>
              </a:solidFill>
              <a:latin typeface="Lato" panose="020F0502020204030203" charset="0"/>
              <a:ea typeface="Lato" panose="020F0502020204030203"/>
              <a:cs typeface="Lato" panose="020F0502020204030203" charset="0"/>
              <a:sym typeface="Lato" panose="020F0502020204030203"/>
            </a:endParaRPr>
          </a:p>
        </p:txBody>
      </p:sp>
      <p:sp>
        <p:nvSpPr>
          <p:cNvPr id="2" name="Shape 0"/>
          <p:cNvSpPr/>
          <p:nvPr/>
        </p:nvSpPr>
        <p:spPr>
          <a:xfrm>
            <a:off x="765810" y="1078230"/>
            <a:ext cx="3291840" cy="384048"/>
          </a:xfrm>
          <a:prstGeom prst="roundRect">
            <a:avLst>
              <a:gd name="adj" fmla="val 50000"/>
            </a:avLst>
          </a:prstGeom>
          <a:solidFill>
            <a:schemeClr val="bg2">
              <a:lumMod val="60000"/>
              <a:lumOff val="40000"/>
            </a:schemeClr>
          </a:solidFill>
        </p:spPr>
      </p:sp>
      <p:sp>
        <p:nvSpPr>
          <p:cNvPr id="3" name="Text 1"/>
          <p:cNvSpPr/>
          <p:nvPr/>
        </p:nvSpPr>
        <p:spPr>
          <a:xfrm>
            <a:off x="873760" y="1078230"/>
            <a:ext cx="3291840" cy="384048"/>
          </a:xfrm>
          <a:prstGeom prst="rect">
            <a:avLst/>
          </a:prstGeom>
          <a:noFill/>
        </p:spPr>
        <p:txBody>
          <a:bodyPr wrap="square" rtlCol="0" anchor="ctr"/>
          <a:lstStyle/>
          <a:p>
            <a:pPr marL="0" indent="0" algn="ctr">
              <a:buNone/>
            </a:pPr>
            <a:r>
              <a:rPr lang="en-US" sz="1200" b="1" kern="0" spc="200" dirty="0">
                <a:solidFill>
                  <a:srgbClr val="FFFFFF"/>
                </a:solidFill>
                <a:latin typeface="Times New Roman" panose="02020603050405020304" charset="0"/>
                <a:ea typeface="Calibri" panose="020F0502020204030204" pitchFamily="34" charset="-122"/>
                <a:cs typeface="Times New Roman" panose="02020603050405020304" charset="0"/>
              </a:rPr>
              <a:t>TRÉSORERIE</a:t>
            </a:r>
            <a:endParaRPr lang="en-US" sz="1200" b="1" kern="0" spc="200"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4" name="Text 2"/>
          <p:cNvSpPr/>
          <p:nvPr/>
        </p:nvSpPr>
        <p:spPr>
          <a:xfrm>
            <a:off x="640080" y="1714500"/>
            <a:ext cx="6766560" cy="751205"/>
          </a:xfrm>
          <a:prstGeom prst="rect">
            <a:avLst/>
          </a:prstGeom>
          <a:noFill/>
        </p:spPr>
        <p:txBody>
          <a:bodyPr wrap="square" rtlCol="0" anchor="ctr"/>
          <a:lstStyle/>
          <a:p>
            <a:pPr marL="0" indent="0">
              <a:lnSpc>
                <a:spcPct val="105000"/>
              </a:lnSpc>
              <a:buNone/>
            </a:pPr>
            <a:r>
              <a:rPr lang="en-US" sz="3000" b="1" dirty="0">
                <a:solidFill>
                  <a:srgbClr val="1B2A4A"/>
                </a:solidFill>
                <a:latin typeface="Times New Roman" panose="02020603050405020304" charset="0"/>
                <a:ea typeface="Cambria" panose="02040503050406030204" pitchFamily="34" charset="-122"/>
                <a:cs typeface="Times New Roman" panose="02020603050405020304" charset="0"/>
              </a:rPr>
              <a:t>R</a:t>
            </a:r>
            <a:r>
              <a:rPr lang="fr-FR" altLang="en-US" sz="3000" b="1" dirty="0">
                <a:solidFill>
                  <a:srgbClr val="1B2A4A"/>
                </a:solidFill>
                <a:latin typeface="Times New Roman" panose="02020603050405020304" charset="0"/>
                <a:ea typeface="Cambria" panose="02040503050406030204" pitchFamily="34" charset="-122"/>
                <a:cs typeface="Times New Roman" panose="02020603050405020304" charset="0"/>
              </a:rPr>
              <a:t>ecouvrement de loyer</a:t>
            </a:r>
            <a:r>
              <a:rPr lang="en-US" sz="3000" b="1" dirty="0">
                <a:solidFill>
                  <a:srgbClr val="1B2A4A"/>
                </a:solidFill>
                <a:latin typeface="Times New Roman" panose="02020603050405020304" charset="0"/>
                <a:ea typeface="Cambria" panose="02040503050406030204" pitchFamily="34" charset="-122"/>
                <a:cs typeface="Times New Roman" panose="02020603050405020304" charset="0"/>
              </a:rPr>
              <a:t> </a:t>
            </a:r>
            <a:endParaRPr lang="en-US" sz="3000" dirty="0">
              <a:latin typeface="Times New Roman" panose="02020603050405020304" charset="0"/>
              <a:cs typeface="Times New Roman" panose="02020603050405020304" charset="0"/>
            </a:endParaRPr>
          </a:p>
        </p:txBody>
      </p:sp>
      <p:sp>
        <p:nvSpPr>
          <p:cNvPr id="5" name="Text 3"/>
          <p:cNvSpPr/>
          <p:nvPr/>
        </p:nvSpPr>
        <p:spPr>
          <a:xfrm>
            <a:off x="640080" y="2523490"/>
            <a:ext cx="6309360" cy="1704975"/>
          </a:xfrm>
          <a:prstGeom prst="rect">
            <a:avLst/>
          </a:prstGeom>
          <a:noFill/>
        </p:spPr>
        <p:txBody>
          <a:bodyPr wrap="square" rtlCol="0" anchor="ctr"/>
          <a:lstStyle/>
          <a:p>
            <a:pPr marL="0" indent="0">
              <a:lnSpc>
                <a:spcPct val="135000"/>
              </a:lnSpc>
              <a:buNone/>
            </a:pPr>
            <a:r>
              <a:rPr lang="en-US" altLang="fr-FR" sz="2000" dirty="0">
                <a:solidFill>
                  <a:schemeClr val="tx1"/>
                </a:solidFill>
                <a:latin typeface="Times New Roman" panose="02020603050405020304" charset="0"/>
                <a:ea typeface="Calibri" panose="020F0502020204030204" pitchFamily="34" charset="-122"/>
                <a:cs typeface="Times New Roman" panose="02020603050405020304" charset="0"/>
              </a:rPr>
              <a:t>La persistance du r</a:t>
            </a:r>
            <a:r>
              <a:rPr lang="en-US" altLang="en-US" sz="2000" dirty="0">
                <a:solidFill>
                  <a:schemeClr val="tx1"/>
                </a:solidFill>
                <a:latin typeface="Times New Roman" panose="02020603050405020304" charset="0"/>
                <a:ea typeface="Calibri" panose="020F0502020204030204" pitchFamily="34" charset="-122"/>
                <a:cs typeface="Times New Roman" panose="02020603050405020304" charset="0"/>
              </a:rPr>
              <a:t>è</a:t>
            </a:r>
            <a:r>
              <a:rPr lang="en-US" altLang="fr-FR" sz="2000" dirty="0">
                <a:solidFill>
                  <a:schemeClr val="tx1"/>
                </a:solidFill>
                <a:latin typeface="Times New Roman" panose="02020603050405020304" charset="0"/>
                <a:ea typeface="Calibri" panose="020F0502020204030204" pitchFamily="34" charset="-122"/>
                <a:cs typeface="Times New Roman" panose="02020603050405020304" charset="0"/>
              </a:rPr>
              <a:t>glement des loyers de main à main (informel), alors m</a:t>
            </a:r>
            <a:r>
              <a:rPr lang="en-US" altLang="en-US" sz="2000" dirty="0">
                <a:solidFill>
                  <a:schemeClr val="tx1"/>
                </a:solidFill>
                <a:latin typeface="Times New Roman" panose="02020603050405020304" charset="0"/>
                <a:ea typeface="Calibri" panose="020F0502020204030204" pitchFamily="34" charset="-122"/>
                <a:cs typeface="Times New Roman" panose="02020603050405020304" charset="0"/>
              </a:rPr>
              <a:t>ê</a:t>
            </a:r>
            <a:r>
              <a:rPr lang="en-US" altLang="fr-FR" sz="2000" dirty="0">
                <a:solidFill>
                  <a:schemeClr val="tx1"/>
                </a:solidFill>
                <a:latin typeface="Times New Roman" panose="02020603050405020304" charset="0"/>
                <a:ea typeface="Calibri" panose="020F0502020204030204" pitchFamily="34" charset="-122"/>
                <a:cs typeface="Times New Roman" panose="02020603050405020304" charset="0"/>
              </a:rPr>
              <a:t>me qu'il existe une forte adh</a:t>
            </a:r>
            <a:r>
              <a:rPr lang="en-US" altLang="en-US" sz="2000" dirty="0">
                <a:solidFill>
                  <a:schemeClr val="tx1"/>
                </a:solidFill>
                <a:latin typeface="Times New Roman" panose="02020603050405020304" charset="0"/>
                <a:ea typeface="Calibri" panose="020F0502020204030204" pitchFamily="34" charset="-122"/>
                <a:cs typeface="Times New Roman" panose="02020603050405020304" charset="0"/>
              </a:rPr>
              <a:t>é</a:t>
            </a:r>
            <a:r>
              <a:rPr lang="en-US" altLang="fr-FR" sz="2000" dirty="0">
                <a:solidFill>
                  <a:schemeClr val="tx1"/>
                </a:solidFill>
                <a:latin typeface="Times New Roman" panose="02020603050405020304" charset="0"/>
                <a:ea typeface="Calibri" panose="020F0502020204030204" pitchFamily="34" charset="-122"/>
                <a:cs typeface="Times New Roman" panose="02020603050405020304" charset="0"/>
              </a:rPr>
              <a:t>sion des populations aux solutions de Mobile Money</a:t>
            </a:r>
            <a:r>
              <a:rPr lang="en-US" sz="2000" dirty="0">
                <a:solidFill>
                  <a:schemeClr val="tx1"/>
                </a:solidFill>
                <a:latin typeface="Times New Roman" panose="02020603050405020304" charset="0"/>
                <a:ea typeface="Calibri" panose="020F0502020204030204" pitchFamily="34" charset="-122"/>
                <a:cs typeface="Times New Roman" panose="02020603050405020304" charset="0"/>
              </a:rPr>
              <a:t>.</a:t>
            </a:r>
            <a:endParaRPr lang="en-US" sz="20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6" name="Shape 4"/>
          <p:cNvSpPr/>
          <p:nvPr/>
        </p:nvSpPr>
        <p:spPr>
          <a:xfrm>
            <a:off x="640080" y="4459605"/>
            <a:ext cx="6309360" cy="1674495"/>
          </a:xfrm>
          <a:prstGeom prst="roundRect">
            <a:avLst>
              <a:gd name="adj" fmla="val 5161"/>
            </a:avLst>
          </a:prstGeom>
          <a:solidFill>
            <a:srgbClr val="F2F4F8"/>
          </a:solidFill>
        </p:spPr>
      </p:sp>
      <p:sp>
        <p:nvSpPr>
          <p:cNvPr id="7" name="Text 5"/>
          <p:cNvSpPr/>
          <p:nvPr/>
        </p:nvSpPr>
        <p:spPr>
          <a:xfrm>
            <a:off x="640080" y="4549140"/>
            <a:ext cx="2743200" cy="274320"/>
          </a:xfrm>
          <a:prstGeom prst="rect">
            <a:avLst/>
          </a:prstGeom>
          <a:noFill/>
        </p:spPr>
        <p:txBody>
          <a:bodyPr wrap="square" rtlCol="0" anchor="ctr"/>
          <a:lstStyle/>
          <a:p>
            <a:pPr marL="0" indent="0">
              <a:buNone/>
            </a:pPr>
            <a:r>
              <a:rPr lang="en-US" sz="1800" b="1" kern="0" spc="150" dirty="0">
                <a:solidFill>
                  <a:srgbClr val="C1443B"/>
                </a:solidFill>
                <a:latin typeface="Times New Roman" panose="02020603050405020304" charset="0"/>
                <a:ea typeface="Calibri" panose="020F0502020204030204" pitchFamily="34" charset="-122"/>
                <a:cs typeface="Times New Roman" panose="02020603050405020304" charset="0"/>
              </a:rPr>
              <a:t>IMPACT</a:t>
            </a:r>
            <a:endParaRPr lang="en-US" sz="1800" b="1" kern="0" spc="150" dirty="0">
              <a:solidFill>
                <a:srgbClr val="C1443B"/>
              </a:solidFill>
              <a:latin typeface="Times New Roman" panose="02020603050405020304" charset="0"/>
              <a:ea typeface="Calibri" panose="020F0502020204030204" pitchFamily="34" charset="-122"/>
              <a:cs typeface="Times New Roman" panose="02020603050405020304" charset="0"/>
            </a:endParaRPr>
          </a:p>
        </p:txBody>
      </p:sp>
      <p:sp>
        <p:nvSpPr>
          <p:cNvPr id="8" name="Text 6"/>
          <p:cNvSpPr/>
          <p:nvPr/>
        </p:nvSpPr>
        <p:spPr>
          <a:xfrm>
            <a:off x="640080" y="4823460"/>
            <a:ext cx="5760720" cy="1174115"/>
          </a:xfrm>
          <a:prstGeom prst="rect">
            <a:avLst/>
          </a:prstGeom>
          <a:noFill/>
        </p:spPr>
        <p:txBody>
          <a:bodyPr wrap="square" rtlCol="0" anchor="ctr"/>
          <a:lstStyle/>
          <a:p>
            <a:pPr marL="0" indent="0">
              <a:lnSpc>
                <a:spcPct val="125000"/>
              </a:lnSpc>
              <a:buNone/>
            </a:pPr>
            <a:r>
              <a:rPr lang="en-US" altLang="fr-FR" sz="2000" dirty="0">
                <a:solidFill>
                  <a:srgbClr val="1B2A4A"/>
                </a:solidFill>
                <a:latin typeface="Times New Roman" panose="02020603050405020304" charset="0"/>
                <a:ea typeface="Calibri" panose="020F0502020204030204" pitchFamily="34" charset="-122"/>
                <a:cs typeface="Times New Roman" panose="02020603050405020304" charset="0"/>
              </a:rPr>
              <a:t>Risques financiers et administratifs : Absence de preuves num</a:t>
            </a:r>
            <a:r>
              <a:rPr lang="en-US" altLang="en-US" sz="2000" dirty="0">
                <a:solidFill>
                  <a:srgbClr val="1B2A4A"/>
                </a:solidFill>
                <a:latin typeface="Times New Roman" panose="02020603050405020304" charset="0"/>
                <a:ea typeface="Calibri" panose="020F0502020204030204" pitchFamily="34" charset="-122"/>
                <a:cs typeface="Times New Roman" panose="02020603050405020304" charset="0"/>
              </a:rPr>
              <a:t>é</a:t>
            </a:r>
            <a:r>
              <a:rPr lang="en-US" altLang="fr-FR" sz="2000" dirty="0">
                <a:solidFill>
                  <a:srgbClr val="1B2A4A"/>
                </a:solidFill>
                <a:latin typeface="Times New Roman" panose="02020603050405020304" charset="0"/>
                <a:ea typeface="Calibri" panose="020F0502020204030204" pitchFamily="34" charset="-122"/>
                <a:cs typeface="Times New Roman" panose="02020603050405020304" charset="0"/>
              </a:rPr>
              <a:t>riques instantan</a:t>
            </a:r>
            <a:r>
              <a:rPr lang="en-US" altLang="en-US" sz="2000" dirty="0">
                <a:solidFill>
                  <a:srgbClr val="1B2A4A"/>
                </a:solidFill>
                <a:latin typeface="Times New Roman" panose="02020603050405020304" charset="0"/>
                <a:ea typeface="Calibri" panose="020F0502020204030204" pitchFamily="34" charset="-122"/>
                <a:cs typeface="Times New Roman" panose="02020603050405020304" charset="0"/>
              </a:rPr>
              <a:t>é</a:t>
            </a:r>
            <a:r>
              <a:rPr lang="en-US" altLang="fr-FR" sz="2000" dirty="0">
                <a:solidFill>
                  <a:srgbClr val="1B2A4A"/>
                </a:solidFill>
                <a:latin typeface="Times New Roman" panose="02020603050405020304" charset="0"/>
                <a:ea typeface="Calibri" panose="020F0502020204030204" pitchFamily="34" charset="-122"/>
                <a:cs typeface="Times New Roman" panose="02020603050405020304" charset="0"/>
              </a:rPr>
              <a:t>es</a:t>
            </a:r>
            <a:endParaRPr lang="en-US" altLang="fr-FR" sz="2000" dirty="0">
              <a:solidFill>
                <a:srgbClr val="1B2A4A"/>
              </a:solidFill>
              <a:latin typeface="Times New Roman" panose="02020603050405020304" charset="0"/>
              <a:ea typeface="Calibri" panose="020F0502020204030204" pitchFamily="34" charset="-122"/>
              <a:cs typeface="Times New Roman" panose="02020603050405020304" charset="0"/>
            </a:endParaRPr>
          </a:p>
        </p:txBody>
      </p:sp>
      <p:sp>
        <p:nvSpPr>
          <p:cNvPr id="9" name="Shape 7"/>
          <p:cNvSpPr/>
          <p:nvPr/>
        </p:nvSpPr>
        <p:spPr>
          <a:xfrm>
            <a:off x="7635240" y="2125980"/>
            <a:ext cx="0" cy="2331720"/>
          </a:xfrm>
          <a:prstGeom prst="line">
            <a:avLst/>
          </a:prstGeom>
          <a:noFill/>
          <a:ln w="12700">
            <a:solidFill>
              <a:srgbClr val="C3CADA"/>
            </a:solidFill>
            <a:prstDash val="solid"/>
          </a:ln>
        </p:spPr>
      </p:sp>
      <p:sp>
        <p:nvSpPr>
          <p:cNvPr id="10" name="Shape 8"/>
          <p:cNvSpPr/>
          <p:nvPr/>
        </p:nvSpPr>
        <p:spPr>
          <a:xfrm>
            <a:off x="7635240" y="4457700"/>
            <a:ext cx="3749040" cy="0"/>
          </a:xfrm>
          <a:prstGeom prst="line">
            <a:avLst/>
          </a:prstGeom>
          <a:noFill/>
          <a:ln w="12700">
            <a:solidFill>
              <a:srgbClr val="C3CADA"/>
            </a:solidFill>
            <a:prstDash val="solid"/>
          </a:ln>
        </p:spPr>
      </p:sp>
      <p:sp>
        <p:nvSpPr>
          <p:cNvPr id="11" name="Shape 9"/>
          <p:cNvSpPr/>
          <p:nvPr/>
        </p:nvSpPr>
        <p:spPr>
          <a:xfrm>
            <a:off x="7863840" y="2475738"/>
            <a:ext cx="457200" cy="1981962"/>
          </a:xfrm>
          <a:prstGeom prst="roundRect">
            <a:avLst>
              <a:gd name="adj" fmla="val 6000"/>
            </a:avLst>
          </a:prstGeom>
          <a:solidFill>
            <a:srgbClr val="3E5273"/>
          </a:solidFill>
        </p:spPr>
      </p:sp>
      <p:sp>
        <p:nvSpPr>
          <p:cNvPr id="12" name="Shape 10"/>
          <p:cNvSpPr/>
          <p:nvPr/>
        </p:nvSpPr>
        <p:spPr>
          <a:xfrm>
            <a:off x="8577072" y="2825496"/>
            <a:ext cx="457200" cy="1632204"/>
          </a:xfrm>
          <a:prstGeom prst="roundRect">
            <a:avLst>
              <a:gd name="adj" fmla="val 6000"/>
            </a:avLst>
          </a:prstGeom>
          <a:solidFill>
            <a:srgbClr val="3E5273"/>
          </a:solidFill>
        </p:spPr>
      </p:sp>
      <p:sp>
        <p:nvSpPr>
          <p:cNvPr id="13" name="Shape 11"/>
          <p:cNvSpPr/>
          <p:nvPr/>
        </p:nvSpPr>
        <p:spPr>
          <a:xfrm>
            <a:off x="9290304" y="3175254"/>
            <a:ext cx="457200" cy="1282446"/>
          </a:xfrm>
          <a:prstGeom prst="roundRect">
            <a:avLst>
              <a:gd name="adj" fmla="val 6000"/>
            </a:avLst>
          </a:prstGeom>
          <a:solidFill>
            <a:srgbClr val="3E5273"/>
          </a:solidFill>
        </p:spPr>
      </p:sp>
      <p:sp>
        <p:nvSpPr>
          <p:cNvPr id="14" name="Shape 12"/>
          <p:cNvSpPr/>
          <p:nvPr/>
        </p:nvSpPr>
        <p:spPr>
          <a:xfrm>
            <a:off x="10003536" y="3478378"/>
            <a:ext cx="457200" cy="979322"/>
          </a:xfrm>
          <a:prstGeom prst="roundRect">
            <a:avLst>
              <a:gd name="adj" fmla="val 6000"/>
            </a:avLst>
          </a:prstGeom>
          <a:solidFill>
            <a:srgbClr val="C1443B"/>
          </a:solidFill>
        </p:spPr>
      </p:sp>
      <p:sp>
        <p:nvSpPr>
          <p:cNvPr id="15" name="Shape 13"/>
          <p:cNvSpPr/>
          <p:nvPr/>
        </p:nvSpPr>
        <p:spPr>
          <a:xfrm>
            <a:off x="10716768" y="3758184"/>
            <a:ext cx="457200" cy="699516"/>
          </a:xfrm>
          <a:prstGeom prst="roundRect">
            <a:avLst>
              <a:gd name="adj" fmla="val 6000"/>
            </a:avLst>
          </a:prstGeom>
          <a:solidFill>
            <a:srgbClr val="C1443B"/>
          </a:solidFill>
        </p:spPr>
      </p:sp>
      <p:sp>
        <p:nvSpPr>
          <p:cNvPr id="17" name="Shape 15"/>
          <p:cNvSpPr/>
          <p:nvPr/>
        </p:nvSpPr>
        <p:spPr>
          <a:xfrm>
            <a:off x="10469880" y="1623060"/>
            <a:ext cx="914400" cy="914400"/>
          </a:xfrm>
          <a:prstGeom prst="ellipse">
            <a:avLst/>
          </a:prstGeom>
          <a:solidFill>
            <a:schemeClr val="bg1"/>
          </a:solidFill>
        </p:spPr>
      </p:sp>
      <p:pic>
        <p:nvPicPr>
          <p:cNvPr id="18" name="Image 0" descr="icon-clock.png"/>
          <p:cNvPicPr>
            <a:picLocks noChangeAspect="1"/>
          </p:cNvPicPr>
          <p:nvPr/>
        </p:nvPicPr>
        <p:blipFill>
          <a:blip r:embed="rId3"/>
          <a:stretch>
            <a:fillRect/>
          </a:stretch>
        </p:blipFill>
        <p:spPr>
          <a:xfrm>
            <a:off x="10675620" y="1828800"/>
            <a:ext cx="502920" cy="502920"/>
          </a:xfrm>
          <a:prstGeom prst="rect">
            <a:avLst/>
          </a:prstGeom>
        </p:spPr>
      </p:pic>
      <p:sp>
        <p:nvSpPr>
          <p:cNvPr id="19" name="Shape 16"/>
          <p:cNvSpPr/>
          <p:nvPr/>
        </p:nvSpPr>
        <p:spPr>
          <a:xfrm>
            <a:off x="7498080" y="1623060"/>
            <a:ext cx="914400" cy="914400"/>
          </a:xfrm>
          <a:prstGeom prst="ellipse">
            <a:avLst/>
          </a:prstGeom>
          <a:solidFill>
            <a:srgbClr val="F2F4F8"/>
          </a:solidFill>
        </p:spPr>
      </p:sp>
      <p:pic>
        <p:nvPicPr>
          <p:cNvPr id="20" name="Image 1" descr="icon-receipt.png"/>
          <p:cNvPicPr>
            <a:picLocks noChangeAspect="1"/>
          </p:cNvPicPr>
          <p:nvPr/>
        </p:nvPicPr>
        <p:blipFill>
          <a:blip r:embed="rId4"/>
          <a:stretch>
            <a:fillRect/>
          </a:stretch>
        </p:blipFill>
        <p:spPr>
          <a:xfrm>
            <a:off x="7703820" y="1828800"/>
            <a:ext cx="502920" cy="5029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46" name="Shape 146"/>
        <p:cNvGrpSpPr/>
        <p:nvPr/>
      </p:nvGrpSpPr>
      <p:grpSpPr>
        <a:xfrm>
          <a:off x="0" y="0"/>
          <a:ext cx="0" cy="0"/>
          <a:chOff x="0" y="0"/>
          <a:chExt cx="0" cy="0"/>
        </a:xfrm>
      </p:grpSpPr>
      <p:pic>
        <p:nvPicPr>
          <p:cNvPr id="147" name="Google Shape;147;p16"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150" name="Google Shape;150;p16"/>
          <p:cNvSpPr txBox="1"/>
          <p:nvPr/>
        </p:nvSpPr>
        <p:spPr>
          <a:xfrm>
            <a:off x="57150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Times New Roman" panose="02020603050405020304" charset="0"/>
                <a:ea typeface="Poppins" panose="00000500000000000000"/>
                <a:cs typeface="Times New Roman" panose="02020603050405020304" charset="0"/>
                <a:sym typeface="Poppins" panose="00000500000000000000"/>
              </a:rPr>
              <a:t>RENTAL</a:t>
            </a:r>
            <a:endParaRPr lang="en-US" sz="1200" b="1" i="0" u="none" strike="noStrike" cap="none">
              <a:solidFill>
                <a:srgbClr val="3B82F6"/>
              </a:solidFill>
              <a:latin typeface="Times New Roman" panose="02020603050405020304" charset="0"/>
              <a:ea typeface="Poppins" panose="00000500000000000000"/>
              <a:cs typeface="Times New Roman" panose="02020603050405020304" charset="0"/>
              <a:sym typeface="Poppins" panose="00000500000000000000"/>
            </a:endParaRPr>
          </a:p>
        </p:txBody>
      </p:sp>
      <p:sp>
        <p:nvSpPr>
          <p:cNvPr id="152" name="Google Shape;152;p16"/>
          <p:cNvSpPr txBox="1"/>
          <p:nvPr/>
        </p:nvSpPr>
        <p:spPr>
          <a:xfrm>
            <a:off x="571500" y="6286500"/>
            <a:ext cx="3486150"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Lato" panose="020F0502020204030203" charset="0"/>
                <a:ea typeface="Lato" panose="020F0502020204030203"/>
                <a:cs typeface="Lato" panose="020F0502020204030203" charset="0"/>
                <a:sym typeface="Lato" panose="020F0502020204030203"/>
              </a:rPr>
              <a:t>Ipnet Institute of Technology — Soutenance de Licence Professionnelle</a:t>
            </a:r>
            <a:endParaRPr lang="en-US" sz="1200" b="0" i="0" u="none" strike="noStrike" cap="none">
              <a:solidFill>
                <a:srgbClr val="475569"/>
              </a:solidFill>
              <a:latin typeface="Lato" panose="020F0502020204030203" charset="0"/>
              <a:ea typeface="Lato" panose="020F0502020204030203"/>
              <a:cs typeface="Lato" panose="020F0502020204030203" charset="0"/>
              <a:sym typeface="Lato" panose="020F0502020204030203"/>
            </a:endParaRPr>
          </a:p>
        </p:txBody>
      </p:sp>
      <p:sp>
        <p:nvSpPr>
          <p:cNvPr id="153" name="Google Shape;153;p16"/>
          <p:cNvSpPr txBox="1"/>
          <p:nvPr/>
        </p:nvSpPr>
        <p:spPr>
          <a:xfrm>
            <a:off x="11487150" y="6286500"/>
            <a:ext cx="353060" cy="14287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i="0" u="none" strike="noStrike" cap="none">
                <a:solidFill>
                  <a:schemeClr val="tx1"/>
                </a:solidFill>
                <a:latin typeface="Lato" panose="020F0502020204030203" charset="0"/>
                <a:ea typeface="Lato" panose="020F0502020204030203"/>
                <a:cs typeface="Lato" panose="020F0502020204030203" charset="0"/>
                <a:sym typeface="Lato" panose="020F0502020204030203"/>
              </a:rPr>
              <a:t>0</a:t>
            </a:r>
            <a:r>
              <a:rPr lang="en-US" altLang="en-US" sz="1800" b="1" i="0" u="none" strike="noStrike" cap="none">
                <a:solidFill>
                  <a:schemeClr val="tx1"/>
                </a:solidFill>
                <a:latin typeface="Lato" panose="020F0502020204030203" charset="0"/>
                <a:ea typeface="Lato" panose="020F0502020204030203"/>
                <a:cs typeface="Lato" panose="020F0502020204030203" charset="0"/>
                <a:sym typeface="Lato" panose="020F0502020204030203"/>
              </a:rPr>
              <a:t>7</a:t>
            </a:r>
            <a:endParaRPr lang="en-US" altLang="en-US" sz="1800" b="1" i="0" u="none" strike="noStrike" cap="none">
              <a:solidFill>
                <a:schemeClr val="tx1"/>
              </a:solidFill>
              <a:latin typeface="Lato" panose="020F0502020204030203" charset="0"/>
              <a:ea typeface="Lato" panose="020F0502020204030203"/>
              <a:cs typeface="Lato" panose="020F0502020204030203" charset="0"/>
              <a:sym typeface="Lato" panose="020F0502020204030203"/>
            </a:endParaRPr>
          </a:p>
        </p:txBody>
      </p:sp>
      <p:sp>
        <p:nvSpPr>
          <p:cNvPr id="4" name="Text 2"/>
          <p:cNvSpPr/>
          <p:nvPr/>
        </p:nvSpPr>
        <p:spPr>
          <a:xfrm>
            <a:off x="640080" y="1714500"/>
            <a:ext cx="6766560" cy="1005840"/>
          </a:xfrm>
          <a:prstGeom prst="rect">
            <a:avLst/>
          </a:prstGeom>
          <a:noFill/>
        </p:spPr>
        <p:txBody>
          <a:bodyPr wrap="square" rtlCol="0" anchor="ctr"/>
          <a:lstStyle/>
          <a:p>
            <a:pPr marL="0" indent="0">
              <a:lnSpc>
                <a:spcPct val="105000"/>
              </a:lnSpc>
              <a:buNone/>
            </a:pPr>
            <a:r>
              <a:rPr lang="en-US" sz="3000" b="1" dirty="0">
                <a:solidFill>
                  <a:srgbClr val="1B2A4A"/>
                </a:solidFill>
                <a:latin typeface="Times New Roman" panose="02020603050405020304" charset="0"/>
                <a:ea typeface="Cambria" panose="02040503050406030204" pitchFamily="34" charset="-122"/>
                <a:cs typeface="Times New Roman" panose="02020603050405020304" charset="0"/>
              </a:rPr>
              <a:t>Absence de canal partagé</a:t>
            </a:r>
            <a:endParaRPr lang="en-US" sz="3000" b="1" dirty="0">
              <a:solidFill>
                <a:srgbClr val="1B2A4A"/>
              </a:solidFill>
              <a:latin typeface="Times New Roman" panose="02020603050405020304" charset="0"/>
              <a:ea typeface="Cambria" panose="02040503050406030204" pitchFamily="34" charset="-122"/>
              <a:cs typeface="Times New Roman" panose="02020603050405020304" charset="0"/>
            </a:endParaRPr>
          </a:p>
        </p:txBody>
      </p:sp>
      <p:sp>
        <p:nvSpPr>
          <p:cNvPr id="5" name="Text 3"/>
          <p:cNvSpPr/>
          <p:nvPr/>
        </p:nvSpPr>
        <p:spPr>
          <a:xfrm>
            <a:off x="640080" y="2721610"/>
            <a:ext cx="6309360" cy="1188720"/>
          </a:xfrm>
          <a:prstGeom prst="rect">
            <a:avLst/>
          </a:prstGeom>
          <a:noFill/>
        </p:spPr>
        <p:txBody>
          <a:bodyPr wrap="square" rtlCol="0" anchor="ctr"/>
          <a:lstStyle/>
          <a:p>
            <a:pPr marL="0" indent="0">
              <a:lnSpc>
                <a:spcPct val="135000"/>
              </a:lnSpc>
              <a:buNone/>
            </a:pPr>
            <a:r>
              <a:rPr lang="en-US" sz="2000" dirty="0">
                <a:solidFill>
                  <a:schemeClr val="tx1"/>
                </a:solidFill>
                <a:latin typeface="Times New Roman" panose="02020603050405020304" charset="0"/>
                <a:ea typeface="Calibri" panose="020F0502020204030204" pitchFamily="34" charset="-122"/>
                <a:cs typeface="Times New Roman" panose="02020603050405020304" charset="0"/>
              </a:rPr>
              <a:t>Sans passerelle transparente</a:t>
            </a:r>
            <a:r>
              <a:rPr lang="fr-FR" altLang="en-US" sz="2000" dirty="0">
                <a:solidFill>
                  <a:schemeClr val="tx1"/>
                </a:solidFill>
                <a:latin typeface="Times New Roman" panose="02020603050405020304" charset="0"/>
                <a:ea typeface="Calibri" panose="020F0502020204030204" pitchFamily="34" charset="-122"/>
                <a:cs typeface="Times New Roman" panose="02020603050405020304" charset="0"/>
              </a:rPr>
              <a:t> entre bailleur et locataire</a:t>
            </a:r>
            <a:r>
              <a:rPr lang="en-US" sz="2000" dirty="0">
                <a:solidFill>
                  <a:schemeClr val="tx1"/>
                </a:solidFill>
                <a:latin typeface="Times New Roman" panose="02020603050405020304" charset="0"/>
                <a:ea typeface="Calibri" panose="020F0502020204030204" pitchFamily="34" charset="-122"/>
                <a:cs typeface="Times New Roman" panose="02020603050405020304" charset="0"/>
              </a:rPr>
              <a:t> l</a:t>
            </a:r>
            <a:r>
              <a:rPr lang="fr-FR" altLang="en-US" sz="2000" dirty="0">
                <a:solidFill>
                  <a:schemeClr val="tx1"/>
                </a:solidFill>
                <a:latin typeface="Times New Roman" panose="02020603050405020304" charset="0"/>
                <a:ea typeface="Calibri" panose="020F0502020204030204" pitchFamily="34" charset="-122"/>
                <a:cs typeface="Times New Roman" panose="02020603050405020304" charset="0"/>
              </a:rPr>
              <a:t>a confiance s’amenuise </a:t>
            </a:r>
            <a:r>
              <a:rPr lang="en-US" sz="2000" dirty="0">
                <a:solidFill>
                  <a:schemeClr val="tx1"/>
                </a:solidFill>
                <a:latin typeface="Times New Roman" panose="02020603050405020304" charset="0"/>
                <a:ea typeface="Calibri" panose="020F0502020204030204" pitchFamily="34" charset="-122"/>
                <a:cs typeface="Times New Roman" panose="02020603050405020304" charset="0"/>
              </a:rPr>
              <a:t>des deux côtés.</a:t>
            </a:r>
            <a:endParaRPr lang="en-US" altLang="en-US" sz="2000" dirty="0">
              <a:solidFill>
                <a:schemeClr val="tx1"/>
              </a:solidFill>
              <a:latin typeface="Times New Roman" panose="02020603050405020304" charset="0"/>
              <a:ea typeface="Calibri" panose="020F0502020204030204" pitchFamily="34" charset="-122"/>
              <a:cs typeface="Times New Roman" panose="02020603050405020304" charset="0"/>
            </a:endParaRPr>
          </a:p>
        </p:txBody>
      </p:sp>
      <p:sp>
        <p:nvSpPr>
          <p:cNvPr id="6" name="Shape 4"/>
          <p:cNvSpPr/>
          <p:nvPr/>
        </p:nvSpPr>
        <p:spPr>
          <a:xfrm>
            <a:off x="640080" y="4366260"/>
            <a:ext cx="6309360" cy="1417320"/>
          </a:xfrm>
          <a:prstGeom prst="roundRect">
            <a:avLst>
              <a:gd name="adj" fmla="val 5161"/>
            </a:avLst>
          </a:prstGeom>
          <a:solidFill>
            <a:srgbClr val="F2F4F8"/>
          </a:solidFill>
        </p:spPr>
      </p:sp>
      <p:sp>
        <p:nvSpPr>
          <p:cNvPr id="7" name="Text 5"/>
          <p:cNvSpPr/>
          <p:nvPr/>
        </p:nvSpPr>
        <p:spPr>
          <a:xfrm>
            <a:off x="640080" y="4549140"/>
            <a:ext cx="3200400" cy="274320"/>
          </a:xfrm>
          <a:prstGeom prst="rect">
            <a:avLst/>
          </a:prstGeom>
          <a:noFill/>
        </p:spPr>
        <p:txBody>
          <a:bodyPr wrap="square" rtlCol="0" anchor="ctr"/>
          <a:lstStyle/>
          <a:p>
            <a:pPr marL="0" indent="0">
              <a:buNone/>
            </a:pPr>
            <a:r>
              <a:rPr lang="en-US" sz="1600" b="1" kern="0" spc="150" dirty="0">
                <a:solidFill>
                  <a:schemeClr val="accent2"/>
                </a:solidFill>
                <a:latin typeface="Times New Roman" panose="02020603050405020304" charset="0"/>
                <a:ea typeface="Calibri" panose="020F0502020204030204" pitchFamily="34" charset="-122"/>
                <a:cs typeface="Times New Roman" panose="02020603050405020304" charset="0"/>
              </a:rPr>
              <a:t>CONSÉQUENCE</a:t>
            </a:r>
            <a:endParaRPr lang="en-US" sz="1600" b="1" kern="0" spc="150" dirty="0">
              <a:solidFill>
                <a:schemeClr val="accent2"/>
              </a:solidFill>
              <a:latin typeface="Times New Roman" panose="02020603050405020304" charset="0"/>
              <a:ea typeface="Calibri" panose="020F0502020204030204" pitchFamily="34" charset="-122"/>
              <a:cs typeface="Times New Roman" panose="02020603050405020304" charset="0"/>
            </a:endParaRPr>
          </a:p>
        </p:txBody>
      </p:sp>
      <p:sp>
        <p:nvSpPr>
          <p:cNvPr id="8" name="Text 6"/>
          <p:cNvSpPr/>
          <p:nvPr/>
        </p:nvSpPr>
        <p:spPr>
          <a:xfrm>
            <a:off x="640080" y="4823460"/>
            <a:ext cx="5760720" cy="868680"/>
          </a:xfrm>
          <a:prstGeom prst="rect">
            <a:avLst/>
          </a:prstGeom>
          <a:noFill/>
        </p:spPr>
        <p:txBody>
          <a:bodyPr wrap="square" rtlCol="0" anchor="ctr"/>
          <a:lstStyle/>
          <a:p>
            <a:pPr marL="0" indent="0">
              <a:lnSpc>
                <a:spcPct val="125000"/>
              </a:lnSpc>
              <a:buNone/>
            </a:pPr>
            <a:r>
              <a:rPr lang="en-US" sz="1800" dirty="0">
                <a:solidFill>
                  <a:srgbClr val="1B2A4A"/>
                </a:solidFill>
                <a:latin typeface="Times New Roman" panose="02020603050405020304" charset="0"/>
                <a:ea typeface="Calibri" panose="020F0502020204030204" pitchFamily="34" charset="-122"/>
                <a:cs typeface="Times New Roman" panose="02020603050405020304" charset="0"/>
              </a:rPr>
              <a:t>Frustration réciproque : ni visibilité partagée, ni preuve de paiement immédiate entre les parties</a:t>
            </a:r>
            <a:r>
              <a:rPr lang="fr-FR" altLang="en-US" sz="1800" dirty="0">
                <a:solidFill>
                  <a:srgbClr val="1B2A4A"/>
                </a:solidFill>
                <a:latin typeface="Times New Roman" panose="02020603050405020304" charset="0"/>
                <a:ea typeface="Calibri" panose="020F0502020204030204" pitchFamily="34" charset="-122"/>
                <a:cs typeface="Times New Roman" panose="02020603050405020304" charset="0"/>
              </a:rPr>
              <a:t>, aucune tracabilité</a:t>
            </a:r>
            <a:r>
              <a:rPr lang="en-US" sz="1800" dirty="0">
                <a:solidFill>
                  <a:srgbClr val="1B2A4A"/>
                </a:solidFill>
                <a:latin typeface="Times New Roman" panose="02020603050405020304" charset="0"/>
                <a:ea typeface="Calibri" panose="020F0502020204030204" pitchFamily="34" charset="-122"/>
                <a:cs typeface="Times New Roman" panose="02020603050405020304" charset="0"/>
              </a:rPr>
              <a:t>.</a:t>
            </a:r>
            <a:endParaRPr lang="en-US" sz="1800" dirty="0">
              <a:solidFill>
                <a:srgbClr val="1B2A4A"/>
              </a:solidFill>
              <a:latin typeface="Times New Roman" panose="02020603050405020304" charset="0"/>
              <a:ea typeface="Calibri" panose="020F0502020204030204" pitchFamily="34" charset="-122"/>
              <a:cs typeface="Times New Roman" panose="02020603050405020304" charset="0"/>
            </a:endParaRPr>
          </a:p>
        </p:txBody>
      </p:sp>
      <p:sp>
        <p:nvSpPr>
          <p:cNvPr id="9" name="Shape 7"/>
          <p:cNvSpPr/>
          <p:nvPr/>
        </p:nvSpPr>
        <p:spPr>
          <a:xfrm>
            <a:off x="7292340" y="2560320"/>
            <a:ext cx="1051560" cy="1051560"/>
          </a:xfrm>
          <a:prstGeom prst="ellipse">
            <a:avLst/>
          </a:prstGeom>
          <a:solidFill>
            <a:srgbClr val="F2F4F8"/>
          </a:solidFill>
        </p:spPr>
      </p:sp>
      <p:pic>
        <p:nvPicPr>
          <p:cNvPr id="10" name="Image 0" descr="icon-building.png"/>
          <p:cNvPicPr>
            <a:picLocks noChangeAspect="1"/>
          </p:cNvPicPr>
          <p:nvPr/>
        </p:nvPicPr>
        <p:blipFill>
          <a:blip r:embed="rId3"/>
          <a:stretch>
            <a:fillRect/>
          </a:stretch>
        </p:blipFill>
        <p:spPr>
          <a:xfrm>
            <a:off x="7555230" y="2823210"/>
            <a:ext cx="525780" cy="525780"/>
          </a:xfrm>
          <a:prstGeom prst="rect">
            <a:avLst/>
          </a:prstGeom>
        </p:spPr>
      </p:pic>
      <p:sp>
        <p:nvSpPr>
          <p:cNvPr id="11" name="Shape 8"/>
          <p:cNvSpPr/>
          <p:nvPr/>
        </p:nvSpPr>
        <p:spPr>
          <a:xfrm>
            <a:off x="9852660" y="2560320"/>
            <a:ext cx="1051560" cy="1051560"/>
          </a:xfrm>
          <a:prstGeom prst="ellipse">
            <a:avLst/>
          </a:prstGeom>
          <a:solidFill>
            <a:srgbClr val="F2F4F8"/>
          </a:solidFill>
        </p:spPr>
      </p:sp>
      <p:pic>
        <p:nvPicPr>
          <p:cNvPr id="12" name="Image 1" descr="icon-users.png"/>
          <p:cNvPicPr>
            <a:picLocks noChangeAspect="1"/>
          </p:cNvPicPr>
          <p:nvPr/>
        </p:nvPicPr>
        <p:blipFill>
          <a:blip r:embed="rId4"/>
          <a:stretch>
            <a:fillRect/>
          </a:stretch>
        </p:blipFill>
        <p:spPr>
          <a:xfrm>
            <a:off x="10115550" y="2823210"/>
            <a:ext cx="525780" cy="525780"/>
          </a:xfrm>
          <a:prstGeom prst="rect">
            <a:avLst/>
          </a:prstGeom>
        </p:spPr>
      </p:pic>
      <p:sp>
        <p:nvSpPr>
          <p:cNvPr id="13" name="Text 9"/>
          <p:cNvSpPr/>
          <p:nvPr/>
        </p:nvSpPr>
        <p:spPr>
          <a:xfrm>
            <a:off x="6766560" y="3685032"/>
            <a:ext cx="2103120" cy="274320"/>
          </a:xfrm>
          <a:prstGeom prst="rect">
            <a:avLst/>
          </a:prstGeom>
          <a:noFill/>
        </p:spPr>
        <p:txBody>
          <a:bodyPr wrap="square" rtlCol="0" anchor="ctr"/>
          <a:lstStyle/>
          <a:p>
            <a:pPr marL="0" indent="0" algn="ctr">
              <a:buNone/>
            </a:pPr>
            <a:r>
              <a:rPr lang="fr-FR" altLang="en-US" sz="1150" dirty="0">
                <a:latin typeface="Times New Roman" panose="02020603050405020304" charset="0"/>
                <a:cs typeface="Times New Roman" panose="02020603050405020304" charset="0"/>
              </a:rPr>
              <a:t>Bailleur</a:t>
            </a:r>
            <a:endParaRPr lang="fr-FR" altLang="en-US" sz="1150" dirty="0">
              <a:latin typeface="Times New Roman" panose="02020603050405020304" charset="0"/>
              <a:cs typeface="Times New Roman" panose="02020603050405020304" charset="0"/>
            </a:endParaRPr>
          </a:p>
        </p:txBody>
      </p:sp>
      <p:sp>
        <p:nvSpPr>
          <p:cNvPr id="14" name="Text 10"/>
          <p:cNvSpPr/>
          <p:nvPr/>
        </p:nvSpPr>
        <p:spPr>
          <a:xfrm>
            <a:off x="9221724" y="3685032"/>
            <a:ext cx="2313432" cy="274320"/>
          </a:xfrm>
          <a:prstGeom prst="rect">
            <a:avLst/>
          </a:prstGeom>
          <a:noFill/>
        </p:spPr>
        <p:txBody>
          <a:bodyPr wrap="square" rtlCol="0" anchor="ctr"/>
          <a:lstStyle/>
          <a:p>
            <a:pPr marL="0" indent="0" algn="ctr">
              <a:buNone/>
            </a:pPr>
            <a:r>
              <a:rPr lang="fr-FR" altLang="en-US" sz="1150" dirty="0">
                <a:latin typeface="Times New Roman" panose="02020603050405020304" charset="0"/>
                <a:cs typeface="Times New Roman" panose="02020603050405020304" charset="0"/>
              </a:rPr>
              <a:t>Locataire</a:t>
            </a:r>
            <a:endParaRPr lang="fr-FR" altLang="en-US" sz="1150" dirty="0">
              <a:latin typeface="Times New Roman" panose="02020603050405020304" charset="0"/>
              <a:cs typeface="Times New Roman" panose="02020603050405020304" charset="0"/>
            </a:endParaRPr>
          </a:p>
        </p:txBody>
      </p:sp>
      <p:sp>
        <p:nvSpPr>
          <p:cNvPr id="15" name="Shape 11"/>
          <p:cNvSpPr/>
          <p:nvPr/>
        </p:nvSpPr>
        <p:spPr>
          <a:xfrm>
            <a:off x="8435340" y="3086100"/>
            <a:ext cx="777240" cy="0"/>
          </a:xfrm>
          <a:prstGeom prst="line">
            <a:avLst/>
          </a:prstGeom>
          <a:noFill/>
          <a:ln w="25400">
            <a:solidFill>
              <a:srgbClr val="C1443B"/>
            </a:solidFill>
            <a:prstDash val="dash"/>
          </a:ln>
        </p:spPr>
      </p:sp>
      <p:sp>
        <p:nvSpPr>
          <p:cNvPr id="16" name="Shape 12"/>
          <p:cNvSpPr/>
          <p:nvPr/>
        </p:nvSpPr>
        <p:spPr>
          <a:xfrm>
            <a:off x="8983980" y="3086100"/>
            <a:ext cx="777240" cy="0"/>
          </a:xfrm>
          <a:prstGeom prst="line">
            <a:avLst/>
          </a:prstGeom>
          <a:noFill/>
          <a:ln w="25400">
            <a:solidFill>
              <a:srgbClr val="C1443B"/>
            </a:solidFill>
            <a:prstDash val="dash"/>
          </a:ln>
        </p:spPr>
      </p:sp>
      <p:sp>
        <p:nvSpPr>
          <p:cNvPr id="17" name="Shape 13"/>
          <p:cNvSpPr/>
          <p:nvPr/>
        </p:nvSpPr>
        <p:spPr>
          <a:xfrm>
            <a:off x="8732520" y="2720340"/>
            <a:ext cx="731520" cy="731520"/>
          </a:xfrm>
          <a:prstGeom prst="ellipse">
            <a:avLst/>
          </a:prstGeom>
          <a:solidFill>
            <a:srgbClr val="FFFFFF"/>
          </a:solidFill>
        </p:spPr>
      </p:sp>
      <p:pic>
        <p:nvPicPr>
          <p:cNvPr id="18" name="Image 2" descr="icon-link-off.png"/>
          <p:cNvPicPr>
            <a:picLocks noChangeAspect="1"/>
          </p:cNvPicPr>
          <p:nvPr/>
        </p:nvPicPr>
        <p:blipFill>
          <a:blip r:embed="rId5"/>
          <a:stretch>
            <a:fillRect/>
          </a:stretch>
        </p:blipFill>
        <p:spPr>
          <a:xfrm>
            <a:off x="8823960" y="2811780"/>
            <a:ext cx="548640" cy="548640"/>
          </a:xfrm>
          <a:prstGeom prst="rect">
            <a:avLst/>
          </a:prstGeom>
        </p:spPr>
      </p:pic>
      <p:sp>
        <p:nvSpPr>
          <p:cNvPr id="19" name="Shape 0"/>
          <p:cNvSpPr/>
          <p:nvPr/>
        </p:nvSpPr>
        <p:spPr>
          <a:xfrm>
            <a:off x="765810" y="1174750"/>
            <a:ext cx="3291840" cy="384048"/>
          </a:xfrm>
          <a:prstGeom prst="roundRect">
            <a:avLst>
              <a:gd name="adj" fmla="val 50000"/>
            </a:avLst>
          </a:prstGeom>
          <a:solidFill>
            <a:schemeClr val="bg2">
              <a:lumMod val="60000"/>
              <a:lumOff val="40000"/>
            </a:schemeClr>
          </a:solidFill>
        </p:spPr>
        <p:txBody>
          <a:bodyPr/>
          <a:p>
            <a:pPr marL="0" indent="0" algn="ctr">
              <a:buNone/>
            </a:pPr>
            <a:r>
              <a:rPr lang="en-US" b="1" spc="200" dirty="0">
                <a:solidFill>
                  <a:srgbClr val="FFFFFF"/>
                </a:solidFill>
                <a:latin typeface="Times New Roman" panose="02020603050405020304" charset="0"/>
                <a:ea typeface="Calibri" panose="020F0502020204030204" pitchFamily="34" charset="-122"/>
                <a:cs typeface="Times New Roman" panose="02020603050405020304" charset="0"/>
                <a:sym typeface="+mn-ea"/>
              </a:rPr>
              <a:t>COMMUNICATION</a:t>
            </a:r>
            <a:endParaRPr lang="fr-FR" altLang="en-US"/>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46" name="Shape 146"/>
        <p:cNvGrpSpPr/>
        <p:nvPr/>
      </p:nvGrpSpPr>
      <p:grpSpPr>
        <a:xfrm>
          <a:off x="0" y="0"/>
          <a:ext cx="0" cy="0"/>
          <a:chOff x="0" y="0"/>
          <a:chExt cx="0" cy="0"/>
        </a:xfrm>
      </p:grpSpPr>
      <p:pic>
        <p:nvPicPr>
          <p:cNvPr id="147" name="Google Shape;147;p16"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150" name="Google Shape;150;p16"/>
          <p:cNvSpPr txBox="1"/>
          <p:nvPr/>
        </p:nvSpPr>
        <p:spPr>
          <a:xfrm>
            <a:off x="57150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Times New Roman" panose="02020603050405020304" charset="0"/>
                <a:ea typeface="Poppins" panose="00000500000000000000"/>
                <a:cs typeface="Times New Roman" panose="02020603050405020304" charset="0"/>
                <a:sym typeface="Poppins" panose="00000500000000000000"/>
              </a:rPr>
              <a:t>RENTAL</a:t>
            </a:r>
            <a:endParaRPr lang="en-US" sz="1200" b="1" i="0" u="none" strike="noStrike" cap="none">
              <a:solidFill>
                <a:srgbClr val="3B82F6"/>
              </a:solidFill>
              <a:latin typeface="Times New Roman" panose="02020603050405020304" charset="0"/>
              <a:ea typeface="Poppins" panose="00000500000000000000"/>
              <a:cs typeface="Times New Roman" panose="02020603050405020304" charset="0"/>
              <a:sym typeface="Poppins" panose="00000500000000000000"/>
            </a:endParaRPr>
          </a:p>
        </p:txBody>
      </p:sp>
      <p:sp>
        <p:nvSpPr>
          <p:cNvPr id="151" name="Google Shape;151;p16"/>
          <p:cNvSpPr txBox="1"/>
          <p:nvPr/>
        </p:nvSpPr>
        <p:spPr>
          <a:xfrm>
            <a:off x="9948862" y="471487"/>
            <a:ext cx="1671637"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0" i="0" u="none" strike="noStrike" cap="none">
                <a:solidFill>
                  <a:srgbClr val="475569"/>
                </a:solidFill>
                <a:latin typeface="Times New Roman" panose="02020603050405020304" charset="0"/>
                <a:ea typeface="Lato" panose="020F0502020204030203"/>
                <a:cs typeface="Times New Roman" panose="02020603050405020304" charset="0"/>
                <a:sym typeface="Lato" panose="020F0502020204030203"/>
              </a:rPr>
              <a:t>LES LIMITATIONS MÉTIERS</a:t>
            </a:r>
            <a:endParaRPr lang="en-US" sz="975" b="0" i="0" u="none" strike="noStrike" cap="none">
              <a:solidFill>
                <a:srgbClr val="475569"/>
              </a:solidFill>
              <a:latin typeface="Times New Roman" panose="02020603050405020304" charset="0"/>
              <a:ea typeface="Lato" panose="020F0502020204030203"/>
              <a:cs typeface="Times New Roman" panose="02020603050405020304" charset="0"/>
              <a:sym typeface="Lato" panose="020F0502020204030203"/>
            </a:endParaRPr>
          </a:p>
        </p:txBody>
      </p:sp>
      <p:sp>
        <p:nvSpPr>
          <p:cNvPr id="152" name="Google Shape;152;p16"/>
          <p:cNvSpPr txBox="1"/>
          <p:nvPr/>
        </p:nvSpPr>
        <p:spPr>
          <a:xfrm>
            <a:off x="571500" y="6286500"/>
            <a:ext cx="3486150"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Lato" panose="020F0502020204030203" charset="0"/>
                <a:ea typeface="Lato" panose="020F0502020204030203"/>
                <a:cs typeface="Lato" panose="020F0502020204030203" charset="0"/>
                <a:sym typeface="Lato" panose="020F0502020204030203"/>
              </a:rPr>
              <a:t>Ipnet Institute of Technology — Soutenance de Licence Professionnelle</a:t>
            </a:r>
            <a:endParaRPr lang="en-US" sz="1200" b="0" i="0" u="none" strike="noStrike" cap="none">
              <a:solidFill>
                <a:srgbClr val="475569"/>
              </a:solidFill>
              <a:latin typeface="Lato" panose="020F0502020204030203" charset="0"/>
              <a:ea typeface="Lato" panose="020F0502020204030203"/>
              <a:cs typeface="Lato" panose="020F0502020204030203" charset="0"/>
              <a:sym typeface="Lato" panose="020F0502020204030203"/>
            </a:endParaRPr>
          </a:p>
        </p:txBody>
      </p:sp>
      <p:sp>
        <p:nvSpPr>
          <p:cNvPr id="153" name="Google Shape;153;p16"/>
          <p:cNvSpPr txBox="1"/>
          <p:nvPr/>
        </p:nvSpPr>
        <p:spPr>
          <a:xfrm>
            <a:off x="11487150" y="6286500"/>
            <a:ext cx="419735" cy="57086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i="0" u="none" strike="noStrike" cap="none">
                <a:solidFill>
                  <a:schemeClr val="tx1"/>
                </a:solidFill>
                <a:latin typeface="Lato" panose="020F0502020204030203" charset="0"/>
                <a:ea typeface="Lato" panose="020F0502020204030203"/>
                <a:cs typeface="Lato" panose="020F0502020204030203" charset="0"/>
                <a:sym typeface="Lato" panose="020F0502020204030203"/>
              </a:rPr>
              <a:t>0</a:t>
            </a:r>
            <a:r>
              <a:rPr lang="en-US" altLang="en-US" sz="1800" b="1" i="0" u="none" strike="noStrike" cap="none">
                <a:solidFill>
                  <a:schemeClr val="tx1"/>
                </a:solidFill>
                <a:latin typeface="Lato" panose="020F0502020204030203" charset="0"/>
                <a:ea typeface="Lato" panose="020F0502020204030203"/>
                <a:cs typeface="Lato" panose="020F0502020204030203" charset="0"/>
                <a:sym typeface="Lato" panose="020F0502020204030203"/>
              </a:rPr>
              <a:t>8</a:t>
            </a:r>
            <a:endParaRPr lang="en-US" altLang="en-US" sz="1800" b="1" i="0" u="none" strike="noStrike" cap="none">
              <a:solidFill>
                <a:schemeClr val="tx1"/>
              </a:solidFill>
              <a:latin typeface="Lato" panose="020F0502020204030203" charset="0"/>
              <a:ea typeface="Lato" panose="020F0502020204030203"/>
              <a:cs typeface="Lato" panose="020F0502020204030203" charset="0"/>
              <a:sym typeface="Lato" panose="020F0502020204030203"/>
            </a:endParaRPr>
          </a:p>
        </p:txBody>
      </p:sp>
      <p:sp>
        <p:nvSpPr>
          <p:cNvPr id="6" name="Zone de texte 5"/>
          <p:cNvSpPr txBox="1"/>
          <p:nvPr/>
        </p:nvSpPr>
        <p:spPr>
          <a:xfrm>
            <a:off x="285750" y="2414905"/>
            <a:ext cx="11485245" cy="1551940"/>
          </a:xfrm>
          <a:prstGeom prst="rect">
            <a:avLst/>
          </a:prstGeom>
          <a:noFill/>
          <a:ln>
            <a:solidFill>
              <a:schemeClr val="tx1"/>
            </a:solidFill>
          </a:ln>
        </p:spPr>
        <p:txBody>
          <a:bodyPr wrap="square" rtlCol="0" anchor="t">
            <a:noAutofit/>
          </a:bodyPr>
          <a:p>
            <a:pPr marL="0" indent="0" algn="ctr">
              <a:lnSpc>
                <a:spcPct val="105000"/>
              </a:lnSpc>
              <a:buNone/>
            </a:pPr>
            <a:r>
              <a:rPr lang="en-US" sz="6600" b="1" cap="all">
                <a:solidFill>
                  <a:srgbClr val="1E293B"/>
                </a:solidFill>
                <a:uFillTx/>
                <a:latin typeface="Times New Roman" panose="02020603050405020304" charset="0"/>
                <a:ea typeface="Poppins" panose="00000500000000000000"/>
                <a:cs typeface="Times New Roman" panose="02020603050405020304" charset="0"/>
                <a:sym typeface="Poppins" panose="00000500000000000000"/>
              </a:rPr>
              <a:t>Critique de l’Existant</a:t>
            </a:r>
            <a:endParaRPr lang="en-US" sz="6600" b="1" i="0" cap="all">
              <a:solidFill>
                <a:srgbClr val="1E293B"/>
              </a:solidFill>
              <a:uFillTx/>
              <a:latin typeface="Times New Roman" panose="02020603050405020304" charset="0"/>
              <a:ea typeface="Poppins" panose="00000500000000000000"/>
              <a:cs typeface="Times New Roman" panose="02020603050405020304" charset="0"/>
              <a:sym typeface="Poppins" panose="00000500000000000000"/>
            </a:endParaRPr>
          </a:p>
          <a:p>
            <a:pPr marL="0" indent="0" algn="ctr">
              <a:lnSpc>
                <a:spcPct val="105000"/>
              </a:lnSpc>
              <a:buNone/>
            </a:pPr>
            <a:endParaRPr lang="en-US" altLang="en-US" sz="6600" b="1" i="0" cap="all" dirty="0">
              <a:solidFill>
                <a:srgbClr val="1E293B"/>
              </a:solidFill>
              <a:uFillTx/>
              <a:latin typeface="Times New Roman" panose="02020603050405020304" charset="0"/>
              <a:ea typeface="Poppins" panose="00000500000000000000"/>
              <a:cs typeface="Times New Roman" panose="02020603050405020304" charset="0"/>
              <a:sym typeface="Poppins" panose="00000500000000000000"/>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67" name="Shape 167"/>
        <p:cNvGrpSpPr/>
        <p:nvPr/>
      </p:nvGrpSpPr>
      <p:grpSpPr>
        <a:xfrm>
          <a:off x="0" y="0"/>
          <a:ext cx="0" cy="0"/>
          <a:chOff x="0" y="0"/>
          <a:chExt cx="0" cy="0"/>
        </a:xfrm>
      </p:grpSpPr>
      <p:pic>
        <p:nvPicPr>
          <p:cNvPr id="168" name="Google Shape;168;p17"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171" name="Google Shape;171;p17"/>
          <p:cNvSpPr txBox="1"/>
          <p:nvPr/>
        </p:nvSpPr>
        <p:spPr>
          <a:xfrm>
            <a:off x="57150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Times New Roman" panose="02020603050405020304" charset="0"/>
                <a:ea typeface="Poppins" panose="00000500000000000000"/>
                <a:cs typeface="Times New Roman" panose="02020603050405020304" charset="0"/>
                <a:sym typeface="Poppins" panose="00000500000000000000"/>
              </a:rPr>
              <a:t>RENTAL</a:t>
            </a:r>
            <a:endParaRPr lang="en-US" sz="1200" b="1" i="0" u="none" strike="noStrike" cap="none">
              <a:solidFill>
                <a:srgbClr val="3B82F6"/>
              </a:solidFill>
              <a:latin typeface="Times New Roman" panose="02020603050405020304" charset="0"/>
              <a:ea typeface="Poppins" panose="00000500000000000000"/>
              <a:cs typeface="Times New Roman" panose="02020603050405020304" charset="0"/>
              <a:sym typeface="Poppins" panose="00000500000000000000"/>
            </a:endParaRPr>
          </a:p>
        </p:txBody>
      </p:sp>
      <p:sp>
        <p:nvSpPr>
          <p:cNvPr id="172" name="Google Shape;172;p17"/>
          <p:cNvSpPr txBox="1"/>
          <p:nvPr/>
        </p:nvSpPr>
        <p:spPr>
          <a:xfrm>
            <a:off x="10081895" y="471170"/>
            <a:ext cx="2110740" cy="35877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900" b="0" i="0" u="none" strike="noStrike" cap="none">
                <a:solidFill>
                  <a:srgbClr val="475569"/>
                </a:solidFill>
                <a:latin typeface="Times New Roman" panose="02020603050405020304" charset="0"/>
                <a:ea typeface="Lato" panose="020F0502020204030203"/>
                <a:cs typeface="Times New Roman" panose="02020603050405020304" charset="0"/>
                <a:sym typeface="Lato" panose="020F0502020204030203"/>
              </a:rPr>
              <a:t>ANALYSE COMPARATIVE</a:t>
            </a:r>
            <a:endParaRPr lang="en-US" sz="900" b="0" i="0" u="none" strike="noStrike" cap="none">
              <a:solidFill>
                <a:srgbClr val="475569"/>
              </a:solidFill>
              <a:latin typeface="Times New Roman" panose="02020603050405020304" charset="0"/>
              <a:ea typeface="Lato" panose="020F0502020204030203"/>
              <a:cs typeface="Times New Roman" panose="02020603050405020304" charset="0"/>
              <a:sym typeface="Lato" panose="020F0502020204030203"/>
            </a:endParaRPr>
          </a:p>
        </p:txBody>
      </p:sp>
      <p:sp>
        <p:nvSpPr>
          <p:cNvPr id="173" name="Google Shape;173;p17"/>
          <p:cNvSpPr txBox="1"/>
          <p:nvPr/>
        </p:nvSpPr>
        <p:spPr>
          <a:xfrm>
            <a:off x="571500" y="6286500"/>
            <a:ext cx="3486150"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Lato" panose="020F0502020204030203" charset="0"/>
                <a:ea typeface="Lato" panose="020F0502020204030203"/>
                <a:cs typeface="Lato" panose="020F0502020204030203" charset="0"/>
                <a:sym typeface="Lato" panose="020F0502020204030203"/>
              </a:rPr>
              <a:t>Ipnet Institute of Technology — Soutenance de Licence Professionnelle</a:t>
            </a:r>
            <a:endParaRPr lang="en-US" sz="1200" b="0" i="0" u="none" strike="noStrike" cap="none">
              <a:solidFill>
                <a:srgbClr val="475569"/>
              </a:solidFill>
              <a:latin typeface="Lato" panose="020F0502020204030203" charset="0"/>
              <a:ea typeface="Lato" panose="020F0502020204030203"/>
              <a:cs typeface="Lato" panose="020F0502020204030203" charset="0"/>
              <a:sym typeface="Lato" panose="020F0502020204030203"/>
            </a:endParaRPr>
          </a:p>
        </p:txBody>
      </p:sp>
      <p:sp>
        <p:nvSpPr>
          <p:cNvPr id="174" name="Google Shape;174;p17"/>
          <p:cNvSpPr txBox="1"/>
          <p:nvPr/>
        </p:nvSpPr>
        <p:spPr>
          <a:xfrm>
            <a:off x="11487150" y="6286500"/>
            <a:ext cx="302895" cy="3073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rPr>
              <a:t>0</a:t>
            </a:r>
            <a:r>
              <a:rPr lang="en-US" altLang="en-US" sz="20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rPr>
              <a:t>9</a:t>
            </a:r>
            <a:endParaRPr lang="en-US" altLang="en-US" sz="2000" b="1" i="0" u="none" strike="noStrike" cap="none">
              <a:solidFill>
                <a:schemeClr val="tx1"/>
              </a:solidFill>
              <a:latin typeface="Times New Roman" panose="02020603050405020304" charset="0"/>
              <a:ea typeface="Lato" panose="020F0502020204030203"/>
              <a:cs typeface="Times New Roman" panose="02020603050405020304" charset="0"/>
              <a:sym typeface="Lato" panose="020F0502020204030203"/>
            </a:endParaRPr>
          </a:p>
        </p:txBody>
      </p:sp>
      <p:sp>
        <p:nvSpPr>
          <p:cNvPr id="175" name="Rounded Rectangle 174"/>
          <p:cNvSpPr/>
          <p:nvPr/>
        </p:nvSpPr>
        <p:spPr>
          <a:xfrm>
            <a:off x="571500" y="1371600"/>
            <a:ext cx="3500018" cy="4114800"/>
          </a:xfrm>
          <a:prstGeom prst="roundRect">
            <a:avLst>
              <a:gd name="adj" fmla="val 4500"/>
            </a:avLst>
          </a:prstGeom>
          <a:solidFill>
            <a:srgbClr val="FFFFFF"/>
          </a:solidFill>
          <a:ln>
            <a:noFill/>
          </a:ln>
          <a:effectLst>
            <a:outerShdw blurRad="90000" dist="30000" dir="5400000" rotWithShape="0">
              <a:srgbClr val="1E293B">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1910029" y="1645920"/>
            <a:ext cx="822960" cy="822960"/>
          </a:xfrm>
          <a:prstGeom prst="ellipse">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7" name="Picture 176" descr="icon_papier.png"/>
          <p:cNvPicPr>
            <a:picLocks noChangeAspect="1"/>
          </p:cNvPicPr>
          <p:nvPr/>
        </p:nvPicPr>
        <p:blipFill>
          <a:blip r:embed="rId3"/>
          <a:stretch>
            <a:fillRect/>
          </a:stretch>
        </p:blipFill>
        <p:spPr>
          <a:xfrm>
            <a:off x="2092909" y="1828800"/>
            <a:ext cx="457200" cy="457200"/>
          </a:xfrm>
          <a:prstGeom prst="rect">
            <a:avLst/>
          </a:prstGeom>
        </p:spPr>
      </p:pic>
      <p:sp>
        <p:nvSpPr>
          <p:cNvPr id="178" name="TextBox 177"/>
          <p:cNvSpPr txBox="1"/>
          <p:nvPr/>
        </p:nvSpPr>
        <p:spPr>
          <a:xfrm>
            <a:off x="800100" y="2606040"/>
            <a:ext cx="3042818" cy="594360"/>
          </a:xfrm>
          <a:prstGeom prst="rect">
            <a:avLst/>
          </a:prstGeom>
          <a:noFill/>
        </p:spPr>
        <p:txBody>
          <a:bodyPr wrap="square">
            <a:spAutoFit/>
          </a:bodyPr>
          <a:lstStyle/>
          <a:p>
            <a:pPr algn="ctr"/>
            <a:r>
              <a:rPr sz="1400" b="1">
                <a:solidFill>
                  <a:srgbClr val="1E293B"/>
                </a:solidFill>
                <a:latin typeface="Times New Roman" panose="02020603050405020304"/>
              </a:rPr>
              <a:t>Registres &amp; Reçus Papier</a:t>
            </a:r>
            <a:endParaRPr sz="1400" b="1">
              <a:solidFill>
                <a:srgbClr val="1E293B"/>
              </a:solidFill>
              <a:latin typeface="Times New Roman" panose="02020603050405020304"/>
            </a:endParaRPr>
          </a:p>
        </p:txBody>
      </p:sp>
      <p:sp>
        <p:nvSpPr>
          <p:cNvPr id="179" name="TextBox 178"/>
          <p:cNvSpPr txBox="1"/>
          <p:nvPr/>
        </p:nvSpPr>
        <p:spPr>
          <a:xfrm>
            <a:off x="800100" y="3020060"/>
            <a:ext cx="3042818" cy="886460"/>
          </a:xfrm>
          <a:prstGeom prst="rect">
            <a:avLst/>
          </a:prstGeom>
          <a:noFill/>
        </p:spPr>
        <p:txBody>
          <a:bodyPr wrap="square">
            <a:spAutoFit/>
          </a:bodyPr>
          <a:lstStyle/>
          <a:p>
            <a:r>
              <a:rPr b="1">
                <a:solidFill>
                  <a:srgbClr val="3B82F6"/>
                </a:solidFill>
                <a:latin typeface="Times New Roman" panose="02020603050405020304" charset="0"/>
                <a:cs typeface="Times New Roman" panose="02020603050405020304" charset="0"/>
              </a:rPr>
              <a:t>AVANTAGES</a:t>
            </a:r>
            <a:endParaRPr sz="900" b="1">
              <a:solidFill>
                <a:srgbClr val="3B82F6"/>
              </a:solidFill>
              <a:latin typeface="Lato" panose="020F0502020204030203"/>
            </a:endParaRPr>
          </a:p>
          <a:p>
            <a:pPr>
              <a:spcBef>
                <a:spcPts val="200"/>
              </a:spcBef>
            </a:pPr>
            <a:r>
              <a:rPr sz="1800">
                <a:solidFill>
                  <a:srgbClr val="475569"/>
                </a:solidFill>
                <a:latin typeface="Times New Roman" panose="02020603050405020304"/>
              </a:rPr>
              <a:t>Facilité d'usage instantanée, coût d'acquisition nul</a:t>
            </a:r>
            <a:endParaRPr sz="1800">
              <a:solidFill>
                <a:srgbClr val="475569"/>
              </a:solidFill>
              <a:latin typeface="Times New Roman" panose="02020603050405020304"/>
            </a:endParaRPr>
          </a:p>
        </p:txBody>
      </p:sp>
      <p:sp>
        <p:nvSpPr>
          <p:cNvPr id="180" name="TextBox 179"/>
          <p:cNvSpPr txBox="1"/>
          <p:nvPr/>
        </p:nvSpPr>
        <p:spPr>
          <a:xfrm>
            <a:off x="800100" y="4032884"/>
            <a:ext cx="3042818" cy="886460"/>
          </a:xfrm>
          <a:prstGeom prst="rect">
            <a:avLst/>
          </a:prstGeom>
          <a:noFill/>
        </p:spPr>
        <p:txBody>
          <a:bodyPr wrap="square">
            <a:spAutoFit/>
          </a:bodyPr>
          <a:lstStyle/>
          <a:p>
            <a:r>
              <a:rPr b="1">
                <a:solidFill>
                  <a:srgbClr val="94A3B8"/>
                </a:solidFill>
                <a:latin typeface="Times New Roman" panose="02020603050405020304" charset="0"/>
                <a:cs typeface="Times New Roman" panose="02020603050405020304" charset="0"/>
              </a:rPr>
              <a:t>LIMITES</a:t>
            </a:r>
            <a:endParaRPr sz="900" b="1">
              <a:solidFill>
                <a:srgbClr val="94A3B8"/>
              </a:solidFill>
              <a:latin typeface="Lato" panose="020F0502020204030203"/>
            </a:endParaRPr>
          </a:p>
          <a:p>
            <a:pPr>
              <a:spcBef>
                <a:spcPts val="200"/>
              </a:spcBef>
            </a:pPr>
            <a:r>
              <a:rPr sz="1800">
                <a:solidFill>
                  <a:srgbClr val="475569"/>
                </a:solidFill>
                <a:latin typeface="Times New Roman" panose="02020603050405020304"/>
              </a:rPr>
              <a:t>Risque majeur de perte, aucune traçabilité, fastidieux</a:t>
            </a:r>
            <a:endParaRPr sz="1800">
              <a:solidFill>
                <a:srgbClr val="475569"/>
              </a:solidFill>
              <a:latin typeface="Times New Roman" panose="02020603050405020304"/>
            </a:endParaRPr>
          </a:p>
        </p:txBody>
      </p:sp>
      <p:sp>
        <p:nvSpPr>
          <p:cNvPr id="181" name="TextBox 180"/>
          <p:cNvSpPr txBox="1"/>
          <p:nvPr/>
        </p:nvSpPr>
        <p:spPr>
          <a:xfrm>
            <a:off x="800100" y="4983480"/>
            <a:ext cx="3042818" cy="320040"/>
          </a:xfrm>
          <a:prstGeom prst="rect">
            <a:avLst/>
          </a:prstGeom>
          <a:noFill/>
        </p:spPr>
        <p:txBody>
          <a:bodyPr wrap="none">
            <a:spAutoFit/>
          </a:bodyPr>
          <a:lstStyle/>
          <a:p>
            <a:pPr algn="ctr"/>
            <a:r>
              <a:rPr sz="1300" b="1">
                <a:solidFill>
                  <a:srgbClr val="EF4444"/>
                </a:solidFill>
                <a:latin typeface="Times New Roman" panose="02020603050405020304"/>
              </a:rPr>
              <a:t>Non-efficace</a:t>
            </a:r>
            <a:endParaRPr sz="1300" b="1">
              <a:solidFill>
                <a:srgbClr val="EF4444"/>
              </a:solidFill>
              <a:latin typeface="Times New Roman" panose="02020603050405020304"/>
            </a:endParaRPr>
          </a:p>
        </p:txBody>
      </p:sp>
      <p:sp>
        <p:nvSpPr>
          <p:cNvPr id="182" name="Rounded Rectangle 181"/>
          <p:cNvSpPr/>
          <p:nvPr/>
        </p:nvSpPr>
        <p:spPr>
          <a:xfrm>
            <a:off x="4345838" y="1371600"/>
            <a:ext cx="3500018" cy="4114800"/>
          </a:xfrm>
          <a:prstGeom prst="roundRect">
            <a:avLst>
              <a:gd name="adj" fmla="val 4500"/>
            </a:avLst>
          </a:prstGeom>
          <a:solidFill>
            <a:srgbClr val="FFFFFF"/>
          </a:solidFill>
          <a:ln>
            <a:noFill/>
          </a:ln>
          <a:effectLst>
            <a:outerShdw blurRad="90000" dist="30000" dir="5400000" rotWithShape="0">
              <a:srgbClr val="1E293B">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5684367" y="1645920"/>
            <a:ext cx="822960" cy="822960"/>
          </a:xfrm>
          <a:prstGeom prst="ellipse">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4" name="Picture 183" descr="icon_tableur.png"/>
          <p:cNvPicPr>
            <a:picLocks noChangeAspect="1"/>
          </p:cNvPicPr>
          <p:nvPr/>
        </p:nvPicPr>
        <p:blipFill>
          <a:blip r:embed="rId4"/>
          <a:stretch>
            <a:fillRect/>
          </a:stretch>
        </p:blipFill>
        <p:spPr>
          <a:xfrm>
            <a:off x="5867247" y="1828800"/>
            <a:ext cx="457200" cy="457200"/>
          </a:xfrm>
          <a:prstGeom prst="rect">
            <a:avLst/>
          </a:prstGeom>
        </p:spPr>
      </p:pic>
      <p:sp>
        <p:nvSpPr>
          <p:cNvPr id="185" name="TextBox 184"/>
          <p:cNvSpPr txBox="1"/>
          <p:nvPr/>
        </p:nvSpPr>
        <p:spPr>
          <a:xfrm>
            <a:off x="4574438" y="2606040"/>
            <a:ext cx="3042818" cy="594360"/>
          </a:xfrm>
          <a:prstGeom prst="rect">
            <a:avLst/>
          </a:prstGeom>
          <a:noFill/>
        </p:spPr>
        <p:txBody>
          <a:bodyPr wrap="square">
            <a:spAutoFit/>
          </a:bodyPr>
          <a:lstStyle/>
          <a:p>
            <a:pPr algn="ctr"/>
            <a:r>
              <a:rPr sz="1400" b="1">
                <a:solidFill>
                  <a:srgbClr val="1E293B"/>
                </a:solidFill>
                <a:latin typeface="Times New Roman" panose="02020603050405020304"/>
              </a:rPr>
              <a:t>Tableurs (Excel/WhatsApp)</a:t>
            </a:r>
            <a:endParaRPr sz="1400" b="1">
              <a:solidFill>
                <a:srgbClr val="1E293B"/>
              </a:solidFill>
              <a:latin typeface="Times New Roman" panose="02020603050405020304"/>
            </a:endParaRPr>
          </a:p>
        </p:txBody>
      </p:sp>
      <p:sp>
        <p:nvSpPr>
          <p:cNvPr id="186" name="TextBox 185"/>
          <p:cNvSpPr txBox="1"/>
          <p:nvPr/>
        </p:nvSpPr>
        <p:spPr>
          <a:xfrm>
            <a:off x="4574438" y="3020060"/>
            <a:ext cx="3042818" cy="886460"/>
          </a:xfrm>
          <a:prstGeom prst="rect">
            <a:avLst/>
          </a:prstGeom>
          <a:noFill/>
        </p:spPr>
        <p:txBody>
          <a:bodyPr wrap="square">
            <a:spAutoFit/>
          </a:bodyPr>
          <a:lstStyle/>
          <a:p>
            <a:r>
              <a:rPr b="1">
                <a:solidFill>
                  <a:srgbClr val="3B82F6"/>
                </a:solidFill>
                <a:latin typeface="Times New Roman" panose="02020603050405020304" charset="0"/>
                <a:cs typeface="Times New Roman" panose="02020603050405020304" charset="0"/>
              </a:rPr>
              <a:t>AVANTAGES</a:t>
            </a:r>
            <a:endParaRPr b="1">
              <a:solidFill>
                <a:srgbClr val="3B82F6"/>
              </a:solidFill>
              <a:latin typeface="Times New Roman" panose="02020603050405020304" charset="0"/>
              <a:cs typeface="Times New Roman" panose="02020603050405020304" charset="0"/>
            </a:endParaRPr>
          </a:p>
          <a:p>
            <a:pPr>
              <a:spcBef>
                <a:spcPts val="200"/>
              </a:spcBef>
            </a:pPr>
            <a:r>
              <a:rPr sz="1800">
                <a:solidFill>
                  <a:srgbClr val="475569"/>
                </a:solidFill>
                <a:latin typeface="Times New Roman" panose="02020603050405020304" charset="0"/>
                <a:cs typeface="Times New Roman" panose="02020603050405020304" charset="0"/>
              </a:rPr>
              <a:t>Semi-numérisé, modification libre, graphique de base</a:t>
            </a:r>
            <a:endParaRPr sz="1800">
              <a:solidFill>
                <a:srgbClr val="475569"/>
              </a:solidFill>
              <a:latin typeface="Times New Roman" panose="02020603050405020304" charset="0"/>
              <a:cs typeface="Times New Roman" panose="02020603050405020304" charset="0"/>
            </a:endParaRPr>
          </a:p>
        </p:txBody>
      </p:sp>
      <p:sp>
        <p:nvSpPr>
          <p:cNvPr id="187" name="TextBox 186"/>
          <p:cNvSpPr txBox="1"/>
          <p:nvPr/>
        </p:nvSpPr>
        <p:spPr>
          <a:xfrm>
            <a:off x="4574438" y="4047489"/>
            <a:ext cx="3042818" cy="1163320"/>
          </a:xfrm>
          <a:prstGeom prst="rect">
            <a:avLst/>
          </a:prstGeom>
          <a:noFill/>
        </p:spPr>
        <p:txBody>
          <a:bodyPr wrap="square">
            <a:spAutoFit/>
          </a:bodyPr>
          <a:lstStyle/>
          <a:p>
            <a:r>
              <a:rPr b="1">
                <a:solidFill>
                  <a:srgbClr val="94A3B8"/>
                </a:solidFill>
                <a:latin typeface="Times New Roman" panose="02020603050405020304" charset="0"/>
                <a:cs typeface="Times New Roman" panose="02020603050405020304" charset="0"/>
              </a:rPr>
              <a:t>LIMITES</a:t>
            </a:r>
            <a:endParaRPr sz="1600" b="1">
              <a:solidFill>
                <a:srgbClr val="94A3B8"/>
              </a:solidFill>
              <a:latin typeface="Times New Roman" panose="02020603050405020304" charset="0"/>
              <a:cs typeface="Times New Roman" panose="02020603050405020304" charset="0"/>
            </a:endParaRPr>
          </a:p>
          <a:p>
            <a:pPr>
              <a:spcBef>
                <a:spcPts val="200"/>
              </a:spcBef>
            </a:pPr>
            <a:r>
              <a:rPr sz="1800">
                <a:solidFill>
                  <a:srgbClr val="475569"/>
                </a:solidFill>
                <a:latin typeface="Times New Roman" panose="02020603050405020304" charset="0"/>
                <a:cs typeface="Times New Roman" panose="02020603050405020304" charset="0"/>
              </a:rPr>
              <a:t>Saisie manuelle sujette aux erreurs, absence de relance auto</a:t>
            </a:r>
            <a:endParaRPr sz="1800">
              <a:solidFill>
                <a:srgbClr val="475569"/>
              </a:solidFill>
              <a:latin typeface="Times New Roman" panose="02020603050405020304" charset="0"/>
              <a:cs typeface="Times New Roman" panose="02020603050405020304" charset="0"/>
            </a:endParaRPr>
          </a:p>
        </p:txBody>
      </p:sp>
      <p:sp>
        <p:nvSpPr>
          <p:cNvPr id="188" name="TextBox 187"/>
          <p:cNvSpPr txBox="1"/>
          <p:nvPr/>
        </p:nvSpPr>
        <p:spPr>
          <a:xfrm>
            <a:off x="4574438" y="4983480"/>
            <a:ext cx="3042818" cy="320040"/>
          </a:xfrm>
          <a:prstGeom prst="rect">
            <a:avLst/>
          </a:prstGeom>
          <a:noFill/>
        </p:spPr>
        <p:txBody>
          <a:bodyPr wrap="none">
            <a:spAutoFit/>
          </a:bodyPr>
          <a:lstStyle/>
          <a:p>
            <a:pPr algn="ctr"/>
            <a:r>
              <a:rPr sz="1300" b="1">
                <a:solidFill>
                  <a:srgbClr val="F59E0B"/>
                </a:solidFill>
                <a:latin typeface="Times New Roman" panose="02020603050405020304"/>
              </a:rPr>
              <a:t>Partielle</a:t>
            </a:r>
            <a:endParaRPr sz="1300" b="1">
              <a:solidFill>
                <a:srgbClr val="F59E0B"/>
              </a:solidFill>
              <a:latin typeface="Times New Roman" panose="02020603050405020304"/>
            </a:endParaRPr>
          </a:p>
        </p:txBody>
      </p:sp>
      <p:sp>
        <p:nvSpPr>
          <p:cNvPr id="189" name="Rounded Rectangle 188"/>
          <p:cNvSpPr/>
          <p:nvPr/>
        </p:nvSpPr>
        <p:spPr>
          <a:xfrm>
            <a:off x="8120176" y="1371600"/>
            <a:ext cx="3500018" cy="4114800"/>
          </a:xfrm>
          <a:prstGeom prst="roundRect">
            <a:avLst>
              <a:gd name="adj" fmla="val 4500"/>
            </a:avLst>
          </a:prstGeom>
          <a:solidFill>
            <a:srgbClr val="FFFFFF"/>
          </a:solidFill>
          <a:ln>
            <a:noFill/>
          </a:ln>
          <a:effectLst>
            <a:outerShdw blurRad="90000" dist="30000" dir="5400000" rotWithShape="0">
              <a:srgbClr val="1E293B">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Oval 189"/>
          <p:cNvSpPr/>
          <p:nvPr/>
        </p:nvSpPr>
        <p:spPr>
          <a:xfrm>
            <a:off x="9458706" y="1645920"/>
            <a:ext cx="822960" cy="822960"/>
          </a:xfrm>
          <a:prstGeom prst="ellipse">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1" name="Picture 190" descr="icon_saas.png"/>
          <p:cNvPicPr>
            <a:picLocks noChangeAspect="1"/>
          </p:cNvPicPr>
          <p:nvPr/>
        </p:nvPicPr>
        <p:blipFill>
          <a:blip r:embed="rId5"/>
          <a:stretch>
            <a:fillRect/>
          </a:stretch>
        </p:blipFill>
        <p:spPr>
          <a:xfrm>
            <a:off x="9641586" y="1828800"/>
            <a:ext cx="457200" cy="457200"/>
          </a:xfrm>
          <a:prstGeom prst="rect">
            <a:avLst/>
          </a:prstGeom>
        </p:spPr>
      </p:pic>
      <p:sp>
        <p:nvSpPr>
          <p:cNvPr id="192" name="TextBox 191"/>
          <p:cNvSpPr txBox="1"/>
          <p:nvPr/>
        </p:nvSpPr>
        <p:spPr>
          <a:xfrm>
            <a:off x="8348776" y="2606040"/>
            <a:ext cx="3042818" cy="594360"/>
          </a:xfrm>
          <a:prstGeom prst="rect">
            <a:avLst/>
          </a:prstGeom>
          <a:noFill/>
        </p:spPr>
        <p:txBody>
          <a:bodyPr wrap="square">
            <a:spAutoFit/>
          </a:bodyPr>
          <a:lstStyle/>
          <a:p>
            <a:pPr algn="ctr"/>
            <a:r>
              <a:rPr sz="1400" b="1">
                <a:solidFill>
                  <a:srgbClr val="1E293B"/>
                </a:solidFill>
                <a:latin typeface="Times New Roman" panose="02020603050405020304"/>
              </a:rPr>
              <a:t>Logiciels SaaS Étrangers (GererSeul)</a:t>
            </a:r>
            <a:endParaRPr sz="1400" b="1">
              <a:solidFill>
                <a:srgbClr val="1E293B"/>
              </a:solidFill>
              <a:latin typeface="Times New Roman" panose="02020603050405020304"/>
            </a:endParaRPr>
          </a:p>
        </p:txBody>
      </p:sp>
      <p:sp>
        <p:nvSpPr>
          <p:cNvPr id="193" name="TextBox 192"/>
          <p:cNvSpPr txBox="1"/>
          <p:nvPr/>
        </p:nvSpPr>
        <p:spPr>
          <a:xfrm>
            <a:off x="8348776" y="3053080"/>
            <a:ext cx="3042818" cy="1163320"/>
          </a:xfrm>
          <a:prstGeom prst="rect">
            <a:avLst/>
          </a:prstGeom>
          <a:noFill/>
        </p:spPr>
        <p:txBody>
          <a:bodyPr wrap="square">
            <a:spAutoFit/>
          </a:bodyPr>
          <a:lstStyle/>
          <a:p>
            <a:r>
              <a:rPr b="1">
                <a:solidFill>
                  <a:srgbClr val="3B82F6"/>
                </a:solidFill>
                <a:latin typeface="Times New Roman" panose="02020603050405020304" charset="0"/>
                <a:cs typeface="Times New Roman" panose="02020603050405020304" charset="0"/>
              </a:rPr>
              <a:t>AVANTAGES</a:t>
            </a:r>
            <a:endParaRPr sz="1600" b="1">
              <a:solidFill>
                <a:srgbClr val="3B82F6"/>
              </a:solidFill>
              <a:latin typeface="Times New Roman" panose="02020603050405020304" charset="0"/>
              <a:cs typeface="Times New Roman" panose="02020603050405020304" charset="0"/>
            </a:endParaRPr>
          </a:p>
          <a:p>
            <a:pPr>
              <a:spcBef>
                <a:spcPts val="200"/>
              </a:spcBef>
            </a:pPr>
            <a:r>
              <a:rPr sz="1800">
                <a:solidFill>
                  <a:srgbClr val="475569"/>
                </a:solidFill>
                <a:latin typeface="Times New Roman" panose="02020603050405020304" charset="0"/>
                <a:cs typeface="Times New Roman" panose="02020603050405020304" charset="0"/>
              </a:rPr>
              <a:t>Automatisation totale de l'édition de baux, quittances PDF</a:t>
            </a:r>
            <a:endParaRPr sz="1800">
              <a:solidFill>
                <a:srgbClr val="475569"/>
              </a:solidFill>
              <a:latin typeface="Times New Roman" panose="02020603050405020304" charset="0"/>
              <a:cs typeface="Times New Roman" panose="02020603050405020304" charset="0"/>
            </a:endParaRPr>
          </a:p>
        </p:txBody>
      </p:sp>
      <p:sp>
        <p:nvSpPr>
          <p:cNvPr id="194" name="TextBox 193"/>
          <p:cNvSpPr txBox="1"/>
          <p:nvPr/>
        </p:nvSpPr>
        <p:spPr>
          <a:xfrm>
            <a:off x="8348776" y="4216399"/>
            <a:ext cx="3042818" cy="824865"/>
          </a:xfrm>
          <a:prstGeom prst="rect">
            <a:avLst/>
          </a:prstGeom>
          <a:noFill/>
        </p:spPr>
        <p:txBody>
          <a:bodyPr wrap="square">
            <a:spAutoFit/>
          </a:bodyPr>
          <a:lstStyle/>
          <a:p>
            <a:r>
              <a:rPr b="1">
                <a:solidFill>
                  <a:srgbClr val="94A3B8"/>
                </a:solidFill>
                <a:latin typeface="Times New Roman" panose="02020603050405020304" charset="0"/>
                <a:cs typeface="Times New Roman" panose="02020603050405020304" charset="0"/>
              </a:rPr>
              <a:t>LIMITES</a:t>
            </a:r>
            <a:endParaRPr sz="1600" b="1">
              <a:solidFill>
                <a:srgbClr val="94A3B8"/>
              </a:solidFill>
              <a:latin typeface="Times New Roman" panose="02020603050405020304" charset="0"/>
              <a:cs typeface="Times New Roman" panose="02020603050405020304" charset="0"/>
            </a:endParaRPr>
          </a:p>
          <a:p>
            <a:pPr>
              <a:spcBef>
                <a:spcPts val="200"/>
              </a:spcBef>
            </a:pPr>
            <a:r>
              <a:rPr sz="1600">
                <a:solidFill>
                  <a:srgbClr val="475569"/>
                </a:solidFill>
                <a:latin typeface="Times New Roman" panose="02020603050405020304" charset="0"/>
                <a:cs typeface="Times New Roman" panose="02020603050405020304" charset="0"/>
              </a:rPr>
              <a:t>Modèle juridique européen, absence de passerelles locales</a:t>
            </a:r>
            <a:endParaRPr sz="1600">
              <a:solidFill>
                <a:srgbClr val="475569"/>
              </a:solidFill>
              <a:latin typeface="Times New Roman" panose="02020603050405020304" charset="0"/>
              <a:cs typeface="Times New Roman" panose="02020603050405020304" charset="0"/>
            </a:endParaRPr>
          </a:p>
        </p:txBody>
      </p:sp>
      <p:sp>
        <p:nvSpPr>
          <p:cNvPr id="195" name="TextBox 194"/>
          <p:cNvSpPr txBox="1"/>
          <p:nvPr/>
        </p:nvSpPr>
        <p:spPr>
          <a:xfrm>
            <a:off x="8348776" y="4983480"/>
            <a:ext cx="3042818" cy="320040"/>
          </a:xfrm>
          <a:prstGeom prst="rect">
            <a:avLst/>
          </a:prstGeom>
          <a:noFill/>
        </p:spPr>
        <p:txBody>
          <a:bodyPr wrap="none">
            <a:spAutoFit/>
          </a:bodyPr>
          <a:lstStyle/>
          <a:p>
            <a:pPr algn="ctr"/>
            <a:r>
              <a:rPr sz="1300" b="1">
                <a:solidFill>
                  <a:srgbClr val="EF4444"/>
                </a:solidFill>
                <a:latin typeface="Times New Roman" panose="02020603050405020304"/>
              </a:rPr>
              <a:t>Non-adapté</a:t>
            </a:r>
            <a:endParaRPr sz="1300" b="1">
              <a:solidFill>
                <a:srgbClr val="EF4444"/>
              </a:solidFill>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46" name="Shape 146"/>
        <p:cNvGrpSpPr/>
        <p:nvPr/>
      </p:nvGrpSpPr>
      <p:grpSpPr>
        <a:xfrm>
          <a:off x="0" y="0"/>
          <a:ext cx="0" cy="0"/>
          <a:chOff x="0" y="0"/>
          <a:chExt cx="0" cy="0"/>
        </a:xfrm>
      </p:grpSpPr>
      <p:pic>
        <p:nvPicPr>
          <p:cNvPr id="147" name="Google Shape;147;p16"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150" name="Google Shape;150;p16"/>
          <p:cNvSpPr txBox="1"/>
          <p:nvPr/>
        </p:nvSpPr>
        <p:spPr>
          <a:xfrm>
            <a:off x="57150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Times New Roman" panose="02020603050405020304" charset="0"/>
                <a:ea typeface="Poppins" panose="00000500000000000000"/>
                <a:cs typeface="Times New Roman" panose="02020603050405020304" charset="0"/>
                <a:sym typeface="Poppins" panose="00000500000000000000"/>
              </a:rPr>
              <a:t>RENTAL</a:t>
            </a:r>
            <a:endParaRPr lang="en-US" sz="1200" b="1" i="0" u="none" strike="noStrike" cap="none">
              <a:solidFill>
                <a:srgbClr val="3B82F6"/>
              </a:solidFill>
              <a:latin typeface="Times New Roman" panose="02020603050405020304" charset="0"/>
              <a:ea typeface="Poppins" panose="00000500000000000000"/>
              <a:cs typeface="Times New Roman" panose="02020603050405020304" charset="0"/>
              <a:sym typeface="Poppins" panose="00000500000000000000"/>
            </a:endParaRPr>
          </a:p>
        </p:txBody>
      </p:sp>
      <p:sp>
        <p:nvSpPr>
          <p:cNvPr id="152" name="Google Shape;152;p16"/>
          <p:cNvSpPr txBox="1"/>
          <p:nvPr/>
        </p:nvSpPr>
        <p:spPr>
          <a:xfrm>
            <a:off x="571500" y="6286500"/>
            <a:ext cx="3486150"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Lato" panose="020F0502020204030203" charset="0"/>
                <a:ea typeface="Lato" panose="020F0502020204030203"/>
                <a:cs typeface="Lato" panose="020F0502020204030203" charset="0"/>
                <a:sym typeface="Lato" panose="020F0502020204030203"/>
              </a:rPr>
              <a:t>Ipnet Institute of Technology — Soutenance de Licence Professionnelle</a:t>
            </a:r>
            <a:endParaRPr lang="en-US" sz="1200" b="0" i="0" u="none" strike="noStrike" cap="none">
              <a:solidFill>
                <a:srgbClr val="475569"/>
              </a:solidFill>
              <a:latin typeface="Lato" panose="020F0502020204030203" charset="0"/>
              <a:ea typeface="Lato" panose="020F0502020204030203"/>
              <a:cs typeface="Lato" panose="020F0502020204030203" charset="0"/>
              <a:sym typeface="Lato" panose="020F0502020204030203"/>
            </a:endParaRPr>
          </a:p>
        </p:txBody>
      </p:sp>
      <p:sp>
        <p:nvSpPr>
          <p:cNvPr id="153" name="Google Shape;153;p16"/>
          <p:cNvSpPr txBox="1"/>
          <p:nvPr/>
        </p:nvSpPr>
        <p:spPr>
          <a:xfrm>
            <a:off x="11487150" y="6286500"/>
            <a:ext cx="419735" cy="57086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fr-FR" altLang="en-US" sz="1800" b="1" i="0" u="none" strike="noStrike" cap="none">
                <a:solidFill>
                  <a:schemeClr val="tx1"/>
                </a:solidFill>
                <a:latin typeface="Lato" panose="020F0502020204030203" charset="0"/>
                <a:ea typeface="Lato" panose="020F0502020204030203"/>
                <a:cs typeface="Lato" panose="020F0502020204030203" charset="0"/>
                <a:sym typeface="Lato" panose="020F0502020204030203"/>
              </a:rPr>
              <a:t>10</a:t>
            </a:r>
            <a:endParaRPr lang="fr-FR" altLang="en-US" sz="1800" b="1" i="0" u="none" strike="noStrike" cap="none">
              <a:solidFill>
                <a:schemeClr val="tx1"/>
              </a:solidFill>
              <a:latin typeface="Lato" panose="020F0502020204030203" charset="0"/>
              <a:ea typeface="Lato" panose="020F0502020204030203"/>
              <a:cs typeface="Lato" panose="020F0502020204030203" charset="0"/>
              <a:sym typeface="Lato" panose="020F0502020204030203"/>
            </a:endParaRPr>
          </a:p>
        </p:txBody>
      </p:sp>
      <p:sp>
        <p:nvSpPr>
          <p:cNvPr id="6" name="Zone de texte 5"/>
          <p:cNvSpPr txBox="1"/>
          <p:nvPr/>
        </p:nvSpPr>
        <p:spPr>
          <a:xfrm>
            <a:off x="572135" y="2414905"/>
            <a:ext cx="10914380" cy="1535430"/>
          </a:xfrm>
          <a:prstGeom prst="rect">
            <a:avLst/>
          </a:prstGeom>
          <a:noFill/>
          <a:ln>
            <a:solidFill>
              <a:schemeClr val="tx1"/>
            </a:solidFill>
          </a:ln>
        </p:spPr>
        <p:txBody>
          <a:bodyPr wrap="square" rtlCol="0" anchor="t">
            <a:noAutofit/>
          </a:bodyPr>
          <a:p>
            <a:pPr marL="0" indent="0" algn="ctr">
              <a:lnSpc>
                <a:spcPct val="105000"/>
              </a:lnSpc>
              <a:buNone/>
            </a:pPr>
            <a:r>
              <a:rPr lang="en-US" sz="6600" b="1" cap="all">
                <a:solidFill>
                  <a:srgbClr val="1E293B"/>
                </a:solidFill>
                <a:uFillTx/>
                <a:latin typeface="Poppins" panose="00000500000000000000" charset="0"/>
                <a:ea typeface="Poppins" panose="00000500000000000000"/>
                <a:cs typeface="Poppins" panose="00000500000000000000"/>
                <a:sym typeface="Poppins" panose="00000500000000000000"/>
              </a:rPr>
              <a:t>Ob</a:t>
            </a:r>
            <a:r>
              <a:rPr lang="fr-FR" altLang="en-US" sz="6600" b="1" cap="all">
                <a:solidFill>
                  <a:srgbClr val="1E293B"/>
                </a:solidFill>
                <a:uFillTx/>
                <a:latin typeface="Poppins" panose="00000500000000000000" charset="0"/>
                <a:ea typeface="Poppins" panose="00000500000000000000"/>
                <a:cs typeface="Poppins" panose="00000500000000000000"/>
                <a:sym typeface="Poppins" panose="00000500000000000000"/>
              </a:rPr>
              <a:t>J</a:t>
            </a:r>
            <a:r>
              <a:rPr lang="en-US" sz="6600" b="1" cap="all">
                <a:solidFill>
                  <a:srgbClr val="1E293B"/>
                </a:solidFill>
                <a:uFillTx/>
                <a:latin typeface="Poppins" panose="00000500000000000000" charset="0"/>
                <a:ea typeface="Poppins" panose="00000500000000000000"/>
                <a:cs typeface="Poppins" panose="00000500000000000000"/>
                <a:sym typeface="Poppins" panose="00000500000000000000"/>
              </a:rPr>
              <a:t>ectif</a:t>
            </a:r>
            <a:r>
              <a:rPr lang="fr-FR" altLang="en-US" sz="6600" b="1" cap="all">
                <a:solidFill>
                  <a:srgbClr val="1E293B"/>
                </a:solidFill>
                <a:uFillTx/>
                <a:latin typeface="Poppins" panose="00000500000000000000" charset="0"/>
                <a:ea typeface="Poppins" panose="00000500000000000000"/>
                <a:cs typeface="Poppins" panose="00000500000000000000"/>
                <a:sym typeface="Poppins" panose="00000500000000000000"/>
              </a:rPr>
              <a:t>s</a:t>
            </a:r>
            <a:r>
              <a:rPr lang="en-US" sz="6600" b="1" cap="all">
                <a:solidFill>
                  <a:srgbClr val="1E293B"/>
                </a:solidFill>
                <a:uFillTx/>
                <a:latin typeface="Poppins" panose="00000500000000000000" charset="0"/>
                <a:ea typeface="Poppins" panose="00000500000000000000"/>
                <a:cs typeface="Poppins" panose="00000500000000000000"/>
                <a:sym typeface="Poppins" panose="00000500000000000000"/>
              </a:rPr>
              <a:t> </a:t>
            </a:r>
            <a:r>
              <a:rPr lang="fr-FR" altLang="en-US" sz="6600" b="1" cap="all">
                <a:solidFill>
                  <a:srgbClr val="1E293B"/>
                </a:solidFill>
                <a:uFillTx/>
                <a:latin typeface="Poppins" panose="00000500000000000000" charset="0"/>
                <a:ea typeface="Poppins" panose="00000500000000000000"/>
                <a:cs typeface="Poppins" panose="00000500000000000000"/>
                <a:sym typeface="Poppins" panose="00000500000000000000"/>
              </a:rPr>
              <a:t>DU</a:t>
            </a:r>
            <a:r>
              <a:rPr lang="en-US" sz="6600" b="1" cap="all">
                <a:solidFill>
                  <a:srgbClr val="1E293B"/>
                </a:solidFill>
                <a:uFillTx/>
                <a:latin typeface="Poppins" panose="00000500000000000000" charset="0"/>
                <a:ea typeface="Poppins" panose="00000500000000000000"/>
                <a:cs typeface="Poppins" panose="00000500000000000000"/>
                <a:sym typeface="Poppins" panose="00000500000000000000"/>
              </a:rPr>
              <a:t> Pro</a:t>
            </a:r>
            <a:r>
              <a:rPr lang="fr-FR" altLang="en-US" sz="6600" b="1" cap="all">
                <a:solidFill>
                  <a:srgbClr val="1E293B"/>
                </a:solidFill>
                <a:uFillTx/>
                <a:latin typeface="Poppins" panose="00000500000000000000" charset="0"/>
                <a:ea typeface="Poppins" panose="00000500000000000000"/>
                <a:cs typeface="Poppins" panose="00000500000000000000"/>
                <a:sym typeface="Poppins" panose="00000500000000000000"/>
              </a:rPr>
              <a:t>J</a:t>
            </a:r>
            <a:r>
              <a:rPr lang="en-US" sz="6600" b="1" cap="all">
                <a:solidFill>
                  <a:srgbClr val="1E293B"/>
                </a:solidFill>
                <a:uFillTx/>
                <a:latin typeface="Poppins" panose="00000500000000000000" charset="0"/>
                <a:ea typeface="Poppins" panose="00000500000000000000"/>
                <a:cs typeface="Poppins" panose="00000500000000000000"/>
                <a:sym typeface="Poppins" panose="00000500000000000000"/>
              </a:rPr>
              <a:t>et</a:t>
            </a:r>
            <a:endParaRPr lang="en-US" sz="6600" b="1" i="0" cap="all">
              <a:solidFill>
                <a:srgbClr val="1E293B"/>
              </a:solidFill>
              <a:uFillTx/>
              <a:latin typeface="Poppins" panose="00000500000000000000" charset="0"/>
              <a:ea typeface="Poppins" panose="00000500000000000000"/>
              <a:cs typeface="Poppins" panose="00000500000000000000"/>
              <a:sym typeface="Poppins" panose="00000500000000000000"/>
            </a:endParaRPr>
          </a:p>
          <a:p>
            <a:pPr marL="0" indent="0" algn="ctr">
              <a:lnSpc>
                <a:spcPct val="105000"/>
              </a:lnSpc>
              <a:buNone/>
            </a:pPr>
            <a:endParaRPr lang="en-US" altLang="en-US" sz="6600" b="1" i="0" cap="all" dirty="0">
              <a:solidFill>
                <a:srgbClr val="1E293B"/>
              </a:solidFill>
              <a:uFillTx/>
              <a:latin typeface="Poppins" panose="00000500000000000000" charset="0"/>
              <a:ea typeface="Poppins" panose="00000500000000000000"/>
              <a:cs typeface="Poppins" panose="00000500000000000000"/>
              <a:sym typeface="Poppins" panose="00000500000000000000"/>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204" name="Shape 204"/>
        <p:cNvGrpSpPr/>
        <p:nvPr/>
      </p:nvGrpSpPr>
      <p:grpSpPr>
        <a:xfrm>
          <a:off x="0" y="0"/>
          <a:ext cx="0" cy="0"/>
          <a:chOff x="0" y="0"/>
          <a:chExt cx="0" cy="0"/>
        </a:xfrm>
      </p:grpSpPr>
      <p:pic>
        <p:nvPicPr>
          <p:cNvPr id="205" name="Google Shape;205;p18"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pic>
        <p:nvPicPr>
          <p:cNvPr id="206" name="Google Shape;206;p18" descr="image.png"/>
          <p:cNvPicPr preferRelativeResize="0"/>
          <p:nvPr/>
        </p:nvPicPr>
        <p:blipFill rotWithShape="1">
          <a:blip r:embed="rId3"/>
          <a:srcRect/>
          <a:stretch>
            <a:fillRect/>
          </a:stretch>
        </p:blipFill>
        <p:spPr>
          <a:xfrm>
            <a:off x="1690370" y="2263775"/>
            <a:ext cx="2929890" cy="1323975"/>
          </a:xfrm>
          <a:prstGeom prst="rect">
            <a:avLst/>
          </a:prstGeom>
          <a:noFill/>
          <a:ln>
            <a:noFill/>
          </a:ln>
        </p:spPr>
      </p:pic>
      <p:pic>
        <p:nvPicPr>
          <p:cNvPr id="207" name="Google Shape;207;p18" descr="image.png"/>
          <p:cNvPicPr preferRelativeResize="0"/>
          <p:nvPr/>
        </p:nvPicPr>
        <p:blipFill rotWithShape="1">
          <a:blip r:embed="rId4"/>
          <a:srcRect/>
          <a:stretch>
            <a:fillRect/>
          </a:stretch>
        </p:blipFill>
        <p:spPr>
          <a:xfrm>
            <a:off x="7327265" y="2313305"/>
            <a:ext cx="3074670" cy="1268095"/>
          </a:xfrm>
          <a:prstGeom prst="rect">
            <a:avLst/>
          </a:prstGeom>
          <a:noFill/>
          <a:ln>
            <a:noFill/>
          </a:ln>
        </p:spPr>
      </p:pic>
      <p:pic>
        <p:nvPicPr>
          <p:cNvPr id="208" name="Google Shape;208;p18" descr="image.png"/>
          <p:cNvPicPr preferRelativeResize="0"/>
          <p:nvPr/>
        </p:nvPicPr>
        <p:blipFill rotWithShape="1">
          <a:blip r:embed="rId5"/>
          <a:srcRect/>
          <a:stretch>
            <a:fillRect/>
          </a:stretch>
        </p:blipFill>
        <p:spPr>
          <a:xfrm>
            <a:off x="4620260" y="4375785"/>
            <a:ext cx="3047365" cy="1415415"/>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11" name="Google Shape;211;p18"/>
          <p:cNvSpPr txBox="1"/>
          <p:nvPr/>
        </p:nvSpPr>
        <p:spPr>
          <a:xfrm>
            <a:off x="9944100" y="471487"/>
            <a:ext cx="167640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0" i="0" u="none" strike="noStrike" cap="none">
                <a:solidFill>
                  <a:srgbClr val="475569"/>
                </a:solidFill>
                <a:latin typeface="Lato" panose="020F0502020204030203"/>
                <a:ea typeface="Lato" panose="020F0502020204030203"/>
                <a:cs typeface="Lato" panose="020F0502020204030203"/>
                <a:sym typeface="Lato" panose="020F0502020204030203"/>
              </a:rPr>
              <a:t>OBJECTIFS STRATÉGIQUES</a:t>
            </a:r>
            <a:endParaRPr lang="en-US" sz="975"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12" name="Google Shape;212;p18"/>
          <p:cNvSpPr txBox="1"/>
          <p:nvPr/>
        </p:nvSpPr>
        <p:spPr>
          <a:xfrm>
            <a:off x="571500" y="6286500"/>
            <a:ext cx="3486150"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sz="12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13" name="Google Shape;213;p18"/>
          <p:cNvSpPr txBox="1"/>
          <p:nvPr/>
        </p:nvSpPr>
        <p:spPr>
          <a:xfrm>
            <a:off x="11487150" y="6286500"/>
            <a:ext cx="353060" cy="43561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rPr>
              <a:t>11</a:t>
            </a:r>
            <a:endPar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sp>
        <p:nvSpPr>
          <p:cNvPr id="214" name="Google Shape;214;p18"/>
          <p:cNvSpPr txBox="1"/>
          <p:nvPr/>
        </p:nvSpPr>
        <p:spPr>
          <a:xfrm>
            <a:off x="1659095" y="3159065"/>
            <a:ext cx="3047099" cy="23050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0" i="0" u="none" strike="noStrike" cap="none">
                <a:solidFill>
                  <a:srgbClr val="1E293B"/>
                </a:solidFill>
                <a:latin typeface="Poppins SemiBold" panose="00000500000000000000"/>
                <a:ea typeface="Poppins SemiBold" panose="00000500000000000000"/>
                <a:cs typeface="Poppins SemiBold" panose="00000500000000000000"/>
                <a:sym typeface="Poppins SemiBold" panose="00000500000000000000"/>
              </a:rPr>
              <a:t>Centralisation </a:t>
            </a:r>
            <a:r>
              <a:rPr lang="fr-FR" altLang="en-US" sz="1500" b="0" i="0" u="none" strike="noStrike" cap="none">
                <a:solidFill>
                  <a:srgbClr val="1E293B"/>
                </a:solidFill>
                <a:latin typeface="Poppins SemiBold" panose="00000500000000000000"/>
                <a:ea typeface="Poppins SemiBold" panose="00000500000000000000"/>
                <a:cs typeface="Poppins SemiBold" panose="00000500000000000000"/>
                <a:sym typeface="Poppins SemiBold" panose="00000500000000000000"/>
              </a:rPr>
              <a:t>les données</a:t>
            </a:r>
            <a:endParaRPr lang="fr-FR" altLang="en-US" sz="1500" b="0" i="0" u="none" strike="noStrike" cap="none">
              <a:solidFill>
                <a:srgbClr val="1E293B"/>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216" name="Google Shape;216;p18"/>
          <p:cNvSpPr txBox="1"/>
          <p:nvPr/>
        </p:nvSpPr>
        <p:spPr>
          <a:xfrm>
            <a:off x="7327789" y="3208595"/>
            <a:ext cx="3047099" cy="571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0" i="0" u="none" strike="noStrike" cap="none">
                <a:solidFill>
                  <a:srgbClr val="1E293B"/>
                </a:solidFill>
                <a:latin typeface="Poppins SemiBold" panose="00000500000000000000"/>
                <a:ea typeface="Poppins SemiBold" panose="00000500000000000000"/>
                <a:cs typeface="Poppins SemiBold" panose="00000500000000000000"/>
                <a:sym typeface="Poppins SemiBold" panose="00000500000000000000"/>
              </a:rPr>
              <a:t>Automatisation des Échéances</a:t>
            </a:r>
            <a:endParaRPr lang="en-US" sz="1500" b="0" i="0" u="none" strike="noStrike" cap="none">
              <a:solidFill>
                <a:srgbClr val="1E293B"/>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218" name="Google Shape;218;p18"/>
          <p:cNvSpPr txBox="1"/>
          <p:nvPr/>
        </p:nvSpPr>
        <p:spPr>
          <a:xfrm>
            <a:off x="4620199" y="5271075"/>
            <a:ext cx="3047099" cy="23050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fr-FR" altLang="en-US" sz="1500" b="0" i="0" u="none" strike="noStrike" cap="none">
                <a:solidFill>
                  <a:srgbClr val="1E293B"/>
                </a:solidFill>
                <a:latin typeface="Poppins SemiBold" panose="00000500000000000000"/>
                <a:ea typeface="Poppins SemiBold" panose="00000500000000000000"/>
                <a:cs typeface="Poppins SemiBold" panose="00000500000000000000"/>
                <a:sym typeface="Poppins SemiBold" panose="00000500000000000000"/>
              </a:rPr>
              <a:t>Moyens de paiement locaux</a:t>
            </a:r>
            <a:endParaRPr lang="fr-FR" altLang="en-US" sz="1500" b="0" i="0" u="none" strike="noStrike" cap="none">
              <a:solidFill>
                <a:srgbClr val="1E293B"/>
              </a:solidFill>
              <a:latin typeface="Poppins SemiBold" panose="00000500000000000000"/>
              <a:ea typeface="Poppins SemiBold" panose="00000500000000000000"/>
              <a:cs typeface="Poppins SemiBold" panose="00000500000000000000"/>
              <a:sym typeface="Poppins SemiBold" panose="00000500000000000000"/>
            </a:endParaRPr>
          </a:p>
        </p:txBody>
      </p:sp>
      <p:pic>
        <p:nvPicPr>
          <p:cNvPr id="220" name="Google Shape;220;p18" descr="image.png"/>
          <p:cNvPicPr preferRelativeResize="0"/>
          <p:nvPr/>
        </p:nvPicPr>
        <p:blipFill rotWithShape="1">
          <a:blip r:embed="rId6"/>
          <a:srcRect/>
          <a:stretch>
            <a:fillRect/>
          </a:stretch>
        </p:blipFill>
        <p:spPr>
          <a:xfrm>
            <a:off x="3015882" y="2597090"/>
            <a:ext cx="333375" cy="381000"/>
          </a:xfrm>
          <a:prstGeom prst="rect">
            <a:avLst/>
          </a:prstGeom>
          <a:noFill/>
          <a:ln>
            <a:noFill/>
          </a:ln>
        </p:spPr>
      </p:pic>
      <p:pic>
        <p:nvPicPr>
          <p:cNvPr id="221" name="Google Shape;221;p18" descr="image.png"/>
          <p:cNvPicPr preferRelativeResize="0"/>
          <p:nvPr/>
        </p:nvPicPr>
        <p:blipFill rotWithShape="1">
          <a:blip r:embed="rId7"/>
          <a:srcRect/>
          <a:stretch>
            <a:fillRect/>
          </a:stretch>
        </p:blipFill>
        <p:spPr>
          <a:xfrm>
            <a:off x="8613140" y="2646620"/>
            <a:ext cx="476250" cy="381000"/>
          </a:xfrm>
          <a:prstGeom prst="rect">
            <a:avLst/>
          </a:prstGeom>
          <a:noFill/>
          <a:ln>
            <a:noFill/>
          </a:ln>
        </p:spPr>
      </p:pic>
      <p:pic>
        <p:nvPicPr>
          <p:cNvPr id="222" name="Google Shape;222;p18" descr="image.png"/>
          <p:cNvPicPr preferRelativeResize="0"/>
          <p:nvPr/>
        </p:nvPicPr>
        <p:blipFill rotWithShape="1">
          <a:blip r:embed="rId8"/>
          <a:srcRect/>
          <a:stretch>
            <a:fillRect/>
          </a:stretch>
        </p:blipFill>
        <p:spPr>
          <a:xfrm>
            <a:off x="6000799" y="4709100"/>
            <a:ext cx="285750" cy="3810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6"/>
                                        </p:tgtEl>
                                        <p:attrNameLst>
                                          <p:attrName>style.visibility</p:attrName>
                                        </p:attrNameLst>
                                      </p:cBhvr>
                                      <p:to>
                                        <p:strVal val="visible"/>
                                      </p:to>
                                    </p:set>
                                    <p:animEffect transition="in" filter="wipe(down)">
                                      <p:cBhvr>
                                        <p:cTn id="7" dur="500"/>
                                        <p:tgtEl>
                                          <p:spTgt spid="206"/>
                                        </p:tgtEl>
                                      </p:cBhvr>
                                    </p:animEffect>
                                  </p:childTnLst>
                                </p:cTn>
                              </p:par>
                              <p:par>
                                <p:cTn id="8" presetID="22" presetClass="entr" presetSubtype="4" fill="hold" nodeType="withEffect">
                                  <p:stCondLst>
                                    <p:cond delay="0"/>
                                  </p:stCondLst>
                                  <p:childTnLst>
                                    <p:set>
                                      <p:cBhvr>
                                        <p:cTn id="9" dur="1" fill="hold">
                                          <p:stCondLst>
                                            <p:cond delay="0"/>
                                          </p:stCondLst>
                                        </p:cTn>
                                        <p:tgtEl>
                                          <p:spTgt spid="220"/>
                                        </p:tgtEl>
                                        <p:attrNameLst>
                                          <p:attrName>style.visibility</p:attrName>
                                        </p:attrNameLst>
                                      </p:cBhvr>
                                      <p:to>
                                        <p:strVal val="visible"/>
                                      </p:to>
                                    </p:set>
                                    <p:animEffect transition="in" filter="wipe(down)">
                                      <p:cBhvr>
                                        <p:cTn id="10" dur="500"/>
                                        <p:tgtEl>
                                          <p:spTgt spid="220"/>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14"/>
                                        </p:tgtEl>
                                        <p:attrNameLst>
                                          <p:attrName>style.visibility</p:attrName>
                                        </p:attrNameLst>
                                      </p:cBhvr>
                                      <p:to>
                                        <p:strVal val="visible"/>
                                      </p:to>
                                    </p:set>
                                    <p:animEffect transition="in" filter="wipe(down)">
                                      <p:cBhvr>
                                        <p:cTn id="13" dur="500"/>
                                        <p:tgtEl>
                                          <p:spTgt spid="21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07"/>
                                        </p:tgtEl>
                                        <p:attrNameLst>
                                          <p:attrName>style.visibility</p:attrName>
                                        </p:attrNameLst>
                                      </p:cBhvr>
                                      <p:to>
                                        <p:strVal val="visible"/>
                                      </p:to>
                                    </p:set>
                                    <p:animEffect transition="in" filter="wipe(down)">
                                      <p:cBhvr>
                                        <p:cTn id="18" dur="500"/>
                                        <p:tgtEl>
                                          <p:spTgt spid="207"/>
                                        </p:tgtEl>
                                      </p:cBhvr>
                                    </p:animEffect>
                                  </p:childTnLst>
                                </p:cTn>
                              </p:par>
                              <p:par>
                                <p:cTn id="19" presetID="22" presetClass="entr" presetSubtype="4" fill="hold" nodeType="withEffect">
                                  <p:stCondLst>
                                    <p:cond delay="0"/>
                                  </p:stCondLst>
                                  <p:childTnLst>
                                    <p:set>
                                      <p:cBhvr>
                                        <p:cTn id="20" dur="1" fill="hold">
                                          <p:stCondLst>
                                            <p:cond delay="0"/>
                                          </p:stCondLst>
                                        </p:cTn>
                                        <p:tgtEl>
                                          <p:spTgt spid="221"/>
                                        </p:tgtEl>
                                        <p:attrNameLst>
                                          <p:attrName>style.visibility</p:attrName>
                                        </p:attrNameLst>
                                      </p:cBhvr>
                                      <p:to>
                                        <p:strVal val="visible"/>
                                      </p:to>
                                    </p:set>
                                    <p:animEffect transition="in" filter="wipe(down)">
                                      <p:cBhvr>
                                        <p:cTn id="21" dur="500"/>
                                        <p:tgtEl>
                                          <p:spTgt spid="221"/>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216"/>
                                        </p:tgtEl>
                                        <p:attrNameLst>
                                          <p:attrName>style.visibility</p:attrName>
                                        </p:attrNameLst>
                                      </p:cBhvr>
                                      <p:to>
                                        <p:strVal val="visible"/>
                                      </p:to>
                                    </p:set>
                                    <p:animEffect transition="in" filter="wipe(down)">
                                      <p:cBhvr>
                                        <p:cTn id="24" dur="500"/>
                                        <p:tgtEl>
                                          <p:spTgt spid="21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208"/>
                                        </p:tgtEl>
                                        <p:attrNameLst>
                                          <p:attrName>style.visibility</p:attrName>
                                        </p:attrNameLst>
                                      </p:cBhvr>
                                      <p:to>
                                        <p:strVal val="visible"/>
                                      </p:to>
                                    </p:set>
                                    <p:animEffect transition="in" filter="wipe(down)">
                                      <p:cBhvr>
                                        <p:cTn id="29" dur="500"/>
                                        <p:tgtEl>
                                          <p:spTgt spid="208"/>
                                        </p:tgtEl>
                                      </p:cBhvr>
                                    </p:animEffect>
                                  </p:childTnLst>
                                </p:cTn>
                              </p:par>
                              <p:par>
                                <p:cTn id="30" presetID="22" presetClass="entr" presetSubtype="4" fill="hold" nodeType="withEffect">
                                  <p:stCondLst>
                                    <p:cond delay="0"/>
                                  </p:stCondLst>
                                  <p:childTnLst>
                                    <p:set>
                                      <p:cBhvr>
                                        <p:cTn id="31" dur="1" fill="hold">
                                          <p:stCondLst>
                                            <p:cond delay="0"/>
                                          </p:stCondLst>
                                        </p:cTn>
                                        <p:tgtEl>
                                          <p:spTgt spid="222"/>
                                        </p:tgtEl>
                                        <p:attrNameLst>
                                          <p:attrName>style.visibility</p:attrName>
                                        </p:attrNameLst>
                                      </p:cBhvr>
                                      <p:to>
                                        <p:strVal val="visible"/>
                                      </p:to>
                                    </p:set>
                                    <p:animEffect transition="in" filter="wipe(down)">
                                      <p:cBhvr>
                                        <p:cTn id="32" dur="500"/>
                                        <p:tgtEl>
                                          <p:spTgt spid="222"/>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218"/>
                                        </p:tgtEl>
                                        <p:attrNameLst>
                                          <p:attrName>style.visibility</p:attrName>
                                        </p:attrNameLst>
                                      </p:cBhvr>
                                      <p:to>
                                        <p:strVal val="visible"/>
                                      </p:to>
                                    </p:set>
                                    <p:animEffect transition="in" filter="wipe(down)">
                                      <p:cBhvr>
                                        <p:cTn id="35" dur="500"/>
                                        <p:tgtEl>
                                          <p:spTgt spid="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 grpId="0"/>
      <p:bldP spid="214" grpId="1"/>
      <p:bldP spid="216" grpId="0"/>
      <p:bldP spid="216" grpId="1"/>
      <p:bldP spid="218" grpId="0"/>
      <p:bldP spid="218"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7" name="Titre 6"/>
          <p:cNvSpPr/>
          <p:nvPr>
            <p:ph type="title"/>
          </p:nvPr>
        </p:nvSpPr>
        <p:spPr>
          <a:xfrm>
            <a:off x="1203325" y="2536825"/>
            <a:ext cx="10128250" cy="1722755"/>
          </a:xfrm>
          <a:ln>
            <a:solidFill>
              <a:schemeClr val="accent1"/>
            </a:solidFill>
          </a:ln>
          <a:effectLst/>
        </p:spPr>
        <p:txBody>
          <a:bodyPr>
            <a:normAutofit/>
          </a:bodyPr>
          <a:p>
            <a:r>
              <a:rPr lang="fr-FR" altLang="en-US" sz="4800" b="1" cap="all">
                <a:solidFill>
                  <a:schemeClr val="tx1"/>
                </a:solidFill>
                <a:uFillTx/>
                <a:latin typeface="Times New Roman" panose="02020603050405020304" charset="0"/>
                <a:cs typeface="Times New Roman" panose="02020603050405020304" charset="0"/>
              </a:rPr>
              <a:t>Conception &amp; RéaliSAtion</a:t>
            </a:r>
            <a:endParaRPr lang="fr-FR" altLang="en-US" sz="4800" b="1" cap="all">
              <a:solidFill>
                <a:schemeClr val="tx1"/>
              </a:solidFill>
              <a:uFillTx/>
              <a:latin typeface="Times New Roman" panose="02020603050405020304" charset="0"/>
              <a:cs typeface="Times New Roman" panose="02020603050405020304" charset="0"/>
            </a:endParaRPr>
          </a:p>
        </p:txBody>
      </p:sp>
      <p:sp>
        <p:nvSpPr>
          <p:cNvPr id="213" name="Google Shape;213;p18"/>
          <p:cNvSpPr txBox="1"/>
          <p:nvPr/>
        </p:nvSpPr>
        <p:spPr>
          <a:xfrm>
            <a:off x="11487150" y="6286500"/>
            <a:ext cx="353060" cy="43561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rPr>
              <a:t>12</a:t>
            </a:r>
            <a:endPar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sp>
        <p:nvSpPr>
          <p:cNvPr id="212" name="Google Shape;212;p18"/>
          <p:cNvSpPr txBox="1"/>
          <p:nvPr/>
        </p:nvSpPr>
        <p:spPr>
          <a:xfrm>
            <a:off x="571500" y="6286500"/>
            <a:ext cx="3486150"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sz="12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4" name="Zone de texte 3"/>
          <p:cNvSpPr txBox="1"/>
          <p:nvPr/>
        </p:nvSpPr>
        <p:spPr>
          <a:xfrm>
            <a:off x="702945" y="6417945"/>
            <a:ext cx="2795270" cy="272415"/>
          </a:xfrm>
          <a:prstGeom prst="rect">
            <a:avLst/>
          </a:prstGeom>
          <a:noFill/>
        </p:spPr>
        <p:txBody>
          <a:bodyPr wrap="square" rtlCol="0">
            <a:noAutofit/>
          </a:bodyPr>
          <a:p>
            <a:r>
              <a:rPr lang="en-US" sz="900">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sz="900" b="0" i="0" u="none" strike="noStrike" cap="none">
              <a:solidFill>
                <a:srgbClr val="475569"/>
              </a:solidFill>
              <a:latin typeface="Lato" panose="020F0502020204030203"/>
              <a:ea typeface="Lato" panose="020F0502020204030203"/>
              <a:cs typeface="Lato" panose="020F0502020204030203"/>
              <a:sym typeface="Lato" panose="020F0502020204030203"/>
            </a:endParaRPr>
          </a:p>
          <a:p>
            <a:endParaRPr lang="en-US" altLang="en-US" sz="9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13" name="Google Shape;213;p18"/>
          <p:cNvSpPr txBox="1"/>
          <p:nvPr/>
        </p:nvSpPr>
        <p:spPr>
          <a:xfrm>
            <a:off x="11487150" y="6286500"/>
            <a:ext cx="271145" cy="4038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rPr>
              <a:t>13</a:t>
            </a:r>
            <a:endPar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pic>
        <p:nvPicPr>
          <p:cNvPr id="5" name="Image 4" descr="agile_cycle"/>
          <p:cNvPicPr>
            <a:picLocks noChangeAspect="1"/>
          </p:cNvPicPr>
          <p:nvPr/>
        </p:nvPicPr>
        <p:blipFill>
          <a:blip r:embed="rId3"/>
          <a:stretch>
            <a:fillRect/>
          </a:stretch>
        </p:blipFill>
        <p:spPr>
          <a:xfrm>
            <a:off x="954405" y="1179195"/>
            <a:ext cx="10217150" cy="5748020"/>
          </a:xfrm>
          <a:prstGeom prst="rect">
            <a:avLst/>
          </a:prstGeom>
        </p:spPr>
      </p:pic>
      <p:sp>
        <p:nvSpPr>
          <p:cNvPr id="2" name="Google Shape;336;p23"/>
          <p:cNvSpPr txBox="1"/>
          <p:nvPr/>
        </p:nvSpPr>
        <p:spPr>
          <a:xfrm>
            <a:off x="372745" y="641350"/>
            <a:ext cx="11601450" cy="4978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fr-FR" alt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rPr>
              <a:t>Méthodologie</a:t>
            </a:r>
            <a:r>
              <a:rPr 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rPr>
              <a:t> </a:t>
            </a:r>
            <a:endParaRPr 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endParaRPr>
          </a:p>
        </p:txBody>
      </p:sp>
      <p:sp>
        <p:nvSpPr>
          <p:cNvPr id="6" name="Google Shape;316;p23"/>
          <p:cNvSpPr txBox="1"/>
          <p:nvPr/>
        </p:nvSpPr>
        <p:spPr>
          <a:xfrm>
            <a:off x="372745" y="303848"/>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7" name="Google Shape;317;p23"/>
          <p:cNvSpPr txBox="1"/>
          <p:nvPr/>
        </p:nvSpPr>
        <p:spPr>
          <a:xfrm>
            <a:off x="9901872" y="336232"/>
            <a:ext cx="1585912"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0" i="0" u="none" strike="noStrike" cap="none">
                <a:solidFill>
                  <a:srgbClr val="475569"/>
                </a:solidFill>
                <a:latin typeface="Lato" panose="020F0502020204030203"/>
                <a:ea typeface="Lato" panose="020F0502020204030203"/>
                <a:cs typeface="Lato" panose="020F0502020204030203"/>
                <a:sym typeface="Lato" panose="020F0502020204030203"/>
              </a:rPr>
              <a:t>MÉTHODOLOGIE PROJET</a:t>
            </a:r>
            <a:endParaRPr lang="en-US" sz="975"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313" name="Shape 313"/>
        <p:cNvGrpSpPr/>
        <p:nvPr/>
      </p:nvGrpSpPr>
      <p:grpSpPr>
        <a:xfrm>
          <a:off x="0" y="0"/>
          <a:ext cx="0" cy="0"/>
          <a:chOff x="0" y="0"/>
          <a:chExt cx="0" cy="0"/>
        </a:xfrm>
      </p:grpSpPr>
      <p:pic>
        <p:nvPicPr>
          <p:cNvPr id="315" name="Google Shape;315;p23" descr="image.png"/>
          <p:cNvPicPr preferRelativeResize="0"/>
          <p:nvPr/>
        </p:nvPicPr>
        <p:blipFill rotWithShape="1">
          <a:blip r:embed="rId1"/>
          <a:srcRect/>
          <a:stretch>
            <a:fillRect/>
          </a:stretch>
        </p:blipFill>
        <p:spPr>
          <a:xfrm>
            <a:off x="571500" y="6134100"/>
            <a:ext cx="11049000" cy="295275"/>
          </a:xfrm>
          <a:prstGeom prst="rect">
            <a:avLst/>
          </a:prstGeom>
          <a:noFill/>
          <a:ln>
            <a:noFill/>
          </a:ln>
        </p:spPr>
      </p:pic>
      <p:sp>
        <p:nvSpPr>
          <p:cNvPr id="318" name="Google Shape;318;p23"/>
          <p:cNvSpPr txBox="1"/>
          <p:nvPr/>
        </p:nvSpPr>
        <p:spPr>
          <a:xfrm>
            <a:off x="571500" y="6286500"/>
            <a:ext cx="348615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sz="9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319" name="Google Shape;319;p23"/>
          <p:cNvSpPr txBox="1"/>
          <p:nvPr/>
        </p:nvSpPr>
        <p:spPr>
          <a:xfrm>
            <a:off x="11487150" y="6286500"/>
            <a:ext cx="133350" cy="1384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fr-FR" altLang="en-US" sz="900" b="1" i="0" u="none" strike="noStrike" cap="none">
                <a:solidFill>
                  <a:srgbClr val="3B82F6"/>
                </a:solidFill>
                <a:latin typeface="Lato" panose="020F0502020204030203"/>
                <a:ea typeface="Lato" panose="020F0502020204030203"/>
                <a:cs typeface="Lato" panose="020F0502020204030203"/>
                <a:sym typeface="Lato" panose="020F0502020204030203"/>
              </a:rPr>
              <a:t>09</a:t>
            </a:r>
            <a:endParaRPr lang="en-US" sz="900" b="1" i="0" u="none" strike="noStrike" cap="none">
              <a:solidFill>
                <a:srgbClr val="3B82F6"/>
              </a:solidFill>
              <a:latin typeface="Lato" panose="020F0502020204030203"/>
              <a:ea typeface="Lato" panose="020F0502020204030203"/>
              <a:cs typeface="Lato" panose="020F0502020204030203"/>
              <a:sym typeface="Lato" panose="020F0502020204030203"/>
            </a:endParaRPr>
          </a:p>
        </p:txBody>
      </p:sp>
      <p:pic>
        <p:nvPicPr>
          <p:cNvPr id="205" name="Google Shape;205;p18" descr="Empty office hall"/>
          <p:cNvPicPr preferRelativeResize="0"/>
          <p:nvPr>
            <p:custDataLst>
              <p:tags r:id="rId2"/>
            </p:custDataLst>
          </p:nvPr>
        </p:nvPicPr>
        <p:blipFill rotWithShape="1">
          <a:blip r:embed="rId3"/>
          <a:srcRect t="7802" b="7802"/>
          <a:stretch>
            <a:fillRect/>
          </a:stretch>
        </p:blipFill>
        <p:spPr>
          <a:xfrm>
            <a:off x="0" y="0"/>
            <a:ext cx="12192000" cy="6858000"/>
          </a:xfrm>
          <a:prstGeom prst="rect">
            <a:avLst/>
          </a:prstGeom>
          <a:noFill/>
          <a:ln>
            <a:noFill/>
          </a:ln>
        </p:spPr>
      </p:pic>
      <p:sp>
        <p:nvSpPr>
          <p:cNvPr id="4" name="Google Shape;336;p23"/>
          <p:cNvSpPr txBox="1"/>
          <p:nvPr/>
        </p:nvSpPr>
        <p:spPr>
          <a:xfrm>
            <a:off x="372745" y="641350"/>
            <a:ext cx="11601450" cy="4978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rPr>
              <a:t>Planning de Réalisation du Projet </a:t>
            </a:r>
            <a:endParaRPr 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endParaRPr>
          </a:p>
        </p:txBody>
      </p:sp>
      <p:sp>
        <p:nvSpPr>
          <p:cNvPr id="6" name="Google Shape;316;p23"/>
          <p:cNvSpPr txBox="1"/>
          <p:nvPr/>
        </p:nvSpPr>
        <p:spPr>
          <a:xfrm>
            <a:off x="372745" y="303848"/>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7" name="Google Shape;317;p23"/>
          <p:cNvSpPr txBox="1"/>
          <p:nvPr/>
        </p:nvSpPr>
        <p:spPr>
          <a:xfrm>
            <a:off x="9901872" y="336232"/>
            <a:ext cx="1585912"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0" i="0" u="none" strike="noStrike" cap="none">
                <a:solidFill>
                  <a:srgbClr val="475569"/>
                </a:solidFill>
                <a:latin typeface="Lato" panose="020F0502020204030203"/>
                <a:ea typeface="Lato" panose="020F0502020204030203"/>
                <a:cs typeface="Lato" panose="020F0502020204030203"/>
                <a:sym typeface="Lato" panose="020F0502020204030203"/>
              </a:rPr>
              <a:t>MÉTHODOLOGIE PROJET</a:t>
            </a:r>
            <a:endParaRPr lang="en-US" sz="975"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pic>
        <p:nvPicPr>
          <p:cNvPr id="8" name="Image 7"/>
          <p:cNvPicPr>
            <a:picLocks noChangeAspect="1"/>
          </p:cNvPicPr>
          <p:nvPr/>
        </p:nvPicPr>
        <p:blipFill>
          <a:blip r:embed="rId4"/>
          <a:stretch>
            <a:fillRect/>
          </a:stretch>
        </p:blipFill>
        <p:spPr>
          <a:xfrm>
            <a:off x="798830" y="1292225"/>
            <a:ext cx="10593705" cy="5274945"/>
          </a:xfrm>
          <a:prstGeom prst="rect">
            <a:avLst/>
          </a:prstGeom>
        </p:spPr>
      </p:pic>
      <p:sp>
        <p:nvSpPr>
          <p:cNvPr id="213" name="Google Shape;213;p18"/>
          <p:cNvSpPr txBox="1"/>
          <p:nvPr/>
        </p:nvSpPr>
        <p:spPr>
          <a:xfrm>
            <a:off x="11487150" y="6286500"/>
            <a:ext cx="271145" cy="4038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rPr>
              <a:t>14</a:t>
            </a:r>
            <a:endPar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270" name="Shape 270"/>
        <p:cNvGrpSpPr/>
        <p:nvPr/>
      </p:nvGrpSpPr>
      <p:grpSpPr>
        <a:xfrm>
          <a:off x="0" y="0"/>
          <a:ext cx="0" cy="0"/>
          <a:chOff x="0" y="0"/>
          <a:chExt cx="0" cy="0"/>
        </a:xfrm>
      </p:grpSpPr>
      <p:pic>
        <p:nvPicPr>
          <p:cNvPr id="271" name="Google Shape;271;p21"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273" name="Google Shape;273;p21"/>
          <p:cNvSpPr txBox="1"/>
          <p:nvPr/>
        </p:nvSpPr>
        <p:spPr>
          <a:xfrm>
            <a:off x="59944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74" name="Google Shape;274;p21"/>
          <p:cNvSpPr txBox="1"/>
          <p:nvPr/>
        </p:nvSpPr>
        <p:spPr>
          <a:xfrm>
            <a:off x="9910762" y="471487"/>
            <a:ext cx="1709737"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0" i="0" u="none" strike="noStrike" cap="none">
                <a:solidFill>
                  <a:srgbClr val="475569"/>
                </a:solidFill>
                <a:latin typeface="Lato" panose="020F0502020204030203"/>
                <a:ea typeface="Lato" panose="020F0502020204030203"/>
                <a:cs typeface="Lato" panose="020F0502020204030203"/>
                <a:sym typeface="Lato" panose="020F0502020204030203"/>
              </a:rPr>
              <a:t>CONCEPTION DU SYSTÈME</a:t>
            </a:r>
            <a:endParaRPr lang="en-US" sz="975"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75" name="Google Shape;275;p21"/>
          <p:cNvSpPr txBox="1"/>
          <p:nvPr/>
        </p:nvSpPr>
        <p:spPr>
          <a:xfrm>
            <a:off x="571500" y="6286500"/>
            <a:ext cx="3486150"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sz="12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76" name="Google Shape;276;p21"/>
          <p:cNvSpPr txBox="1"/>
          <p:nvPr/>
        </p:nvSpPr>
        <p:spPr>
          <a:xfrm>
            <a:off x="11487150" y="6286500"/>
            <a:ext cx="334010" cy="36893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rPr>
              <a:t>15</a:t>
            </a:r>
            <a:endPar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sp>
        <p:nvSpPr>
          <p:cNvPr id="277" name="Google Shape;277;p21"/>
          <p:cNvSpPr/>
          <p:nvPr/>
        </p:nvSpPr>
        <p:spPr>
          <a:xfrm>
            <a:off x="571500" y="2625030"/>
            <a:ext cx="5405437" cy="1000125"/>
          </a:xfrm>
          <a:prstGeom prst="roundRect">
            <a:avLst>
              <a:gd name="adj" fmla="val 7619"/>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78" name="Google Shape;278;p21"/>
          <p:cNvSpPr txBox="1"/>
          <p:nvPr/>
        </p:nvSpPr>
        <p:spPr>
          <a:xfrm>
            <a:off x="1095375" y="2815530"/>
            <a:ext cx="4691062"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1E293B"/>
                </a:solidFill>
                <a:latin typeface="Lato" panose="020F0502020204030203"/>
                <a:ea typeface="Lato" panose="020F0502020204030203"/>
                <a:cs typeface="Lato" panose="020F0502020204030203"/>
                <a:sym typeface="Lato" panose="020F0502020204030203"/>
              </a:rPr>
              <a:t>Diagramme de Cas d'Utilisation</a:t>
            </a:r>
            <a:endParaRPr lang="en-US" sz="1200" b="1" i="0" u="none" strike="noStrike" cap="none">
              <a:solidFill>
                <a:srgbClr val="1E293B"/>
              </a:solidFill>
              <a:latin typeface="Lato" panose="020F0502020204030203"/>
              <a:ea typeface="Lato" panose="020F0502020204030203"/>
              <a:cs typeface="Lato" panose="020F0502020204030203"/>
              <a:sym typeface="Lato" panose="020F0502020204030203"/>
            </a:endParaRPr>
          </a:p>
        </p:txBody>
      </p:sp>
      <p:sp>
        <p:nvSpPr>
          <p:cNvPr id="279" name="Google Shape;279;p21"/>
          <p:cNvSpPr/>
          <p:nvPr/>
        </p:nvSpPr>
        <p:spPr>
          <a:xfrm>
            <a:off x="6215062" y="2625030"/>
            <a:ext cx="5405437" cy="1000125"/>
          </a:xfrm>
          <a:prstGeom prst="roundRect">
            <a:avLst>
              <a:gd name="adj" fmla="val 7619"/>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80" name="Google Shape;280;p21"/>
          <p:cNvSpPr txBox="1"/>
          <p:nvPr/>
        </p:nvSpPr>
        <p:spPr>
          <a:xfrm>
            <a:off x="6738937" y="2815530"/>
            <a:ext cx="4691062"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1E293B"/>
                </a:solidFill>
                <a:latin typeface="Lato" panose="020F0502020204030203"/>
                <a:ea typeface="Lato" panose="020F0502020204030203"/>
                <a:cs typeface="Lato" panose="020F0502020204030203"/>
                <a:sym typeface="Lato" panose="020F0502020204030203"/>
              </a:rPr>
              <a:t>Diagramme d'Activités &amp; Séquences</a:t>
            </a:r>
            <a:endParaRPr lang="en-US" sz="1200" b="1" i="0" u="none" strike="noStrike" cap="none">
              <a:solidFill>
                <a:srgbClr val="1E293B"/>
              </a:solidFill>
              <a:latin typeface="Lato" panose="020F0502020204030203"/>
              <a:ea typeface="Lato" panose="020F0502020204030203"/>
              <a:cs typeface="Lato" panose="020F0502020204030203"/>
              <a:sym typeface="Lato" panose="020F0502020204030203"/>
            </a:endParaRPr>
          </a:p>
        </p:txBody>
      </p:sp>
      <p:sp>
        <p:nvSpPr>
          <p:cNvPr id="281" name="Google Shape;281;p21"/>
          <p:cNvSpPr/>
          <p:nvPr/>
        </p:nvSpPr>
        <p:spPr>
          <a:xfrm>
            <a:off x="571500" y="3863280"/>
            <a:ext cx="5405437" cy="1171575"/>
          </a:xfrm>
          <a:prstGeom prst="roundRect">
            <a:avLst>
              <a:gd name="adj" fmla="val 6504"/>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82" name="Google Shape;282;p21"/>
          <p:cNvSpPr txBox="1"/>
          <p:nvPr/>
        </p:nvSpPr>
        <p:spPr>
          <a:xfrm>
            <a:off x="1095375" y="4053780"/>
            <a:ext cx="4691062" cy="790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1E293B"/>
                </a:solidFill>
                <a:latin typeface="Lato" panose="020F0502020204030203"/>
                <a:ea typeface="Lato" panose="020F0502020204030203"/>
                <a:cs typeface="Lato" panose="020F0502020204030203"/>
                <a:sym typeface="Lato" panose="020F0502020204030203"/>
              </a:rPr>
              <a:t>Modèle Entité-Relationnel (ERD)</a:t>
            </a:r>
            <a:endParaRPr lang="en-US" sz="1200" b="1" i="0" u="none" strike="noStrike" cap="none">
              <a:solidFill>
                <a:srgbClr val="1E293B"/>
              </a:solidFill>
              <a:latin typeface="Lato" panose="020F0502020204030203"/>
              <a:ea typeface="Lato" panose="020F0502020204030203"/>
              <a:cs typeface="Lato" panose="020F0502020204030203"/>
              <a:sym typeface="Lato" panose="020F0502020204030203"/>
            </a:endParaRPr>
          </a:p>
        </p:txBody>
      </p:sp>
      <p:sp>
        <p:nvSpPr>
          <p:cNvPr id="283" name="Google Shape;283;p21"/>
          <p:cNvSpPr/>
          <p:nvPr/>
        </p:nvSpPr>
        <p:spPr>
          <a:xfrm>
            <a:off x="6215062" y="3863280"/>
            <a:ext cx="5405437" cy="1171575"/>
          </a:xfrm>
          <a:prstGeom prst="roundRect">
            <a:avLst>
              <a:gd name="adj" fmla="val 6504"/>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84" name="Google Shape;284;p21"/>
          <p:cNvSpPr txBox="1"/>
          <p:nvPr/>
        </p:nvSpPr>
        <p:spPr>
          <a:xfrm>
            <a:off x="6738937" y="4053780"/>
            <a:ext cx="4691062" cy="790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1E293B"/>
                </a:solidFill>
                <a:latin typeface="Lato" panose="020F0502020204030203"/>
                <a:ea typeface="Lato" panose="020F0502020204030203"/>
                <a:cs typeface="Lato" panose="020F0502020204030203"/>
                <a:sym typeface="Lato" panose="020F0502020204030203"/>
              </a:rPr>
              <a:t>Isolation Logique Multi-Tenant</a:t>
            </a:r>
            <a:endParaRPr lang="en-US" sz="1200" b="1" i="0" u="none" strike="noStrike" cap="none">
              <a:solidFill>
                <a:srgbClr val="1E293B"/>
              </a:solidFill>
              <a:latin typeface="Lato" panose="020F0502020204030203"/>
              <a:ea typeface="Lato" panose="020F0502020204030203"/>
              <a:cs typeface="Lato" panose="020F0502020204030203"/>
              <a:sym typeface="Lato" panose="020F0502020204030203"/>
            </a:endParaRPr>
          </a:p>
        </p:txBody>
      </p:sp>
      <p:sp>
        <p:nvSpPr>
          <p:cNvPr id="285" name="Google Shape;285;p21"/>
          <p:cNvSpPr/>
          <p:nvPr/>
        </p:nvSpPr>
        <p:spPr>
          <a:xfrm>
            <a:off x="571500" y="3615630"/>
            <a:ext cx="54054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86" name="Google Shape;286;p21"/>
          <p:cNvSpPr txBox="1"/>
          <p:nvPr/>
        </p:nvSpPr>
        <p:spPr>
          <a:xfrm>
            <a:off x="1104900" y="3082230"/>
            <a:ext cx="4672012"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Lato" panose="020F0502020204030203"/>
                <a:ea typeface="Lato" panose="020F0502020204030203"/>
                <a:cs typeface="Lato" panose="020F0502020204030203"/>
                <a:sym typeface="Lato" panose="020F0502020204030203"/>
              </a:rPr>
              <a:t>Définition des limites fonctionnelles du système (Administration complète pour le propriétaire ; consultation et paiement pour le locataire).</a:t>
            </a:r>
            <a:endParaRPr lang="en-US" sz="12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87" name="Google Shape;287;p21"/>
          <p:cNvSpPr/>
          <p:nvPr/>
        </p:nvSpPr>
        <p:spPr>
          <a:xfrm>
            <a:off x="6215062" y="3615630"/>
            <a:ext cx="54054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88" name="Google Shape;288;p21"/>
          <p:cNvSpPr txBox="1"/>
          <p:nvPr/>
        </p:nvSpPr>
        <p:spPr>
          <a:xfrm>
            <a:off x="6748462" y="3082230"/>
            <a:ext cx="4672012"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Lato" panose="020F0502020204030203"/>
                <a:ea typeface="Lato" panose="020F0502020204030203"/>
                <a:cs typeface="Lato" panose="020F0502020204030203"/>
                <a:sym typeface="Lato" panose="020F0502020204030203"/>
              </a:rPr>
              <a:t>Formalisation des processus métiers dynamiques, en particulier l'interaction asynchrone lors de la génération automatique d'échéances.</a:t>
            </a:r>
            <a:endParaRPr lang="en-US" sz="12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89" name="Google Shape;289;p21"/>
          <p:cNvSpPr/>
          <p:nvPr/>
        </p:nvSpPr>
        <p:spPr>
          <a:xfrm>
            <a:off x="571500" y="5025330"/>
            <a:ext cx="54054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90" name="Google Shape;290;p21"/>
          <p:cNvSpPr txBox="1"/>
          <p:nvPr/>
        </p:nvSpPr>
        <p:spPr>
          <a:xfrm>
            <a:off x="1104900" y="4320480"/>
            <a:ext cx="4672012"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Lato" panose="020F0502020204030203"/>
                <a:ea typeface="Lato" panose="020F0502020204030203"/>
                <a:cs typeface="Lato" panose="020F0502020204030203"/>
                <a:sym typeface="Lato" panose="020F0502020204030203"/>
              </a:rPr>
              <a:t>Tables hautement indexées sur PostgreSQL pour accélérer les requêtes SQL complexes, </a:t>
            </a:r>
            <a:endParaRPr lang="en-US" sz="12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91" name="Google Shape;291;p21"/>
          <p:cNvSpPr/>
          <p:nvPr/>
        </p:nvSpPr>
        <p:spPr>
          <a:xfrm>
            <a:off x="6215062" y="5025330"/>
            <a:ext cx="54054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92" name="Google Shape;292;p21"/>
          <p:cNvSpPr txBox="1"/>
          <p:nvPr/>
        </p:nvSpPr>
        <p:spPr>
          <a:xfrm>
            <a:off x="6748462" y="4320480"/>
            <a:ext cx="4672012" cy="5537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Lato" panose="020F0502020204030203"/>
                <a:ea typeface="Lato" panose="020F0502020204030203"/>
                <a:cs typeface="Lato" panose="020F0502020204030203"/>
                <a:sym typeface="Lato" panose="020F0502020204030203"/>
              </a:rPr>
              <a:t>Filtre injecté dynamiquement dans toutes les requêtes SQL, empêchant formellement un propriétaire d'accéder aux données d'un autre bailleur.</a:t>
            </a:r>
            <a:endParaRPr lang="en-US" sz="12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pic>
        <p:nvPicPr>
          <p:cNvPr id="293" name="Google Shape;293;p21" descr="image.png"/>
          <p:cNvPicPr preferRelativeResize="0"/>
          <p:nvPr/>
        </p:nvPicPr>
        <p:blipFill rotWithShape="1">
          <a:blip r:embed="rId3"/>
          <a:srcRect/>
          <a:stretch>
            <a:fillRect/>
          </a:stretch>
        </p:blipFill>
        <p:spPr>
          <a:xfrm>
            <a:off x="771525" y="2839342"/>
            <a:ext cx="219075" cy="200025"/>
          </a:xfrm>
          <a:prstGeom prst="rect">
            <a:avLst/>
          </a:prstGeom>
          <a:noFill/>
          <a:ln>
            <a:noFill/>
          </a:ln>
        </p:spPr>
      </p:pic>
      <p:pic>
        <p:nvPicPr>
          <p:cNvPr id="294" name="Google Shape;294;p21" descr="image.png"/>
          <p:cNvPicPr preferRelativeResize="0"/>
          <p:nvPr/>
        </p:nvPicPr>
        <p:blipFill rotWithShape="1">
          <a:blip r:embed="rId4"/>
          <a:srcRect/>
          <a:stretch>
            <a:fillRect/>
          </a:stretch>
        </p:blipFill>
        <p:spPr>
          <a:xfrm>
            <a:off x="6415087" y="2839342"/>
            <a:ext cx="238125" cy="200025"/>
          </a:xfrm>
          <a:prstGeom prst="rect">
            <a:avLst/>
          </a:prstGeom>
          <a:noFill/>
          <a:ln>
            <a:noFill/>
          </a:ln>
        </p:spPr>
      </p:pic>
      <p:pic>
        <p:nvPicPr>
          <p:cNvPr id="295" name="Google Shape;295;p21" descr="image.png"/>
          <p:cNvPicPr preferRelativeResize="0"/>
          <p:nvPr/>
        </p:nvPicPr>
        <p:blipFill rotWithShape="1">
          <a:blip r:embed="rId5"/>
          <a:srcRect/>
          <a:stretch>
            <a:fillRect/>
          </a:stretch>
        </p:blipFill>
        <p:spPr>
          <a:xfrm>
            <a:off x="771525" y="4077592"/>
            <a:ext cx="171450" cy="200025"/>
          </a:xfrm>
          <a:prstGeom prst="rect">
            <a:avLst/>
          </a:prstGeom>
          <a:noFill/>
          <a:ln>
            <a:noFill/>
          </a:ln>
        </p:spPr>
      </p:pic>
      <p:pic>
        <p:nvPicPr>
          <p:cNvPr id="296" name="Google Shape;296;p21" descr="image.png"/>
          <p:cNvPicPr preferRelativeResize="0"/>
          <p:nvPr/>
        </p:nvPicPr>
        <p:blipFill rotWithShape="1">
          <a:blip r:embed="rId6"/>
          <a:srcRect/>
          <a:stretch>
            <a:fillRect/>
          </a:stretch>
        </p:blipFill>
        <p:spPr>
          <a:xfrm>
            <a:off x="6415087" y="4077592"/>
            <a:ext cx="171450" cy="200025"/>
          </a:xfrm>
          <a:prstGeom prst="rect">
            <a:avLst/>
          </a:prstGeom>
          <a:noFill/>
          <a:ln>
            <a:noFill/>
          </a:ln>
        </p:spPr>
      </p:pic>
      <p:sp>
        <p:nvSpPr>
          <p:cNvPr id="297" name="Google Shape;297;p21"/>
          <p:cNvSpPr txBox="1"/>
          <p:nvPr/>
        </p:nvSpPr>
        <p:spPr>
          <a:xfrm>
            <a:off x="571500" y="1019175"/>
            <a:ext cx="11601450" cy="4978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rPr>
              <a:t>Modélisation UML 2.x</a:t>
            </a:r>
            <a:endParaRPr 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78"/>
                                        </p:tgtEl>
                                        <p:attrNameLst>
                                          <p:attrName>style.visibility</p:attrName>
                                        </p:attrNameLst>
                                      </p:cBhvr>
                                      <p:to>
                                        <p:strVal val="visible"/>
                                      </p:to>
                                    </p:set>
                                    <p:animEffect transition="in" filter="wipe(down)">
                                      <p:cBhvr>
                                        <p:cTn id="7" dur="500"/>
                                        <p:tgtEl>
                                          <p:spTgt spid="278"/>
                                        </p:tgtEl>
                                      </p:cBhvr>
                                    </p:animEffect>
                                  </p:childTnLst>
                                </p:cTn>
                              </p:par>
                              <p:par>
                                <p:cTn id="8" presetID="22" presetClass="entr" presetSubtype="4" fill="hold" nodeType="withEffect">
                                  <p:stCondLst>
                                    <p:cond delay="0"/>
                                  </p:stCondLst>
                                  <p:childTnLst>
                                    <p:set>
                                      <p:cBhvr>
                                        <p:cTn id="9" dur="1" fill="hold">
                                          <p:stCondLst>
                                            <p:cond delay="0"/>
                                          </p:stCondLst>
                                        </p:cTn>
                                        <p:tgtEl>
                                          <p:spTgt spid="293"/>
                                        </p:tgtEl>
                                        <p:attrNameLst>
                                          <p:attrName>style.visibility</p:attrName>
                                        </p:attrNameLst>
                                      </p:cBhvr>
                                      <p:to>
                                        <p:strVal val="visible"/>
                                      </p:to>
                                    </p:set>
                                    <p:animEffect transition="in" filter="wipe(down)">
                                      <p:cBhvr>
                                        <p:cTn id="10" dur="500"/>
                                        <p:tgtEl>
                                          <p:spTgt spid="293"/>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77"/>
                                        </p:tgtEl>
                                        <p:attrNameLst>
                                          <p:attrName>style.visibility</p:attrName>
                                        </p:attrNameLst>
                                      </p:cBhvr>
                                      <p:to>
                                        <p:strVal val="visible"/>
                                      </p:to>
                                    </p:set>
                                    <p:animEffect transition="in" filter="wipe(down)">
                                      <p:cBhvr>
                                        <p:cTn id="13" dur="500"/>
                                        <p:tgtEl>
                                          <p:spTgt spid="27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286"/>
                                        </p:tgtEl>
                                        <p:attrNameLst>
                                          <p:attrName>style.visibility</p:attrName>
                                        </p:attrNameLst>
                                      </p:cBhvr>
                                      <p:to>
                                        <p:strVal val="visible"/>
                                      </p:to>
                                    </p:set>
                                    <p:animEffect transition="in" filter="wipe(down)">
                                      <p:cBhvr>
                                        <p:cTn id="16" dur="500"/>
                                        <p:tgtEl>
                                          <p:spTgt spid="28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279"/>
                                        </p:tgtEl>
                                        <p:attrNameLst>
                                          <p:attrName>style.visibility</p:attrName>
                                        </p:attrNameLst>
                                      </p:cBhvr>
                                      <p:to>
                                        <p:strVal val="visible"/>
                                      </p:to>
                                    </p:set>
                                    <p:animEffect transition="in" filter="wipe(down)">
                                      <p:cBhvr>
                                        <p:cTn id="21" dur="500"/>
                                        <p:tgtEl>
                                          <p:spTgt spid="279"/>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288"/>
                                        </p:tgtEl>
                                        <p:attrNameLst>
                                          <p:attrName>style.visibility</p:attrName>
                                        </p:attrNameLst>
                                      </p:cBhvr>
                                      <p:to>
                                        <p:strVal val="visible"/>
                                      </p:to>
                                    </p:set>
                                    <p:animEffect transition="in" filter="wipe(down)">
                                      <p:cBhvr>
                                        <p:cTn id="24" dur="500"/>
                                        <p:tgtEl>
                                          <p:spTgt spid="288"/>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280"/>
                                        </p:tgtEl>
                                        <p:attrNameLst>
                                          <p:attrName>style.visibility</p:attrName>
                                        </p:attrNameLst>
                                      </p:cBhvr>
                                      <p:to>
                                        <p:strVal val="visible"/>
                                      </p:to>
                                    </p:set>
                                    <p:animEffect transition="in" filter="wipe(down)">
                                      <p:cBhvr>
                                        <p:cTn id="27" dur="500"/>
                                        <p:tgtEl>
                                          <p:spTgt spid="280"/>
                                        </p:tgtEl>
                                      </p:cBhvr>
                                    </p:animEffect>
                                  </p:childTnLst>
                                </p:cTn>
                              </p:par>
                              <p:par>
                                <p:cTn id="28" presetID="22" presetClass="entr" presetSubtype="4" fill="hold" nodeType="withEffect">
                                  <p:stCondLst>
                                    <p:cond delay="0"/>
                                  </p:stCondLst>
                                  <p:childTnLst>
                                    <p:set>
                                      <p:cBhvr>
                                        <p:cTn id="29" dur="1" fill="hold">
                                          <p:stCondLst>
                                            <p:cond delay="0"/>
                                          </p:stCondLst>
                                        </p:cTn>
                                        <p:tgtEl>
                                          <p:spTgt spid="294"/>
                                        </p:tgtEl>
                                        <p:attrNameLst>
                                          <p:attrName>style.visibility</p:attrName>
                                        </p:attrNameLst>
                                      </p:cBhvr>
                                      <p:to>
                                        <p:strVal val="visible"/>
                                      </p:to>
                                    </p:set>
                                    <p:animEffect transition="in" filter="wipe(down)">
                                      <p:cBhvr>
                                        <p:cTn id="30" dur="500"/>
                                        <p:tgtEl>
                                          <p:spTgt spid="29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81"/>
                                        </p:tgtEl>
                                        <p:attrNameLst>
                                          <p:attrName>style.visibility</p:attrName>
                                        </p:attrNameLst>
                                      </p:cBhvr>
                                      <p:to>
                                        <p:strVal val="visible"/>
                                      </p:to>
                                    </p:set>
                                    <p:animEffect transition="in" filter="wipe(down)">
                                      <p:cBhvr>
                                        <p:cTn id="35" dur="500"/>
                                        <p:tgtEl>
                                          <p:spTgt spid="281"/>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282"/>
                                        </p:tgtEl>
                                        <p:attrNameLst>
                                          <p:attrName>style.visibility</p:attrName>
                                        </p:attrNameLst>
                                      </p:cBhvr>
                                      <p:to>
                                        <p:strVal val="visible"/>
                                      </p:to>
                                    </p:set>
                                    <p:animEffect transition="in" filter="wipe(down)">
                                      <p:cBhvr>
                                        <p:cTn id="38" dur="500"/>
                                        <p:tgtEl>
                                          <p:spTgt spid="282"/>
                                        </p:tgtEl>
                                      </p:cBhvr>
                                    </p:animEffect>
                                  </p:childTnLst>
                                </p:cTn>
                              </p:par>
                              <p:par>
                                <p:cTn id="39" presetID="22" presetClass="entr" presetSubtype="4" fill="hold" nodeType="withEffect">
                                  <p:stCondLst>
                                    <p:cond delay="0"/>
                                  </p:stCondLst>
                                  <p:childTnLst>
                                    <p:set>
                                      <p:cBhvr>
                                        <p:cTn id="40" dur="1" fill="hold">
                                          <p:stCondLst>
                                            <p:cond delay="0"/>
                                          </p:stCondLst>
                                        </p:cTn>
                                        <p:tgtEl>
                                          <p:spTgt spid="295"/>
                                        </p:tgtEl>
                                        <p:attrNameLst>
                                          <p:attrName>style.visibility</p:attrName>
                                        </p:attrNameLst>
                                      </p:cBhvr>
                                      <p:to>
                                        <p:strVal val="visible"/>
                                      </p:to>
                                    </p:set>
                                    <p:animEffect transition="in" filter="wipe(down)">
                                      <p:cBhvr>
                                        <p:cTn id="41" dur="500"/>
                                        <p:tgtEl>
                                          <p:spTgt spid="295"/>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290"/>
                                        </p:tgtEl>
                                        <p:attrNameLst>
                                          <p:attrName>style.visibility</p:attrName>
                                        </p:attrNameLst>
                                      </p:cBhvr>
                                      <p:to>
                                        <p:strVal val="visible"/>
                                      </p:to>
                                    </p:set>
                                    <p:animEffect transition="in" filter="wipe(down)">
                                      <p:cBhvr>
                                        <p:cTn id="44" dur="500"/>
                                        <p:tgtEl>
                                          <p:spTgt spid="290"/>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284"/>
                                        </p:tgtEl>
                                        <p:attrNameLst>
                                          <p:attrName>style.visibility</p:attrName>
                                        </p:attrNameLst>
                                      </p:cBhvr>
                                      <p:to>
                                        <p:strVal val="visible"/>
                                      </p:to>
                                    </p:set>
                                    <p:animEffect transition="in" filter="wipe(down)">
                                      <p:cBhvr>
                                        <p:cTn id="49" dur="500"/>
                                        <p:tgtEl>
                                          <p:spTgt spid="284"/>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292"/>
                                        </p:tgtEl>
                                        <p:attrNameLst>
                                          <p:attrName>style.visibility</p:attrName>
                                        </p:attrNameLst>
                                      </p:cBhvr>
                                      <p:to>
                                        <p:strVal val="visible"/>
                                      </p:to>
                                    </p:set>
                                    <p:animEffect transition="in" filter="wipe(down)">
                                      <p:cBhvr>
                                        <p:cTn id="52" dur="500"/>
                                        <p:tgtEl>
                                          <p:spTgt spid="292"/>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283"/>
                                        </p:tgtEl>
                                        <p:attrNameLst>
                                          <p:attrName>style.visibility</p:attrName>
                                        </p:attrNameLst>
                                      </p:cBhvr>
                                      <p:to>
                                        <p:strVal val="visible"/>
                                      </p:to>
                                    </p:set>
                                    <p:animEffect transition="in" filter="wipe(down)">
                                      <p:cBhvr>
                                        <p:cTn id="55" dur="500"/>
                                        <p:tgtEl>
                                          <p:spTgt spid="283"/>
                                        </p:tgtEl>
                                      </p:cBhvr>
                                    </p:animEffect>
                                  </p:childTnLst>
                                </p:cTn>
                              </p:par>
                              <p:par>
                                <p:cTn id="56" presetID="22" presetClass="entr" presetSubtype="4" fill="hold" nodeType="withEffect">
                                  <p:stCondLst>
                                    <p:cond delay="0"/>
                                  </p:stCondLst>
                                  <p:childTnLst>
                                    <p:set>
                                      <p:cBhvr>
                                        <p:cTn id="57" dur="1" fill="hold">
                                          <p:stCondLst>
                                            <p:cond delay="0"/>
                                          </p:stCondLst>
                                        </p:cTn>
                                        <p:tgtEl>
                                          <p:spTgt spid="296"/>
                                        </p:tgtEl>
                                        <p:attrNameLst>
                                          <p:attrName>style.visibility</p:attrName>
                                        </p:attrNameLst>
                                      </p:cBhvr>
                                      <p:to>
                                        <p:strVal val="visible"/>
                                      </p:to>
                                    </p:set>
                                    <p:animEffect transition="in" filter="wipe(down)">
                                      <p:cBhvr>
                                        <p:cTn id="58" dur="500"/>
                                        <p:tgtEl>
                                          <p:spTgt spid="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 grpId="0"/>
      <p:bldP spid="277" grpId="0" animBg="1"/>
      <p:bldP spid="286" grpId="0"/>
      <p:bldP spid="278" grpId="1"/>
      <p:bldP spid="277" grpId="1" animBg="1"/>
      <p:bldP spid="286" grpId="1"/>
      <p:bldP spid="279" grpId="0" animBg="1"/>
      <p:bldP spid="288" grpId="0"/>
      <p:bldP spid="280" grpId="0"/>
      <p:bldP spid="279" grpId="1" animBg="1"/>
      <p:bldP spid="288" grpId="1"/>
      <p:bldP spid="280" grpId="1"/>
      <p:bldP spid="281" grpId="0" animBg="1"/>
      <p:bldP spid="282" grpId="0"/>
      <p:bldP spid="290" grpId="0"/>
      <p:bldP spid="281" grpId="1" animBg="1"/>
      <p:bldP spid="282" grpId="1"/>
      <p:bldP spid="290" grpId="1"/>
      <p:bldP spid="284" grpId="0"/>
      <p:bldP spid="292" grpId="0"/>
      <p:bldP spid="283" grpId="0" animBg="1"/>
      <p:bldP spid="284" grpId="1"/>
      <p:bldP spid="292" grpId="1"/>
      <p:bldP spid="283"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 name="Titre 1"/>
          <p:cNvSpPr/>
          <p:nvPr>
            <p:ph type="title"/>
          </p:nvPr>
        </p:nvSpPr>
        <p:spPr>
          <a:xfrm>
            <a:off x="1814195" y="127635"/>
            <a:ext cx="8229600" cy="894715"/>
          </a:xfrm>
        </p:spPr>
        <p:txBody>
          <a:bodyPr/>
          <a:p>
            <a:r>
              <a:rPr lang="fr-FR" altLang="en-US" sz="3600" cap="all">
                <a:solidFill>
                  <a:schemeClr val="tx1"/>
                </a:solidFill>
                <a:uFillTx/>
                <a:latin typeface="Times New Roman" panose="02020603050405020304" charset="0"/>
                <a:cs typeface="Times New Roman" panose="02020603050405020304" charset="0"/>
              </a:rPr>
              <a:t>Diagramme de contexte</a:t>
            </a:r>
            <a:endParaRPr lang="fr-FR" altLang="en-US" sz="3600" cap="all">
              <a:solidFill>
                <a:schemeClr val="tx1"/>
              </a:solidFill>
              <a:uFillTx/>
              <a:latin typeface="Times New Roman" panose="02020603050405020304" charset="0"/>
              <a:cs typeface="Times New Roman" panose="02020603050405020304" charset="0"/>
            </a:endParaRPr>
          </a:p>
        </p:txBody>
      </p:sp>
      <p:sp>
        <p:nvSpPr>
          <p:cNvPr id="4" name="Zone de texte 3"/>
          <p:cNvSpPr txBox="1"/>
          <p:nvPr/>
        </p:nvSpPr>
        <p:spPr>
          <a:xfrm>
            <a:off x="571500" y="6367145"/>
            <a:ext cx="6096000" cy="460375"/>
          </a:xfrm>
          <a:prstGeom prst="rect">
            <a:avLst/>
          </a:prstGeom>
          <a:noFill/>
        </p:spPr>
        <p:txBody>
          <a:bodyPr wrap="square" rtlCol="0" anchor="t">
            <a:spAutoFit/>
          </a:bodyPr>
          <a:p>
            <a:pPr marL="0" marR="0" lvl="0" indent="0" algn="l" rtl="0">
              <a:spcBef>
                <a:spcPts val="0"/>
              </a:spcBef>
              <a:spcAft>
                <a:spcPts val="0"/>
              </a:spcAft>
              <a:buNone/>
            </a:pPr>
            <a:r>
              <a:rPr lang="en-US" sz="1200">
                <a:solidFill>
                  <a:srgbClr val="475569"/>
                </a:solidFill>
                <a:latin typeface="Lato" panose="020F0502020204030203"/>
                <a:ea typeface="Lato" panose="020F0502020204030203"/>
                <a:cs typeface="Lato" panose="020F0502020204030203"/>
                <a:sym typeface="Lato" panose="020F0502020204030203"/>
              </a:rPr>
              <a:t>Ipnet Institute of Technology — Soutenance de </a:t>
            </a:r>
            <a:endParaRPr lang="en-US" sz="1200">
              <a:solidFill>
                <a:srgbClr val="475569"/>
              </a:solidFill>
              <a:latin typeface="Lato" panose="020F0502020204030203"/>
              <a:ea typeface="Lato" panose="020F0502020204030203"/>
              <a:cs typeface="Lato" panose="020F0502020204030203"/>
              <a:sym typeface="Lato" panose="020F0502020204030203"/>
            </a:endParaRPr>
          </a:p>
          <a:p>
            <a:pPr marL="0" marR="0" lvl="0" indent="0" algn="l" rtl="0">
              <a:spcBef>
                <a:spcPts val="0"/>
              </a:spcBef>
              <a:spcAft>
                <a:spcPts val="0"/>
              </a:spcAft>
              <a:buNone/>
            </a:pPr>
            <a:r>
              <a:rPr lang="en-US" sz="1200">
                <a:solidFill>
                  <a:srgbClr val="475569"/>
                </a:solidFill>
                <a:latin typeface="Lato" panose="020F0502020204030203"/>
                <a:ea typeface="Lato" panose="020F0502020204030203"/>
                <a:cs typeface="Lato" panose="020F0502020204030203"/>
                <a:sym typeface="Lato" panose="020F0502020204030203"/>
              </a:rPr>
              <a:t>Licence Professionnelle</a:t>
            </a:r>
            <a:endParaRPr lang="en-US" altLang="en-US" sz="1200">
              <a:solidFill>
                <a:srgbClr val="475569"/>
              </a:solidFill>
              <a:latin typeface="Lato" panose="020F0502020204030203"/>
              <a:ea typeface="Lato" panose="020F0502020204030203"/>
              <a:cs typeface="Lato" panose="020F0502020204030203"/>
              <a:sym typeface="Lato" panose="020F0502020204030203"/>
            </a:endParaRPr>
          </a:p>
        </p:txBody>
      </p:sp>
      <p:sp>
        <p:nvSpPr>
          <p:cNvPr id="276" name="Google Shape;276;p21"/>
          <p:cNvSpPr txBox="1"/>
          <p:nvPr/>
        </p:nvSpPr>
        <p:spPr>
          <a:xfrm>
            <a:off x="11453495" y="6367145"/>
            <a:ext cx="441325" cy="24574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rPr>
              <a:t>16</a:t>
            </a:r>
            <a:endPar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pic>
        <p:nvPicPr>
          <p:cNvPr id="5" name="Image 4" descr="Contexte.drawio"/>
          <p:cNvPicPr>
            <a:picLocks noChangeAspect="1"/>
          </p:cNvPicPr>
          <p:nvPr/>
        </p:nvPicPr>
        <p:blipFill>
          <a:blip r:embed="rId3"/>
          <a:stretch>
            <a:fillRect/>
          </a:stretch>
        </p:blipFill>
        <p:spPr>
          <a:xfrm>
            <a:off x="1604645" y="1200785"/>
            <a:ext cx="9254490" cy="49917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 name="Titre 1"/>
          <p:cNvSpPr/>
          <p:nvPr>
            <p:ph type="title"/>
          </p:nvPr>
        </p:nvSpPr>
        <p:spPr>
          <a:xfrm>
            <a:off x="1814195" y="127635"/>
            <a:ext cx="8229600" cy="894715"/>
          </a:xfrm>
        </p:spPr>
        <p:txBody>
          <a:bodyPr/>
          <a:p>
            <a:r>
              <a:rPr lang="fr-FR" altLang="en-US" sz="2800" cap="all">
                <a:solidFill>
                  <a:schemeClr val="tx1"/>
                </a:solidFill>
                <a:uFillTx/>
                <a:latin typeface="Times New Roman" panose="02020603050405020304" charset="0"/>
                <a:cs typeface="Times New Roman" panose="02020603050405020304" charset="0"/>
              </a:rPr>
              <a:t>Diagramme de Package</a:t>
            </a:r>
            <a:endParaRPr lang="fr-FR" altLang="en-US" sz="2800" cap="all">
              <a:solidFill>
                <a:schemeClr val="tx1"/>
              </a:solidFill>
              <a:uFillTx/>
              <a:latin typeface="Times New Roman" panose="02020603050405020304" charset="0"/>
              <a:cs typeface="Times New Roman" panose="02020603050405020304" charset="0"/>
            </a:endParaRPr>
          </a:p>
        </p:txBody>
      </p:sp>
      <p:pic>
        <p:nvPicPr>
          <p:cNvPr id="272" name="Google Shape;272;p21" descr="image.png"/>
          <p:cNvPicPr preferRelativeResize="0"/>
          <p:nvPr/>
        </p:nvPicPr>
        <p:blipFill rotWithShape="1">
          <a:blip r:embed="rId3"/>
          <a:srcRect/>
          <a:stretch>
            <a:fillRect/>
          </a:stretch>
        </p:blipFill>
        <p:spPr>
          <a:xfrm>
            <a:off x="404495" y="6363970"/>
            <a:ext cx="11049000" cy="295275"/>
          </a:xfrm>
          <a:prstGeom prst="rect">
            <a:avLst/>
          </a:prstGeom>
          <a:noFill/>
          <a:ln>
            <a:noFill/>
          </a:ln>
        </p:spPr>
      </p:pic>
      <p:sp>
        <p:nvSpPr>
          <p:cNvPr id="4" name="Zone de texte 3"/>
          <p:cNvSpPr txBox="1"/>
          <p:nvPr/>
        </p:nvSpPr>
        <p:spPr>
          <a:xfrm>
            <a:off x="571500" y="6429375"/>
            <a:ext cx="6096000" cy="229870"/>
          </a:xfrm>
          <a:prstGeom prst="rect">
            <a:avLst/>
          </a:prstGeom>
          <a:noFill/>
        </p:spPr>
        <p:txBody>
          <a:bodyPr wrap="square" rtlCol="0" anchor="t">
            <a:spAutoFit/>
          </a:bodyPr>
          <a:p>
            <a:pPr marL="0" marR="0" lvl="0" indent="0" algn="l" rtl="0">
              <a:spcBef>
                <a:spcPts val="0"/>
              </a:spcBef>
              <a:spcAft>
                <a:spcPts val="0"/>
              </a:spcAft>
              <a:buNone/>
            </a:pPr>
            <a:r>
              <a:rPr lang="en-US" sz="900">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altLang="en-US" sz="900">
              <a:solidFill>
                <a:srgbClr val="475569"/>
              </a:solidFill>
              <a:latin typeface="Lato" panose="020F0502020204030203"/>
              <a:ea typeface="Lato" panose="020F0502020204030203"/>
              <a:cs typeface="Lato" panose="020F0502020204030203"/>
              <a:sym typeface="Lato" panose="020F0502020204030203"/>
            </a:endParaRPr>
          </a:p>
        </p:txBody>
      </p:sp>
      <p:sp>
        <p:nvSpPr>
          <p:cNvPr id="276" name="Google Shape;276;p21"/>
          <p:cNvSpPr txBox="1"/>
          <p:nvPr/>
        </p:nvSpPr>
        <p:spPr>
          <a:xfrm>
            <a:off x="11487150" y="6363970"/>
            <a:ext cx="457200" cy="3365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rPr>
              <a:t>17</a:t>
            </a:r>
            <a:endPar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pic>
        <p:nvPicPr>
          <p:cNvPr id="3" name="Image 2" descr="package.drawio1"/>
          <p:cNvPicPr>
            <a:picLocks noChangeAspect="1"/>
          </p:cNvPicPr>
          <p:nvPr/>
        </p:nvPicPr>
        <p:blipFill>
          <a:blip r:embed="rId4"/>
          <a:stretch>
            <a:fillRect/>
          </a:stretch>
        </p:blipFill>
        <p:spPr>
          <a:xfrm>
            <a:off x="404495" y="763270"/>
            <a:ext cx="10949940" cy="60947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 name="Titre 1"/>
          <p:cNvSpPr/>
          <p:nvPr>
            <p:ph type="title"/>
          </p:nvPr>
        </p:nvSpPr>
        <p:spPr>
          <a:xfrm>
            <a:off x="1814195" y="127635"/>
            <a:ext cx="8229600" cy="894715"/>
          </a:xfrm>
        </p:spPr>
        <p:txBody>
          <a:bodyPr/>
          <a:p>
            <a:r>
              <a:rPr lang="fr-FR" altLang="en-US" sz="2800" cap="all">
                <a:solidFill>
                  <a:schemeClr val="tx1"/>
                </a:solidFill>
                <a:uFillTx/>
                <a:latin typeface="Times New Roman" panose="02020603050405020304" charset="0"/>
                <a:cs typeface="Times New Roman" panose="02020603050405020304" charset="0"/>
              </a:rPr>
              <a:t>Diagramme de cas d’utilisation</a:t>
            </a:r>
            <a:endParaRPr lang="fr-FR" altLang="en-US" sz="2800" cap="all">
              <a:solidFill>
                <a:schemeClr val="tx1"/>
              </a:solidFill>
              <a:uFillTx/>
              <a:latin typeface="Times New Roman" panose="02020603050405020304" charset="0"/>
              <a:cs typeface="Times New Roman" panose="02020603050405020304" charset="0"/>
            </a:endParaRPr>
          </a:p>
        </p:txBody>
      </p:sp>
      <p:sp>
        <p:nvSpPr>
          <p:cNvPr id="4" name="Zone de texte 3"/>
          <p:cNvSpPr txBox="1"/>
          <p:nvPr/>
        </p:nvSpPr>
        <p:spPr>
          <a:xfrm>
            <a:off x="571500" y="6429375"/>
            <a:ext cx="6096000" cy="460375"/>
          </a:xfrm>
          <a:prstGeom prst="rect">
            <a:avLst/>
          </a:prstGeom>
          <a:noFill/>
        </p:spPr>
        <p:txBody>
          <a:bodyPr wrap="square" rtlCol="0" anchor="t">
            <a:spAutoFit/>
          </a:bodyPr>
          <a:p>
            <a:pPr marL="0" marR="0" lvl="0" indent="0" algn="l" rtl="0">
              <a:spcBef>
                <a:spcPts val="0"/>
              </a:spcBef>
              <a:spcAft>
                <a:spcPts val="0"/>
              </a:spcAft>
              <a:buNone/>
            </a:pPr>
            <a:r>
              <a:rPr lang="en-US" sz="1200">
                <a:solidFill>
                  <a:srgbClr val="475569"/>
                </a:solidFill>
                <a:latin typeface="Lato" panose="020F0502020204030203"/>
                <a:ea typeface="Lato" panose="020F0502020204030203"/>
                <a:cs typeface="Lato" panose="020F0502020204030203"/>
                <a:sym typeface="Lato" panose="020F0502020204030203"/>
              </a:rPr>
              <a:t>Ipnet Institute of Technology — Soutenance de</a:t>
            </a:r>
            <a:endParaRPr lang="en-US" sz="1200">
              <a:solidFill>
                <a:srgbClr val="475569"/>
              </a:solidFill>
              <a:latin typeface="Lato" panose="020F0502020204030203"/>
              <a:ea typeface="Lato" panose="020F0502020204030203"/>
              <a:cs typeface="Lato" panose="020F0502020204030203"/>
              <a:sym typeface="Lato" panose="020F0502020204030203"/>
            </a:endParaRPr>
          </a:p>
          <a:p>
            <a:pPr marL="0" marR="0" lvl="0" indent="0" algn="l" rtl="0">
              <a:spcBef>
                <a:spcPts val="0"/>
              </a:spcBef>
              <a:spcAft>
                <a:spcPts val="0"/>
              </a:spcAft>
              <a:buNone/>
            </a:pPr>
            <a:r>
              <a:rPr lang="en-US" sz="1200">
                <a:solidFill>
                  <a:srgbClr val="475569"/>
                </a:solidFill>
                <a:latin typeface="Lato" panose="020F0502020204030203"/>
                <a:ea typeface="Lato" panose="020F0502020204030203"/>
                <a:cs typeface="Lato" panose="020F0502020204030203"/>
                <a:sym typeface="Lato" panose="020F0502020204030203"/>
              </a:rPr>
              <a:t>Licence Professionnelle</a:t>
            </a:r>
            <a:endParaRPr lang="en-US" altLang="en-US" sz="1200">
              <a:solidFill>
                <a:srgbClr val="475569"/>
              </a:solidFill>
              <a:latin typeface="Lato" panose="020F0502020204030203"/>
              <a:ea typeface="Lato" panose="020F0502020204030203"/>
              <a:cs typeface="Lato" panose="020F0502020204030203"/>
              <a:sym typeface="Lato" panose="020F0502020204030203"/>
            </a:endParaRPr>
          </a:p>
        </p:txBody>
      </p:sp>
      <p:sp>
        <p:nvSpPr>
          <p:cNvPr id="276" name="Google Shape;276;p21"/>
          <p:cNvSpPr txBox="1"/>
          <p:nvPr/>
        </p:nvSpPr>
        <p:spPr>
          <a:xfrm>
            <a:off x="11487150" y="6321425"/>
            <a:ext cx="333375" cy="3378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rPr>
              <a:t>18</a:t>
            </a:r>
            <a:endPar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pic>
        <p:nvPicPr>
          <p:cNvPr id="5" name="Image 4" descr="use case"/>
          <p:cNvPicPr>
            <a:picLocks noChangeAspect="1"/>
          </p:cNvPicPr>
          <p:nvPr/>
        </p:nvPicPr>
        <p:blipFill>
          <a:blip r:embed="rId3"/>
          <a:stretch>
            <a:fillRect/>
          </a:stretch>
        </p:blipFill>
        <p:spPr>
          <a:xfrm>
            <a:off x="2687955" y="869315"/>
            <a:ext cx="7487920" cy="59880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 name="Titre 1"/>
          <p:cNvSpPr/>
          <p:nvPr>
            <p:ph type="title"/>
          </p:nvPr>
        </p:nvSpPr>
        <p:spPr>
          <a:xfrm>
            <a:off x="1814195" y="127635"/>
            <a:ext cx="8229600" cy="894715"/>
          </a:xfrm>
        </p:spPr>
        <p:txBody>
          <a:bodyPr>
            <a:noAutofit/>
          </a:bodyPr>
          <a:p>
            <a:r>
              <a:rPr lang="fr-FR" altLang="en-US" sz="2500" cap="all">
                <a:solidFill>
                  <a:schemeClr val="tx1"/>
                </a:solidFill>
                <a:uFillTx/>
                <a:latin typeface="Times New Roman" panose="02020603050405020304" charset="0"/>
                <a:cs typeface="Times New Roman" panose="02020603050405020304" charset="0"/>
              </a:rPr>
              <a:t>Diagramme d’activité : création d’un bail</a:t>
            </a:r>
            <a:endParaRPr lang="fr-FR" altLang="en-US" sz="2500" cap="all">
              <a:solidFill>
                <a:schemeClr val="tx1"/>
              </a:solidFill>
              <a:uFillTx/>
              <a:latin typeface="Times New Roman" panose="02020603050405020304" charset="0"/>
              <a:cs typeface="Times New Roman" panose="02020603050405020304" charset="0"/>
            </a:endParaRPr>
          </a:p>
        </p:txBody>
      </p:sp>
      <p:sp>
        <p:nvSpPr>
          <p:cNvPr id="4" name="Zone de texte 3"/>
          <p:cNvSpPr txBox="1"/>
          <p:nvPr/>
        </p:nvSpPr>
        <p:spPr>
          <a:xfrm>
            <a:off x="571500" y="6429375"/>
            <a:ext cx="6096000" cy="275590"/>
          </a:xfrm>
          <a:prstGeom prst="rect">
            <a:avLst/>
          </a:prstGeom>
          <a:noFill/>
        </p:spPr>
        <p:txBody>
          <a:bodyPr wrap="square" rtlCol="0" anchor="t">
            <a:spAutoFit/>
          </a:bodyPr>
          <a:p>
            <a:pPr marL="0" marR="0" lvl="0" indent="0" algn="l" rtl="0">
              <a:spcBef>
                <a:spcPts val="0"/>
              </a:spcBef>
              <a:spcAft>
                <a:spcPts val="0"/>
              </a:spcAft>
              <a:buNone/>
            </a:pPr>
            <a:r>
              <a:rPr lang="en-US" sz="1200">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altLang="en-US" sz="1200">
              <a:solidFill>
                <a:srgbClr val="475569"/>
              </a:solidFill>
              <a:latin typeface="Lato" panose="020F0502020204030203"/>
              <a:ea typeface="Lato" panose="020F0502020204030203"/>
              <a:cs typeface="Lato" panose="020F0502020204030203"/>
              <a:sym typeface="Lato" panose="020F0502020204030203"/>
            </a:endParaRPr>
          </a:p>
        </p:txBody>
      </p:sp>
      <p:sp>
        <p:nvSpPr>
          <p:cNvPr id="276" name="Google Shape;276;p21"/>
          <p:cNvSpPr txBox="1"/>
          <p:nvPr/>
        </p:nvSpPr>
        <p:spPr>
          <a:xfrm>
            <a:off x="11487150" y="6363970"/>
            <a:ext cx="364490" cy="24574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rPr>
              <a:t>19</a:t>
            </a:r>
            <a:endPar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pic>
        <p:nvPicPr>
          <p:cNvPr id="3" name="Image 2" descr="activite_contrat_bail.drawio(1)"/>
          <p:cNvPicPr>
            <a:picLocks noChangeAspect="1"/>
          </p:cNvPicPr>
          <p:nvPr/>
        </p:nvPicPr>
        <p:blipFill>
          <a:blip r:embed="rId3"/>
          <a:stretch>
            <a:fillRect/>
          </a:stretch>
        </p:blipFill>
        <p:spPr>
          <a:xfrm>
            <a:off x="1814195" y="809625"/>
            <a:ext cx="9024620" cy="61766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 name="Titre 1"/>
          <p:cNvSpPr/>
          <p:nvPr>
            <p:ph type="title"/>
          </p:nvPr>
        </p:nvSpPr>
        <p:spPr>
          <a:xfrm>
            <a:off x="1814195" y="127635"/>
            <a:ext cx="8229600" cy="894715"/>
          </a:xfrm>
        </p:spPr>
        <p:txBody>
          <a:bodyPr>
            <a:normAutofit fontScale="90000"/>
          </a:bodyPr>
          <a:p>
            <a:r>
              <a:rPr lang="fr-FR" altLang="en-US" sz="2800" cap="all">
                <a:solidFill>
                  <a:schemeClr val="tx1"/>
                </a:solidFill>
                <a:uFillTx/>
                <a:latin typeface="Times New Roman" panose="02020603050405020304" charset="0"/>
                <a:cs typeface="Times New Roman" panose="02020603050405020304" charset="0"/>
              </a:rPr>
              <a:t>Diagramme de séquence : création d’un bail</a:t>
            </a:r>
            <a:endParaRPr lang="fr-FR" altLang="en-US" sz="2800" cap="all">
              <a:solidFill>
                <a:schemeClr val="tx1"/>
              </a:solidFill>
              <a:uFillTx/>
              <a:latin typeface="Times New Roman" panose="02020603050405020304" charset="0"/>
              <a:cs typeface="Times New Roman" panose="02020603050405020304" charset="0"/>
            </a:endParaRPr>
          </a:p>
        </p:txBody>
      </p:sp>
      <p:pic>
        <p:nvPicPr>
          <p:cNvPr id="272" name="Google Shape;272;p21" descr="image.png"/>
          <p:cNvPicPr preferRelativeResize="0"/>
          <p:nvPr/>
        </p:nvPicPr>
        <p:blipFill rotWithShape="1">
          <a:blip r:embed="rId3"/>
          <a:srcRect/>
          <a:stretch>
            <a:fillRect/>
          </a:stretch>
        </p:blipFill>
        <p:spPr>
          <a:xfrm>
            <a:off x="404495" y="6363970"/>
            <a:ext cx="11049000" cy="295275"/>
          </a:xfrm>
          <a:prstGeom prst="rect">
            <a:avLst/>
          </a:prstGeom>
          <a:noFill/>
          <a:ln>
            <a:noFill/>
          </a:ln>
        </p:spPr>
      </p:pic>
      <p:sp>
        <p:nvSpPr>
          <p:cNvPr id="4" name="Zone de texte 3"/>
          <p:cNvSpPr txBox="1"/>
          <p:nvPr/>
        </p:nvSpPr>
        <p:spPr>
          <a:xfrm>
            <a:off x="571500" y="6429375"/>
            <a:ext cx="6096000" cy="460375"/>
          </a:xfrm>
          <a:prstGeom prst="rect">
            <a:avLst/>
          </a:prstGeom>
          <a:noFill/>
        </p:spPr>
        <p:txBody>
          <a:bodyPr wrap="square" rtlCol="0" anchor="t">
            <a:spAutoFit/>
          </a:bodyPr>
          <a:p>
            <a:pPr marL="0" marR="0" lvl="0" indent="0" algn="l" rtl="0">
              <a:spcBef>
                <a:spcPts val="0"/>
              </a:spcBef>
              <a:spcAft>
                <a:spcPts val="0"/>
              </a:spcAft>
              <a:buNone/>
            </a:pPr>
            <a:r>
              <a:rPr lang="en-US" sz="1200">
                <a:solidFill>
                  <a:srgbClr val="475569"/>
                </a:solidFill>
                <a:latin typeface="Lato" panose="020F0502020204030203"/>
                <a:ea typeface="Lato" panose="020F0502020204030203"/>
                <a:cs typeface="Lato" panose="020F0502020204030203"/>
                <a:sym typeface="Lato" panose="020F0502020204030203"/>
              </a:rPr>
              <a:t>Ipnet Institute of Technology — Soutenance de </a:t>
            </a:r>
            <a:endParaRPr lang="en-US" sz="1200">
              <a:solidFill>
                <a:srgbClr val="475569"/>
              </a:solidFill>
              <a:latin typeface="Lato" panose="020F0502020204030203"/>
              <a:ea typeface="Lato" panose="020F0502020204030203"/>
              <a:cs typeface="Lato" panose="020F0502020204030203"/>
              <a:sym typeface="Lato" panose="020F0502020204030203"/>
            </a:endParaRPr>
          </a:p>
          <a:p>
            <a:pPr marL="0" marR="0" lvl="0" indent="0" algn="l" rtl="0">
              <a:spcBef>
                <a:spcPts val="0"/>
              </a:spcBef>
              <a:spcAft>
                <a:spcPts val="0"/>
              </a:spcAft>
              <a:buNone/>
            </a:pPr>
            <a:r>
              <a:rPr lang="en-US" sz="1200">
                <a:solidFill>
                  <a:srgbClr val="475569"/>
                </a:solidFill>
                <a:latin typeface="Lato" panose="020F0502020204030203"/>
                <a:ea typeface="Lato" panose="020F0502020204030203"/>
                <a:cs typeface="Lato" panose="020F0502020204030203"/>
                <a:sym typeface="Lato" panose="020F0502020204030203"/>
              </a:rPr>
              <a:t>Licence Professionnelle</a:t>
            </a:r>
            <a:endParaRPr lang="en-US" altLang="en-US" sz="1200">
              <a:solidFill>
                <a:srgbClr val="475569"/>
              </a:solidFill>
              <a:latin typeface="Lato" panose="020F0502020204030203"/>
              <a:ea typeface="Lato" panose="020F0502020204030203"/>
              <a:cs typeface="Lato" panose="020F0502020204030203"/>
              <a:sym typeface="Lato" panose="020F0502020204030203"/>
            </a:endParaRPr>
          </a:p>
        </p:txBody>
      </p:sp>
      <p:sp>
        <p:nvSpPr>
          <p:cNvPr id="276" name="Google Shape;276;p21"/>
          <p:cNvSpPr txBox="1"/>
          <p:nvPr/>
        </p:nvSpPr>
        <p:spPr>
          <a:xfrm>
            <a:off x="11501120" y="6520815"/>
            <a:ext cx="272415" cy="3384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rPr>
              <a:t>20</a:t>
            </a:r>
            <a:endPar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pic>
        <p:nvPicPr>
          <p:cNvPr id="5" name="Image 4" descr="creation bail"/>
          <p:cNvPicPr>
            <a:picLocks noChangeAspect="1"/>
          </p:cNvPicPr>
          <p:nvPr/>
        </p:nvPicPr>
        <p:blipFill>
          <a:blip r:embed="rId4"/>
          <a:stretch>
            <a:fillRect/>
          </a:stretch>
        </p:blipFill>
        <p:spPr>
          <a:xfrm>
            <a:off x="0" y="782955"/>
            <a:ext cx="12192000" cy="56464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 name="Titre 1"/>
          <p:cNvSpPr/>
          <p:nvPr>
            <p:ph type="title"/>
          </p:nvPr>
        </p:nvSpPr>
        <p:spPr>
          <a:xfrm>
            <a:off x="1814195" y="127635"/>
            <a:ext cx="8229600" cy="894715"/>
          </a:xfrm>
        </p:spPr>
        <p:txBody>
          <a:bodyPr/>
          <a:p>
            <a:r>
              <a:rPr lang="fr-FR" altLang="en-US" sz="3200" cap="all">
                <a:solidFill>
                  <a:schemeClr val="tx1"/>
                </a:solidFill>
                <a:uFillTx/>
                <a:latin typeface="Times New Roman" panose="02020603050405020304" charset="0"/>
                <a:cs typeface="Times New Roman" panose="02020603050405020304" charset="0"/>
              </a:rPr>
              <a:t>Diagramme de classe</a:t>
            </a:r>
            <a:endParaRPr lang="fr-FR" altLang="en-US" sz="3200" cap="all">
              <a:solidFill>
                <a:schemeClr val="tx1"/>
              </a:solidFill>
              <a:uFillTx/>
              <a:latin typeface="Times New Roman" panose="02020603050405020304" charset="0"/>
              <a:cs typeface="Times New Roman" panose="02020603050405020304" charset="0"/>
            </a:endParaRPr>
          </a:p>
        </p:txBody>
      </p:sp>
      <p:sp>
        <p:nvSpPr>
          <p:cNvPr id="4" name="Zone de texte 3"/>
          <p:cNvSpPr txBox="1"/>
          <p:nvPr/>
        </p:nvSpPr>
        <p:spPr>
          <a:xfrm>
            <a:off x="571500" y="6429375"/>
            <a:ext cx="6096000" cy="229870"/>
          </a:xfrm>
          <a:prstGeom prst="rect">
            <a:avLst/>
          </a:prstGeom>
          <a:noFill/>
        </p:spPr>
        <p:txBody>
          <a:bodyPr wrap="square" rtlCol="0" anchor="t">
            <a:spAutoFit/>
          </a:bodyPr>
          <a:p>
            <a:pPr marL="0" marR="0" lvl="0" indent="0" algn="l" rtl="0">
              <a:spcBef>
                <a:spcPts val="0"/>
              </a:spcBef>
              <a:spcAft>
                <a:spcPts val="0"/>
              </a:spcAft>
              <a:buNone/>
            </a:pPr>
            <a:r>
              <a:rPr lang="en-US" sz="900">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altLang="en-US" sz="900">
              <a:solidFill>
                <a:srgbClr val="475569"/>
              </a:solidFill>
              <a:latin typeface="Lato" panose="020F0502020204030203"/>
              <a:ea typeface="Lato" panose="020F0502020204030203"/>
              <a:cs typeface="Lato" panose="020F0502020204030203"/>
              <a:sym typeface="Lato" panose="020F0502020204030203"/>
            </a:endParaRPr>
          </a:p>
        </p:txBody>
      </p:sp>
      <p:sp>
        <p:nvSpPr>
          <p:cNvPr id="276" name="Google Shape;276;p21"/>
          <p:cNvSpPr txBox="1"/>
          <p:nvPr/>
        </p:nvSpPr>
        <p:spPr>
          <a:xfrm>
            <a:off x="11453495" y="6363970"/>
            <a:ext cx="441325" cy="33718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rPr>
              <a:t>21</a:t>
            </a:r>
            <a:endPar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pic>
        <p:nvPicPr>
          <p:cNvPr id="5" name="Image 4" descr="classe1"/>
          <p:cNvPicPr>
            <a:picLocks noChangeAspect="1"/>
          </p:cNvPicPr>
          <p:nvPr/>
        </p:nvPicPr>
        <p:blipFill>
          <a:blip r:embed="rId3"/>
          <a:stretch>
            <a:fillRect/>
          </a:stretch>
        </p:blipFill>
        <p:spPr>
          <a:xfrm>
            <a:off x="1908175" y="760095"/>
            <a:ext cx="8135620" cy="64154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 name="Titre 1"/>
          <p:cNvSpPr/>
          <p:nvPr>
            <p:ph type="title"/>
          </p:nvPr>
        </p:nvSpPr>
        <p:spPr>
          <a:xfrm>
            <a:off x="1814195" y="127635"/>
            <a:ext cx="8229600" cy="894715"/>
          </a:xfrm>
        </p:spPr>
        <p:txBody>
          <a:bodyPr/>
          <a:p>
            <a:r>
              <a:rPr lang="fr-FR" altLang="en-US" sz="3200" cap="all">
                <a:solidFill>
                  <a:schemeClr val="tx1"/>
                </a:solidFill>
                <a:uFillTx/>
                <a:latin typeface="Times New Roman" panose="02020603050405020304" charset="0"/>
                <a:cs typeface="Times New Roman" panose="02020603050405020304" charset="0"/>
              </a:rPr>
              <a:t>Diagramme de classe</a:t>
            </a:r>
            <a:endParaRPr lang="fr-FR" altLang="en-US" sz="3200" cap="all">
              <a:solidFill>
                <a:schemeClr val="tx1"/>
              </a:solidFill>
              <a:uFillTx/>
              <a:latin typeface="Times New Roman" panose="02020603050405020304" charset="0"/>
              <a:cs typeface="Times New Roman" panose="02020603050405020304" charset="0"/>
            </a:endParaRPr>
          </a:p>
        </p:txBody>
      </p:sp>
      <p:sp>
        <p:nvSpPr>
          <p:cNvPr id="4" name="Zone de texte 3"/>
          <p:cNvSpPr txBox="1"/>
          <p:nvPr/>
        </p:nvSpPr>
        <p:spPr>
          <a:xfrm>
            <a:off x="571500" y="6429375"/>
            <a:ext cx="6096000" cy="275590"/>
          </a:xfrm>
          <a:prstGeom prst="rect">
            <a:avLst/>
          </a:prstGeom>
          <a:noFill/>
        </p:spPr>
        <p:txBody>
          <a:bodyPr wrap="square" rtlCol="0" anchor="t">
            <a:spAutoFit/>
          </a:bodyPr>
          <a:p>
            <a:pPr marL="0" marR="0" lvl="0" indent="0" algn="l" rtl="0">
              <a:spcBef>
                <a:spcPts val="0"/>
              </a:spcBef>
              <a:spcAft>
                <a:spcPts val="0"/>
              </a:spcAft>
              <a:buNone/>
            </a:pPr>
            <a:r>
              <a:rPr lang="en-US" sz="1200">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altLang="en-US" sz="1200">
              <a:solidFill>
                <a:srgbClr val="475569"/>
              </a:solidFill>
              <a:latin typeface="Lato" panose="020F0502020204030203"/>
              <a:ea typeface="Lato" panose="020F0502020204030203"/>
              <a:cs typeface="Lato" panose="020F0502020204030203"/>
              <a:sym typeface="Lato" panose="020F0502020204030203"/>
            </a:endParaRPr>
          </a:p>
        </p:txBody>
      </p:sp>
      <p:sp>
        <p:nvSpPr>
          <p:cNvPr id="276" name="Google Shape;276;p21"/>
          <p:cNvSpPr txBox="1"/>
          <p:nvPr/>
        </p:nvSpPr>
        <p:spPr>
          <a:xfrm>
            <a:off x="11453495" y="6363970"/>
            <a:ext cx="426085" cy="3365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rPr>
              <a:t>22</a:t>
            </a:r>
            <a:endPar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pic>
        <p:nvPicPr>
          <p:cNvPr id="5" name="Image 4" descr="classe2.drawio"/>
          <p:cNvPicPr>
            <a:picLocks noChangeAspect="1"/>
          </p:cNvPicPr>
          <p:nvPr/>
        </p:nvPicPr>
        <p:blipFill>
          <a:blip r:embed="rId3"/>
          <a:stretch>
            <a:fillRect/>
          </a:stretch>
        </p:blipFill>
        <p:spPr>
          <a:xfrm>
            <a:off x="3228340" y="760730"/>
            <a:ext cx="5735320" cy="62001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 name="Titre 1"/>
          <p:cNvSpPr/>
          <p:nvPr>
            <p:ph type="title"/>
          </p:nvPr>
        </p:nvSpPr>
        <p:spPr>
          <a:xfrm>
            <a:off x="1814195" y="127635"/>
            <a:ext cx="8229600" cy="894715"/>
          </a:xfrm>
        </p:spPr>
        <p:txBody>
          <a:bodyPr/>
          <a:p>
            <a:r>
              <a:rPr lang="fr-FR" altLang="en-US" sz="2800" cap="all">
                <a:solidFill>
                  <a:schemeClr val="tx1"/>
                </a:solidFill>
                <a:uFillTx/>
                <a:latin typeface="Times New Roman" panose="02020603050405020304" charset="0"/>
                <a:cs typeface="Times New Roman" panose="02020603050405020304" charset="0"/>
              </a:rPr>
              <a:t>Architecture logicielle du système</a:t>
            </a:r>
            <a:endParaRPr lang="fr-FR" altLang="en-US" sz="2800" cap="all">
              <a:solidFill>
                <a:schemeClr val="tx1"/>
              </a:solidFill>
              <a:uFillTx/>
              <a:latin typeface="Times New Roman" panose="02020603050405020304" charset="0"/>
              <a:cs typeface="Times New Roman" panose="02020603050405020304" charset="0"/>
            </a:endParaRPr>
          </a:p>
        </p:txBody>
      </p:sp>
      <p:sp>
        <p:nvSpPr>
          <p:cNvPr id="4" name="Zone de texte 3"/>
          <p:cNvSpPr txBox="1"/>
          <p:nvPr/>
        </p:nvSpPr>
        <p:spPr>
          <a:xfrm>
            <a:off x="571500" y="6429375"/>
            <a:ext cx="6096000" cy="460375"/>
          </a:xfrm>
          <a:prstGeom prst="rect">
            <a:avLst/>
          </a:prstGeom>
          <a:noFill/>
        </p:spPr>
        <p:txBody>
          <a:bodyPr wrap="square" rtlCol="0" anchor="t">
            <a:spAutoFit/>
          </a:bodyPr>
          <a:p>
            <a:pPr marL="0" marR="0" lvl="0" indent="0" algn="l" rtl="0">
              <a:spcBef>
                <a:spcPts val="0"/>
              </a:spcBef>
              <a:spcAft>
                <a:spcPts val="0"/>
              </a:spcAft>
              <a:buNone/>
            </a:pPr>
            <a:r>
              <a:rPr lang="en-US" sz="1200">
                <a:solidFill>
                  <a:srgbClr val="475569"/>
                </a:solidFill>
                <a:latin typeface="Lato" panose="020F0502020204030203"/>
                <a:ea typeface="Lato" panose="020F0502020204030203"/>
                <a:cs typeface="Lato" panose="020F0502020204030203"/>
                <a:sym typeface="Lato" panose="020F0502020204030203"/>
              </a:rPr>
              <a:t>Ipnet Institute of Technology — Soutenance de </a:t>
            </a:r>
            <a:endParaRPr lang="en-US" sz="1200">
              <a:solidFill>
                <a:srgbClr val="475569"/>
              </a:solidFill>
              <a:latin typeface="Lato" panose="020F0502020204030203"/>
              <a:ea typeface="Lato" panose="020F0502020204030203"/>
              <a:cs typeface="Lato" panose="020F0502020204030203"/>
              <a:sym typeface="Lato" panose="020F0502020204030203"/>
            </a:endParaRPr>
          </a:p>
          <a:p>
            <a:pPr marL="0" marR="0" lvl="0" indent="0" algn="l" rtl="0">
              <a:spcBef>
                <a:spcPts val="0"/>
              </a:spcBef>
              <a:spcAft>
                <a:spcPts val="0"/>
              </a:spcAft>
              <a:buNone/>
            </a:pPr>
            <a:r>
              <a:rPr lang="en-US" sz="1200">
                <a:solidFill>
                  <a:srgbClr val="475569"/>
                </a:solidFill>
                <a:latin typeface="Lato" panose="020F0502020204030203"/>
                <a:ea typeface="Lato" panose="020F0502020204030203"/>
                <a:cs typeface="Lato" panose="020F0502020204030203"/>
                <a:sym typeface="Lato" panose="020F0502020204030203"/>
              </a:rPr>
              <a:t>Licence Professionnelle</a:t>
            </a:r>
            <a:endParaRPr lang="en-US" altLang="en-US" sz="1200">
              <a:solidFill>
                <a:srgbClr val="475569"/>
              </a:solidFill>
              <a:latin typeface="Lato" panose="020F0502020204030203"/>
              <a:ea typeface="Lato" panose="020F0502020204030203"/>
              <a:cs typeface="Lato" panose="020F0502020204030203"/>
              <a:sym typeface="Lato" panose="020F0502020204030203"/>
            </a:endParaRPr>
          </a:p>
        </p:txBody>
      </p:sp>
      <p:sp>
        <p:nvSpPr>
          <p:cNvPr id="276" name="Google Shape;276;p21"/>
          <p:cNvSpPr txBox="1"/>
          <p:nvPr/>
        </p:nvSpPr>
        <p:spPr>
          <a:xfrm>
            <a:off x="11487150" y="6339840"/>
            <a:ext cx="410845" cy="3365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rPr>
              <a:t>23</a:t>
            </a:r>
            <a:endPar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sp>
        <p:nvSpPr>
          <p:cNvPr id="6" name="Zone de texte 5"/>
          <p:cNvSpPr txBox="1"/>
          <p:nvPr/>
        </p:nvSpPr>
        <p:spPr>
          <a:xfrm>
            <a:off x="410210" y="1113155"/>
            <a:ext cx="5318760" cy="5125085"/>
          </a:xfrm>
          <a:prstGeom prst="rect">
            <a:avLst/>
          </a:prstGeom>
          <a:noFill/>
        </p:spPr>
        <p:txBody>
          <a:bodyPr wrap="square" rtlCol="0">
            <a:noAutofit/>
          </a:bodyPr>
          <a:p>
            <a:endParaRPr lang="fr-FR" altLang="en-US"/>
          </a:p>
        </p:txBody>
      </p:sp>
      <p:pic>
        <p:nvPicPr>
          <p:cNvPr id="9" name="Image 8" descr="rental_architecture _logicielle.drawio_pptx"/>
          <p:cNvPicPr>
            <a:picLocks noChangeAspect="1"/>
          </p:cNvPicPr>
          <p:nvPr/>
        </p:nvPicPr>
        <p:blipFill>
          <a:blip r:embed="rId3"/>
          <a:stretch>
            <a:fillRect/>
          </a:stretch>
        </p:blipFill>
        <p:spPr>
          <a:xfrm>
            <a:off x="1814195" y="1046480"/>
            <a:ext cx="9015095" cy="52933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 name="Titre 1"/>
          <p:cNvSpPr/>
          <p:nvPr>
            <p:ph type="title"/>
          </p:nvPr>
        </p:nvSpPr>
        <p:spPr>
          <a:xfrm>
            <a:off x="1814195" y="127635"/>
            <a:ext cx="8229600" cy="894715"/>
          </a:xfrm>
        </p:spPr>
        <p:txBody>
          <a:bodyPr>
            <a:normAutofit fontScale="90000"/>
          </a:bodyPr>
          <a:p>
            <a:r>
              <a:rPr lang="fr-FR" altLang="en-US" sz="3200" cap="all">
                <a:solidFill>
                  <a:schemeClr val="tx1"/>
                </a:solidFill>
                <a:uFillTx/>
                <a:latin typeface="Times New Roman" panose="02020603050405020304" charset="0"/>
                <a:cs typeface="Times New Roman" panose="02020603050405020304" charset="0"/>
              </a:rPr>
              <a:t>Architecture matérielle du système</a:t>
            </a:r>
            <a:endParaRPr lang="fr-FR" altLang="en-US" sz="3200" cap="all">
              <a:solidFill>
                <a:schemeClr val="tx1"/>
              </a:solidFill>
              <a:uFillTx/>
              <a:latin typeface="Times New Roman" panose="02020603050405020304" charset="0"/>
              <a:cs typeface="Times New Roman" panose="02020603050405020304" charset="0"/>
            </a:endParaRPr>
          </a:p>
        </p:txBody>
      </p:sp>
      <p:sp>
        <p:nvSpPr>
          <p:cNvPr id="276" name="Google Shape;276;p21"/>
          <p:cNvSpPr txBox="1"/>
          <p:nvPr/>
        </p:nvSpPr>
        <p:spPr>
          <a:xfrm>
            <a:off x="11487150" y="6322060"/>
            <a:ext cx="379730" cy="33718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rPr>
              <a:t>24</a:t>
            </a:r>
            <a:endPar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sp>
        <p:nvSpPr>
          <p:cNvPr id="6" name="Zone de texte 5"/>
          <p:cNvSpPr txBox="1"/>
          <p:nvPr/>
        </p:nvSpPr>
        <p:spPr>
          <a:xfrm>
            <a:off x="410210" y="1113155"/>
            <a:ext cx="5318760" cy="5125085"/>
          </a:xfrm>
          <a:prstGeom prst="rect">
            <a:avLst/>
          </a:prstGeom>
          <a:noFill/>
        </p:spPr>
        <p:txBody>
          <a:bodyPr wrap="square" rtlCol="0">
            <a:noAutofit/>
          </a:bodyPr>
          <a:p>
            <a:endParaRPr lang="fr-FR" altLang="en-US"/>
          </a:p>
        </p:txBody>
      </p:sp>
      <p:pic>
        <p:nvPicPr>
          <p:cNvPr id="8" name="Image 7" descr="rental_architecture_materielle.drawio_pptx"/>
          <p:cNvPicPr>
            <a:picLocks noChangeAspect="1"/>
          </p:cNvPicPr>
          <p:nvPr/>
        </p:nvPicPr>
        <p:blipFill>
          <a:blip r:embed="rId3"/>
          <a:stretch>
            <a:fillRect/>
          </a:stretch>
        </p:blipFill>
        <p:spPr>
          <a:xfrm>
            <a:off x="2091055" y="779780"/>
            <a:ext cx="8510905" cy="5879465"/>
          </a:xfrm>
          <a:prstGeom prst="rect">
            <a:avLst/>
          </a:prstGeom>
        </p:spPr>
      </p:pic>
      <p:sp>
        <p:nvSpPr>
          <p:cNvPr id="3" name="Zone de texte 2"/>
          <p:cNvSpPr txBox="1"/>
          <p:nvPr/>
        </p:nvSpPr>
        <p:spPr>
          <a:xfrm>
            <a:off x="585470" y="6323330"/>
            <a:ext cx="6096000" cy="398780"/>
          </a:xfrm>
          <a:prstGeom prst="rect">
            <a:avLst/>
          </a:prstGeom>
          <a:noFill/>
        </p:spPr>
        <p:txBody>
          <a:bodyPr wrap="square" rtlCol="0" anchor="t">
            <a:spAutoFit/>
          </a:bodyPr>
          <a:p>
            <a:pPr marL="0" marR="0" lvl="0" indent="0" algn="l" rtl="0">
              <a:spcBef>
                <a:spcPts val="0"/>
              </a:spcBef>
              <a:spcAft>
                <a:spcPts val="0"/>
              </a:spcAft>
              <a:buNone/>
            </a:pPr>
            <a:r>
              <a:rPr lang="en-US" sz="1000">
                <a:solidFill>
                  <a:srgbClr val="475569"/>
                </a:solidFill>
                <a:latin typeface="Lato" panose="020F0502020204030203"/>
                <a:ea typeface="Lato" panose="020F0502020204030203"/>
                <a:cs typeface="Lato" panose="020F0502020204030203"/>
                <a:sym typeface="Lato" panose="020F0502020204030203"/>
              </a:rPr>
              <a:t>Ipnet Institute of Technology — Soutenance de </a:t>
            </a:r>
            <a:endParaRPr lang="en-US" sz="1000">
              <a:solidFill>
                <a:srgbClr val="475569"/>
              </a:solidFill>
              <a:latin typeface="Lato" panose="020F0502020204030203"/>
              <a:ea typeface="Lato" panose="020F0502020204030203"/>
              <a:cs typeface="Lato" panose="020F0502020204030203"/>
              <a:sym typeface="Lato" panose="020F0502020204030203"/>
            </a:endParaRPr>
          </a:p>
          <a:p>
            <a:pPr marL="0" marR="0" lvl="0" indent="0" algn="l" rtl="0">
              <a:spcBef>
                <a:spcPts val="0"/>
              </a:spcBef>
              <a:spcAft>
                <a:spcPts val="0"/>
              </a:spcAft>
              <a:buNone/>
            </a:pPr>
            <a:r>
              <a:rPr lang="en-US" sz="1000">
                <a:solidFill>
                  <a:srgbClr val="475569"/>
                </a:solidFill>
                <a:latin typeface="Lato" panose="020F0502020204030203"/>
                <a:ea typeface="Lato" panose="020F0502020204030203"/>
                <a:cs typeface="Lato" panose="020F0502020204030203"/>
                <a:sym typeface="Lato" panose="020F0502020204030203"/>
              </a:rPr>
              <a:t>Licence Professionnelle</a:t>
            </a:r>
            <a:endParaRPr lang="en-US" altLang="en-US" sz="1000">
              <a:solidFill>
                <a:srgbClr val="475569"/>
              </a:solidFill>
              <a:latin typeface="Lato" panose="020F0502020204030203"/>
              <a:ea typeface="Lato" panose="020F0502020204030203"/>
              <a:cs typeface="Lato" panose="020F0502020204030203"/>
              <a:sym typeface="Lato" panose="020F0502020204030203"/>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251" name="Shape 251"/>
        <p:cNvGrpSpPr/>
        <p:nvPr/>
      </p:nvGrpSpPr>
      <p:grpSpPr>
        <a:xfrm>
          <a:off x="0" y="0"/>
          <a:ext cx="0" cy="0"/>
          <a:chOff x="0" y="0"/>
          <a:chExt cx="0" cy="0"/>
        </a:xfrm>
      </p:grpSpPr>
      <p:pic>
        <p:nvPicPr>
          <p:cNvPr id="2" name="Google Shape;205;p18"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pic>
        <p:nvPicPr>
          <p:cNvPr id="18" name="Google Shape;253;p20" descr="image.png"/>
          <p:cNvPicPr preferRelativeResize="0"/>
          <p:nvPr/>
        </p:nvPicPr>
        <p:blipFill rotWithShape="1">
          <a:blip r:embed="rId3"/>
          <a:srcRect/>
          <a:stretch>
            <a:fillRect/>
          </a:stretch>
        </p:blipFill>
        <p:spPr>
          <a:xfrm>
            <a:off x="571500" y="2065020"/>
            <a:ext cx="2026920" cy="1528445"/>
          </a:xfrm>
          <a:prstGeom prst="rect">
            <a:avLst/>
          </a:prstGeom>
          <a:noFill/>
          <a:ln>
            <a:noFill/>
          </a:ln>
        </p:spPr>
      </p:pic>
      <p:sp>
        <p:nvSpPr>
          <p:cNvPr id="19" name="Google Shape;256;p20"/>
          <p:cNvSpPr txBox="1"/>
          <p:nvPr/>
        </p:nvSpPr>
        <p:spPr>
          <a:xfrm>
            <a:off x="57150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0" name="Google Shape;258;p20"/>
          <p:cNvSpPr txBox="1"/>
          <p:nvPr/>
        </p:nvSpPr>
        <p:spPr>
          <a:xfrm>
            <a:off x="571500" y="6286500"/>
            <a:ext cx="3486150"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sz="12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21" name="Google Shape;259;p20"/>
          <p:cNvSpPr txBox="1"/>
          <p:nvPr/>
        </p:nvSpPr>
        <p:spPr>
          <a:xfrm>
            <a:off x="11487150" y="6286500"/>
            <a:ext cx="441960" cy="36893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rPr>
              <a:t>25</a:t>
            </a:r>
            <a:endPar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sp>
        <p:nvSpPr>
          <p:cNvPr id="22" name="Google Shape;260;p20"/>
          <p:cNvSpPr txBox="1"/>
          <p:nvPr/>
        </p:nvSpPr>
        <p:spPr>
          <a:xfrm>
            <a:off x="571500" y="2299970"/>
            <a:ext cx="2026920" cy="228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1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rPr>
              <a:t>Backend API Robuste</a:t>
            </a:r>
            <a:endParaRPr lang="en-US" sz="11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endParaRPr>
          </a:p>
        </p:txBody>
      </p:sp>
      <p:sp>
        <p:nvSpPr>
          <p:cNvPr id="23" name="Google Shape;266;p20"/>
          <p:cNvSpPr txBox="1"/>
          <p:nvPr/>
        </p:nvSpPr>
        <p:spPr>
          <a:xfrm>
            <a:off x="571500" y="1019175"/>
            <a:ext cx="11601450" cy="41136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rPr>
              <a:t>Choix Techniques &amp; Technologie</a:t>
            </a:r>
            <a:endParaRPr 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endParaRPr>
          </a:p>
        </p:txBody>
      </p:sp>
      <p:pic>
        <p:nvPicPr>
          <p:cNvPr id="24" name="Image 23" descr="spring-boot-logo"/>
          <p:cNvPicPr>
            <a:picLocks noChangeAspect="1"/>
          </p:cNvPicPr>
          <p:nvPr/>
        </p:nvPicPr>
        <p:blipFill>
          <a:blip r:embed="rId4"/>
          <a:stretch>
            <a:fillRect/>
          </a:stretch>
        </p:blipFill>
        <p:spPr>
          <a:xfrm>
            <a:off x="1061402" y="2814287"/>
            <a:ext cx="1047115" cy="549910"/>
          </a:xfrm>
          <a:prstGeom prst="rect">
            <a:avLst/>
          </a:prstGeom>
        </p:spPr>
      </p:pic>
      <p:pic>
        <p:nvPicPr>
          <p:cNvPr id="25" name="Google Shape;253;p20" descr="image.png"/>
          <p:cNvPicPr preferRelativeResize="0"/>
          <p:nvPr/>
        </p:nvPicPr>
        <p:blipFill rotWithShape="1">
          <a:blip r:embed="rId3"/>
          <a:srcRect/>
          <a:stretch>
            <a:fillRect/>
          </a:stretch>
        </p:blipFill>
        <p:spPr>
          <a:xfrm>
            <a:off x="2827020" y="2065020"/>
            <a:ext cx="2026920" cy="1528445"/>
          </a:xfrm>
          <a:prstGeom prst="rect">
            <a:avLst/>
          </a:prstGeom>
          <a:noFill/>
          <a:ln>
            <a:noFill/>
          </a:ln>
        </p:spPr>
      </p:pic>
      <p:sp>
        <p:nvSpPr>
          <p:cNvPr id="26" name="Google Shape;260;p20"/>
          <p:cNvSpPr txBox="1"/>
          <p:nvPr/>
        </p:nvSpPr>
        <p:spPr>
          <a:xfrm>
            <a:off x="2827020" y="2299970"/>
            <a:ext cx="2026920" cy="228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1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rPr>
              <a:t>Framework web (Angular)</a:t>
            </a:r>
            <a:endParaRPr lang="fr-FR" altLang="en-US" sz="11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endParaRPr>
          </a:p>
        </p:txBody>
      </p:sp>
      <p:pic>
        <p:nvPicPr>
          <p:cNvPr id="27" name="Google Shape;253;p20" descr="image.png"/>
          <p:cNvPicPr preferRelativeResize="0"/>
          <p:nvPr/>
        </p:nvPicPr>
        <p:blipFill rotWithShape="1">
          <a:blip r:embed="rId3"/>
          <a:srcRect/>
          <a:stretch>
            <a:fillRect/>
          </a:stretch>
        </p:blipFill>
        <p:spPr>
          <a:xfrm>
            <a:off x="5082540" y="2065020"/>
            <a:ext cx="2026920" cy="1528445"/>
          </a:xfrm>
          <a:prstGeom prst="rect">
            <a:avLst/>
          </a:prstGeom>
          <a:noFill/>
          <a:ln>
            <a:noFill/>
          </a:ln>
        </p:spPr>
      </p:pic>
      <p:sp>
        <p:nvSpPr>
          <p:cNvPr id="28" name="Google Shape;260;p20"/>
          <p:cNvSpPr txBox="1"/>
          <p:nvPr/>
        </p:nvSpPr>
        <p:spPr>
          <a:xfrm>
            <a:off x="5082540" y="2299970"/>
            <a:ext cx="2026920" cy="228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fr-FR" altLang="en-US" sz="11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rPr>
              <a:t>Framework mobile (Ionic)</a:t>
            </a:r>
            <a:endParaRPr lang="fr-FR" altLang="en-US" sz="11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endParaRPr>
          </a:p>
        </p:txBody>
      </p:sp>
      <p:pic>
        <p:nvPicPr>
          <p:cNvPr id="29" name="Image 28" descr="idBXx3ksX4_logos"/>
          <p:cNvPicPr>
            <a:picLocks noChangeAspect="1"/>
          </p:cNvPicPr>
          <p:nvPr/>
        </p:nvPicPr>
        <p:blipFill>
          <a:blip r:embed="rId5"/>
          <a:stretch>
            <a:fillRect/>
          </a:stretch>
        </p:blipFill>
        <p:spPr>
          <a:xfrm>
            <a:off x="3378200" y="2626962"/>
            <a:ext cx="924560" cy="924560"/>
          </a:xfrm>
          <a:prstGeom prst="rect">
            <a:avLst/>
          </a:prstGeom>
        </p:spPr>
      </p:pic>
      <p:pic>
        <p:nvPicPr>
          <p:cNvPr id="30" name="Image 29" descr="Ionic Icon"/>
          <p:cNvPicPr>
            <a:picLocks noChangeAspect="1"/>
          </p:cNvPicPr>
          <p:nvPr/>
        </p:nvPicPr>
        <p:blipFill>
          <a:blip r:embed="rId6"/>
          <a:stretch>
            <a:fillRect/>
          </a:stretch>
        </p:blipFill>
        <p:spPr>
          <a:xfrm>
            <a:off x="5682297" y="2675540"/>
            <a:ext cx="827405" cy="827405"/>
          </a:xfrm>
          <a:prstGeom prst="rect">
            <a:avLst/>
          </a:prstGeom>
        </p:spPr>
      </p:pic>
      <p:pic>
        <p:nvPicPr>
          <p:cNvPr id="31" name="Google Shape;253;p20" descr="image.png"/>
          <p:cNvPicPr preferRelativeResize="0"/>
          <p:nvPr/>
        </p:nvPicPr>
        <p:blipFill rotWithShape="1">
          <a:blip r:embed="rId3"/>
          <a:srcRect/>
          <a:stretch>
            <a:fillRect/>
          </a:stretch>
        </p:blipFill>
        <p:spPr>
          <a:xfrm>
            <a:off x="7338060" y="2065020"/>
            <a:ext cx="2026920" cy="1528445"/>
          </a:xfrm>
          <a:prstGeom prst="rect">
            <a:avLst/>
          </a:prstGeom>
          <a:noFill/>
          <a:ln>
            <a:noFill/>
          </a:ln>
        </p:spPr>
      </p:pic>
      <p:sp>
        <p:nvSpPr>
          <p:cNvPr id="32" name="Google Shape;260;p20"/>
          <p:cNvSpPr txBox="1"/>
          <p:nvPr/>
        </p:nvSpPr>
        <p:spPr>
          <a:xfrm>
            <a:off x="7338060" y="2299970"/>
            <a:ext cx="2026920" cy="228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fr-FR" altLang="en-US" sz="11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rPr>
              <a:t>PostgreSQL</a:t>
            </a:r>
            <a:endParaRPr lang="fr-FR" altLang="en-US" sz="11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endParaRPr>
          </a:p>
        </p:txBody>
      </p:sp>
      <p:pic>
        <p:nvPicPr>
          <p:cNvPr id="33" name="Google Shape;253;p20" descr="image.png"/>
          <p:cNvPicPr preferRelativeResize="0"/>
          <p:nvPr/>
        </p:nvPicPr>
        <p:blipFill rotWithShape="1">
          <a:blip r:embed="rId3"/>
          <a:srcRect/>
          <a:stretch>
            <a:fillRect/>
          </a:stretch>
        </p:blipFill>
        <p:spPr>
          <a:xfrm>
            <a:off x="9593580" y="2065020"/>
            <a:ext cx="2026920" cy="1528445"/>
          </a:xfrm>
          <a:prstGeom prst="rect">
            <a:avLst/>
          </a:prstGeom>
          <a:noFill/>
          <a:ln>
            <a:noFill/>
          </a:ln>
        </p:spPr>
      </p:pic>
      <p:sp>
        <p:nvSpPr>
          <p:cNvPr id="34" name="Google Shape;260;p20"/>
          <p:cNvSpPr txBox="1"/>
          <p:nvPr/>
        </p:nvSpPr>
        <p:spPr>
          <a:xfrm>
            <a:off x="9593580" y="2299970"/>
            <a:ext cx="2026920" cy="228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fr-FR" altLang="en-US" sz="11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rPr>
              <a:t>DrawIo</a:t>
            </a:r>
            <a:endParaRPr lang="fr-FR" altLang="en-US" sz="11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endParaRPr>
          </a:p>
        </p:txBody>
      </p:sp>
      <p:pic>
        <p:nvPicPr>
          <p:cNvPr id="35" name="Google Shape;253;p20" descr="image.png"/>
          <p:cNvPicPr preferRelativeResize="0"/>
          <p:nvPr/>
        </p:nvPicPr>
        <p:blipFill rotWithShape="1">
          <a:blip r:embed="rId3"/>
          <a:srcRect/>
          <a:stretch>
            <a:fillRect/>
          </a:stretch>
        </p:blipFill>
        <p:spPr>
          <a:xfrm>
            <a:off x="571500" y="4227830"/>
            <a:ext cx="2026920" cy="1528445"/>
          </a:xfrm>
          <a:prstGeom prst="rect">
            <a:avLst/>
          </a:prstGeom>
          <a:noFill/>
          <a:ln>
            <a:noFill/>
          </a:ln>
        </p:spPr>
      </p:pic>
      <p:sp>
        <p:nvSpPr>
          <p:cNvPr id="36" name="Google Shape;260;p20"/>
          <p:cNvSpPr txBox="1"/>
          <p:nvPr/>
        </p:nvSpPr>
        <p:spPr>
          <a:xfrm>
            <a:off x="571500" y="4462780"/>
            <a:ext cx="2026920" cy="228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fr-FR" altLang="en-US" sz="11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rPr>
              <a:t>Langage (Java)</a:t>
            </a:r>
            <a:endParaRPr lang="fr-FR" altLang="en-US" sz="11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endParaRPr>
          </a:p>
        </p:txBody>
      </p:sp>
      <p:pic>
        <p:nvPicPr>
          <p:cNvPr id="37" name="Image 36" descr="postgre"/>
          <p:cNvPicPr>
            <a:picLocks noChangeAspect="1"/>
          </p:cNvPicPr>
          <p:nvPr/>
        </p:nvPicPr>
        <p:blipFill>
          <a:blip r:embed="rId7"/>
          <a:srcRect b="22334"/>
          <a:stretch>
            <a:fillRect/>
          </a:stretch>
        </p:blipFill>
        <p:spPr>
          <a:xfrm>
            <a:off x="7815580" y="2673000"/>
            <a:ext cx="1071880" cy="832485"/>
          </a:xfrm>
          <a:prstGeom prst="rect">
            <a:avLst/>
          </a:prstGeom>
        </p:spPr>
      </p:pic>
      <p:pic>
        <p:nvPicPr>
          <p:cNvPr id="38" name="Image 37" descr="Diagrams.net_Logo.svg"/>
          <p:cNvPicPr>
            <a:picLocks noChangeAspect="1"/>
          </p:cNvPicPr>
          <p:nvPr/>
        </p:nvPicPr>
        <p:blipFill>
          <a:blip r:embed="rId8"/>
          <a:stretch>
            <a:fillRect/>
          </a:stretch>
        </p:blipFill>
        <p:spPr>
          <a:xfrm>
            <a:off x="10176827" y="2659030"/>
            <a:ext cx="860425" cy="860425"/>
          </a:xfrm>
          <a:prstGeom prst="rect">
            <a:avLst/>
          </a:prstGeom>
        </p:spPr>
      </p:pic>
      <p:pic>
        <p:nvPicPr>
          <p:cNvPr id="39" name="Espace réservé du contenu 7" descr="Une image contenant Police, Graphique, logo, conception  Le contenu généré par l’IA peut être incorrect."/>
          <p:cNvPicPr>
            <a:picLocks noGrp="1" noChangeAspect="1"/>
          </p:cNvPicPr>
          <p:nvPr/>
        </p:nvPicPr>
        <p:blipFill>
          <a:blip r:embed="rId9"/>
          <a:stretch>
            <a:fillRect/>
          </a:stretch>
        </p:blipFill>
        <p:spPr>
          <a:xfrm>
            <a:off x="865187" y="4804377"/>
            <a:ext cx="1439545" cy="895350"/>
          </a:xfrm>
          <a:prstGeom prst="rect">
            <a:avLst/>
          </a:prstGeom>
        </p:spPr>
      </p:pic>
      <p:pic>
        <p:nvPicPr>
          <p:cNvPr id="300" name="Tech Card Supabase"/>
          <p:cNvPicPr preferRelativeResize="0"/>
          <p:nvPr/>
        </p:nvPicPr>
        <p:blipFill rotWithShape="1">
          <a:blip r:embed="rId3"/>
          <a:srcRect/>
          <a:stretch>
            <a:fillRect/>
          </a:stretch>
        </p:blipFill>
        <p:spPr>
          <a:xfrm>
            <a:off x="2827020" y="4227830"/>
            <a:ext cx="2026920" cy="1528445"/>
          </a:xfrm>
          <a:prstGeom prst="rect">
            <a:avLst/>
          </a:prstGeom>
          <a:noFill/>
          <a:ln>
            <a:noFill/>
          </a:ln>
        </p:spPr>
      </p:pic>
      <p:sp>
        <p:nvSpPr>
          <p:cNvPr id="301" name="Tech Label Supabase"/>
          <p:cNvSpPr txBox="1"/>
          <p:nvPr/>
        </p:nvSpPr>
        <p:spPr>
          <a:xfrm>
            <a:off x="2827020" y="4462780"/>
            <a:ext cx="2026920" cy="228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1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rPr>
              <a:t>Supabase</a:t>
            </a:r>
            <a:endParaRPr lang="en-US" sz="11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endParaRPr>
          </a:p>
        </p:txBody>
      </p:sp>
      <p:pic>
        <p:nvPicPr>
          <p:cNvPr id="302" name="Tech Icon Supabase"/>
          <p:cNvPicPr preferRelativeResize="0"/>
          <p:nvPr/>
        </p:nvPicPr>
        <p:blipFill rotWithShape="1">
          <a:blip r:embed="rId10"/>
          <a:srcRect/>
          <a:stretch>
            <a:fillRect/>
          </a:stretch>
        </p:blipFill>
        <p:spPr>
          <a:xfrm>
            <a:off x="3415480" y="4827052"/>
            <a:ext cx="850000" cy="850000"/>
          </a:xfrm>
          <a:prstGeom prst="rect">
            <a:avLst/>
          </a:prstGeom>
          <a:noFill/>
          <a:ln>
            <a:noFill/>
          </a:ln>
        </p:spPr>
      </p:pic>
      <p:pic>
        <p:nvPicPr>
          <p:cNvPr id="303" name="Tech Card Render"/>
          <p:cNvPicPr preferRelativeResize="0"/>
          <p:nvPr/>
        </p:nvPicPr>
        <p:blipFill rotWithShape="1">
          <a:blip r:embed="rId3"/>
          <a:srcRect/>
          <a:stretch>
            <a:fillRect/>
          </a:stretch>
        </p:blipFill>
        <p:spPr>
          <a:xfrm>
            <a:off x="5082540" y="4227830"/>
            <a:ext cx="2026920" cy="1528445"/>
          </a:xfrm>
          <a:prstGeom prst="rect">
            <a:avLst/>
          </a:prstGeom>
          <a:noFill/>
          <a:ln>
            <a:noFill/>
          </a:ln>
        </p:spPr>
      </p:pic>
      <p:sp>
        <p:nvSpPr>
          <p:cNvPr id="304" name="Tech Label Render"/>
          <p:cNvSpPr txBox="1"/>
          <p:nvPr/>
        </p:nvSpPr>
        <p:spPr>
          <a:xfrm>
            <a:off x="5082540" y="4462780"/>
            <a:ext cx="2026920" cy="228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1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rPr>
              <a:t>Render</a:t>
            </a:r>
            <a:endParaRPr lang="en-US" sz="11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endParaRPr>
          </a:p>
        </p:txBody>
      </p:sp>
      <p:pic>
        <p:nvPicPr>
          <p:cNvPr id="305" name="Tech Icon Render"/>
          <p:cNvPicPr preferRelativeResize="0"/>
          <p:nvPr/>
        </p:nvPicPr>
        <p:blipFill rotWithShape="1">
          <a:blip r:embed="rId11"/>
          <a:srcRect/>
          <a:stretch>
            <a:fillRect/>
          </a:stretch>
        </p:blipFill>
        <p:spPr>
          <a:xfrm>
            <a:off x="5671000" y="4827052"/>
            <a:ext cx="850000" cy="850000"/>
          </a:xfrm>
          <a:prstGeom prst="rect">
            <a:avLst/>
          </a:prstGeom>
          <a:noFill/>
          <a:ln>
            <a:noFill/>
          </a:ln>
        </p:spPr>
      </p:pic>
      <p:pic>
        <p:nvPicPr>
          <p:cNvPr id="306" name="Tech Card FedaPay"/>
          <p:cNvPicPr preferRelativeResize="0"/>
          <p:nvPr/>
        </p:nvPicPr>
        <p:blipFill rotWithShape="1">
          <a:blip r:embed="rId3"/>
          <a:srcRect/>
          <a:stretch>
            <a:fillRect/>
          </a:stretch>
        </p:blipFill>
        <p:spPr>
          <a:xfrm>
            <a:off x="7338060" y="4227830"/>
            <a:ext cx="2026920" cy="1528445"/>
          </a:xfrm>
          <a:prstGeom prst="rect">
            <a:avLst/>
          </a:prstGeom>
          <a:noFill/>
          <a:ln>
            <a:noFill/>
          </a:ln>
        </p:spPr>
      </p:pic>
      <p:sp>
        <p:nvSpPr>
          <p:cNvPr id="307" name="Tech Label FedaPay"/>
          <p:cNvSpPr txBox="1"/>
          <p:nvPr/>
        </p:nvSpPr>
        <p:spPr>
          <a:xfrm>
            <a:off x="7338060" y="4462780"/>
            <a:ext cx="2026920" cy="228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1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rPr>
              <a:t>FedaPay</a:t>
            </a:r>
            <a:endParaRPr lang="en-US" sz="11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endParaRPr>
          </a:p>
        </p:txBody>
      </p:sp>
      <p:pic>
        <p:nvPicPr>
          <p:cNvPr id="309" name="Tech Card JWT"/>
          <p:cNvPicPr preferRelativeResize="0"/>
          <p:nvPr/>
        </p:nvPicPr>
        <p:blipFill rotWithShape="1">
          <a:blip r:embed="rId3"/>
          <a:srcRect/>
          <a:stretch>
            <a:fillRect/>
          </a:stretch>
        </p:blipFill>
        <p:spPr>
          <a:xfrm>
            <a:off x="9593580" y="4227830"/>
            <a:ext cx="2026920" cy="1528445"/>
          </a:xfrm>
          <a:prstGeom prst="rect">
            <a:avLst/>
          </a:prstGeom>
          <a:noFill/>
          <a:ln>
            <a:noFill/>
          </a:ln>
        </p:spPr>
      </p:pic>
      <p:sp>
        <p:nvSpPr>
          <p:cNvPr id="310" name="Tech Label JWT"/>
          <p:cNvSpPr txBox="1"/>
          <p:nvPr/>
        </p:nvSpPr>
        <p:spPr>
          <a:xfrm>
            <a:off x="9593580" y="4462780"/>
            <a:ext cx="2026920" cy="228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1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rPr>
              <a:t>JWT (Auth)</a:t>
            </a:r>
            <a:endParaRPr lang="en-US" sz="1100" b="0" i="0" u="none" strike="noStrike" cap="none">
              <a:solidFill>
                <a:srgbClr val="3B82F6"/>
              </a:solidFill>
              <a:latin typeface="Poppins SemiBold" panose="00000500000000000000"/>
              <a:ea typeface="Poppins SemiBold" panose="00000500000000000000"/>
              <a:cs typeface="Poppins SemiBold" panose="00000500000000000000"/>
              <a:sym typeface="Poppins SemiBold" panose="00000500000000000000"/>
            </a:endParaRPr>
          </a:p>
        </p:txBody>
      </p:sp>
      <p:pic>
        <p:nvPicPr>
          <p:cNvPr id="311" name="Tech Icon JWT"/>
          <p:cNvPicPr preferRelativeResize="0"/>
          <p:nvPr/>
        </p:nvPicPr>
        <p:blipFill rotWithShape="1">
          <a:blip r:embed="rId12"/>
          <a:srcRect/>
          <a:stretch>
            <a:fillRect/>
          </a:stretch>
        </p:blipFill>
        <p:spPr>
          <a:xfrm>
            <a:off x="10182040" y="4827052"/>
            <a:ext cx="850000" cy="850000"/>
          </a:xfrm>
          <a:prstGeom prst="rect">
            <a:avLst/>
          </a:prstGeom>
          <a:noFill/>
          <a:ln>
            <a:noFill/>
          </a:ln>
        </p:spPr>
      </p:pic>
      <p:pic>
        <p:nvPicPr>
          <p:cNvPr id="1" name="Image 0" descr="271753217_4725329127553424_4288912098229584774_n"/>
          <p:cNvPicPr>
            <a:picLocks noChangeAspect="1"/>
          </p:cNvPicPr>
          <p:nvPr/>
        </p:nvPicPr>
        <p:blipFill>
          <a:blip r:embed="rId13"/>
          <a:stretch>
            <a:fillRect/>
          </a:stretch>
        </p:blipFill>
        <p:spPr>
          <a:xfrm>
            <a:off x="7900035" y="4747260"/>
            <a:ext cx="991870" cy="9918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down)">
                                      <p:cBhvr>
                                        <p:cTn id="10" dur="500"/>
                                        <p:tgtEl>
                                          <p:spTgt spid="22"/>
                                        </p:tgtEl>
                                      </p:cBhvr>
                                    </p:animEffect>
                                  </p:childTnLst>
                                </p:cTn>
                              </p:par>
                              <p:par>
                                <p:cTn id="11" presetID="22" presetClass="entr" presetSubtype="4"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wipe(down)">
                                      <p:cBhvr>
                                        <p:cTn id="13" dur="500"/>
                                        <p:tgtEl>
                                          <p:spTgt spid="2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ipe(down)">
                                      <p:cBhvr>
                                        <p:cTn id="18" dur="500"/>
                                        <p:tgtEl>
                                          <p:spTgt spid="25"/>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wipe(down)">
                                      <p:cBhvr>
                                        <p:cTn id="21" dur="500"/>
                                        <p:tgtEl>
                                          <p:spTgt spid="26"/>
                                        </p:tgtEl>
                                      </p:cBhvr>
                                    </p:animEffect>
                                  </p:childTnLst>
                                </p:cTn>
                              </p:par>
                              <p:par>
                                <p:cTn id="22" presetID="22" presetClass="entr" presetSubtype="4" fill="hold"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wipe(down)">
                                      <p:cBhvr>
                                        <p:cTn id="24" dur="500"/>
                                        <p:tgtEl>
                                          <p:spTgt spid="2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wipe(down)">
                                      <p:cBhvr>
                                        <p:cTn id="29" dur="500"/>
                                        <p:tgtEl>
                                          <p:spTgt spid="27"/>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down)">
                                      <p:cBhvr>
                                        <p:cTn id="32" dur="500"/>
                                        <p:tgtEl>
                                          <p:spTgt spid="28"/>
                                        </p:tgtEl>
                                      </p:cBhvr>
                                    </p:animEffect>
                                  </p:childTnLst>
                                </p:cTn>
                              </p:par>
                              <p:par>
                                <p:cTn id="33" presetID="22" presetClass="entr" presetSubtype="4"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wipe(down)">
                                      <p:cBhvr>
                                        <p:cTn id="35" dur="500"/>
                                        <p:tgtEl>
                                          <p:spTgt spid="3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down)">
                                      <p:cBhvr>
                                        <p:cTn id="40" dur="500"/>
                                        <p:tgtEl>
                                          <p:spTgt spid="31"/>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wipe(down)">
                                      <p:cBhvr>
                                        <p:cTn id="43" dur="500"/>
                                        <p:tgtEl>
                                          <p:spTgt spid="32"/>
                                        </p:tgtEl>
                                      </p:cBhvr>
                                    </p:animEffect>
                                  </p:childTnLst>
                                </p:cTn>
                              </p:par>
                              <p:par>
                                <p:cTn id="44" presetID="22" presetClass="entr" presetSubtype="4" fill="hold"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wipe(down)">
                                      <p:cBhvr>
                                        <p:cTn id="46" dur="500"/>
                                        <p:tgtEl>
                                          <p:spTgt spid="3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wipe(down)">
                                      <p:cBhvr>
                                        <p:cTn id="51" dur="500"/>
                                        <p:tgtEl>
                                          <p:spTgt spid="33"/>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wipe(down)">
                                      <p:cBhvr>
                                        <p:cTn id="54" dur="500"/>
                                        <p:tgtEl>
                                          <p:spTgt spid="34"/>
                                        </p:tgtEl>
                                      </p:cBhvr>
                                    </p:animEffect>
                                  </p:childTnLst>
                                </p:cTn>
                              </p:par>
                              <p:par>
                                <p:cTn id="55" presetID="22" presetClass="entr" presetSubtype="4" fill="hold" nodeType="with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wipe(down)">
                                      <p:cBhvr>
                                        <p:cTn id="57" dur="500"/>
                                        <p:tgtEl>
                                          <p:spTgt spid="3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35"/>
                                        </p:tgtEl>
                                        <p:attrNameLst>
                                          <p:attrName>style.visibility</p:attrName>
                                        </p:attrNameLst>
                                      </p:cBhvr>
                                      <p:to>
                                        <p:strVal val="visible"/>
                                      </p:to>
                                    </p:set>
                                    <p:animEffect transition="in" filter="wipe(down)">
                                      <p:cBhvr>
                                        <p:cTn id="62" dur="500"/>
                                        <p:tgtEl>
                                          <p:spTgt spid="35"/>
                                        </p:tgtEl>
                                      </p:cBhvr>
                                    </p:animEffect>
                                  </p:childTnLst>
                                </p:cTn>
                              </p:par>
                              <p:par>
                                <p:cTn id="63" presetID="22" presetClass="entr" presetSubtype="4" fill="hold" grpId="0" nodeType="with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wipe(down)">
                                      <p:cBhvr>
                                        <p:cTn id="65" dur="500"/>
                                        <p:tgtEl>
                                          <p:spTgt spid="36"/>
                                        </p:tgtEl>
                                      </p:cBhvr>
                                    </p:animEffect>
                                  </p:childTnLst>
                                </p:cTn>
                              </p:par>
                              <p:par>
                                <p:cTn id="66" presetID="22" presetClass="entr" presetSubtype="4" fill="hold" nodeType="withEffect">
                                  <p:stCondLst>
                                    <p:cond delay="0"/>
                                  </p:stCondLst>
                                  <p:childTnLst>
                                    <p:set>
                                      <p:cBhvr>
                                        <p:cTn id="67" dur="1" fill="hold">
                                          <p:stCondLst>
                                            <p:cond delay="0"/>
                                          </p:stCondLst>
                                        </p:cTn>
                                        <p:tgtEl>
                                          <p:spTgt spid="39"/>
                                        </p:tgtEl>
                                        <p:attrNameLst>
                                          <p:attrName>style.visibility</p:attrName>
                                        </p:attrNameLst>
                                      </p:cBhvr>
                                      <p:to>
                                        <p:strVal val="visible"/>
                                      </p:to>
                                    </p:set>
                                    <p:animEffect transition="in" filter="wipe(down)">
                                      <p:cBhvr>
                                        <p:cTn id="68"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2" grpId="1"/>
      <p:bldP spid="26" grpId="0"/>
      <p:bldP spid="26" grpId="1"/>
      <p:bldP spid="28" grpId="0"/>
      <p:bldP spid="28" grpId="1"/>
      <p:bldP spid="32" grpId="0"/>
      <p:bldP spid="32" grpId="1"/>
      <p:bldP spid="34" grpId="0"/>
      <p:bldP spid="34" grpId="1"/>
      <p:bldP spid="36" grpId="0"/>
      <p:bldP spid="36" grpId="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301" name="Shape 301"/>
        <p:cNvGrpSpPr/>
        <p:nvPr/>
      </p:nvGrpSpPr>
      <p:grpSpPr>
        <a:xfrm>
          <a:off x="0" y="0"/>
          <a:ext cx="0" cy="0"/>
          <a:chOff x="0" y="0"/>
          <a:chExt cx="0" cy="0"/>
        </a:xfrm>
      </p:grpSpPr>
      <p:pic>
        <p:nvPicPr>
          <p:cNvPr id="302" name="Google Shape;302;p22"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305" name="Google Shape;305;p22"/>
          <p:cNvSpPr txBox="1"/>
          <p:nvPr/>
        </p:nvSpPr>
        <p:spPr>
          <a:xfrm>
            <a:off x="57150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306" name="Google Shape;306;p22"/>
          <p:cNvSpPr txBox="1"/>
          <p:nvPr/>
        </p:nvSpPr>
        <p:spPr>
          <a:xfrm>
            <a:off x="9505950" y="471487"/>
            <a:ext cx="211455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0" i="0" u="none" strike="noStrike" cap="none">
                <a:solidFill>
                  <a:srgbClr val="475569"/>
                </a:solidFill>
                <a:latin typeface="Lato" panose="020F0502020204030203"/>
                <a:ea typeface="Lato" panose="020F0502020204030203"/>
                <a:cs typeface="Lato" panose="020F0502020204030203"/>
                <a:sym typeface="Lato" panose="020F0502020204030203"/>
              </a:rPr>
              <a:t>ASPECTS FINANCIERS DU PROJET</a:t>
            </a:r>
            <a:endParaRPr lang="en-US" sz="975"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307" name="Google Shape;307;p22"/>
          <p:cNvSpPr txBox="1"/>
          <p:nvPr/>
        </p:nvSpPr>
        <p:spPr>
          <a:xfrm>
            <a:off x="571500" y="6286500"/>
            <a:ext cx="3486150"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475569"/>
                </a:solidFill>
                <a:latin typeface="Lato" panose="020F0502020204030203"/>
                <a:ea typeface="Lato" panose="020F0502020204030203"/>
                <a:cs typeface="Lato" panose="020F0502020204030203"/>
                <a:sym typeface="Lato" panose="020F0502020204030203"/>
              </a:rPr>
              <a:t>Ipnet Institute of Technology — Soutenance de Licence Professionnelle</a:t>
            </a:r>
            <a:endParaRPr lang="en-US" sz="1200" b="0" i="0" u="none" strike="noStrike" cap="none">
              <a:solidFill>
                <a:srgbClr val="475569"/>
              </a:solidFill>
              <a:latin typeface="Lato" panose="020F0502020204030203"/>
              <a:ea typeface="Lato" panose="020F0502020204030203"/>
              <a:cs typeface="Lato" panose="020F0502020204030203"/>
              <a:sym typeface="Lato" panose="020F0502020204030203"/>
            </a:endParaRPr>
          </a:p>
        </p:txBody>
      </p:sp>
      <p:sp>
        <p:nvSpPr>
          <p:cNvPr id="308" name="Google Shape;308;p22"/>
          <p:cNvSpPr txBox="1"/>
          <p:nvPr/>
        </p:nvSpPr>
        <p:spPr>
          <a:xfrm>
            <a:off x="11487150" y="6286500"/>
            <a:ext cx="349250" cy="43116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rPr>
              <a:t>26</a:t>
            </a:r>
            <a:endPar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sp>
        <p:nvSpPr>
          <p:cNvPr id="309" name="Google Shape;309;p22"/>
          <p:cNvSpPr txBox="1"/>
          <p:nvPr/>
        </p:nvSpPr>
        <p:spPr>
          <a:xfrm>
            <a:off x="571500" y="1019175"/>
            <a:ext cx="7301865" cy="47371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rPr>
              <a:t>Évaluation Financière (CAPEX &amp; OPEX)</a:t>
            </a:r>
            <a:endParaRPr 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endParaRPr>
          </a:p>
        </p:txBody>
      </p:sp>
      <p:pic>
        <p:nvPicPr>
          <p:cNvPr id="2" name="Image 1"/>
          <p:cNvPicPr>
            <a:picLocks noChangeAspect="1"/>
          </p:cNvPicPr>
          <p:nvPr/>
        </p:nvPicPr>
        <p:blipFill>
          <a:blip r:embed="rId3"/>
          <a:stretch>
            <a:fillRect/>
          </a:stretch>
        </p:blipFill>
        <p:spPr>
          <a:xfrm>
            <a:off x="635" y="1689100"/>
            <a:ext cx="12191365" cy="44018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7" name="Titre 6"/>
          <p:cNvSpPr/>
          <p:nvPr>
            <p:ph type="title"/>
          </p:nvPr>
        </p:nvSpPr>
        <p:spPr>
          <a:xfrm>
            <a:off x="1747520" y="2536825"/>
            <a:ext cx="9244330" cy="1722755"/>
          </a:xfrm>
          <a:ln>
            <a:solidFill>
              <a:schemeClr val="accent1"/>
            </a:solidFill>
          </a:ln>
          <a:effectLst/>
        </p:spPr>
        <p:txBody>
          <a:bodyPr>
            <a:normAutofit/>
          </a:bodyPr>
          <a:p>
            <a:r>
              <a:rPr lang="fr-FR" altLang="en-US" sz="4800" b="1" cap="all">
                <a:solidFill>
                  <a:schemeClr val="tx1"/>
                </a:solidFill>
                <a:uFillTx/>
                <a:latin typeface="Poppins" panose="00000500000000000000" charset="0"/>
                <a:cs typeface="Poppins" panose="00000500000000000000" charset="0"/>
              </a:rPr>
              <a:t>DémonStration</a:t>
            </a:r>
            <a:endParaRPr lang="fr-FR" altLang="en-US" sz="4800" b="1" cap="all">
              <a:solidFill>
                <a:schemeClr val="tx1"/>
              </a:solidFill>
              <a:uFillTx/>
              <a:latin typeface="Poppins" panose="00000500000000000000" charset="0"/>
              <a:cs typeface="Poppins" panose="00000500000000000000" charset="0"/>
            </a:endParaRPr>
          </a:p>
        </p:txBody>
      </p:sp>
      <p:sp>
        <p:nvSpPr>
          <p:cNvPr id="308" name="Google Shape;308;p22"/>
          <p:cNvSpPr txBox="1"/>
          <p:nvPr/>
        </p:nvSpPr>
        <p:spPr>
          <a:xfrm>
            <a:off x="11487150" y="6286500"/>
            <a:ext cx="349250" cy="43116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rPr>
              <a:t>27</a:t>
            </a:r>
            <a:endPar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sp>
        <p:nvSpPr>
          <p:cNvPr id="3" name="Zone de texte 2"/>
          <p:cNvSpPr txBox="1"/>
          <p:nvPr/>
        </p:nvSpPr>
        <p:spPr>
          <a:xfrm>
            <a:off x="585470" y="6323330"/>
            <a:ext cx="6096000" cy="460375"/>
          </a:xfrm>
          <a:prstGeom prst="rect">
            <a:avLst/>
          </a:prstGeom>
          <a:noFill/>
        </p:spPr>
        <p:txBody>
          <a:bodyPr wrap="square" rtlCol="0" anchor="t">
            <a:spAutoFit/>
          </a:bodyPr>
          <a:p>
            <a:pPr marL="0" marR="0" lvl="0" indent="0" algn="l" rtl="0">
              <a:spcBef>
                <a:spcPts val="0"/>
              </a:spcBef>
              <a:spcAft>
                <a:spcPts val="0"/>
              </a:spcAft>
              <a:buNone/>
            </a:pPr>
            <a:r>
              <a:rPr lang="en-US" sz="1200">
                <a:solidFill>
                  <a:srgbClr val="475569"/>
                </a:solidFill>
                <a:latin typeface="Lato" panose="020F0502020204030203"/>
                <a:ea typeface="Lato" panose="020F0502020204030203"/>
                <a:cs typeface="Lato" panose="020F0502020204030203"/>
                <a:sym typeface="Lato" panose="020F0502020204030203"/>
              </a:rPr>
              <a:t>Ipnet Institute of Technology — Soutenance de </a:t>
            </a:r>
            <a:endParaRPr lang="en-US" sz="1200">
              <a:solidFill>
                <a:srgbClr val="475569"/>
              </a:solidFill>
              <a:latin typeface="Lato" panose="020F0502020204030203"/>
              <a:ea typeface="Lato" panose="020F0502020204030203"/>
              <a:cs typeface="Lato" panose="020F0502020204030203"/>
              <a:sym typeface="Lato" panose="020F0502020204030203"/>
            </a:endParaRPr>
          </a:p>
          <a:p>
            <a:pPr marL="0" marR="0" lvl="0" indent="0" algn="l" rtl="0">
              <a:spcBef>
                <a:spcPts val="0"/>
              </a:spcBef>
              <a:spcAft>
                <a:spcPts val="0"/>
              </a:spcAft>
              <a:buNone/>
            </a:pPr>
            <a:r>
              <a:rPr lang="en-US" sz="1200">
                <a:solidFill>
                  <a:srgbClr val="475569"/>
                </a:solidFill>
                <a:latin typeface="Lato" panose="020F0502020204030203"/>
                <a:ea typeface="Lato" panose="020F0502020204030203"/>
                <a:cs typeface="Lato" panose="020F0502020204030203"/>
                <a:sym typeface="Lato" panose="020F0502020204030203"/>
              </a:rPr>
              <a:t>Licence Professionnelle</a:t>
            </a:r>
            <a:endParaRPr lang="en-US" altLang="en-US" sz="1200">
              <a:solidFill>
                <a:srgbClr val="475569"/>
              </a:solidFill>
              <a:latin typeface="Lato" panose="020F0502020204030203"/>
              <a:ea typeface="Lato" panose="020F0502020204030203"/>
              <a:cs typeface="Lato" panose="020F0502020204030203"/>
              <a:sym typeface="Lato" panose="020F0502020204030203"/>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308" name="Google Shape;308;p22"/>
          <p:cNvSpPr txBox="1"/>
          <p:nvPr/>
        </p:nvSpPr>
        <p:spPr>
          <a:xfrm>
            <a:off x="11487150" y="6286500"/>
            <a:ext cx="349250" cy="43116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rPr>
              <a:t>28</a:t>
            </a:r>
            <a:endPar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sp>
        <p:nvSpPr>
          <p:cNvPr id="3" name="Zone de texte 2"/>
          <p:cNvSpPr txBox="1"/>
          <p:nvPr/>
        </p:nvSpPr>
        <p:spPr>
          <a:xfrm>
            <a:off x="585470" y="6323330"/>
            <a:ext cx="6096000" cy="460375"/>
          </a:xfrm>
          <a:prstGeom prst="rect">
            <a:avLst/>
          </a:prstGeom>
          <a:noFill/>
        </p:spPr>
        <p:txBody>
          <a:bodyPr wrap="square" rtlCol="0" anchor="t">
            <a:spAutoFit/>
          </a:bodyPr>
          <a:p>
            <a:pPr marL="0" marR="0" lvl="0" indent="0" algn="l" rtl="0">
              <a:spcBef>
                <a:spcPts val="0"/>
              </a:spcBef>
              <a:spcAft>
                <a:spcPts val="0"/>
              </a:spcAft>
              <a:buNone/>
            </a:pPr>
            <a:r>
              <a:rPr lang="en-US" sz="1200">
                <a:solidFill>
                  <a:srgbClr val="475569"/>
                </a:solidFill>
                <a:latin typeface="Lato" panose="020F0502020204030203"/>
                <a:ea typeface="Lato" panose="020F0502020204030203"/>
                <a:cs typeface="Lato" panose="020F0502020204030203"/>
                <a:sym typeface="Lato" panose="020F0502020204030203"/>
              </a:rPr>
              <a:t>Ipnet Institute of Technology — Soutenance de </a:t>
            </a:r>
            <a:endParaRPr lang="en-US" sz="1200">
              <a:solidFill>
                <a:srgbClr val="475569"/>
              </a:solidFill>
              <a:latin typeface="Lato" panose="020F0502020204030203"/>
              <a:ea typeface="Lato" panose="020F0502020204030203"/>
              <a:cs typeface="Lato" panose="020F0502020204030203"/>
              <a:sym typeface="Lato" panose="020F0502020204030203"/>
            </a:endParaRPr>
          </a:p>
          <a:p>
            <a:pPr marL="0" marR="0" lvl="0" indent="0" algn="l" rtl="0">
              <a:spcBef>
                <a:spcPts val="0"/>
              </a:spcBef>
              <a:spcAft>
                <a:spcPts val="0"/>
              </a:spcAft>
              <a:buNone/>
            </a:pPr>
            <a:r>
              <a:rPr lang="en-US" sz="1200">
                <a:solidFill>
                  <a:srgbClr val="475569"/>
                </a:solidFill>
                <a:latin typeface="Lato" panose="020F0502020204030203"/>
                <a:ea typeface="Lato" panose="020F0502020204030203"/>
                <a:cs typeface="Lato" panose="020F0502020204030203"/>
                <a:sym typeface="Lato" panose="020F0502020204030203"/>
              </a:rPr>
              <a:t>Licence Professionnelle</a:t>
            </a:r>
            <a:endParaRPr lang="en-US" altLang="en-US" sz="1200">
              <a:solidFill>
                <a:srgbClr val="475569"/>
              </a:solidFill>
              <a:latin typeface="Lato" panose="020F0502020204030203"/>
              <a:ea typeface="Lato" panose="020F0502020204030203"/>
              <a:cs typeface="Lato" panose="020F0502020204030203"/>
              <a:sym typeface="Lato" panose="020F0502020204030203"/>
            </a:endParaRPr>
          </a:p>
        </p:txBody>
      </p:sp>
      <p:pic>
        <p:nvPicPr>
          <p:cNvPr id="4" name="Image 3"/>
          <p:cNvPicPr>
            <a:picLocks noChangeAspect="1"/>
          </p:cNvPicPr>
          <p:nvPr/>
        </p:nvPicPr>
        <p:blipFill>
          <a:blip r:embed="rId3"/>
          <a:stretch>
            <a:fillRect/>
          </a:stretch>
        </p:blipFill>
        <p:spPr>
          <a:xfrm>
            <a:off x="0" y="1269365"/>
            <a:ext cx="12192000" cy="4963160"/>
          </a:xfrm>
          <a:prstGeom prst="rect">
            <a:avLst/>
          </a:prstGeom>
        </p:spPr>
      </p:pic>
      <p:sp>
        <p:nvSpPr>
          <p:cNvPr id="309" name="Google Shape;309;p22"/>
          <p:cNvSpPr txBox="1"/>
          <p:nvPr/>
        </p:nvSpPr>
        <p:spPr>
          <a:xfrm>
            <a:off x="448310" y="741680"/>
            <a:ext cx="7301865" cy="47371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fr-FR" alt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rPr>
              <a:t>Recouvrement des loyers: Avant</a:t>
            </a:r>
            <a:endParaRPr lang="fr-FR" alt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308" name="Google Shape;308;p22"/>
          <p:cNvSpPr txBox="1"/>
          <p:nvPr/>
        </p:nvSpPr>
        <p:spPr>
          <a:xfrm>
            <a:off x="11487150" y="6286500"/>
            <a:ext cx="349250" cy="43116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rPr>
              <a:t>29</a:t>
            </a:r>
            <a:endPar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sp>
        <p:nvSpPr>
          <p:cNvPr id="3" name="Zone de texte 2"/>
          <p:cNvSpPr txBox="1"/>
          <p:nvPr/>
        </p:nvSpPr>
        <p:spPr>
          <a:xfrm>
            <a:off x="585470" y="6323330"/>
            <a:ext cx="6096000" cy="460375"/>
          </a:xfrm>
          <a:prstGeom prst="rect">
            <a:avLst/>
          </a:prstGeom>
          <a:noFill/>
        </p:spPr>
        <p:txBody>
          <a:bodyPr wrap="square" rtlCol="0" anchor="t">
            <a:spAutoFit/>
          </a:bodyPr>
          <a:p>
            <a:pPr marL="0" marR="0" lvl="0" indent="0" algn="l" rtl="0">
              <a:spcBef>
                <a:spcPts val="0"/>
              </a:spcBef>
              <a:spcAft>
                <a:spcPts val="0"/>
              </a:spcAft>
              <a:buNone/>
            </a:pPr>
            <a:r>
              <a:rPr lang="en-US" sz="1200">
                <a:solidFill>
                  <a:srgbClr val="475569"/>
                </a:solidFill>
                <a:latin typeface="Lato" panose="020F0502020204030203"/>
                <a:ea typeface="Lato" panose="020F0502020204030203"/>
                <a:cs typeface="Lato" panose="020F0502020204030203"/>
                <a:sym typeface="Lato" panose="020F0502020204030203"/>
              </a:rPr>
              <a:t>Ipnet Institute of Technology — Soutenance de </a:t>
            </a:r>
            <a:endParaRPr lang="en-US" sz="1200">
              <a:solidFill>
                <a:srgbClr val="475569"/>
              </a:solidFill>
              <a:latin typeface="Lato" panose="020F0502020204030203"/>
              <a:ea typeface="Lato" panose="020F0502020204030203"/>
              <a:cs typeface="Lato" panose="020F0502020204030203"/>
              <a:sym typeface="Lato" panose="020F0502020204030203"/>
            </a:endParaRPr>
          </a:p>
          <a:p>
            <a:pPr marL="0" marR="0" lvl="0" indent="0" algn="l" rtl="0">
              <a:spcBef>
                <a:spcPts val="0"/>
              </a:spcBef>
              <a:spcAft>
                <a:spcPts val="0"/>
              </a:spcAft>
              <a:buNone/>
            </a:pPr>
            <a:r>
              <a:rPr lang="en-US" sz="1200">
                <a:solidFill>
                  <a:srgbClr val="475569"/>
                </a:solidFill>
                <a:latin typeface="Lato" panose="020F0502020204030203"/>
                <a:ea typeface="Lato" panose="020F0502020204030203"/>
                <a:cs typeface="Lato" panose="020F0502020204030203"/>
                <a:sym typeface="Lato" panose="020F0502020204030203"/>
              </a:rPr>
              <a:t>Licence Professionnelle</a:t>
            </a:r>
            <a:endParaRPr lang="en-US" altLang="en-US" sz="1200">
              <a:solidFill>
                <a:srgbClr val="475569"/>
              </a:solidFill>
              <a:latin typeface="Lato" panose="020F0502020204030203"/>
              <a:ea typeface="Lato" panose="020F0502020204030203"/>
              <a:cs typeface="Lato" panose="020F0502020204030203"/>
              <a:sym typeface="Lato" panose="020F0502020204030203"/>
            </a:endParaRPr>
          </a:p>
        </p:txBody>
      </p:sp>
      <p:sp>
        <p:nvSpPr>
          <p:cNvPr id="309" name="Google Shape;309;p22"/>
          <p:cNvSpPr txBox="1"/>
          <p:nvPr/>
        </p:nvSpPr>
        <p:spPr>
          <a:xfrm>
            <a:off x="448310" y="741680"/>
            <a:ext cx="7301865" cy="47371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fr-FR" altLang="en-US" sz="2700" b="1">
                <a:solidFill>
                  <a:srgbClr val="1E293B"/>
                </a:solidFill>
                <a:latin typeface="Poppins" panose="00000500000000000000"/>
                <a:ea typeface="Poppins" panose="00000500000000000000"/>
                <a:cs typeface="Poppins" panose="00000500000000000000"/>
                <a:sym typeface="Poppins" panose="00000500000000000000"/>
              </a:rPr>
              <a:t>Recouvrement des loyers: </a:t>
            </a:r>
            <a:r>
              <a:rPr lang="fr-FR" alt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rPr>
              <a:t>Après</a:t>
            </a:r>
            <a:endParaRPr lang="fr-FR" altLang="en-US" sz="2700" b="1" i="0" u="none" strike="noStrike" cap="none">
              <a:solidFill>
                <a:srgbClr val="1E293B"/>
              </a:solidFill>
              <a:latin typeface="Poppins" panose="00000500000000000000"/>
              <a:ea typeface="Poppins" panose="00000500000000000000"/>
              <a:cs typeface="Poppins" panose="00000500000000000000"/>
              <a:sym typeface="Poppins" panose="00000500000000000000"/>
            </a:endParaRPr>
          </a:p>
        </p:txBody>
      </p:sp>
      <p:pic>
        <p:nvPicPr>
          <p:cNvPr id="2" name="Image 1"/>
          <p:cNvPicPr>
            <a:picLocks noChangeAspect="1"/>
          </p:cNvPicPr>
          <p:nvPr/>
        </p:nvPicPr>
        <p:blipFill>
          <a:blip r:embed="rId3"/>
          <a:stretch>
            <a:fillRect/>
          </a:stretch>
        </p:blipFill>
        <p:spPr>
          <a:xfrm>
            <a:off x="0" y="1316990"/>
            <a:ext cx="12192000" cy="49968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7" name="Titre 6"/>
          <p:cNvSpPr/>
          <p:nvPr>
            <p:ph type="title"/>
          </p:nvPr>
        </p:nvSpPr>
        <p:spPr>
          <a:xfrm>
            <a:off x="1747520" y="2536825"/>
            <a:ext cx="9650095" cy="1722755"/>
          </a:xfrm>
          <a:ln>
            <a:solidFill>
              <a:schemeClr val="accent1"/>
            </a:solidFill>
          </a:ln>
          <a:effectLst/>
        </p:spPr>
        <p:txBody>
          <a:bodyPr>
            <a:normAutofit/>
          </a:bodyPr>
          <a:p>
            <a:r>
              <a:rPr lang="fr-FR" altLang="en-US" sz="4800" b="1" cap="all">
                <a:solidFill>
                  <a:schemeClr val="tx1"/>
                </a:solidFill>
                <a:uFillTx/>
                <a:latin typeface="Poppins" panose="00000500000000000000" charset="0"/>
                <a:cs typeface="Poppins" panose="00000500000000000000" charset="0"/>
              </a:rPr>
              <a:t>ConcluSIon &amp; perSpectiV</a:t>
            </a:r>
            <a:r>
              <a:rPr lang="fr-FR" altLang="en-US" sz="4800" b="1" cap="all">
                <a:solidFill>
                  <a:schemeClr val="tx1"/>
                </a:solidFill>
                <a:uFillTx/>
                <a:latin typeface="Poppins" panose="00000500000000000000" charset="0"/>
                <a:cs typeface="Poppins" panose="00000500000000000000" charset="0"/>
              </a:rPr>
              <a:t>es</a:t>
            </a:r>
            <a:endParaRPr lang="fr-FR" altLang="en-US" sz="4800" b="1" cap="all">
              <a:solidFill>
                <a:schemeClr val="tx1"/>
              </a:solidFill>
              <a:uFillTx/>
              <a:latin typeface="Poppins" panose="00000500000000000000" charset="0"/>
              <a:cs typeface="Poppins" panose="00000500000000000000" charset="0"/>
            </a:endParaRPr>
          </a:p>
        </p:txBody>
      </p:sp>
      <p:sp>
        <p:nvSpPr>
          <p:cNvPr id="308" name="Google Shape;308;p22"/>
          <p:cNvSpPr txBox="1"/>
          <p:nvPr/>
        </p:nvSpPr>
        <p:spPr>
          <a:xfrm>
            <a:off x="11487150" y="6286500"/>
            <a:ext cx="349250" cy="43116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rPr>
              <a:t>30</a:t>
            </a:r>
            <a:endPar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sp>
        <p:nvSpPr>
          <p:cNvPr id="3" name="Zone de texte 2"/>
          <p:cNvSpPr txBox="1"/>
          <p:nvPr/>
        </p:nvSpPr>
        <p:spPr>
          <a:xfrm>
            <a:off x="585470" y="6323330"/>
            <a:ext cx="6096000" cy="460375"/>
          </a:xfrm>
          <a:prstGeom prst="rect">
            <a:avLst/>
          </a:prstGeom>
          <a:noFill/>
        </p:spPr>
        <p:txBody>
          <a:bodyPr wrap="square" rtlCol="0" anchor="t">
            <a:spAutoFit/>
          </a:bodyPr>
          <a:p>
            <a:pPr marL="0" marR="0" lvl="0" indent="0" algn="l" rtl="0">
              <a:spcBef>
                <a:spcPts val="0"/>
              </a:spcBef>
              <a:spcAft>
                <a:spcPts val="0"/>
              </a:spcAft>
              <a:buNone/>
            </a:pPr>
            <a:r>
              <a:rPr lang="en-US" sz="1200">
                <a:solidFill>
                  <a:srgbClr val="475569"/>
                </a:solidFill>
                <a:latin typeface="Lato" panose="020F0502020204030203"/>
                <a:ea typeface="Lato" panose="020F0502020204030203"/>
                <a:cs typeface="Lato" panose="020F0502020204030203"/>
                <a:sym typeface="Lato" panose="020F0502020204030203"/>
              </a:rPr>
              <a:t>Ipnet Institute of Technology — Soutenance de </a:t>
            </a:r>
            <a:endParaRPr lang="en-US" sz="1200">
              <a:solidFill>
                <a:srgbClr val="475569"/>
              </a:solidFill>
              <a:latin typeface="Lato" panose="020F0502020204030203"/>
              <a:ea typeface="Lato" panose="020F0502020204030203"/>
              <a:cs typeface="Lato" panose="020F0502020204030203"/>
              <a:sym typeface="Lato" panose="020F0502020204030203"/>
            </a:endParaRPr>
          </a:p>
          <a:p>
            <a:pPr marL="0" marR="0" lvl="0" indent="0" algn="l" rtl="0">
              <a:spcBef>
                <a:spcPts val="0"/>
              </a:spcBef>
              <a:spcAft>
                <a:spcPts val="0"/>
              </a:spcAft>
              <a:buNone/>
            </a:pPr>
            <a:r>
              <a:rPr lang="en-US" sz="1200">
                <a:solidFill>
                  <a:srgbClr val="475569"/>
                </a:solidFill>
                <a:latin typeface="Lato" panose="020F0502020204030203"/>
                <a:ea typeface="Lato" panose="020F0502020204030203"/>
                <a:cs typeface="Lato" panose="020F0502020204030203"/>
                <a:sym typeface="Lato" panose="020F0502020204030203"/>
              </a:rPr>
              <a:t>Licence Professionnelle</a:t>
            </a:r>
            <a:endParaRPr lang="en-US" altLang="en-US" sz="1200">
              <a:solidFill>
                <a:srgbClr val="475569"/>
              </a:solidFill>
              <a:latin typeface="Lato" panose="020F0502020204030203"/>
              <a:ea typeface="Lato" panose="020F0502020204030203"/>
              <a:cs typeface="Lato" panose="020F0502020204030203"/>
              <a:sym typeface="Lato" panose="020F0502020204030203"/>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 name="Titre 1"/>
          <p:cNvSpPr/>
          <p:nvPr>
            <p:ph type="title"/>
          </p:nvPr>
        </p:nvSpPr>
        <p:spPr>
          <a:xfrm>
            <a:off x="1488440" y="2058035"/>
            <a:ext cx="9215120" cy="2302510"/>
          </a:xfrm>
          <a:ln>
            <a:solidFill>
              <a:schemeClr val="bg2"/>
            </a:solidFill>
          </a:ln>
        </p:spPr>
        <p:txBody>
          <a:bodyPr/>
          <a:p>
            <a:pPr algn="just"/>
            <a:r>
              <a:rPr lang="en-US" altLang="fr-FR" sz="2400">
                <a:latin typeface="Times New Roman" panose="02020603050405020304" charset="0"/>
                <a:cs typeface="Times New Roman" panose="02020603050405020304" charset="0"/>
              </a:rPr>
              <a:t>Ce projet apporte une r</a:t>
            </a:r>
            <a:r>
              <a:rPr lang="en-US" altLang="en-US" sz="2400">
                <a:latin typeface="Times New Roman" panose="02020603050405020304" charset="0"/>
                <a:cs typeface="Times New Roman" panose="02020603050405020304" charset="0"/>
              </a:rPr>
              <a:t>é</a:t>
            </a:r>
            <a:r>
              <a:rPr lang="en-US" altLang="fr-FR" sz="2400">
                <a:latin typeface="Times New Roman" panose="02020603050405020304" charset="0"/>
                <a:cs typeface="Times New Roman" panose="02020603050405020304" charset="0"/>
              </a:rPr>
              <a:t>ponse concr</a:t>
            </a:r>
            <a:r>
              <a:rPr lang="en-US" altLang="en-US" sz="2400">
                <a:latin typeface="Times New Roman" panose="02020603050405020304" charset="0"/>
                <a:cs typeface="Times New Roman" panose="02020603050405020304" charset="0"/>
              </a:rPr>
              <a:t>è</a:t>
            </a:r>
            <a:r>
              <a:rPr lang="en-US" altLang="fr-FR" sz="2400">
                <a:latin typeface="Times New Roman" panose="02020603050405020304" charset="0"/>
                <a:cs typeface="Times New Roman" panose="02020603050405020304" charset="0"/>
              </a:rPr>
              <a:t>te aux limites de la gestion artisanale en automatisant tout le cycle m</a:t>
            </a:r>
            <a:r>
              <a:rPr lang="en-US" altLang="en-US" sz="2400">
                <a:latin typeface="Times New Roman" panose="02020603050405020304" charset="0"/>
                <a:cs typeface="Times New Roman" panose="02020603050405020304" charset="0"/>
              </a:rPr>
              <a:t>é</a:t>
            </a:r>
            <a:r>
              <a:rPr lang="en-US" altLang="fr-FR" sz="2400">
                <a:latin typeface="Times New Roman" panose="02020603050405020304" charset="0"/>
                <a:cs typeface="Times New Roman" panose="02020603050405020304" charset="0"/>
              </a:rPr>
              <a:t>tier (de l'enregistrement du logement au paiement par Mobile Money via FedaPay). Port</a:t>
            </a:r>
            <a:r>
              <a:rPr lang="en-US" altLang="en-US" sz="2400">
                <a:latin typeface="Times New Roman" panose="02020603050405020304" charset="0"/>
                <a:cs typeface="Times New Roman" panose="02020603050405020304" charset="0"/>
              </a:rPr>
              <a:t>é</a:t>
            </a:r>
            <a:r>
              <a:rPr lang="en-US" altLang="fr-FR" sz="2400">
                <a:latin typeface="Times New Roman" panose="02020603050405020304" charset="0"/>
                <a:cs typeface="Times New Roman" panose="02020603050405020304" charset="0"/>
              </a:rPr>
              <a:t>e par une architecture robuste (Spring Boot, Angular, Ionic), la plateforme s</a:t>
            </a:r>
            <a:r>
              <a:rPr lang="en-US" altLang="en-US" sz="2400">
                <a:latin typeface="Times New Roman" panose="02020603050405020304" charset="0"/>
                <a:cs typeface="Times New Roman" panose="02020603050405020304" charset="0"/>
              </a:rPr>
              <a:t>é</a:t>
            </a:r>
            <a:r>
              <a:rPr lang="en-US" altLang="fr-FR" sz="2400">
                <a:latin typeface="Times New Roman" panose="02020603050405020304" charset="0"/>
                <a:cs typeface="Times New Roman" panose="02020603050405020304" charset="0"/>
              </a:rPr>
              <a:t>curise les baux à long terme et </a:t>
            </a:r>
            <a:r>
              <a:rPr lang="fr-FR" altLang="en-US" sz="2400">
                <a:latin typeface="Times New Roman" panose="02020603050405020304" charset="0"/>
                <a:cs typeface="Times New Roman" panose="02020603050405020304" charset="0"/>
              </a:rPr>
              <a:t>garde une traçabilité de toutes les transactions.</a:t>
            </a:r>
            <a:endParaRPr lang="fr-FR" altLang="en-US" sz="2400">
              <a:latin typeface="Times New Roman" panose="02020603050405020304" charset="0"/>
              <a:cs typeface="Times New Roman" panose="02020603050405020304" charset="0"/>
            </a:endParaRPr>
          </a:p>
        </p:txBody>
      </p:sp>
      <p:sp>
        <p:nvSpPr>
          <p:cNvPr id="4" name="Zone de texte 3"/>
          <p:cNvSpPr txBox="1"/>
          <p:nvPr/>
        </p:nvSpPr>
        <p:spPr>
          <a:xfrm>
            <a:off x="1113155" y="1172210"/>
            <a:ext cx="3810000" cy="706755"/>
          </a:xfrm>
          <a:prstGeom prst="rect">
            <a:avLst/>
          </a:prstGeom>
          <a:noFill/>
        </p:spPr>
        <p:txBody>
          <a:bodyPr wrap="square" rtlCol="0">
            <a:spAutoFit/>
          </a:bodyPr>
          <a:p>
            <a:r>
              <a:rPr lang="fr-FR" altLang="en-US" sz="4000" b="1" i="0" u="none" strike="noStrike" cap="none">
                <a:solidFill>
                  <a:srgbClr val="1E293B"/>
                </a:solidFill>
                <a:latin typeface="Poppins" panose="00000500000000000000"/>
                <a:ea typeface="Poppins" panose="00000500000000000000"/>
                <a:cs typeface="Poppins" panose="00000500000000000000"/>
                <a:sym typeface="Poppins" panose="00000500000000000000"/>
              </a:rPr>
              <a:t>Conclusion</a:t>
            </a:r>
            <a:endParaRPr lang="fr-FR" altLang="en-US" sz="4000" b="1" i="0" u="none" strike="noStrike" cap="none">
              <a:solidFill>
                <a:srgbClr val="1E293B"/>
              </a:solidFill>
              <a:latin typeface="Poppins" panose="00000500000000000000"/>
              <a:ea typeface="Poppins" panose="00000500000000000000"/>
              <a:cs typeface="Poppins" panose="00000500000000000000"/>
              <a:sym typeface="Poppins" panose="00000500000000000000"/>
            </a:endParaRPr>
          </a:p>
        </p:txBody>
      </p:sp>
      <p:sp>
        <p:nvSpPr>
          <p:cNvPr id="3" name="Zone de texte 2"/>
          <p:cNvSpPr txBox="1"/>
          <p:nvPr/>
        </p:nvSpPr>
        <p:spPr>
          <a:xfrm>
            <a:off x="585470" y="6323330"/>
            <a:ext cx="6096000" cy="460375"/>
          </a:xfrm>
          <a:prstGeom prst="rect">
            <a:avLst/>
          </a:prstGeom>
          <a:noFill/>
        </p:spPr>
        <p:txBody>
          <a:bodyPr wrap="square" rtlCol="0" anchor="t">
            <a:spAutoFit/>
          </a:bodyPr>
          <a:p>
            <a:pPr marL="0" marR="0" lvl="0" indent="0" algn="l" rtl="0">
              <a:spcBef>
                <a:spcPts val="0"/>
              </a:spcBef>
              <a:spcAft>
                <a:spcPts val="0"/>
              </a:spcAft>
              <a:buNone/>
            </a:pPr>
            <a:r>
              <a:rPr lang="en-US" sz="1200">
                <a:solidFill>
                  <a:srgbClr val="475569"/>
                </a:solidFill>
                <a:latin typeface="Lato" panose="020F0502020204030203"/>
                <a:ea typeface="Lato" panose="020F0502020204030203"/>
                <a:cs typeface="Lato" panose="020F0502020204030203"/>
                <a:sym typeface="Lato" panose="020F0502020204030203"/>
              </a:rPr>
              <a:t>Ipnet Institute of Technology — Soutenance de </a:t>
            </a:r>
            <a:endParaRPr lang="en-US" sz="1200">
              <a:solidFill>
                <a:srgbClr val="475569"/>
              </a:solidFill>
              <a:latin typeface="Lato" panose="020F0502020204030203"/>
              <a:ea typeface="Lato" panose="020F0502020204030203"/>
              <a:cs typeface="Lato" panose="020F0502020204030203"/>
              <a:sym typeface="Lato" panose="020F0502020204030203"/>
            </a:endParaRPr>
          </a:p>
          <a:p>
            <a:pPr marL="0" marR="0" lvl="0" indent="0" algn="l" rtl="0">
              <a:spcBef>
                <a:spcPts val="0"/>
              </a:spcBef>
              <a:spcAft>
                <a:spcPts val="0"/>
              </a:spcAft>
              <a:buNone/>
            </a:pPr>
            <a:r>
              <a:rPr lang="en-US" sz="1200">
                <a:solidFill>
                  <a:srgbClr val="475569"/>
                </a:solidFill>
                <a:latin typeface="Lato" panose="020F0502020204030203"/>
                <a:ea typeface="Lato" panose="020F0502020204030203"/>
                <a:cs typeface="Lato" panose="020F0502020204030203"/>
                <a:sym typeface="Lato" panose="020F0502020204030203"/>
              </a:rPr>
              <a:t>Licence Professionnelle</a:t>
            </a:r>
            <a:endParaRPr lang="en-US" altLang="en-US" sz="1200">
              <a:solidFill>
                <a:srgbClr val="475569"/>
              </a:solidFill>
              <a:latin typeface="Lato" panose="020F0502020204030203"/>
              <a:ea typeface="Lato" panose="020F0502020204030203"/>
              <a:cs typeface="Lato" panose="020F0502020204030203"/>
              <a:sym typeface="Lato" panose="020F0502020204030203"/>
            </a:endParaRPr>
          </a:p>
        </p:txBody>
      </p:sp>
      <p:sp>
        <p:nvSpPr>
          <p:cNvPr id="308" name="Google Shape;308;p22"/>
          <p:cNvSpPr txBox="1"/>
          <p:nvPr/>
        </p:nvSpPr>
        <p:spPr>
          <a:xfrm>
            <a:off x="11487150" y="6286500"/>
            <a:ext cx="333375" cy="41592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rPr>
              <a:t>31</a:t>
            </a:r>
            <a:endPar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 name="Google Shape;205;p18"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210" name="Google Shape;210;p18"/>
          <p:cNvSpPr txBox="1"/>
          <p:nvPr/>
        </p:nvSpPr>
        <p:spPr>
          <a:xfrm>
            <a:off x="585470" y="455613"/>
            <a:ext cx="1019175" cy="1841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3B82F6"/>
                </a:solidFill>
                <a:latin typeface="Poppins" panose="00000500000000000000"/>
                <a:ea typeface="Poppins" panose="00000500000000000000"/>
                <a:cs typeface="Poppins" panose="00000500000000000000"/>
                <a:sym typeface="Poppins" panose="00000500000000000000"/>
              </a:rPr>
              <a:t>RENTAL</a:t>
            </a:r>
            <a:endParaRPr lang="en-US" sz="1200" b="1" i="0" u="none" strike="noStrike" cap="none">
              <a:solidFill>
                <a:srgbClr val="F59E0B"/>
              </a:solidFill>
              <a:latin typeface="Poppins" panose="00000500000000000000"/>
              <a:ea typeface="Poppins" panose="00000500000000000000"/>
              <a:cs typeface="Poppins" panose="00000500000000000000"/>
              <a:sym typeface="Poppins" panose="00000500000000000000"/>
            </a:endParaRPr>
          </a:p>
        </p:txBody>
      </p:sp>
      <p:sp>
        <p:nvSpPr>
          <p:cNvPr id="2" name="Titre 1"/>
          <p:cNvSpPr/>
          <p:nvPr>
            <p:ph type="title"/>
          </p:nvPr>
        </p:nvSpPr>
        <p:spPr>
          <a:xfrm>
            <a:off x="961390" y="2058035"/>
            <a:ext cx="9619615" cy="2132965"/>
          </a:xfrm>
          <a:ln>
            <a:solidFill>
              <a:schemeClr val="bg2"/>
            </a:solidFill>
          </a:ln>
        </p:spPr>
        <p:txBody>
          <a:bodyPr/>
          <a:p>
            <a:pPr algn="just"/>
            <a:r>
              <a:rPr lang="fr-FR" altLang="en-US" sz="2000">
                <a:latin typeface="Times New Roman" panose="02020603050405020304" charset="0"/>
                <a:cs typeface="Times New Roman" panose="02020603050405020304" charset="0"/>
              </a:rPr>
              <a:t>       </a:t>
            </a:r>
            <a:r>
              <a:rPr lang="en-US" altLang="fr-FR" sz="2000">
                <a:latin typeface="Times New Roman" panose="02020603050405020304" charset="0"/>
                <a:cs typeface="Times New Roman" panose="02020603050405020304" charset="0"/>
              </a:rPr>
              <a:t>Documents : G</a:t>
            </a:r>
            <a:r>
              <a:rPr lang="en-US" altLang="en-US" sz="2000">
                <a:latin typeface="Times New Roman" panose="02020603050405020304" charset="0"/>
                <a:cs typeface="Times New Roman" panose="02020603050405020304" charset="0"/>
              </a:rPr>
              <a:t>é</a:t>
            </a:r>
            <a:r>
              <a:rPr lang="en-US" altLang="fr-FR" sz="2000">
                <a:latin typeface="Times New Roman" panose="02020603050405020304" charset="0"/>
                <a:cs typeface="Times New Roman" panose="02020603050405020304" charset="0"/>
              </a:rPr>
              <a:t>n</a:t>
            </a:r>
            <a:r>
              <a:rPr lang="en-US" altLang="en-US" sz="2000">
                <a:latin typeface="Times New Roman" panose="02020603050405020304" charset="0"/>
                <a:cs typeface="Times New Roman" panose="02020603050405020304" charset="0"/>
              </a:rPr>
              <a:t>é</a:t>
            </a:r>
            <a:r>
              <a:rPr lang="en-US" altLang="fr-FR" sz="2000">
                <a:latin typeface="Times New Roman" panose="02020603050405020304" charset="0"/>
                <a:cs typeface="Times New Roman" panose="02020603050405020304" charset="0"/>
              </a:rPr>
              <a:t>ration et signature </a:t>
            </a:r>
            <a:r>
              <a:rPr lang="en-US" altLang="en-US" sz="2000">
                <a:latin typeface="Times New Roman" panose="02020603050405020304" charset="0"/>
                <a:cs typeface="Times New Roman" panose="02020603050405020304" charset="0"/>
              </a:rPr>
              <a:t>é</a:t>
            </a:r>
            <a:r>
              <a:rPr lang="en-US" altLang="fr-FR" sz="2000">
                <a:latin typeface="Times New Roman" panose="02020603050405020304" charset="0"/>
                <a:cs typeface="Times New Roman" panose="02020603050405020304" charset="0"/>
              </a:rPr>
              <a:t>lectronique automatique des contrats de bail.</a:t>
            </a:r>
            <a:br>
              <a:rPr lang="en-US" altLang="fr-FR" sz="2000">
                <a:latin typeface="Times New Roman" panose="02020603050405020304" charset="0"/>
                <a:cs typeface="Times New Roman" panose="02020603050405020304" charset="0"/>
              </a:rPr>
            </a:br>
            <a:br>
              <a:rPr lang="en-US" altLang="fr-FR" sz="2000">
                <a:latin typeface="Times New Roman" panose="02020603050405020304" charset="0"/>
                <a:cs typeface="Times New Roman" panose="02020603050405020304" charset="0"/>
              </a:rPr>
            </a:br>
            <a:r>
              <a:rPr lang="fr-FR" altLang="en-US" sz="2000">
                <a:latin typeface="Times New Roman" panose="02020603050405020304" charset="0"/>
                <a:cs typeface="Times New Roman" panose="02020603050405020304" charset="0"/>
              </a:rPr>
              <a:t>       Génération d’un rapport financier annuel</a:t>
            </a:r>
            <a:endParaRPr lang="fr-FR" altLang="en-US" sz="2000">
              <a:latin typeface="Times New Roman" panose="02020603050405020304" charset="0"/>
              <a:cs typeface="Times New Roman" panose="02020603050405020304" charset="0"/>
            </a:endParaRPr>
          </a:p>
        </p:txBody>
      </p:sp>
      <p:sp>
        <p:nvSpPr>
          <p:cNvPr id="4" name="Zone de texte 3"/>
          <p:cNvSpPr txBox="1"/>
          <p:nvPr/>
        </p:nvSpPr>
        <p:spPr>
          <a:xfrm>
            <a:off x="1113155" y="1172210"/>
            <a:ext cx="3810000" cy="706755"/>
          </a:xfrm>
          <a:prstGeom prst="rect">
            <a:avLst/>
          </a:prstGeom>
          <a:noFill/>
        </p:spPr>
        <p:txBody>
          <a:bodyPr wrap="square" rtlCol="0">
            <a:spAutoFit/>
          </a:bodyPr>
          <a:p>
            <a:r>
              <a:rPr lang="fr-FR" altLang="en-US" sz="4000" b="1" i="0" u="none" strike="noStrike" cap="none">
                <a:solidFill>
                  <a:srgbClr val="1E293B"/>
                </a:solidFill>
                <a:latin typeface="Poppins" panose="00000500000000000000"/>
                <a:ea typeface="Poppins" panose="00000500000000000000"/>
                <a:cs typeface="Poppins" panose="00000500000000000000"/>
                <a:sym typeface="Poppins" panose="00000500000000000000"/>
              </a:rPr>
              <a:t>Perspectives</a:t>
            </a:r>
            <a:endParaRPr lang="fr-FR" altLang="en-US" sz="4000" b="1" i="0" u="none" strike="noStrike" cap="none">
              <a:solidFill>
                <a:srgbClr val="1E293B"/>
              </a:solidFill>
              <a:latin typeface="Poppins" panose="00000500000000000000"/>
              <a:ea typeface="Poppins" panose="00000500000000000000"/>
              <a:cs typeface="Poppins" panose="00000500000000000000"/>
              <a:sym typeface="Poppins" panose="00000500000000000000"/>
            </a:endParaRPr>
          </a:p>
        </p:txBody>
      </p:sp>
      <p:pic>
        <p:nvPicPr>
          <p:cNvPr id="5" name="Image 4" descr="正方形"/>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1113155" y="2887345"/>
            <a:ext cx="144145" cy="144145"/>
          </a:xfrm>
          <a:prstGeom prst="rect">
            <a:avLst/>
          </a:prstGeom>
        </p:spPr>
      </p:pic>
      <p:pic>
        <p:nvPicPr>
          <p:cNvPr id="6" name="Image 5" descr="正方形"/>
          <p:cNvPicPr>
            <a:picLocks noChangeAspect="1"/>
          </p:cNvPicPr>
          <p:nvPr>
            <p:custDataLst>
              <p:tags r:id="rId6"/>
            </p:custDataLst>
          </p:nvPr>
        </p:nvPicPr>
        <p:blipFill>
          <a:blip r:embed="rId4">
            <a:extLst>
              <a:ext uri="{96DAC541-7B7A-43D3-8B79-37D633B846F1}">
                <asvg:svgBlip xmlns:asvg="http://schemas.microsoft.com/office/drawing/2016/SVG/main" r:embed="rId5"/>
              </a:ext>
            </a:extLst>
          </a:blip>
          <a:stretch>
            <a:fillRect/>
          </a:stretch>
        </p:blipFill>
        <p:spPr>
          <a:xfrm>
            <a:off x="1113155" y="3429000"/>
            <a:ext cx="144145" cy="144145"/>
          </a:xfrm>
          <a:prstGeom prst="rect">
            <a:avLst/>
          </a:prstGeom>
        </p:spPr>
      </p:pic>
      <p:sp>
        <p:nvSpPr>
          <p:cNvPr id="3" name="Zone de texte 2"/>
          <p:cNvSpPr txBox="1"/>
          <p:nvPr/>
        </p:nvSpPr>
        <p:spPr>
          <a:xfrm>
            <a:off x="585470" y="6323330"/>
            <a:ext cx="6096000" cy="460375"/>
          </a:xfrm>
          <a:prstGeom prst="rect">
            <a:avLst/>
          </a:prstGeom>
          <a:noFill/>
        </p:spPr>
        <p:txBody>
          <a:bodyPr wrap="square" rtlCol="0" anchor="t">
            <a:spAutoFit/>
          </a:bodyPr>
          <a:p>
            <a:pPr marL="0" marR="0" lvl="0" indent="0" algn="l" rtl="0">
              <a:spcBef>
                <a:spcPts val="0"/>
              </a:spcBef>
              <a:spcAft>
                <a:spcPts val="0"/>
              </a:spcAft>
              <a:buNone/>
            </a:pPr>
            <a:r>
              <a:rPr lang="en-US" sz="1200">
                <a:solidFill>
                  <a:srgbClr val="475569"/>
                </a:solidFill>
                <a:latin typeface="Lato" panose="020F0502020204030203"/>
                <a:ea typeface="Lato" panose="020F0502020204030203"/>
                <a:cs typeface="Lato" panose="020F0502020204030203"/>
                <a:sym typeface="Lato" panose="020F0502020204030203"/>
              </a:rPr>
              <a:t>Ipnet Institute of Technology — Soutenance de </a:t>
            </a:r>
            <a:endParaRPr lang="en-US" sz="1200">
              <a:solidFill>
                <a:srgbClr val="475569"/>
              </a:solidFill>
              <a:latin typeface="Lato" panose="020F0502020204030203"/>
              <a:ea typeface="Lato" panose="020F0502020204030203"/>
              <a:cs typeface="Lato" panose="020F0502020204030203"/>
              <a:sym typeface="Lato" panose="020F0502020204030203"/>
            </a:endParaRPr>
          </a:p>
          <a:p>
            <a:pPr marL="0" marR="0" lvl="0" indent="0" algn="l" rtl="0">
              <a:spcBef>
                <a:spcPts val="0"/>
              </a:spcBef>
              <a:spcAft>
                <a:spcPts val="0"/>
              </a:spcAft>
              <a:buNone/>
            </a:pPr>
            <a:r>
              <a:rPr lang="en-US" sz="1200">
                <a:solidFill>
                  <a:srgbClr val="475569"/>
                </a:solidFill>
                <a:latin typeface="Lato" panose="020F0502020204030203"/>
                <a:ea typeface="Lato" panose="020F0502020204030203"/>
                <a:cs typeface="Lato" panose="020F0502020204030203"/>
                <a:sym typeface="Lato" panose="020F0502020204030203"/>
              </a:rPr>
              <a:t>Licence Professionnelle</a:t>
            </a:r>
            <a:endParaRPr lang="en-US" altLang="en-US" sz="1200">
              <a:solidFill>
                <a:srgbClr val="475569"/>
              </a:solidFill>
              <a:latin typeface="Lato" panose="020F0502020204030203"/>
              <a:ea typeface="Lato" panose="020F0502020204030203"/>
              <a:cs typeface="Lato" panose="020F0502020204030203"/>
              <a:sym typeface="Lato" panose="020F0502020204030203"/>
            </a:endParaRPr>
          </a:p>
        </p:txBody>
      </p:sp>
      <p:sp>
        <p:nvSpPr>
          <p:cNvPr id="308" name="Google Shape;308;p22"/>
          <p:cNvSpPr txBox="1"/>
          <p:nvPr/>
        </p:nvSpPr>
        <p:spPr>
          <a:xfrm>
            <a:off x="11487150" y="6286500"/>
            <a:ext cx="364490" cy="44640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rPr>
              <a:t>32</a:t>
            </a:r>
            <a:endParaRPr lang="fr-FR" altLang="en-US" sz="1600" b="1" i="0" u="none" strike="noStrike" cap="none">
              <a:solidFill>
                <a:schemeClr val="tx1"/>
              </a:solidFill>
              <a:latin typeface="Lato" panose="020F0502020204030203"/>
              <a:ea typeface="Lato" panose="020F0502020204030203"/>
              <a:cs typeface="Lato" panose="020F0502020204030203"/>
              <a:sym typeface="Lato" panose="020F0502020204030203"/>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340" name="Shape 340"/>
        <p:cNvGrpSpPr/>
        <p:nvPr/>
      </p:nvGrpSpPr>
      <p:grpSpPr>
        <a:xfrm>
          <a:off x="0" y="0"/>
          <a:ext cx="0" cy="0"/>
          <a:chOff x="0" y="0"/>
          <a:chExt cx="0" cy="0"/>
        </a:xfrm>
      </p:grpSpPr>
      <p:pic>
        <p:nvPicPr>
          <p:cNvPr id="341" name="Google Shape;341;p24" descr="Empty office hall"/>
          <p:cNvPicPr preferRelativeResize="0"/>
          <p:nvPr>
            <p:custDataLst>
              <p:tags r:id="rId1"/>
            </p:custDataLst>
          </p:nvPr>
        </p:nvPicPr>
        <p:blipFill rotWithShape="1">
          <a:blip r:embed="rId2"/>
          <a:srcRect t="7802" b="7802"/>
          <a:stretch>
            <a:fillRect/>
          </a:stretch>
        </p:blipFill>
        <p:spPr>
          <a:xfrm>
            <a:off x="0" y="0"/>
            <a:ext cx="12192000" cy="6858000"/>
          </a:xfrm>
          <a:prstGeom prst="rect">
            <a:avLst/>
          </a:prstGeom>
          <a:noFill/>
          <a:ln>
            <a:noFill/>
          </a:ln>
        </p:spPr>
      </p:pic>
      <p:sp>
        <p:nvSpPr>
          <p:cNvPr id="344" name="Google Shape;344;p24"/>
          <p:cNvSpPr/>
          <p:nvPr/>
        </p:nvSpPr>
        <p:spPr>
          <a:xfrm>
            <a:off x="5715000" y="1938337"/>
            <a:ext cx="762000" cy="38100"/>
          </a:xfrm>
          <a:prstGeom prst="rect">
            <a:avLst/>
          </a:prstGeom>
          <a:solidFill>
            <a:schemeClr val="tx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45" name="Google Shape;345;p24"/>
          <p:cNvSpPr txBox="1"/>
          <p:nvPr/>
        </p:nvSpPr>
        <p:spPr>
          <a:xfrm>
            <a:off x="1695450" y="2823527"/>
            <a:ext cx="8801100" cy="73850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a:solidFill>
                  <a:schemeClr val="tx1"/>
                </a:solidFill>
                <a:latin typeface="Times New Roman" panose="02020603050405020304" charset="0"/>
                <a:ea typeface="Poppins SemiBold" panose="00000500000000000000"/>
                <a:cs typeface="Times New Roman" panose="02020603050405020304" charset="0"/>
                <a:sym typeface="Poppins SemiBold" panose="00000500000000000000"/>
              </a:rPr>
              <a:t>Merci pour votre Attention !</a:t>
            </a:r>
            <a:endParaRPr lang="en-US" sz="4800" b="1" i="0" u="none" strike="noStrike" cap="none">
              <a:solidFill>
                <a:schemeClr val="tx1"/>
              </a:solidFill>
              <a:latin typeface="Times New Roman" panose="02020603050405020304" charset="0"/>
              <a:ea typeface="Poppins SemiBold" panose="00000500000000000000"/>
              <a:cs typeface="Times New Roman" panose="02020603050405020304" charset="0"/>
              <a:sym typeface="Poppins SemiBold" panose="00000500000000000000"/>
            </a:endParaRPr>
          </a:p>
        </p:txBody>
      </p:sp>
      <p:pic>
        <p:nvPicPr>
          <p:cNvPr id="2" name="Image 1" descr="WPS Photos(1)"/>
          <p:cNvPicPr>
            <a:picLocks noChangeAspect="1"/>
          </p:cNvPicPr>
          <p:nvPr/>
        </p:nvPicPr>
        <p:blipFill>
          <a:blip r:embed="rId3"/>
          <a:stretch>
            <a:fillRect/>
          </a:stretch>
        </p:blipFill>
        <p:spPr>
          <a:xfrm>
            <a:off x="0" y="0"/>
            <a:ext cx="3170555" cy="12185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sld>
</file>

<file path=ppt/tags/tag1.xml><?xml version="1.0" encoding="utf-8"?>
<p:tagLst xmlns:p="http://schemas.openxmlformats.org/presentationml/2006/main">
  <p:tag name="KSO_WM_BEAUTIFY_FLAG" val="#fgm#"/>
  <p:tag name="KSO_WM_FIGMA_FLAG" val="#fgm#"/>
  <p:tag name="KSO_WM_UNIT_INDEX" val="1"/>
  <p:tag name="KSO_WM_UNIT_TYPE" val="a"/>
  <p:tag name="KSO_WM_LAYOUT_CHECK_HASH" val="fccd111189b7d2a890802631ca6427411a773ef2"/>
  <p:tag name="KSO_WM_NEWLAYOUT_GROUP_ID" val="layout_34"/>
  <p:tag name="KSO_WM_NEWLAYOUT_ID" val="slide_4ae229a2f1c7f65e"/>
</p:tagLst>
</file>

<file path=ppt/tags/tag2.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5.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8.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9.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0.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1.xml><?xml version="1.0" encoding="utf-8"?>
<p:tagLst xmlns:p="http://schemas.openxmlformats.org/presentationml/2006/main">
  <p:tag name="KSO_WM_BEAUTIFY_FLAG" val="#fgm#"/>
  <p:tag name="KSO_WM_DIAGRAM_GROUP_CODE" val="1"/>
  <p:tag name="KSO_WM_FIGMA_FLAG" val="#fgm#"/>
  <p:tag name="KSO_WM_UNIT_INDEX" val="1_4_1"/>
  <p:tag name="KSO_WM_UNIT_TYPE" val="l_h_d"/>
</p:tagLst>
</file>

<file path=ppt/tags/tag12.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13.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14.xml><?xml version="1.0" encoding="utf-8"?>
<p:tagLst xmlns:p="http://schemas.openxmlformats.org/presentationml/2006/main">
  <p:tag name="KSO_DOCER_RESOURCE_TRACE_INFO" val="{&quot;id&quot;:&quot;47371779&quot;,&quot;origin&quot;:0,&quot;type&quot;:&quot;pictures&quot;,&quot;user&quot;:&quot;20358827511810&quot;}"/>
</p:tagLst>
</file>

<file path=ppt/tags/tag15.xml><?xml version="1.0" encoding="utf-8"?>
<p:tagLst xmlns:p="http://schemas.openxmlformats.org/presentationml/2006/main">
  <p:tag name="KSO_DOCER_RESOURCE_TRACE_INFO" val="{&quot;id&quot;:&quot;47371779&quot;,&quot;origin&quot;:0,&quot;type&quot;:&quot;pictures&quot;,&quot;user&quot;:&quot;20358827511810&quot;}"/>
</p:tagLst>
</file>

<file path=ppt/tags/tag16.xml><?xml version="1.0" encoding="utf-8"?>
<p:tagLst xmlns:p="http://schemas.openxmlformats.org/presentationml/2006/main">
  <p:tag name="KSO_DOCER_RESOURCE_TRACE_INFO" val="{&quot;id&quot;:&quot;47371779&quot;,&quot;origin&quot;:0,&quot;type&quot;:&quot;pictures&quot;,&quot;user&quot;:&quot;20358827511810&quot;}"/>
</p:tagLst>
</file>

<file path=ppt/tags/tag17.xml><?xml version="1.0" encoding="utf-8"?>
<p:tagLst xmlns:p="http://schemas.openxmlformats.org/presentationml/2006/main">
  <p:tag name="KSO_DOCER_RESOURCE_TRACE_INFO" val="{&quot;id&quot;:&quot;47371779&quot;,&quot;origin&quot;:0,&quot;type&quot;:&quot;pictures&quot;,&quot;user&quot;:&quot;20358827511810&quot;}"/>
</p:tagLst>
</file>

<file path=ppt/tags/tag18.xml><?xml version="1.0" encoding="utf-8"?>
<p:tagLst xmlns:p="http://schemas.openxmlformats.org/presentationml/2006/main">
  <p:tag name="KSO_DOCER_RESOURCE_TRACE_INFO" val="{&quot;id&quot;:&quot;47371779&quot;,&quot;origin&quot;:0,&quot;type&quot;:&quot;pictures&quot;,&quot;user&quot;:&quot;20358827511810&quot;}"/>
</p:tagLst>
</file>

<file path=ppt/tags/tag19.xml><?xml version="1.0" encoding="utf-8"?>
<p:tagLst xmlns:p="http://schemas.openxmlformats.org/presentationml/2006/main">
  <p:tag name="KSO_DOCER_RESOURCE_TRACE_INFO" val="{&quot;id&quot;:&quot;47371779&quot;,&quot;origin&quot;:0,&quot;type&quot;:&quot;pictures&quot;,&quot;user&quot;:&quot;20358827511810&quot;}"/>
</p:tagLst>
</file>

<file path=ppt/tags/tag20.xml><?xml version="1.0" encoding="utf-8"?>
<p:tagLst xmlns:p="http://schemas.openxmlformats.org/presentationml/2006/main">
  <p:tag name="KSO_DOCER_RESOURCE_TRACE_INFO" val="{&quot;id&quot;:&quot;47371779&quot;,&quot;origin&quot;:0,&quot;type&quot;:&quot;pictures&quot;,&quot;user&quot;:&quot;20358827511810&quot;}"/>
</p:tagLst>
</file>

<file path=ppt/tags/tag21.xml><?xml version="1.0" encoding="utf-8"?>
<p:tagLst xmlns:p="http://schemas.openxmlformats.org/presentationml/2006/main">
  <p:tag name="KSO_DOCER_RESOURCE_TRACE_INFO" val="{&quot;id&quot;:&quot;47371779&quot;,&quot;origin&quot;:0,&quot;type&quot;:&quot;pictures&quot;,&quot;user&quot;:&quot;20358827511810&quot;}"/>
</p:tagLst>
</file>

<file path=ppt/tags/tag22.xml><?xml version="1.0" encoding="utf-8"?>
<p:tagLst xmlns:p="http://schemas.openxmlformats.org/presentationml/2006/main">
  <p:tag name="KSO_DOCER_RESOURCE_TRACE_INFO" val="{&quot;id&quot;:&quot;47371779&quot;,&quot;origin&quot;:0,&quot;type&quot;:&quot;pictures&quot;,&quot;user&quot;:&quot;20358827511810&quot;}"/>
</p:tagLst>
</file>

<file path=ppt/tags/tag23.xml><?xml version="1.0" encoding="utf-8"?>
<p:tagLst xmlns:p="http://schemas.openxmlformats.org/presentationml/2006/main">
  <p:tag name="KSO_DOCER_RESOURCE_TRACE_INFO" val="{&quot;id&quot;:&quot;47371779&quot;,&quot;origin&quot;:0,&quot;type&quot;:&quot;pictures&quot;,&quot;user&quot;:&quot;20358827511810&quot;}"/>
</p:tagLst>
</file>

<file path=ppt/tags/tag24.xml><?xml version="1.0" encoding="utf-8"?>
<p:tagLst xmlns:p="http://schemas.openxmlformats.org/presentationml/2006/main">
  <p:tag name="KSO_DOCER_RESOURCE_TRACE_INFO" val="{&quot;id&quot;:&quot;47371779&quot;,&quot;origin&quot;:0,&quot;type&quot;:&quot;pictures&quot;,&quot;user&quot;:&quot;20358827511810&quot;}"/>
</p:tagLst>
</file>

<file path=ppt/tags/tag25.xml><?xml version="1.0" encoding="utf-8"?>
<p:tagLst xmlns:p="http://schemas.openxmlformats.org/presentationml/2006/main">
  <p:tag name="KSO_DOCER_RESOURCE_TRACE_INFO" val="{&quot;id&quot;:&quot;47371779&quot;,&quot;origin&quot;:0,&quot;type&quot;:&quot;pictures&quot;,&quot;user&quot;:&quot;20358827511810&quot;}"/>
</p:tagLst>
</file>

<file path=ppt/tags/tag26.xml><?xml version="1.0" encoding="utf-8"?>
<p:tagLst xmlns:p="http://schemas.openxmlformats.org/presentationml/2006/main">
  <p:tag name="KSO_DOCER_RESOURCE_TRACE_INFO" val="{&quot;id&quot;:&quot;47371779&quot;,&quot;origin&quot;:0,&quot;type&quot;:&quot;pictures&quot;,&quot;user&quot;:&quot;20358827511810&quot;}"/>
</p:tagLst>
</file>

<file path=ppt/tags/tag27.xml><?xml version="1.0" encoding="utf-8"?>
<p:tagLst xmlns:p="http://schemas.openxmlformats.org/presentationml/2006/main">
  <p:tag name="KSO_DOCER_RESOURCE_TRACE_INFO" val="{&quot;id&quot;:&quot;47371779&quot;,&quot;origin&quot;:0,&quot;type&quot;:&quot;pictures&quot;,&quot;user&quot;:&quot;20358827511810&quot;}"/>
</p:tagLst>
</file>

<file path=ppt/tags/tag28.xml><?xml version="1.0" encoding="utf-8"?>
<p:tagLst xmlns:p="http://schemas.openxmlformats.org/presentationml/2006/main">
  <p:tag name="KSO_DOCER_RESOURCE_TRACE_INFO" val="{&quot;id&quot;:&quot;47371779&quot;,&quot;origin&quot;:0,&quot;type&quot;:&quot;pictures&quot;,&quot;user&quot;:&quot;20358827511810&quot;}"/>
</p:tagLst>
</file>

<file path=ppt/tags/tag29.xml><?xml version="1.0" encoding="utf-8"?>
<p:tagLst xmlns:p="http://schemas.openxmlformats.org/presentationml/2006/main">
  <p:tag name="KSO_DOCER_RESOURCE_TRACE_INFO" val="{&quot;id&quot;:&quot;47371779&quot;,&quot;origin&quot;:0,&quot;type&quot;:&quot;pictures&quot;,&quot;user&quot;:&quot;20358827511810&quot;}"/>
</p:tagLst>
</file>

<file path=ppt/tags/tag30.xml><?xml version="1.0" encoding="utf-8"?>
<p:tagLst xmlns:p="http://schemas.openxmlformats.org/presentationml/2006/main">
  <p:tag name="KSO_DOCER_RESOURCE_TRACE_INFO" val="{&quot;id&quot;:&quot;47371779&quot;,&quot;origin&quot;:0,&quot;type&quot;:&quot;pictures&quot;,&quot;user&quot;:&quot;20358827511810&quot;}"/>
</p:tagLst>
</file>

<file path=ppt/tags/tag31.xml><?xml version="1.0" encoding="utf-8"?>
<p:tagLst xmlns:p="http://schemas.openxmlformats.org/presentationml/2006/main">
  <p:tag name="KSO_DOCER_RESOURCE_TRACE_INFO" val="{&quot;id&quot;:&quot;47371779&quot;,&quot;origin&quot;:0,&quot;type&quot;:&quot;pictures&quot;,&quot;user&quot;:&quot;20358827511810&quot;}"/>
</p:tagLst>
</file>

<file path=ppt/tags/tag32.xml><?xml version="1.0" encoding="utf-8"?>
<p:tagLst xmlns:p="http://schemas.openxmlformats.org/presentationml/2006/main">
  <p:tag name="KSO_DOCER_RESOURCE_TRACE_INFO" val="{&quot;id&quot;:&quot;47371779&quot;,&quot;origin&quot;:0,&quot;type&quot;:&quot;pictures&quot;,&quot;user&quot;:&quot;20358827511810&quot;}"/>
</p:tagLst>
</file>

<file path=ppt/tags/tag33.xml><?xml version="1.0" encoding="utf-8"?>
<p:tagLst xmlns:p="http://schemas.openxmlformats.org/presentationml/2006/main">
  <p:tag name="KSO_DOCER_RESOURCE_TRACE_INFO" val="{&quot;id&quot;:&quot;47371779&quot;,&quot;origin&quot;:0,&quot;type&quot;:&quot;pictures&quot;,&quot;user&quot;:&quot;20358827511810&quot;}"/>
</p:tagLst>
</file>

<file path=ppt/tags/tag34.xml><?xml version="1.0" encoding="utf-8"?>
<p:tagLst xmlns:p="http://schemas.openxmlformats.org/presentationml/2006/main">
  <p:tag name="KSO_DOCER_RESOURCE_TRACE_INFO" val="{&quot;id&quot;:&quot;47371779&quot;,&quot;origin&quot;:0,&quot;type&quot;:&quot;pictures&quot;,&quot;user&quot;:&quot;20358827511810&quot;}"/>
</p:tagLst>
</file>

<file path=ppt/tags/tag35.xml><?xml version="1.0" encoding="utf-8"?>
<p:tagLst xmlns:p="http://schemas.openxmlformats.org/presentationml/2006/main">
  <p:tag name="KSO_DOCER_RESOURCE_TRACE_INFO" val="{&quot;id&quot;:&quot;47371779&quot;,&quot;origin&quot;:0,&quot;type&quot;:&quot;pictures&quot;,&quot;user&quot;:&quot;20358827511810&quot;}"/>
</p:tagLst>
</file>

<file path=ppt/tags/tag36.xml><?xml version="1.0" encoding="utf-8"?>
<p:tagLst xmlns:p="http://schemas.openxmlformats.org/presentationml/2006/main">
  <p:tag name="KSO_DOCER_RESOURCE_TRACE_INFO" val="{&quot;id&quot;:&quot;47371779&quot;,&quot;origin&quot;:0,&quot;type&quot;:&quot;pictures&quot;,&quot;user&quot;:&quot;20358827511810&quot;}"/>
</p:tagLst>
</file>

<file path=ppt/tags/tag37.xml><?xml version="1.0" encoding="utf-8"?>
<p:tagLst xmlns:p="http://schemas.openxmlformats.org/presentationml/2006/main">
  <p:tag name="KSO_DOCER_RESOURCE_TRACE_INFO" val="{&quot;id&quot;:&quot;47371779&quot;,&quot;origin&quot;:0,&quot;type&quot;:&quot;pictures&quot;,&quot;user&quot;:&quot;20358827511810&quot;}"/>
</p:tagLst>
</file>

<file path=ppt/tags/tag38.xml><?xml version="1.0" encoding="utf-8"?>
<p:tagLst xmlns:p="http://schemas.openxmlformats.org/presentationml/2006/main">
  <p:tag name="KSO_DOCER_RESOURCE_TRACE_INFO" val="{&quot;id&quot;:&quot;47371779&quot;,&quot;origin&quot;:0,&quot;type&quot;:&quot;pictures&quot;,&quot;user&quot;:&quot;20358827511810&quot;}"/>
</p:tagLst>
</file>

<file path=ppt/tags/tag39.xml><?xml version="1.0" encoding="utf-8"?>
<p:tagLst xmlns:p="http://schemas.openxmlformats.org/presentationml/2006/main">
  <p:tag name="KSO_DOCER_RESOURCE_TRACE_INFO" val="{&quot;id&quot;:&quot;47371779&quot;,&quot;origin&quot;:0,&quot;type&quot;:&quot;pictures&quot;,&quot;user&quot;:&quot;20358827511810&quot;}"/>
</p:tagLst>
</file>

<file path=ppt/tags/tag40.xml><?xml version="1.0" encoding="utf-8"?>
<p:tagLst xmlns:p="http://schemas.openxmlformats.org/presentationml/2006/main">
  <p:tag name="KSO_DOCER_RESOURCE_TRACE_INFO" val="{&quot;id&quot;:&quot;47371779&quot;,&quot;origin&quot;:0,&quot;type&quot;:&quot;pictures&quot;,&quot;user&quot;:&quot;20358827511810&quot;}"/>
</p:tagLst>
</file>

<file path=ppt/tags/tag41.xml><?xml version="1.0" encoding="utf-8"?>
<p:tagLst xmlns:p="http://schemas.openxmlformats.org/presentationml/2006/main">
  <p:tag name="KSO_DOCER_RESOURCE_TRACE_INFO" val="{&quot;id&quot;:&quot;47371779&quot;,&quot;origin&quot;:0,&quot;type&quot;:&quot;pictures&quot;,&quot;user&quot;:&quot;20358827511810&quot;}"/>
</p:tagLst>
</file>

<file path=ppt/tags/tag42.xml><?xml version="1.0" encoding="utf-8"?>
<p:tagLst xmlns:p="http://schemas.openxmlformats.org/presentationml/2006/main">
  <p:tag name="KSO_DOCER_RESOURCE_TRACE_INFO" val="{&quot;id&quot;:&quot;47371779&quot;,&quot;origin&quot;:0,&quot;type&quot;:&quot;pictures&quot;,&quot;user&quot;:&quot;20358827511810&quot;}"/>
</p:tagLst>
</file>

<file path=ppt/tags/tag43.xml><?xml version="1.0" encoding="utf-8"?>
<p:tagLst xmlns:p="http://schemas.openxmlformats.org/presentationml/2006/main">
  <p:tag name="KSO_DOCER_RESOURCE_TRACE_INFO" val="{&quot;id&quot;:&quot;47371779&quot;,&quot;origin&quot;:0,&quot;type&quot;:&quot;pictures&quot;,&quot;user&quot;:&quot;20358827511810&quot;}"/>
</p:tagLst>
</file>

<file path=ppt/tags/tag44.xml><?xml version="1.0" encoding="utf-8"?>
<p:tagLst xmlns:p="http://schemas.openxmlformats.org/presentationml/2006/main">
  <p:tag name="KSO_DOCER_RESOURCE_TRACE_INFO" val="{&quot;id&quot;:&quot;47371779&quot;,&quot;origin&quot;:0,&quot;type&quot;:&quot;pictures&quot;,&quot;user&quot;:&quot;20358827511810&quot;}"/>
</p:tagLst>
</file>

<file path=ppt/tags/tag45.xml><?xml version="1.0" encoding="utf-8"?>
<p:tagLst xmlns:p="http://schemas.openxmlformats.org/presentationml/2006/main">
  <p:tag name="KSO_DOCER_RESOURCE_TRACE_INFO" val="{&quot;id&quot;:&quot;47371779&quot;,&quot;origin&quot;:0,&quot;type&quot;:&quot;pictures&quot;,&quot;user&quot;:&quot;20358827511810&quot;}"/>
</p:tagLst>
</file>

<file path=ppt/tags/tag46.xml><?xml version="1.0" encoding="utf-8"?>
<p:tagLst xmlns:p="http://schemas.openxmlformats.org/presentationml/2006/main">
  <p:tag name="KSO_DOCER_RESOURCE_TRACE_INFO" val="{&quot;id&quot;:&quot;47371779&quot;,&quot;origin&quot;:0,&quot;type&quot;:&quot;pictures&quot;,&quot;user&quot;:&quot;20358827511810&quot;}"/>
</p:tagLst>
</file>

<file path=ppt/tags/tag47.xml><?xml version="1.0" encoding="utf-8"?>
<p:tagLst xmlns:p="http://schemas.openxmlformats.org/presentationml/2006/main">
  <p:tag name="KSO_DOCER_RESOURCE_TRACE_INFO" val="{&quot;id&quot;:&quot;50059433&quot;,&quot;origin&quot;:0,&quot;type&quot;:&quot;icons&quot;,&quot;user&quot;:&quot;20358827511810&quot;}"/>
</p:tagLst>
</file>

<file path=ppt/tags/tag48.xml><?xml version="1.0" encoding="utf-8"?>
<p:tagLst xmlns:p="http://schemas.openxmlformats.org/presentationml/2006/main">
  <p:tag name="KSO_DOCER_RESOURCE_TRACE_INFO" val="{&quot;id&quot;:&quot;50059433&quot;,&quot;origin&quot;:0,&quot;type&quot;:&quot;icons&quot;,&quot;user&quot;:&quot;20358827511810&quot;}"/>
</p:tagLst>
</file>

<file path=ppt/tags/tag49.xml><?xml version="1.0" encoding="utf-8"?>
<p:tagLst xmlns:p="http://schemas.openxmlformats.org/presentationml/2006/main">
  <p:tag name="KSO_DOCER_RESOURCE_TRACE_INFO" val="{&quot;id&quot;:&quot;47371779&quot;,&quot;origin&quot;:0,&quot;type&quot;:&quot;pictures&quot;,&quot;user&quot;:&quot;20358827511810&quot;}"/>
</p:tagLst>
</file>

<file path=ppt/tags/tag50.xml><?xml version="1.0" encoding="utf-8"?>
<p:tagLst xmlns:p="http://schemas.openxmlformats.org/presentationml/2006/main">
  <p:tag name="resource_record_key" val="{&quot;10&quot;:[50059433]}"/>
</p:tagLst>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6524</Words>
  <Application>WPS Presentation</Application>
  <PresentationFormat/>
  <Paragraphs>433</Paragraphs>
  <Slides>34</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34</vt:i4>
      </vt:variant>
    </vt:vector>
  </HeadingPairs>
  <TitlesOfParts>
    <vt:vector size="52" baseType="lpstr">
      <vt:lpstr>Arial</vt:lpstr>
      <vt:lpstr>SimSun</vt:lpstr>
      <vt:lpstr>Wingdings</vt:lpstr>
      <vt:lpstr>Arial</vt:lpstr>
      <vt:lpstr>Calibri</vt:lpstr>
      <vt:lpstr>Times New Roman</vt:lpstr>
      <vt:lpstr>Lato</vt:lpstr>
      <vt:lpstr>Poppins</vt:lpstr>
      <vt:lpstr>Lato Light</vt:lpstr>
      <vt:lpstr>Poppins SemiBold</vt:lpstr>
      <vt:lpstr>Poppins</vt:lpstr>
      <vt:lpstr>Lato</vt:lpstr>
      <vt:lpstr>Calibri</vt:lpstr>
      <vt:lpstr>Cambria</vt:lpstr>
      <vt:lpstr>Times New Roman</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Conception &amp; RéaliSAtion</vt:lpstr>
      <vt:lpstr>PowerPoint 演示文稿</vt:lpstr>
      <vt:lpstr>PowerPoint 演示文稿</vt:lpstr>
      <vt:lpstr>PowerPoint 演示文稿</vt:lpstr>
      <vt:lpstr>Diagramme de contexte</vt:lpstr>
      <vt:lpstr>Diagramme de Package</vt:lpstr>
      <vt:lpstr>Diagramme de cas d’utilisation</vt:lpstr>
      <vt:lpstr>Diagramme d’activité : création d’un bail</vt:lpstr>
      <vt:lpstr>Diagramme de séquence : création d’un bail</vt:lpstr>
      <vt:lpstr>Diagramme de classe</vt:lpstr>
      <vt:lpstr>Diagramme de classe</vt:lpstr>
      <vt:lpstr>Architecture logicielle du système</vt:lpstr>
      <vt:lpstr>Architecture matérielle du système</vt:lpstr>
      <vt:lpstr>PowerPoint 演示文稿</vt:lpstr>
      <vt:lpstr>PowerPoint 演示文稿</vt:lpstr>
      <vt:lpstr>DémonStration</vt:lpstr>
      <vt:lpstr>PowerPoint 演示文稿</vt:lpstr>
      <vt:lpstr>PowerPoint 演示文稿</vt:lpstr>
      <vt:lpstr>ConcluSIon &amp; perSpectiVes</vt:lpstr>
      <vt:lpstr>Ce projet apporte une réponse concrète aux limites de la gestion artisanale en automatisant tout le cycle métier (de l'enregistrement du logement au paiement par Mobile Money via FedaPay). Portée par une architecture robuste (Spring Boot, Angular, Ionic), la plateforme sécurise les baux à long terme et garde une traçabilité de toutes les transactions.</vt:lpstr>
      <vt:lpstr>       Documents : Génération et signature électronique automatique des contrats de bail.         Génération d’un rapport financier annuel</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Xavier GBANDI</cp:lastModifiedBy>
  <cp:revision>41</cp:revision>
  <dcterms:created xsi:type="dcterms:W3CDTF">2026-07-17T19:21:00Z</dcterms:created>
  <dcterms:modified xsi:type="dcterms:W3CDTF">2026-08-09T20:38:52Z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1036-12.1.0.28032</vt:lpwstr>
  </property>
  <property fmtid="{D5CDD505-2E9C-101B-9397-08002B2CF9AE}" pid="3" name="ICV">
    <vt:lpwstr>DA5AD8D80E2F47F58CD50CA50F7FB14F_12</vt:lpwstr>
  </property>
</Properties>
</file>