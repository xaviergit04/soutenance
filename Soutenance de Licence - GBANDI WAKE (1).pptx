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23.fntdata" ContentType="application/x-fontdata"/>
  <Override PartName="/ppt/fonts/font24.fntdata" ContentType="application/x-fontdata"/>
  <Override PartName="/ppt/fonts/font25.fntdata" ContentType="application/x-fontdata"/>
  <Override PartName="/ppt/fonts/font26.fntdata" ContentType="application/x-fontdata"/>
  <Override PartName="/ppt/fonts/font27.fntdata" ContentType="application/x-fontdata"/>
  <Override PartName="/ppt/fonts/font28.fntdata" ContentType="application/x-fontdata"/>
  <Override PartName="/ppt/fonts/font29.fntdata" ContentType="application/x-fontdata"/>
  <Override PartName="/ppt/fonts/font3.fntdata" ContentType="application/x-fontdata"/>
  <Override PartName="/ppt/fonts/font30.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media/image5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91" r:id="rId6"/>
    <p:sldId id="258" r:id="rId7"/>
    <p:sldId id="259" r:id="rId8"/>
    <p:sldId id="287" r:id="rId9"/>
    <p:sldId id="288" r:id="rId10"/>
    <p:sldId id="289" r:id="rId11"/>
    <p:sldId id="292" r:id="rId12"/>
    <p:sldId id="260" r:id="rId13"/>
    <p:sldId id="293" r:id="rId14"/>
    <p:sldId id="261" r:id="rId15"/>
    <p:sldId id="270" r:id="rId16"/>
    <p:sldId id="290" r:id="rId17"/>
    <p:sldId id="266" r:id="rId18"/>
    <p:sldId id="264" r:id="rId19"/>
    <p:sldId id="273" r:id="rId20"/>
    <p:sldId id="274" r:id="rId21"/>
    <p:sldId id="275" r:id="rId22"/>
    <p:sldId id="276" r:id="rId23"/>
    <p:sldId id="277" r:id="rId24"/>
    <p:sldId id="278" r:id="rId25"/>
    <p:sldId id="294" r:id="rId26"/>
    <p:sldId id="279" r:id="rId27"/>
    <p:sldId id="280" r:id="rId28"/>
    <p:sldId id="263" r:id="rId29"/>
    <p:sldId id="265" r:id="rId30"/>
    <p:sldId id="281" r:id="rId31"/>
    <p:sldId id="296" r:id="rId32"/>
    <p:sldId id="298" r:id="rId33"/>
    <p:sldId id="283" r:id="rId34"/>
    <p:sldId id="284" r:id="rId35"/>
    <p:sldId id="285" r:id="rId36"/>
    <p:sldId id="267" r:id="rId37"/>
  </p:sldIdLst>
  <p:sldSz cx="12192000" cy="6858000"/>
  <p:notesSz cx="6858000" cy="9144000"/>
  <p:embeddedFontLst>
    <p:embeddedFont>
      <p:font typeface="Calibri" panose="020F0502020204030204"/>
      <p:regular r:id="rId41"/>
      <p:bold r:id="rId42"/>
      <p:italic r:id="rId43"/>
      <p:boldItalic r:id="rId44"/>
    </p:embeddedFont>
    <p:embeddedFont>
      <p:font typeface="Lato" panose="020F0502020204030203"/>
      <p:regular r:id="rId45"/>
    </p:embeddedFont>
    <p:embeddedFont>
      <p:font typeface="Poppins" panose="00000500000000000000"/>
      <p:regular r:id="rId46"/>
      <p:bold r:id="rId47"/>
      <p:italic r:id="rId48"/>
      <p:boldItalic r:id="rId49"/>
    </p:embeddedFont>
    <p:embeddedFont>
      <p:font typeface="Lato Light" panose="020F0502020204030203"/>
      <p:regular r:id="rId50"/>
      <p:bold r:id="rId51"/>
      <p:italic r:id="rId52"/>
      <p:boldItalic r:id="rId53"/>
    </p:embeddedFont>
    <p:embeddedFont>
      <p:font typeface="Poppins SemiBold" panose="00000500000000000000"/>
      <p:regular r:id="rId54"/>
      <p:bold r:id="rId55"/>
      <p:italic r:id="rId56"/>
      <p:boldItalic r:id="rId57"/>
    </p:embeddedFont>
    <p:embeddedFont>
      <p:font typeface="Calibri" panose="020F0502020204030204" pitchFamily="34" charset="-122"/>
      <p:regular r:id="rId58"/>
      <p:bold r:id="rId59"/>
      <p:italic r:id="rId60"/>
      <p:boldItalic r:id="rId61"/>
    </p:embeddedFont>
    <p:embeddedFont>
      <p:font typeface="Cambria" panose="02040503050406030204" pitchFamily="34" charset="-122"/>
      <p:regular r:id="rId62"/>
      <p:bold r:id="rId63"/>
      <p:italic r:id="rId64"/>
      <p:boldItalic r:id="rId65"/>
    </p:embeddedFont>
    <p:embeddedFont>
      <p:font typeface="Poppins" panose="00000500000000000000" charset="0"/>
      <p:regular r:id="rId66"/>
      <p:bold r:id="rId67"/>
      <p:italic r:id="rId68"/>
      <p:boldItalic r:id="rId69"/>
    </p:embeddedFont>
    <p:embeddedFont>
      <p:font typeface="Lato" panose="020F0502020204030203" charset="0"/>
      <p:regular r:id="rId70"/>
    </p:embeddedFont>
  </p:embeddedFontLst>
  <p:custDataLst>
    <p:tags r:id="rId71"/>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74" userDrawn="1">
          <p15:clr>
            <a:srgbClr val="000000"/>
          </p15:clr>
        </p15:guide>
        <p15:guide id="2" pos="2937" userDrawn="1">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D3497-3041-4D27-8FF0-422A7831B682}" styleName="Table_0">
    <a:wholeTbl>
      <a:tcTxStyle>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Style>
        <a:tcBdr/>
        <a:fill>
          <a:solidFill>
            <a:srgbClr val="CFD7E7"/>
          </a:solidFill>
        </a:fill>
      </a:tcStyle>
    </a:band1H>
    <a:band2H>
      <a:tcStyle>
        <a:tcBdr/>
      </a:tcStyle>
    </a:band2H>
    <a:band1V>
      <a:tcStyle>
        <a:tcBdr/>
        <a:fill>
          <a:solidFill>
            <a:srgbClr val="CFD7E7"/>
          </a:solidFill>
        </a:fill>
      </a:tcStyle>
    </a:band1V>
    <a:band2V>
      <a:tcStyle>
        <a:tcBdr/>
      </a:tcStyle>
    </a:band2V>
    <a:lastCol>
      <a:tcTxStyle b="on">
        <a:font>
          <a:latin typeface="Calibri"/>
          <a:ea typeface="Calibri"/>
          <a:cs typeface="Calibri"/>
        </a:font>
        <a:schemeClr val="lt1"/>
      </a:tcTxStyle>
      <a:tcStyle>
        <a:tcBdr/>
        <a:fill>
          <a:solidFill>
            <a:schemeClr val="accent1"/>
          </a:solidFill>
        </a:fill>
      </a:tcStyle>
    </a:lastCol>
    <a:firstCol>
      <a:tcTxStyle b="on">
        <a:font>
          <a:latin typeface="Calibri"/>
          <a:ea typeface="Calibri"/>
          <a:cs typeface="Calibri"/>
        </a:font>
        <a:schemeClr val="lt1"/>
      </a:tcTxStyle>
      <a:tcStyle>
        <a:tcBdr/>
        <a:fill>
          <a:solidFill>
            <a:schemeClr val="accent1"/>
          </a:solidFill>
        </a:fill>
      </a:tcStyle>
    </a:firstCol>
    <a:lastRow>
      <a:tcTxStyle b="on">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74"/>
        <p:guide pos="2937"/>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1" Type="http://schemas.openxmlformats.org/officeDocument/2006/relationships/tags" Target="tags/tag50.xml"/><Relationship Id="rId70" Type="http://schemas.openxmlformats.org/officeDocument/2006/relationships/font" Target="fonts/font30.fntdata"/><Relationship Id="rId7" Type="http://schemas.openxmlformats.org/officeDocument/2006/relationships/slide" Target="slides/slide4.xml"/><Relationship Id="rId69" Type="http://schemas.openxmlformats.org/officeDocument/2006/relationships/font" Target="fonts/font29.fntdata"/><Relationship Id="rId68" Type="http://schemas.openxmlformats.org/officeDocument/2006/relationships/font" Target="fonts/font28.fntdata"/><Relationship Id="rId67" Type="http://schemas.openxmlformats.org/officeDocument/2006/relationships/font" Target="fonts/font27.fntdata"/><Relationship Id="rId66" Type="http://schemas.openxmlformats.org/officeDocument/2006/relationships/font" Target="fonts/font26.fntdata"/><Relationship Id="rId65" Type="http://schemas.openxmlformats.org/officeDocument/2006/relationships/font" Target="fonts/font25.fntdata"/><Relationship Id="rId64" Type="http://schemas.openxmlformats.org/officeDocument/2006/relationships/font" Target="fonts/font24.fntdata"/><Relationship Id="rId63" Type="http://schemas.openxmlformats.org/officeDocument/2006/relationships/font" Target="fonts/font23.fntdata"/><Relationship Id="rId62" Type="http://schemas.openxmlformats.org/officeDocument/2006/relationships/font" Target="fonts/font22.fntdata"/><Relationship Id="rId61" Type="http://schemas.openxmlformats.org/officeDocument/2006/relationships/font" Target="fonts/font21.fntdata"/><Relationship Id="rId60" Type="http://schemas.openxmlformats.org/officeDocument/2006/relationships/font" Target="fonts/font20.fntdata"/><Relationship Id="rId6" Type="http://schemas.openxmlformats.org/officeDocument/2006/relationships/slide" Target="slides/slide3.xml"/><Relationship Id="rId59" Type="http://schemas.openxmlformats.org/officeDocument/2006/relationships/font" Target="fonts/font19.fntdata"/><Relationship Id="rId58" Type="http://schemas.openxmlformats.org/officeDocument/2006/relationships/font" Target="fonts/font18.fntdata"/><Relationship Id="rId57" Type="http://schemas.openxmlformats.org/officeDocument/2006/relationships/font" Target="fonts/font17.fntdata"/><Relationship Id="rId56" Type="http://schemas.openxmlformats.org/officeDocument/2006/relationships/font" Target="fonts/font16.fntdata"/><Relationship Id="rId55" Type="http://schemas.openxmlformats.org/officeDocument/2006/relationships/font" Target="fonts/font15.fntdata"/><Relationship Id="rId54" Type="http://schemas.openxmlformats.org/officeDocument/2006/relationships/font" Target="fonts/font14.fntdata"/><Relationship Id="rId53" Type="http://schemas.openxmlformats.org/officeDocument/2006/relationships/font" Target="fonts/font13.fntdata"/><Relationship Id="rId52" Type="http://schemas.openxmlformats.org/officeDocument/2006/relationships/font" Target="fonts/font12.fntdata"/><Relationship Id="rId51" Type="http://schemas.openxmlformats.org/officeDocument/2006/relationships/font" Target="fonts/font11.fntdata"/><Relationship Id="rId50" Type="http://schemas.openxmlformats.org/officeDocument/2006/relationships/font" Target="fonts/font10.fntdata"/><Relationship Id="rId5" Type="http://schemas.openxmlformats.org/officeDocument/2006/relationships/slide" Target="slides/slide2.xml"/><Relationship Id="rId49" Type="http://schemas.openxmlformats.org/officeDocument/2006/relationships/font" Target="fonts/font9.fntdata"/><Relationship Id="rId48" Type="http://schemas.openxmlformats.org/officeDocument/2006/relationships/font" Target="fonts/font8.fntdata"/><Relationship Id="rId47" Type="http://schemas.openxmlformats.org/officeDocument/2006/relationships/font" Target="fonts/font7.fntdata"/><Relationship Id="rId46" Type="http://schemas.openxmlformats.org/officeDocument/2006/relationships/font" Target="fonts/font6.fntdata"/><Relationship Id="rId45" Type="http://schemas.openxmlformats.org/officeDocument/2006/relationships/font" Target="fonts/font5.fntdata"/><Relationship Id="rId44" Type="http://schemas.openxmlformats.org/officeDocument/2006/relationships/font" Target="fonts/font4.fntdata"/><Relationship Id="rId43" Type="http://schemas.openxmlformats.org/officeDocument/2006/relationships/font" Target="fonts/font3.fntdata"/><Relationship Id="rId42" Type="http://schemas.openxmlformats.org/officeDocument/2006/relationships/font" Target="fonts/font2.fntdata"/><Relationship Id="rId41" Type="http://schemas.openxmlformats.org/officeDocument/2006/relationships/font" Target="fonts/font1.fntdata"/><Relationship Id="rId40" Type="http://schemas.openxmlformats.org/officeDocument/2006/relationships/tableStyles" Target="tableStyles.xml"/><Relationship Id="rId4" Type="http://schemas.openxmlformats.org/officeDocument/2006/relationships/notesMaster" Target="notesMasters/notesMaster1.xml"/><Relationship Id="rId39" Type="http://schemas.openxmlformats.org/officeDocument/2006/relationships/viewProps" Target="viewProps.xml"/><Relationship Id="rId38" Type="http://schemas.openxmlformats.org/officeDocument/2006/relationships/presProps" Target="presProps.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p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0" name="Google Shape;100;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0" name="Google Shape;100;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6" name="Google Shape;126;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3" name="Google Shape;20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1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12" name="Google Shape;312;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7" name="Shape 267"/>
        <p:cNvGrpSpPr/>
        <p:nvPr/>
      </p:nvGrpSpPr>
      <p:grpSpPr>
        <a:xfrm>
          <a:off x="0" y="0"/>
          <a:ext cx="0" cy="0"/>
          <a:chOff x="0" y="0"/>
          <a:chExt cx="0" cy="0"/>
        </a:xfrm>
      </p:grpSpPr>
      <p:sp>
        <p:nvSpPr>
          <p:cNvPr id="268" name="Google Shape;268;p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69" name="Google Shape;269;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8" name="Shape 298"/>
        <p:cNvGrpSpPr/>
        <p:nvPr/>
      </p:nvGrpSpPr>
      <p:grpSpPr>
        <a:xfrm>
          <a:off x="0" y="0"/>
          <a:ext cx="0" cy="0"/>
          <a:chOff x="0" y="0"/>
          <a:chExt cx="0" cy="0"/>
        </a:xfrm>
      </p:grpSpPr>
      <p:sp>
        <p:nvSpPr>
          <p:cNvPr id="299" name="Google Shape;299;p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0" name="Google Shape;30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1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39" name="Google Shape;339;p1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1" name="Shape 11"/>
        <p:cNvGrpSpPr/>
        <p:nvPr/>
      </p:nvGrpSpPr>
      <p:grpSpPr>
        <a:xfrm>
          <a:off x="0" y="0"/>
          <a:ext cx="0" cy="0"/>
          <a:chOff x="0" y="0"/>
          <a:chExt cx="0" cy="0"/>
        </a:xfrm>
      </p:grpSpPr>
      <p:sp>
        <p:nvSpPr>
          <p:cNvPr id="12" name="Google Shape;12;p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4"/>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panose="020F0502020204030204"/>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6"/>
          <p:cNvSpPr txBox="1"/>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6"/>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panose="020F0502020204030204"/>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7"/>
          <p:cNvSpPr txBox="1"/>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7"/>
          <p:cNvSpPr txBox="1"/>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7"/>
          <p:cNvSpPr txBox="1"/>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7"/>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57" name="Google Shape;57;p9"/>
          <p:cNvSpPr txBox="1"/>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58" name="Google Shape;58;p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type="pic" idx="2"/>
          </p:nvPr>
        </p:nvSpPr>
        <p:spPr>
          <a:xfrm>
            <a:off x="1792288" y="612775"/>
            <a:ext cx="5486400" cy="4114800"/>
          </a:xfrm>
          <a:prstGeom prst="rect">
            <a:avLst/>
          </a:prstGeom>
          <a:noFill/>
          <a:ln>
            <a:noFill/>
          </a:ln>
        </p:spPr>
      </p:sp>
      <p:sp>
        <p:nvSpPr>
          <p:cNvPr id="64" name="Google Shape;64;p10"/>
          <p:cNvSpPr txBox="1"/>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5" name="Google Shape;65;p10"/>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1" name="Google Shape;71;p1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7" name="Google Shape;77;p1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re et texte">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fr-FR" smtClean="0"/>
              <a:t>Cliquez pour modifier le style du titre du masque</a:t>
            </a:r>
            <a:endParaRPr lang="fr-FR"/>
          </a:p>
        </p:txBody>
      </p:sp>
      <p:sp>
        <p:nvSpPr>
          <p:cNvPr id="3" name="Espace réservé du texte 2"/>
          <p:cNvSpPr>
            <a:spLocks noGrp="1"/>
          </p:cNvSpPr>
          <p:nvPr>
            <p:ph type="body" idx="1" hasCustomPrompt="1"/>
          </p:nvPr>
        </p:nvSpPr>
        <p:spPr/>
        <p:txBody>
          <a:bodyPr/>
          <a:lstStyle/>
          <a:p>
            <a:pPr lvl="0"/>
            <a:r>
              <a:rPr lang="fr-FR" smtClean="0"/>
              <a:t>Cliquez pour modifier les styles du texte du masque</a:t>
            </a:r>
            <a:endParaRPr lang="fr-FR" smtClean="0"/>
          </a:p>
          <a:p>
            <a:pPr lvl="1"/>
            <a:r>
              <a:rPr lang="fr-FR" smtClean="0"/>
              <a:t>Deuxième niveau</a:t>
            </a:r>
            <a:endParaRPr lang="fr-FR" smtClean="0"/>
          </a:p>
          <a:p>
            <a:pPr lvl="2"/>
            <a:r>
              <a:rPr lang="fr-FR" smtClean="0"/>
              <a:t>Troisième niveau</a:t>
            </a:r>
            <a:endParaRPr lang="fr-FR" smtClean="0"/>
          </a:p>
          <a:p>
            <a:pPr lvl="3"/>
            <a:r>
              <a:rPr lang="fr-FR" smtClean="0"/>
              <a:t>Quatrième niveau</a:t>
            </a:r>
            <a:endParaRPr lang="fr-FR" smtClean="0"/>
          </a:p>
          <a:p>
            <a:pPr lvl="4"/>
            <a:r>
              <a:rPr lang="fr-FR" smtClean="0"/>
              <a:t>Cinquième niveau</a:t>
            </a:r>
            <a:endParaRPr lang="fr-FR"/>
          </a:p>
        </p:txBody>
      </p:sp>
      <p:sp>
        <p:nvSpPr>
          <p:cNvPr id="4" name="Espace réservé de la date 3"/>
          <p:cNvSpPr>
            <a:spLocks noGrp="1"/>
          </p:cNvSpPr>
          <p:nvPr>
            <p:ph type="dt" sz="half" idx="10"/>
          </p:nvPr>
        </p:nvSpPr>
        <p:spPr/>
        <p:txBody>
          <a:bodyPr/>
          <a:lstStyle/>
          <a:p/>
        </p:txBody>
      </p:sp>
      <p:sp>
        <p:nvSpPr>
          <p:cNvPr id="5" name="Espace réservé du pied de page 4"/>
          <p:cNvSpPr>
            <a:spLocks noGrp="1"/>
          </p:cNvSpPr>
          <p:nvPr>
            <p:ph type="ftr" sz="quarter" idx="11"/>
          </p:nvPr>
        </p:nvSpPr>
        <p:spPr/>
        <p:txBody>
          <a:bodyPr/>
          <a:lstStyle/>
          <a:p/>
        </p:txBody>
      </p:sp>
      <p:sp>
        <p:nvSpPr>
          <p:cNvPr id="6" name="Espace réservé du numéro de diapositive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_Slide-34_35">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6" name="Title 5"/>
          <p:cNvSpPr>
            <a:spLocks noGrp="1"/>
          </p:cNvSpPr>
          <p:nvPr>
            <p:ph type="ctrTitle" idx="16385" hasCustomPrompt="1"/>
            <p:custDataLst>
              <p:tags r:id="rId2"/>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pPr lvl="0"/>
            <a:r>
              <a:rPr lang="zh-CN" altLang="en-US"/>
              <a:t>Your slide title here</a:t>
            </a:r>
            <a:endParaRPr lang="zh-CN" altLang="en-US"/>
          </a:p>
        </p:txBody>
      </p:sp>
      <p:sp>
        <p:nvSpPr>
          <p:cNvPr id="7" name="Picture Placeholder 6"/>
          <p:cNvSpPr>
            <a:spLocks noGrp="1"/>
          </p:cNvSpPr>
          <p:nvPr>
            <p:ph type="pic" idx="16394" hasCustomPrompt="1"/>
            <p:custDataLst>
              <p:tags r:id="rId3"/>
            </p:custDataLst>
          </p:nvPr>
        </p:nvSpPr>
        <p:spPr>
          <a:xfrm>
            <a:off x="609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8" name="Text Placeholder 7"/>
          <p:cNvSpPr>
            <a:spLocks noGrp="1"/>
          </p:cNvSpPr>
          <p:nvPr>
            <p:ph type="body" idx="16386" hasCustomPrompt="1"/>
            <p:custDataLst>
              <p:tags r:id="rId4"/>
            </p:custDataLst>
          </p:nvPr>
        </p:nvSpPr>
        <p:spPr>
          <a:xfrm>
            <a:off x="1778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9" name="Text Placeholder 8"/>
          <p:cNvSpPr>
            <a:spLocks noGrp="1"/>
          </p:cNvSpPr>
          <p:nvPr>
            <p:ph type="body" idx="16387" hasCustomPrompt="1"/>
            <p:custDataLst>
              <p:tags r:id="rId5"/>
            </p:custDataLst>
          </p:nvPr>
        </p:nvSpPr>
        <p:spPr>
          <a:xfrm>
            <a:off x="1778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0" name="Picture Placeholder 9"/>
          <p:cNvSpPr>
            <a:spLocks noGrp="1"/>
          </p:cNvSpPr>
          <p:nvPr>
            <p:ph type="pic" idx="16395" hasCustomPrompt="1"/>
            <p:custDataLst>
              <p:tags r:id="rId6"/>
            </p:custDataLst>
          </p:nvPr>
        </p:nvSpPr>
        <p:spPr>
          <a:xfrm>
            <a:off x="6324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1" name="Text Placeholder 10"/>
          <p:cNvSpPr>
            <a:spLocks noGrp="1"/>
          </p:cNvSpPr>
          <p:nvPr>
            <p:ph type="body" idx="16388" hasCustomPrompt="1"/>
            <p:custDataLst>
              <p:tags r:id="rId7"/>
            </p:custDataLst>
          </p:nvPr>
        </p:nvSpPr>
        <p:spPr>
          <a:xfrm>
            <a:off x="7493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2" name="Text Placeholder 11"/>
          <p:cNvSpPr>
            <a:spLocks noGrp="1"/>
          </p:cNvSpPr>
          <p:nvPr>
            <p:ph type="body" idx="16389" hasCustomPrompt="1"/>
            <p:custDataLst>
              <p:tags r:id="rId8"/>
            </p:custDataLst>
          </p:nvPr>
        </p:nvSpPr>
        <p:spPr>
          <a:xfrm>
            <a:off x="7493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3" name="Picture Placeholder 12"/>
          <p:cNvSpPr>
            <a:spLocks noGrp="1"/>
          </p:cNvSpPr>
          <p:nvPr>
            <p:ph type="pic" idx="16396" hasCustomPrompt="1"/>
            <p:custDataLst>
              <p:tags r:id="rId9"/>
            </p:custDataLst>
          </p:nvPr>
        </p:nvSpPr>
        <p:spPr>
          <a:xfrm>
            <a:off x="609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Text Placeholder 13"/>
          <p:cNvSpPr>
            <a:spLocks noGrp="1"/>
          </p:cNvSpPr>
          <p:nvPr>
            <p:ph type="body" idx="16390" hasCustomPrompt="1"/>
            <p:custDataLst>
              <p:tags r:id="rId10"/>
            </p:custDataLst>
          </p:nvPr>
        </p:nvSpPr>
        <p:spPr>
          <a:xfrm>
            <a:off x="1778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5" name="Text Placeholder 14"/>
          <p:cNvSpPr>
            <a:spLocks noGrp="1"/>
          </p:cNvSpPr>
          <p:nvPr>
            <p:ph type="body" idx="16391" hasCustomPrompt="1"/>
            <p:custDataLst>
              <p:tags r:id="rId11"/>
            </p:custDataLst>
          </p:nvPr>
        </p:nvSpPr>
        <p:spPr>
          <a:xfrm>
            <a:off x="1778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6" name="Picture Placeholder 15"/>
          <p:cNvSpPr>
            <a:spLocks noGrp="1"/>
          </p:cNvSpPr>
          <p:nvPr>
            <p:ph type="pic" idx="16397" hasCustomPrompt="1"/>
            <p:custDataLst>
              <p:tags r:id="rId12"/>
            </p:custDataLst>
          </p:nvPr>
        </p:nvSpPr>
        <p:spPr>
          <a:xfrm>
            <a:off x="6324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7" name="Text Placeholder 16"/>
          <p:cNvSpPr>
            <a:spLocks noGrp="1"/>
          </p:cNvSpPr>
          <p:nvPr>
            <p:ph type="body" idx="16392" hasCustomPrompt="1"/>
            <p:custDataLst>
              <p:tags r:id="rId13"/>
            </p:custDataLst>
          </p:nvPr>
        </p:nvSpPr>
        <p:spPr>
          <a:xfrm>
            <a:off x="7493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8" name="Text Placeholder 17"/>
          <p:cNvSpPr>
            <a:spLocks noGrp="1"/>
          </p:cNvSpPr>
          <p:nvPr>
            <p:ph type="body" idx="16393" hasCustomPrompt="1"/>
            <p:custDataLst>
              <p:tags r:id="rId14"/>
            </p:custDataLst>
          </p:nvPr>
        </p:nvSpPr>
        <p:spPr>
          <a:xfrm>
            <a:off x="7493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604020202020204"/>
              <a:buChar char="•"/>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406400" algn="l" rtl="0">
              <a:spcBef>
                <a:spcPts val="56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81000" algn="l" rtl="0">
              <a:spcBef>
                <a:spcPts val="48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tags" Target="../tags/tag14.xml"/></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2.xml"/><Relationship Id="rId7"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tags" Target="../tags/tag15.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tags" Target="../tags/tag16.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4.xml"/><Relationship Id="rId7"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1.jpeg"/><Relationship Id="rId1" Type="http://schemas.openxmlformats.org/officeDocument/2006/relationships/tags" Target="../tags/tag17.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1.jpeg"/><Relationship Id="rId1" Type="http://schemas.openxmlformats.org/officeDocument/2006/relationships/tags" Target="../tags/tag18.xml"/></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tags" Target="../tags/tag19.xml"/></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tags" Target="../tags/tag20.xml"/></Relationships>
</file>

<file path=ppt/slides/_rels/slide8.xml.rels><?xml version="1.0" encoding="UTF-8" standalone="yes"?>
<Relationships xmlns="http://schemas.openxmlformats.org/package/2006/relationships"><Relationship Id="rId7" Type="http://schemas.openxmlformats.org/officeDocument/2006/relationships/notesSlide" Target="../notesSlides/notesSlide8.xml"/><Relationship Id="rId6"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tags" Target="../tags/tag21.xml"/></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1.jpeg"/><Relationship Id="rId1" Type="http://schemas.openxmlformats.org/officeDocument/2006/relationships/tags" Target="../tags/tag22.xml"/></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19.png"/><Relationship Id="rId2" Type="http://schemas.openxmlformats.org/officeDocument/2006/relationships/image" Target="../media/image1.jpeg"/><Relationship Id="rId1" Type="http://schemas.openxmlformats.org/officeDocument/2006/relationships/tags" Target="../tags/tag23.xml"/></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1.jpeg"/><Relationship Id="rId1" Type="http://schemas.openxmlformats.org/officeDocument/2006/relationships/tags" Target="../tags/tag24.xml"/></Relationships>
</file>

<file path=ppt/slides/_rels/slide12.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5.png"/><Relationship Id="rId7" Type="http://schemas.openxmlformats.org/officeDocument/2006/relationships/image" Target="../media/image24.png"/><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3" Type="http://schemas.openxmlformats.org/officeDocument/2006/relationships/image" Target="../media/image20.png"/><Relationship Id="rId2" Type="http://schemas.openxmlformats.org/officeDocument/2006/relationships/image" Target="../media/image1.jpeg"/><Relationship Id="rId10" Type="http://schemas.openxmlformats.org/officeDocument/2006/relationships/notesSlide" Target="../notesSlides/notesSlide12.xml"/><Relationship Id="rId1" Type="http://schemas.openxmlformats.org/officeDocument/2006/relationships/tags" Target="../tags/tag25.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jpeg"/><Relationship Id="rId1" Type="http://schemas.openxmlformats.org/officeDocument/2006/relationships/tags" Target="../tags/tag26.xml"/></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26.png"/><Relationship Id="rId2" Type="http://schemas.openxmlformats.org/officeDocument/2006/relationships/image" Target="../media/image1.jpeg"/><Relationship Id="rId1" Type="http://schemas.openxmlformats.org/officeDocument/2006/relationships/tags" Target="../tags/tag27.xml"/></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xml"/><Relationship Id="rId4" Type="http://schemas.openxmlformats.org/officeDocument/2006/relationships/image" Target="../media/image28.png"/><Relationship Id="rId3" Type="http://schemas.openxmlformats.org/officeDocument/2006/relationships/image" Target="../media/image1.jpeg"/><Relationship Id="rId2" Type="http://schemas.openxmlformats.org/officeDocument/2006/relationships/tags" Target="../tags/tag28.xml"/><Relationship Id="rId1" Type="http://schemas.openxmlformats.org/officeDocument/2006/relationships/image" Target="../media/image27.png"/></Relationships>
</file>

<file path=ppt/slides/_rels/slide16.xml.rels><?xml version="1.0" encoding="UTF-8" standalone="yes"?>
<Relationships xmlns="http://schemas.openxmlformats.org/package/2006/relationships"><Relationship Id="rId8" Type="http://schemas.openxmlformats.org/officeDocument/2006/relationships/notesSlide" Target="../notesSlides/notesSlide14.xml"/><Relationship Id="rId7"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1.jpeg"/><Relationship Id="rId1" Type="http://schemas.openxmlformats.org/officeDocument/2006/relationships/tags" Target="../tags/tag29.xml"/></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3.png"/><Relationship Id="rId2" Type="http://schemas.openxmlformats.org/officeDocument/2006/relationships/image" Target="../media/image1.jpeg"/><Relationship Id="rId1" Type="http://schemas.openxmlformats.org/officeDocument/2006/relationships/tags" Target="../tags/tag30.xml"/></Relationships>
</file>

<file path=ppt/slides/_rels/slide18.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34.png"/><Relationship Id="rId3" Type="http://schemas.openxmlformats.org/officeDocument/2006/relationships/image" Target="../media/image27.png"/><Relationship Id="rId2" Type="http://schemas.openxmlformats.org/officeDocument/2006/relationships/image" Target="../media/image1.jpeg"/><Relationship Id="rId1" Type="http://schemas.openxmlformats.org/officeDocument/2006/relationships/tags" Target="../tags/tag31.xml"/></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5.png"/><Relationship Id="rId2" Type="http://schemas.openxmlformats.org/officeDocument/2006/relationships/image" Target="../media/image1.jpeg"/><Relationship Id="rId1" Type="http://schemas.openxmlformats.org/officeDocument/2006/relationships/tags" Target="../tags/tag32.xml"/></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6.png"/><Relationship Id="rId2" Type="http://schemas.openxmlformats.org/officeDocument/2006/relationships/image" Target="../media/image1.jpeg"/><Relationship Id="rId1" Type="http://schemas.openxmlformats.org/officeDocument/2006/relationships/tags" Target="../tags/tag33.xml"/></Relationships>
</file>

<file path=ppt/slides/_rels/slide21.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37.png"/><Relationship Id="rId3" Type="http://schemas.openxmlformats.org/officeDocument/2006/relationships/image" Target="../media/image27.png"/><Relationship Id="rId2" Type="http://schemas.openxmlformats.org/officeDocument/2006/relationships/image" Target="../media/image1.jpeg"/><Relationship Id="rId1" Type="http://schemas.openxmlformats.org/officeDocument/2006/relationships/tags" Target="../tags/tag34.xml"/></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8.png"/><Relationship Id="rId2" Type="http://schemas.openxmlformats.org/officeDocument/2006/relationships/image" Target="../media/image1.jpeg"/><Relationship Id="rId1" Type="http://schemas.openxmlformats.org/officeDocument/2006/relationships/tags" Target="../tags/tag35.xml"/></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9.png"/><Relationship Id="rId2" Type="http://schemas.openxmlformats.org/officeDocument/2006/relationships/image" Target="../media/image1.jpeg"/><Relationship Id="rId1" Type="http://schemas.openxmlformats.org/officeDocument/2006/relationships/tags" Target="../tags/tag36.xml"/></Relationships>
</file>

<file path=ppt/slides/_rels/slide2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0.png"/><Relationship Id="rId2" Type="http://schemas.openxmlformats.org/officeDocument/2006/relationships/image" Target="../media/image1.jpeg"/><Relationship Id="rId1" Type="http://schemas.openxmlformats.org/officeDocument/2006/relationships/tags" Target="../tags/tag37.xml"/></Relationships>
</file>

<file path=ppt/slides/_rels/slide25.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1.png"/><Relationship Id="rId2" Type="http://schemas.openxmlformats.org/officeDocument/2006/relationships/image" Target="../media/image1.jpeg"/><Relationship Id="rId1" Type="http://schemas.openxmlformats.org/officeDocument/2006/relationships/tags" Target="../tags/tag38.xml"/></Relationships>
</file>

<file path=ppt/slides/_rels/slide26.xml.rels><?xml version="1.0" encoding="UTF-8" standalone="yes"?>
<Relationships xmlns="http://schemas.openxmlformats.org/package/2006/relationships"><Relationship Id="rId9" Type="http://schemas.openxmlformats.org/officeDocument/2006/relationships/image" Target="../media/image48.png"/><Relationship Id="rId8" Type="http://schemas.openxmlformats.org/officeDocument/2006/relationships/image" Target="../media/image47.png"/><Relationship Id="rId7" Type="http://schemas.openxmlformats.org/officeDocument/2006/relationships/image" Target="../media/image46.png"/><Relationship Id="rId6" Type="http://schemas.openxmlformats.org/officeDocument/2006/relationships/image" Target="../media/image45.png"/><Relationship Id="rId5" Type="http://schemas.openxmlformats.org/officeDocument/2006/relationships/image" Target="../media/image44.jpeg"/><Relationship Id="rId4" Type="http://schemas.openxmlformats.org/officeDocument/2006/relationships/image" Target="../media/image43.png"/><Relationship Id="rId3" Type="http://schemas.openxmlformats.org/officeDocument/2006/relationships/image" Target="../media/image42.png"/><Relationship Id="rId2" Type="http://schemas.openxmlformats.org/officeDocument/2006/relationships/image" Target="../media/image1.jpeg"/><Relationship Id="rId11" Type="http://schemas.openxmlformats.org/officeDocument/2006/relationships/notesSlide" Target="../notesSlides/notesSlide15.xml"/><Relationship Id="rId10" Type="http://schemas.openxmlformats.org/officeDocument/2006/relationships/slideLayout" Target="../slideLayouts/slideLayout1.xml"/><Relationship Id="rId1" Type="http://schemas.openxmlformats.org/officeDocument/2006/relationships/tags" Target="../tags/tag39.xml"/></Relationships>
</file>

<file path=ppt/slides/_rels/slide27.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1.xml"/><Relationship Id="rId3" Type="http://schemas.openxmlformats.org/officeDocument/2006/relationships/image" Target="../media/image49.png"/><Relationship Id="rId2" Type="http://schemas.openxmlformats.org/officeDocument/2006/relationships/image" Target="../media/image1.jpeg"/><Relationship Id="rId1" Type="http://schemas.openxmlformats.org/officeDocument/2006/relationships/tags" Target="../tags/tag40.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jpeg"/><Relationship Id="rId1" Type="http://schemas.openxmlformats.org/officeDocument/2006/relationships/tags" Target="../tags/tag41.xml"/></Relationships>
</file>

<file path=ppt/slides/_rels/slide2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50.png"/><Relationship Id="rId2" Type="http://schemas.openxmlformats.org/officeDocument/2006/relationships/image" Target="../media/image1.jpeg"/><Relationship Id="rId1" Type="http://schemas.openxmlformats.org/officeDocument/2006/relationships/tags" Target="../tags/tag42.xml"/></Relationships>
</file>

<file path=ppt/slides/_rels/slide30.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51.png"/><Relationship Id="rId2" Type="http://schemas.openxmlformats.org/officeDocument/2006/relationships/image" Target="../media/image1.jpeg"/><Relationship Id="rId1" Type="http://schemas.openxmlformats.org/officeDocument/2006/relationships/tags" Target="../tags/tag43.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jpeg"/><Relationship Id="rId1" Type="http://schemas.openxmlformats.org/officeDocument/2006/relationships/tags" Target="../tags/tag44.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jpeg"/><Relationship Id="rId1" Type="http://schemas.openxmlformats.org/officeDocument/2006/relationships/tags" Target="../tags/tag45.xml"/></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tags" Target="../tags/tag48.xml"/><Relationship Id="rId5" Type="http://schemas.openxmlformats.org/officeDocument/2006/relationships/image" Target="../media/image53.svg"/><Relationship Id="rId4" Type="http://schemas.openxmlformats.org/officeDocument/2006/relationships/image" Target="../media/image52.png"/><Relationship Id="rId3" Type="http://schemas.openxmlformats.org/officeDocument/2006/relationships/tags" Target="../tags/tag47.xml"/><Relationship Id="rId2" Type="http://schemas.openxmlformats.org/officeDocument/2006/relationships/image" Target="../media/image1.jpeg"/><Relationship Id="rId1" Type="http://schemas.openxmlformats.org/officeDocument/2006/relationships/tags" Target="../tags/tag46.xml"/></Relationships>
</file>

<file path=ppt/slides/_rels/slide34.xml.rels><?xml version="1.0" encoding="UTF-8" standalone="yes"?>
<Relationships xmlns="http://schemas.openxmlformats.org/package/2006/relationships"><Relationship Id="rId5" Type="http://schemas.openxmlformats.org/officeDocument/2006/relationships/notesSlide" Target="../notesSlides/notesSlide17.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tags" Target="../tags/tag4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83" name="Shape 83"/>
        <p:cNvGrpSpPr/>
        <p:nvPr/>
      </p:nvGrpSpPr>
      <p:grpSpPr>
        <a:xfrm>
          <a:off x="0" y="0"/>
          <a:ext cx="0" cy="0"/>
          <a:chOff x="0" y="0"/>
          <a:chExt cx="0" cy="0"/>
        </a:xfrm>
      </p:grpSpPr>
      <p:pic>
        <p:nvPicPr>
          <p:cNvPr id="84" name="Google Shape;84;p13" descr="Empty office hall"/>
          <p:cNvPicPr preferRelativeResize="0"/>
          <p:nvPr>
            <p:custDataLst>
              <p:tags r:id="rId1"/>
            </p:custDataLst>
          </p:nvPr>
        </p:nvPicPr>
        <p:blipFill rotWithShape="1">
          <a:blip r:embed="rId2"/>
          <a:srcRect t="7802" b="7802"/>
          <a:stretch>
            <a:fillRect/>
          </a:stretch>
        </p:blipFill>
        <p:spPr>
          <a:xfrm>
            <a:off x="0" y="15240"/>
            <a:ext cx="12192000" cy="6858000"/>
          </a:xfrm>
          <a:prstGeom prst="rect">
            <a:avLst/>
          </a:prstGeom>
          <a:noFill/>
          <a:ln>
            <a:noFill/>
          </a:ln>
        </p:spPr>
      </p:pic>
      <p:pic>
        <p:nvPicPr>
          <p:cNvPr id="85" name="Google Shape;85;p13" descr="image.png"/>
          <p:cNvPicPr preferRelativeResize="0"/>
          <p:nvPr/>
        </p:nvPicPr>
        <p:blipFill rotWithShape="1">
          <a:blip r:embed="rId3"/>
          <a:srcRect/>
          <a:stretch>
            <a:fillRect/>
          </a:stretch>
        </p:blipFill>
        <p:spPr>
          <a:xfrm>
            <a:off x="713740" y="4981575"/>
            <a:ext cx="10621010" cy="1416685"/>
          </a:xfrm>
          <a:prstGeom prst="rect">
            <a:avLst/>
          </a:prstGeom>
          <a:noFill/>
          <a:ln>
            <a:noFill/>
          </a:ln>
        </p:spPr>
      </p:pic>
      <p:pic>
        <p:nvPicPr>
          <p:cNvPr id="86" name="Google Shape;86;p13" descr="image.png"/>
          <p:cNvPicPr preferRelativeResize="0"/>
          <p:nvPr/>
        </p:nvPicPr>
        <p:blipFill rotWithShape="1">
          <a:blip r:embed="rId4">
            <a:alphaModFix amt="40000"/>
          </a:blip>
          <a:srcRect/>
          <a:stretch>
            <a:fillRect/>
          </a:stretch>
        </p:blipFill>
        <p:spPr>
          <a:xfrm>
            <a:off x="2165985" y="5326380"/>
            <a:ext cx="3417570" cy="873125"/>
          </a:xfrm>
          <a:prstGeom prst="rect">
            <a:avLst/>
          </a:prstGeom>
          <a:noFill/>
          <a:ln>
            <a:noFill/>
          </a:ln>
        </p:spPr>
      </p:pic>
      <p:pic>
        <p:nvPicPr>
          <p:cNvPr id="87" name="Google Shape;87;p13" descr="image.png"/>
          <p:cNvPicPr preferRelativeResize="0"/>
          <p:nvPr/>
        </p:nvPicPr>
        <p:blipFill rotWithShape="1">
          <a:blip r:embed="rId4">
            <a:alphaModFix amt="40000"/>
          </a:blip>
          <a:srcRect/>
          <a:stretch>
            <a:fillRect/>
          </a:stretch>
        </p:blipFill>
        <p:spPr>
          <a:xfrm>
            <a:off x="7259955" y="5261610"/>
            <a:ext cx="3527425" cy="1121410"/>
          </a:xfrm>
          <a:prstGeom prst="rect">
            <a:avLst/>
          </a:prstGeom>
          <a:noFill/>
          <a:ln>
            <a:noFill/>
          </a:ln>
        </p:spPr>
      </p:pic>
      <p:sp>
        <p:nvSpPr>
          <p:cNvPr id="89" name="Google Shape;89;p13"/>
          <p:cNvSpPr txBox="1"/>
          <p:nvPr/>
        </p:nvSpPr>
        <p:spPr>
          <a:xfrm>
            <a:off x="2025015" y="1120775"/>
            <a:ext cx="7778115" cy="10255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36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SOUTENANCE DE </a:t>
            </a:r>
            <a:r>
              <a:rPr lang="fr-FR" altLang="en-US" sz="36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MEMOIRE</a:t>
            </a:r>
            <a:endParaRPr lang="fr-FR" altLang="en-US" sz="36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a:p>
            <a:pPr marL="0" marR="0" lvl="0" indent="0" algn="ctr" rtl="0">
              <a:spcBef>
                <a:spcPts val="0"/>
              </a:spcBef>
              <a:spcAft>
                <a:spcPts val="0"/>
              </a:spcAft>
              <a:buNone/>
            </a:pPr>
            <a:r>
              <a:rPr lang="fr-FR" altLang="en-US" sz="36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LICENCE GENIE LOGICIEL</a:t>
            </a:r>
            <a:endParaRPr lang="fr-FR" altLang="en-US" sz="36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0" name="Google Shape;90;p13"/>
          <p:cNvSpPr txBox="1"/>
          <p:nvPr/>
        </p:nvSpPr>
        <p:spPr>
          <a:xfrm>
            <a:off x="1095375" y="2742565"/>
            <a:ext cx="9504045" cy="1483995"/>
          </a:xfrm>
          <a:prstGeom prst="rect">
            <a:avLst/>
          </a:prstGeom>
          <a:noFill/>
          <a:ln>
            <a:noFill/>
          </a:ln>
        </p:spPr>
        <p:txBody>
          <a:bodyPr spcFirstLastPara="1" wrap="square" lIns="0" tIns="0" rIns="0" bIns="0" anchor="t" anchorCtr="0">
            <a:noAutofit/>
          </a:bodyPr>
          <a:lstStyle/>
          <a:p>
            <a:pPr marL="0" marR="0" lvl="0" indent="0" algn="ctr" rtl="0">
              <a:lnSpc>
                <a:spcPct val="125000"/>
              </a:lnSpc>
              <a:spcBef>
                <a:spcPts val="0"/>
              </a:spcBef>
              <a:spcAft>
                <a:spcPts val="0"/>
              </a:spcAft>
              <a:buNone/>
            </a:pPr>
            <a:r>
              <a:rPr lang="en-US" sz="3150" b="1" i="0" u="none" strike="noStrike" cap="none">
                <a:solidFill>
                  <a:schemeClr val="tx1"/>
                </a:solidFill>
                <a:latin typeface="Times New Roman" panose="02020603050405020304" charset="0"/>
                <a:ea typeface="Poppins" panose="00000500000000000000"/>
                <a:cs typeface="Times New Roman" panose="02020603050405020304" charset="0"/>
                <a:sym typeface="Poppins" panose="00000500000000000000"/>
              </a:rPr>
              <a:t>Plateforme Web &amp; Mobile de Gestion des Biens Immobiliers Résidentiels</a:t>
            </a:r>
            <a:endParaRPr lang="en-US" sz="3150" b="1" i="0" u="none" strike="noStrike" cap="none">
              <a:solidFill>
                <a:schemeClr val="tx1"/>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91" name="Google Shape;91;p13"/>
          <p:cNvSpPr txBox="1"/>
          <p:nvPr/>
        </p:nvSpPr>
        <p:spPr>
          <a:xfrm>
            <a:off x="1085850" y="4040505"/>
            <a:ext cx="9363075" cy="60896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2000" b="1" i="0" u="none" strike="noStrike" cap="none">
                <a:solidFill>
                  <a:schemeClr val="tx1"/>
                </a:solidFill>
                <a:latin typeface="Times New Roman" panose="02020603050405020304" charset="0"/>
                <a:ea typeface="Lato Light" panose="020F0502020204030203"/>
                <a:cs typeface="Times New Roman" panose="02020603050405020304" charset="0"/>
                <a:sym typeface="Lato Light" panose="020F0502020204030203"/>
              </a:rPr>
              <a:t>Cas des </a:t>
            </a:r>
            <a:r>
              <a:rPr lang="en-US" sz="2000" b="1" i="0" u="none" strike="noStrike" cap="none">
                <a:solidFill>
                  <a:schemeClr val="tx1"/>
                </a:solidFill>
                <a:latin typeface="Times New Roman" panose="02020603050405020304" charset="0"/>
                <a:ea typeface="Lato Light" panose="020F0502020204030203"/>
                <a:cs typeface="Times New Roman" panose="02020603050405020304" charset="0"/>
                <a:sym typeface="Lato Light" panose="020F0502020204030203"/>
              </a:rPr>
              <a:t>Cours Communes</a:t>
            </a:r>
            <a:endParaRPr lang="en-US" sz="2000" b="1" i="0" u="none" strike="noStrike" cap="none">
              <a:solidFill>
                <a:schemeClr val="tx1"/>
              </a:solidFill>
              <a:latin typeface="Times New Roman" panose="02020603050405020304" charset="0"/>
              <a:ea typeface="Lato Light" panose="020F0502020204030203"/>
              <a:cs typeface="Times New Roman" panose="02020603050405020304" charset="0"/>
              <a:sym typeface="Lato Light" panose="020F0502020204030203"/>
            </a:endParaRPr>
          </a:p>
        </p:txBody>
      </p:sp>
      <p:sp>
        <p:nvSpPr>
          <p:cNvPr id="92" name="Google Shape;92;p13"/>
          <p:cNvSpPr txBox="1"/>
          <p:nvPr/>
        </p:nvSpPr>
        <p:spPr>
          <a:xfrm>
            <a:off x="2394585" y="5469255"/>
            <a:ext cx="2960370"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rPr>
              <a:t>PRÉSENTÉ PAR</a:t>
            </a:r>
            <a:endParaRPr lang="en-US" sz="16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3" name="Google Shape;93;p13"/>
          <p:cNvSpPr txBox="1"/>
          <p:nvPr/>
        </p:nvSpPr>
        <p:spPr>
          <a:xfrm>
            <a:off x="2394585" y="5707380"/>
            <a:ext cx="2819400" cy="3073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GBANDI WAKE</a:t>
            </a:r>
            <a:endPar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4" name="Google Shape;94;p13"/>
          <p:cNvSpPr txBox="1"/>
          <p:nvPr/>
        </p:nvSpPr>
        <p:spPr>
          <a:xfrm>
            <a:off x="7629525" y="5404485"/>
            <a:ext cx="2960370"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rPr>
              <a:t>SOUS LA DIRECTION DE</a:t>
            </a:r>
            <a:endParaRPr lang="en-US" sz="16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5" name="Google Shape;95;p13"/>
          <p:cNvSpPr txBox="1"/>
          <p:nvPr/>
        </p:nvSpPr>
        <p:spPr>
          <a:xfrm>
            <a:off x="7629525" y="5642610"/>
            <a:ext cx="2819400" cy="61531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M. SHABAN Abdoulatif </a:t>
            </a:r>
            <a:br>
              <a:rPr lang="en-US" sz="2000" b="1" i="0" u="none" strike="noStrike" cap="none">
                <a:solidFill>
                  <a:schemeClr val="tx1"/>
                </a:solidFill>
                <a:latin typeface="Times New Roman" panose="02020603050405020304" charset="0"/>
                <a:ea typeface="Calibri" panose="020F0502020204030204"/>
                <a:cs typeface="Times New Roman" panose="02020603050405020304" charset="0"/>
                <a:sym typeface="Calibri" panose="020F0502020204030204"/>
              </a:rPr>
            </a:br>
            <a:r>
              <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Ingénieur Logiciel</a:t>
            </a:r>
            <a:endPar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2" name="Image 1" descr="WPS Photos(1)"/>
          <p:cNvPicPr>
            <a:picLocks noChangeAspect="1"/>
          </p:cNvPicPr>
          <p:nvPr/>
        </p:nvPicPr>
        <p:blipFill>
          <a:blip r:embed="rId5"/>
          <a:stretch>
            <a:fillRect/>
          </a:stretch>
        </p:blipFill>
        <p:spPr>
          <a:xfrm>
            <a:off x="9803130" y="0"/>
            <a:ext cx="2388870" cy="91757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01" name="Shape 101"/>
        <p:cNvGrpSpPr/>
        <p:nvPr/>
      </p:nvGrpSpPr>
      <p:grpSpPr>
        <a:xfrm>
          <a:off x="0" y="0"/>
          <a:ext cx="0" cy="0"/>
          <a:chOff x="0" y="0"/>
          <a:chExt cx="0" cy="0"/>
        </a:xfrm>
      </p:grpSpPr>
      <p:pic>
        <p:nvPicPr>
          <p:cNvPr id="102" name="Google Shape;102;p14"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pic>
        <p:nvPicPr>
          <p:cNvPr id="103" name="Google Shape;103;p14" descr="image.png"/>
          <p:cNvPicPr preferRelativeResize="0"/>
          <p:nvPr/>
        </p:nvPicPr>
        <p:blipFill rotWithShape="1">
          <a:blip r:embed="rId3"/>
          <a:srcRect/>
          <a:stretch>
            <a:fillRect/>
          </a:stretch>
        </p:blipFill>
        <p:spPr>
          <a:xfrm>
            <a:off x="1809750" y="3248025"/>
            <a:ext cx="2730400" cy="1114425"/>
          </a:xfrm>
          <a:prstGeom prst="rect">
            <a:avLst/>
          </a:prstGeom>
          <a:noFill/>
          <a:ln>
            <a:noFill/>
          </a:ln>
        </p:spPr>
      </p:pic>
      <p:pic>
        <p:nvPicPr>
          <p:cNvPr id="104" name="Google Shape;104;p14" descr="image.png"/>
          <p:cNvPicPr preferRelativeResize="0"/>
          <p:nvPr/>
        </p:nvPicPr>
        <p:blipFill rotWithShape="1">
          <a:blip r:embed="rId4"/>
          <a:srcRect/>
          <a:stretch>
            <a:fillRect/>
          </a:stretch>
        </p:blipFill>
        <p:spPr>
          <a:xfrm>
            <a:off x="4730650" y="3248025"/>
            <a:ext cx="2730549" cy="1114425"/>
          </a:xfrm>
          <a:prstGeom prst="rect">
            <a:avLst/>
          </a:prstGeom>
          <a:noFill/>
          <a:ln>
            <a:noFill/>
          </a:ln>
        </p:spPr>
      </p:pic>
      <p:pic>
        <p:nvPicPr>
          <p:cNvPr id="105" name="Google Shape;105;p14" descr="image.png"/>
          <p:cNvPicPr preferRelativeResize="0"/>
          <p:nvPr/>
        </p:nvPicPr>
        <p:blipFill rotWithShape="1">
          <a:blip r:embed="rId3"/>
          <a:srcRect/>
          <a:stretch>
            <a:fillRect/>
          </a:stretch>
        </p:blipFill>
        <p:spPr>
          <a:xfrm>
            <a:off x="7651700" y="3248025"/>
            <a:ext cx="2730400" cy="1114425"/>
          </a:xfrm>
          <a:prstGeom prst="rect">
            <a:avLst/>
          </a:prstGeom>
          <a:noFill/>
          <a:ln>
            <a:noFill/>
          </a:ln>
        </p:spPr>
      </p:pic>
      <p:pic>
        <p:nvPicPr>
          <p:cNvPr id="106" name="Google Shape;106;p14" descr="image.png"/>
          <p:cNvPicPr preferRelativeResize="0"/>
          <p:nvPr/>
        </p:nvPicPr>
        <p:blipFill rotWithShape="1">
          <a:blip r:embed="rId5"/>
          <a:srcRect/>
          <a:stretch>
            <a:fillRect/>
          </a:stretch>
        </p:blipFill>
        <p:spPr>
          <a:xfrm>
            <a:off x="1809750" y="4552950"/>
            <a:ext cx="2730400" cy="942975"/>
          </a:xfrm>
          <a:prstGeom prst="rect">
            <a:avLst/>
          </a:prstGeom>
          <a:noFill/>
          <a:ln>
            <a:noFill/>
          </a:ln>
        </p:spPr>
      </p:pic>
      <p:pic>
        <p:nvPicPr>
          <p:cNvPr id="107" name="Google Shape;107;p14" descr="image.png"/>
          <p:cNvPicPr preferRelativeResize="0"/>
          <p:nvPr/>
        </p:nvPicPr>
        <p:blipFill rotWithShape="1">
          <a:blip r:embed="rId6"/>
          <a:srcRect/>
          <a:stretch>
            <a:fillRect/>
          </a:stretch>
        </p:blipFill>
        <p:spPr>
          <a:xfrm>
            <a:off x="4730650" y="4552950"/>
            <a:ext cx="2730549" cy="942975"/>
          </a:xfrm>
          <a:prstGeom prst="rect">
            <a:avLst/>
          </a:prstGeom>
          <a:noFill/>
          <a:ln>
            <a:noFill/>
          </a:ln>
        </p:spPr>
      </p:pic>
      <p:pic>
        <p:nvPicPr>
          <p:cNvPr id="108" name="Google Shape;108;p14" descr="image.png"/>
          <p:cNvPicPr preferRelativeResize="0"/>
          <p:nvPr/>
        </p:nvPicPr>
        <p:blipFill rotWithShape="1">
          <a:blip r:embed="rId5"/>
          <a:srcRect/>
          <a:stretch>
            <a:fillRect/>
          </a:stretch>
        </p:blipFill>
        <p:spPr>
          <a:xfrm>
            <a:off x="7651700" y="4552950"/>
            <a:ext cx="2730400" cy="942975"/>
          </a:xfrm>
          <a:prstGeom prst="rect">
            <a:avLst/>
          </a:prstGeom>
          <a:noFill/>
          <a:ln>
            <a:noFill/>
          </a:ln>
        </p:spPr>
      </p:pic>
      <p:sp>
        <p:nvSpPr>
          <p:cNvPr id="109" name="Google Shape;109;p14"/>
          <p:cNvSpPr/>
          <p:nvPr/>
        </p:nvSpPr>
        <p:spPr>
          <a:xfrm>
            <a:off x="5715000" y="1362075"/>
            <a:ext cx="762000" cy="38100"/>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000" b="1" i="0" u="none" strike="noStrike" cap="none">
              <a:solidFill>
                <a:schemeClr val="tx1"/>
              </a:solidFill>
              <a:latin typeface="Calibri" panose="020F0502020204030204"/>
              <a:ea typeface="Calibri" panose="020F0502020204030204"/>
              <a:cs typeface="Calibri" panose="020F0502020204030204"/>
              <a:sym typeface="Calibri" panose="020F0502020204030204"/>
            </a:endParaRPr>
          </a:p>
        </p:txBody>
      </p:sp>
      <p:sp>
        <p:nvSpPr>
          <p:cNvPr id="110" name="Google Shape;110;p14"/>
          <p:cNvSpPr txBox="1"/>
          <p:nvPr/>
        </p:nvSpPr>
        <p:spPr>
          <a:xfrm>
            <a:off x="3395662" y="1638300"/>
            <a:ext cx="5400675" cy="738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48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rPr>
              <a:t>Plan</a:t>
            </a:r>
            <a:endParaRPr lang="fr-FR" altLang="en-US" sz="48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12" name="Google Shape;112;p14"/>
          <p:cNvSpPr txBox="1"/>
          <p:nvPr/>
        </p:nvSpPr>
        <p:spPr>
          <a:xfrm>
            <a:off x="2760980" y="2893695"/>
            <a:ext cx="69977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400" b="1" i="0" u="none" strike="noStrike" cap="none">
                <a:solidFill>
                  <a:schemeClr val="tx1"/>
                </a:solidFill>
                <a:latin typeface="Lato" panose="020F0502020204030203"/>
                <a:ea typeface="Lato" panose="020F0502020204030203"/>
                <a:cs typeface="Lato" panose="020F0502020204030203"/>
                <a:sym typeface="Lato" panose="020F0502020204030203"/>
              </a:rPr>
              <a:t>01</a:t>
            </a:r>
            <a:endParaRPr lang="en-US" sz="24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113" name="Google Shape;113;p14"/>
          <p:cNvSpPr txBox="1"/>
          <p:nvPr/>
        </p:nvSpPr>
        <p:spPr>
          <a:xfrm>
            <a:off x="1914525" y="3248025"/>
            <a:ext cx="2331085" cy="69088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Introduction &amp; </a:t>
            </a:r>
            <a:r>
              <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Contexte</a:t>
            </a:r>
            <a:endPar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4" name="Google Shape;114;p14"/>
          <p:cNvSpPr txBox="1"/>
          <p:nvPr/>
        </p:nvSpPr>
        <p:spPr>
          <a:xfrm>
            <a:off x="5848350" y="2876550"/>
            <a:ext cx="533400" cy="20891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400" b="1" i="0" u="none" strike="noStrike" cap="none">
                <a:solidFill>
                  <a:schemeClr val="tx1"/>
                </a:solidFill>
                <a:latin typeface="Lato" panose="020F0502020204030203"/>
                <a:ea typeface="Lato" panose="020F0502020204030203"/>
                <a:cs typeface="Lato" panose="020F0502020204030203"/>
                <a:sym typeface="Lato" panose="020F0502020204030203"/>
              </a:rPr>
              <a:t>02</a:t>
            </a:r>
            <a:endParaRPr lang="en-US" sz="24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115" name="Google Shape;115;p14"/>
          <p:cNvSpPr txBox="1"/>
          <p:nvPr/>
        </p:nvSpPr>
        <p:spPr>
          <a:xfrm>
            <a:off x="4935220" y="3248025"/>
            <a:ext cx="2330450" cy="3886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Problématique</a:t>
            </a:r>
            <a:endPar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6" name="Google Shape;116;p14"/>
          <p:cNvSpPr txBox="1"/>
          <p:nvPr/>
        </p:nvSpPr>
        <p:spPr>
          <a:xfrm>
            <a:off x="8769350" y="2876550"/>
            <a:ext cx="52578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400" b="1" i="0" u="none" strike="noStrike" cap="none">
                <a:solidFill>
                  <a:schemeClr val="tx1"/>
                </a:solidFill>
                <a:latin typeface="Lato" panose="020F0502020204030203"/>
                <a:ea typeface="Lato" panose="020F0502020204030203"/>
                <a:cs typeface="Lato" panose="020F0502020204030203"/>
                <a:sym typeface="Lato" panose="020F0502020204030203"/>
              </a:rPr>
              <a:t>03</a:t>
            </a:r>
            <a:endParaRPr lang="en-US" sz="24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117" name="Google Shape;117;p14"/>
          <p:cNvSpPr txBox="1"/>
          <p:nvPr/>
        </p:nvSpPr>
        <p:spPr>
          <a:xfrm>
            <a:off x="7756525" y="3248025"/>
            <a:ext cx="2583815" cy="5429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Critique de l’Existant</a:t>
            </a:r>
            <a:endPar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8" name="Google Shape;118;p14"/>
          <p:cNvSpPr txBox="1"/>
          <p:nvPr/>
        </p:nvSpPr>
        <p:spPr>
          <a:xfrm>
            <a:off x="2902585" y="4181475"/>
            <a:ext cx="527050" cy="3079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400" b="1" i="0" u="none" strike="noStrike" cap="none">
                <a:solidFill>
                  <a:schemeClr val="tx1"/>
                </a:solidFill>
                <a:latin typeface="Lato" panose="020F0502020204030203"/>
                <a:ea typeface="Lato" panose="020F0502020204030203"/>
                <a:cs typeface="Lato" panose="020F0502020204030203"/>
                <a:sym typeface="Lato" panose="020F0502020204030203"/>
              </a:rPr>
              <a:t>04</a:t>
            </a:r>
            <a:endParaRPr lang="en-US" sz="24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119" name="Google Shape;119;p14"/>
          <p:cNvSpPr txBox="1"/>
          <p:nvPr/>
        </p:nvSpPr>
        <p:spPr>
          <a:xfrm>
            <a:off x="1914525" y="4552950"/>
            <a:ext cx="2330350" cy="3073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Objectifs du projet</a:t>
            </a:r>
            <a:endPar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0" name="Google Shape;120;p14"/>
          <p:cNvSpPr txBox="1"/>
          <p:nvPr/>
        </p:nvSpPr>
        <p:spPr>
          <a:xfrm>
            <a:off x="5848350" y="4181475"/>
            <a:ext cx="502285" cy="2921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400" b="1" i="0" u="none" strike="noStrike" cap="none">
                <a:solidFill>
                  <a:schemeClr val="tx1"/>
                </a:solidFill>
                <a:latin typeface="Lato" panose="020F0502020204030203"/>
                <a:ea typeface="Lato" panose="020F0502020204030203"/>
                <a:cs typeface="Lato" panose="020F0502020204030203"/>
                <a:sym typeface="Lato" panose="020F0502020204030203"/>
              </a:rPr>
              <a:t>05</a:t>
            </a:r>
            <a:endParaRPr lang="en-US" sz="24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121" name="Google Shape;121;p14"/>
          <p:cNvSpPr txBox="1"/>
          <p:nvPr/>
        </p:nvSpPr>
        <p:spPr>
          <a:xfrm>
            <a:off x="4835525" y="4552950"/>
            <a:ext cx="2720340" cy="61531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Conception</a:t>
            </a:r>
            <a:r>
              <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 &amp; </a:t>
            </a:r>
            <a:r>
              <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Réalisation</a:t>
            </a:r>
            <a:endPar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2" name="Google Shape;122;p14"/>
          <p:cNvSpPr txBox="1"/>
          <p:nvPr/>
        </p:nvSpPr>
        <p:spPr>
          <a:xfrm>
            <a:off x="8769350" y="418147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400" b="1" i="0" u="none" strike="noStrike" cap="none">
                <a:solidFill>
                  <a:schemeClr val="tx1"/>
                </a:solidFill>
                <a:latin typeface="Lato" panose="020F0502020204030203"/>
                <a:ea typeface="Lato" panose="020F0502020204030203"/>
                <a:cs typeface="Lato" panose="020F0502020204030203"/>
                <a:sym typeface="Lato" panose="020F0502020204030203"/>
              </a:rPr>
              <a:t>06</a:t>
            </a:r>
            <a:endParaRPr lang="en-US" sz="24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123" name="Google Shape;123;p14"/>
          <p:cNvSpPr txBox="1"/>
          <p:nvPr/>
        </p:nvSpPr>
        <p:spPr>
          <a:xfrm>
            <a:off x="7756475" y="4552950"/>
            <a:ext cx="2330350" cy="3073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Démonstration</a:t>
            </a:r>
            <a:endParaRPr lang="fr-FR"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4" name="Google Shape;108;p14" descr="image.png"/>
          <p:cNvPicPr preferRelativeResize="0"/>
          <p:nvPr/>
        </p:nvPicPr>
        <p:blipFill rotWithShape="1">
          <a:blip r:embed="rId5"/>
          <a:srcRect/>
          <a:stretch>
            <a:fillRect/>
          </a:stretch>
        </p:blipFill>
        <p:spPr>
          <a:xfrm>
            <a:off x="4730700" y="5704840"/>
            <a:ext cx="2730400" cy="942975"/>
          </a:xfrm>
          <a:prstGeom prst="rect">
            <a:avLst/>
          </a:prstGeom>
          <a:noFill/>
          <a:ln>
            <a:noFill/>
          </a:ln>
        </p:spPr>
      </p:pic>
      <p:sp>
        <p:nvSpPr>
          <p:cNvPr id="2" name="Google Shape;122;p14"/>
          <p:cNvSpPr txBox="1"/>
          <p:nvPr/>
        </p:nvSpPr>
        <p:spPr>
          <a:xfrm>
            <a:off x="5878830" y="533336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400" b="1" i="0" u="none" strike="noStrike" cap="none">
                <a:solidFill>
                  <a:schemeClr val="tx1"/>
                </a:solidFill>
                <a:latin typeface="Lato" panose="020F0502020204030203"/>
                <a:ea typeface="Lato" panose="020F0502020204030203"/>
                <a:cs typeface="Lato" panose="020F0502020204030203"/>
                <a:sym typeface="Lato" panose="020F0502020204030203"/>
              </a:rPr>
              <a:t>0</a:t>
            </a:r>
            <a:r>
              <a:rPr lang="fr-FR" altLang="en-US" sz="2400" b="1" i="0" u="none" strike="noStrike" cap="none">
                <a:solidFill>
                  <a:schemeClr val="tx1"/>
                </a:solidFill>
                <a:latin typeface="Lato" panose="020F0502020204030203"/>
                <a:ea typeface="Lato" panose="020F0502020204030203"/>
                <a:cs typeface="Lato" panose="020F0502020204030203"/>
                <a:sym typeface="Lato" panose="020F0502020204030203"/>
              </a:rPr>
              <a:t>7</a:t>
            </a:r>
            <a:endParaRPr lang="fr-FR" altLang="en-US" sz="24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3" name="Google Shape;123;p14"/>
          <p:cNvSpPr txBox="1"/>
          <p:nvPr/>
        </p:nvSpPr>
        <p:spPr>
          <a:xfrm>
            <a:off x="4835475" y="5704840"/>
            <a:ext cx="2330350" cy="61531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Conclusion &amp; Perspectives</a:t>
            </a:r>
            <a:endPar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35" name="Google Shape;135;p15"/>
          <p:cNvSpPr txBox="1"/>
          <p:nvPr/>
        </p:nvSpPr>
        <p:spPr>
          <a:xfrm>
            <a:off x="11451590" y="6320155"/>
            <a:ext cx="370205" cy="1752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a:ea typeface="Lato" panose="020F0502020204030203"/>
                <a:cs typeface="Lato" panose="020F0502020204030203"/>
                <a:sym typeface="Lato" panose="020F0502020204030203"/>
              </a:rPr>
              <a:t>0</a:t>
            </a:r>
            <a:r>
              <a:rPr lang="en-US" altLang="en-US" sz="1800" b="1" i="0" u="none" strike="noStrike" cap="none">
                <a:solidFill>
                  <a:schemeClr val="tx1"/>
                </a:solidFill>
                <a:latin typeface="Lato" panose="020F0502020204030203"/>
                <a:ea typeface="Lato" panose="020F0502020204030203"/>
                <a:cs typeface="Lato" panose="020F0502020204030203"/>
                <a:sym typeface="Lato" panose="020F0502020204030203"/>
              </a:rPr>
              <a:t>1</a:t>
            </a:r>
            <a:endParaRPr lang="en-US" altLang="en-US" sz="18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12" fill="hold" grpId="0"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strips(downLeft)">
                                      <p:cBhvr>
                                        <p:cTn id="7" dur="500"/>
                                        <p:tgtEl>
                                          <p:spTgt spid="112"/>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strips(downLeft)">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8" presetClass="entr" presetSubtype="12" fill="hold" grpId="0"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strips(downLeft)">
                                      <p:cBhvr>
                                        <p:cTn id="15" dur="500"/>
                                        <p:tgtEl>
                                          <p:spTgt spid="114"/>
                                        </p:tgtEl>
                                      </p:cBhvr>
                                    </p:animEffect>
                                  </p:childTnLst>
                                </p:cTn>
                              </p:par>
                              <p:par>
                                <p:cTn id="16" presetID="18" presetClass="entr" presetSubtype="12" fill="hold" grpId="0"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strips(downLeft)">
                                      <p:cBhvr>
                                        <p:cTn id="18" dur="500"/>
                                        <p:tgtEl>
                                          <p:spTgt spid="115"/>
                                        </p:tgtEl>
                                      </p:cBhvr>
                                    </p:animEffect>
                                  </p:childTnLst>
                                </p:cTn>
                              </p:par>
                            </p:childTnLst>
                          </p:cTn>
                        </p:par>
                      </p:childTnLst>
                    </p:cTn>
                  </p:par>
                  <p:par>
                    <p:cTn id="19" fill="hold">
                      <p:stCondLst>
                        <p:cond delay="indefinite"/>
                      </p:stCondLst>
                      <p:childTnLst>
                        <p:par>
                          <p:cTn id="20" fill="hold">
                            <p:stCondLst>
                              <p:cond delay="0"/>
                            </p:stCondLst>
                            <p:childTnLst>
                              <p:par>
                                <p:cTn id="21" presetID="18" presetClass="entr" presetSubtype="12" fill="hold" grpId="0" nodeType="clickEffect">
                                  <p:stCondLst>
                                    <p:cond delay="0"/>
                                  </p:stCondLst>
                                  <p:childTnLst>
                                    <p:set>
                                      <p:cBhvr>
                                        <p:cTn id="22" dur="1" fill="hold">
                                          <p:stCondLst>
                                            <p:cond delay="0"/>
                                          </p:stCondLst>
                                        </p:cTn>
                                        <p:tgtEl>
                                          <p:spTgt spid="116"/>
                                        </p:tgtEl>
                                        <p:attrNameLst>
                                          <p:attrName>style.visibility</p:attrName>
                                        </p:attrNameLst>
                                      </p:cBhvr>
                                      <p:to>
                                        <p:strVal val="visible"/>
                                      </p:to>
                                    </p:set>
                                    <p:animEffect transition="in" filter="strips(downLeft)">
                                      <p:cBhvr>
                                        <p:cTn id="23" dur="500"/>
                                        <p:tgtEl>
                                          <p:spTgt spid="116"/>
                                        </p:tgtEl>
                                      </p:cBhvr>
                                    </p:animEffect>
                                  </p:childTnLst>
                                </p:cTn>
                              </p:par>
                              <p:par>
                                <p:cTn id="24" presetID="18" presetClass="entr" presetSubtype="12" fill="hold" grpId="0" nodeType="withEffect">
                                  <p:stCondLst>
                                    <p:cond delay="0"/>
                                  </p:stCondLst>
                                  <p:childTnLst>
                                    <p:set>
                                      <p:cBhvr>
                                        <p:cTn id="25" dur="1" fill="hold">
                                          <p:stCondLst>
                                            <p:cond delay="0"/>
                                          </p:stCondLst>
                                        </p:cTn>
                                        <p:tgtEl>
                                          <p:spTgt spid="117"/>
                                        </p:tgtEl>
                                        <p:attrNameLst>
                                          <p:attrName>style.visibility</p:attrName>
                                        </p:attrNameLst>
                                      </p:cBhvr>
                                      <p:to>
                                        <p:strVal val="visible"/>
                                      </p:to>
                                    </p:set>
                                    <p:animEffect transition="in" filter="strips(downLeft)">
                                      <p:cBhvr>
                                        <p:cTn id="26" dur="500"/>
                                        <p:tgtEl>
                                          <p:spTgt spid="117"/>
                                        </p:tgtEl>
                                      </p:cBhvr>
                                    </p:animEffect>
                                  </p:childTnLst>
                                </p:cTn>
                              </p:par>
                            </p:childTnLst>
                          </p:cTn>
                        </p:par>
                      </p:childTnLst>
                    </p:cTn>
                  </p:par>
                  <p:par>
                    <p:cTn id="27" fill="hold">
                      <p:stCondLst>
                        <p:cond delay="indefinite"/>
                      </p:stCondLst>
                      <p:childTnLst>
                        <p:par>
                          <p:cTn id="28" fill="hold">
                            <p:stCondLst>
                              <p:cond delay="0"/>
                            </p:stCondLst>
                            <p:childTnLst>
                              <p:par>
                                <p:cTn id="29" presetID="18" presetClass="entr" presetSubtype="12" fill="hold" grpId="0" nodeType="clickEffect">
                                  <p:stCondLst>
                                    <p:cond delay="0"/>
                                  </p:stCondLst>
                                  <p:childTnLst>
                                    <p:set>
                                      <p:cBhvr>
                                        <p:cTn id="30" dur="1" fill="hold">
                                          <p:stCondLst>
                                            <p:cond delay="0"/>
                                          </p:stCondLst>
                                        </p:cTn>
                                        <p:tgtEl>
                                          <p:spTgt spid="118"/>
                                        </p:tgtEl>
                                        <p:attrNameLst>
                                          <p:attrName>style.visibility</p:attrName>
                                        </p:attrNameLst>
                                      </p:cBhvr>
                                      <p:to>
                                        <p:strVal val="visible"/>
                                      </p:to>
                                    </p:set>
                                    <p:animEffect transition="in" filter="strips(downLeft)">
                                      <p:cBhvr>
                                        <p:cTn id="31" dur="500"/>
                                        <p:tgtEl>
                                          <p:spTgt spid="118"/>
                                        </p:tgtEl>
                                      </p:cBhvr>
                                    </p:animEffect>
                                  </p:childTnLst>
                                </p:cTn>
                              </p:par>
                              <p:par>
                                <p:cTn id="32" presetID="18" presetClass="entr" presetSubtype="12" fill="hold" grpId="0" nodeType="withEffect">
                                  <p:stCondLst>
                                    <p:cond delay="0"/>
                                  </p:stCondLst>
                                  <p:childTnLst>
                                    <p:set>
                                      <p:cBhvr>
                                        <p:cTn id="33" dur="1" fill="hold">
                                          <p:stCondLst>
                                            <p:cond delay="0"/>
                                          </p:stCondLst>
                                        </p:cTn>
                                        <p:tgtEl>
                                          <p:spTgt spid="119"/>
                                        </p:tgtEl>
                                        <p:attrNameLst>
                                          <p:attrName>style.visibility</p:attrName>
                                        </p:attrNameLst>
                                      </p:cBhvr>
                                      <p:to>
                                        <p:strVal val="visible"/>
                                      </p:to>
                                    </p:set>
                                    <p:animEffect transition="in" filter="strips(downLeft)">
                                      <p:cBhvr>
                                        <p:cTn id="34" dur="500"/>
                                        <p:tgtEl>
                                          <p:spTgt spid="119"/>
                                        </p:tgtEl>
                                      </p:cBhvr>
                                    </p:animEffect>
                                  </p:childTnLst>
                                </p:cTn>
                              </p:par>
                            </p:childTnLst>
                          </p:cTn>
                        </p:par>
                      </p:childTnLst>
                    </p:cTn>
                  </p:par>
                  <p:par>
                    <p:cTn id="35" fill="hold">
                      <p:stCondLst>
                        <p:cond delay="indefinite"/>
                      </p:stCondLst>
                      <p:childTnLst>
                        <p:par>
                          <p:cTn id="36" fill="hold">
                            <p:stCondLst>
                              <p:cond delay="0"/>
                            </p:stCondLst>
                            <p:childTnLst>
                              <p:par>
                                <p:cTn id="37" presetID="18" presetClass="entr" presetSubtype="12" fill="hold" grpId="0" nodeType="clickEffect">
                                  <p:stCondLst>
                                    <p:cond delay="0"/>
                                  </p:stCondLst>
                                  <p:childTnLst>
                                    <p:set>
                                      <p:cBhvr>
                                        <p:cTn id="38" dur="1" fill="hold">
                                          <p:stCondLst>
                                            <p:cond delay="0"/>
                                          </p:stCondLst>
                                        </p:cTn>
                                        <p:tgtEl>
                                          <p:spTgt spid="120"/>
                                        </p:tgtEl>
                                        <p:attrNameLst>
                                          <p:attrName>style.visibility</p:attrName>
                                        </p:attrNameLst>
                                      </p:cBhvr>
                                      <p:to>
                                        <p:strVal val="visible"/>
                                      </p:to>
                                    </p:set>
                                    <p:animEffect transition="in" filter="strips(downLeft)">
                                      <p:cBhvr>
                                        <p:cTn id="39" dur="500"/>
                                        <p:tgtEl>
                                          <p:spTgt spid="120"/>
                                        </p:tgtEl>
                                      </p:cBhvr>
                                    </p:animEffect>
                                  </p:childTnLst>
                                </p:cTn>
                              </p:par>
                              <p:par>
                                <p:cTn id="40" presetID="18" presetClass="entr" presetSubtype="12" fill="hold" grpId="0" nodeType="withEffect">
                                  <p:stCondLst>
                                    <p:cond delay="0"/>
                                  </p:stCondLst>
                                  <p:childTnLst>
                                    <p:set>
                                      <p:cBhvr>
                                        <p:cTn id="41" dur="1" fill="hold">
                                          <p:stCondLst>
                                            <p:cond delay="0"/>
                                          </p:stCondLst>
                                        </p:cTn>
                                        <p:tgtEl>
                                          <p:spTgt spid="121"/>
                                        </p:tgtEl>
                                        <p:attrNameLst>
                                          <p:attrName>style.visibility</p:attrName>
                                        </p:attrNameLst>
                                      </p:cBhvr>
                                      <p:to>
                                        <p:strVal val="visible"/>
                                      </p:to>
                                    </p:set>
                                    <p:animEffect transition="in" filter="strips(downLeft)">
                                      <p:cBhvr>
                                        <p:cTn id="42" dur="500"/>
                                        <p:tgtEl>
                                          <p:spTgt spid="121"/>
                                        </p:tgtEl>
                                      </p:cBhvr>
                                    </p:animEffect>
                                  </p:childTnLst>
                                </p:cTn>
                              </p:par>
                            </p:childTnLst>
                          </p:cTn>
                        </p:par>
                      </p:childTnLst>
                    </p:cTn>
                  </p:par>
                  <p:par>
                    <p:cTn id="43" fill="hold">
                      <p:stCondLst>
                        <p:cond delay="indefinite"/>
                      </p:stCondLst>
                      <p:childTnLst>
                        <p:par>
                          <p:cTn id="44" fill="hold">
                            <p:stCondLst>
                              <p:cond delay="0"/>
                            </p:stCondLst>
                            <p:childTnLst>
                              <p:par>
                                <p:cTn id="45" presetID="18" presetClass="entr" presetSubtype="12" fill="hold" grpId="0" nodeType="clickEffect">
                                  <p:stCondLst>
                                    <p:cond delay="0"/>
                                  </p:stCondLst>
                                  <p:childTnLst>
                                    <p:set>
                                      <p:cBhvr>
                                        <p:cTn id="46" dur="1" fill="hold">
                                          <p:stCondLst>
                                            <p:cond delay="0"/>
                                          </p:stCondLst>
                                        </p:cTn>
                                        <p:tgtEl>
                                          <p:spTgt spid="122"/>
                                        </p:tgtEl>
                                        <p:attrNameLst>
                                          <p:attrName>style.visibility</p:attrName>
                                        </p:attrNameLst>
                                      </p:cBhvr>
                                      <p:to>
                                        <p:strVal val="visible"/>
                                      </p:to>
                                    </p:set>
                                    <p:animEffect transition="in" filter="strips(downLeft)">
                                      <p:cBhvr>
                                        <p:cTn id="47" dur="500"/>
                                        <p:tgtEl>
                                          <p:spTgt spid="122"/>
                                        </p:tgtEl>
                                      </p:cBhvr>
                                    </p:animEffect>
                                  </p:childTnLst>
                                </p:cTn>
                              </p:par>
                              <p:par>
                                <p:cTn id="48" presetID="18" presetClass="entr" presetSubtype="12" fill="hold" grpId="0" nodeType="withEffect">
                                  <p:stCondLst>
                                    <p:cond delay="0"/>
                                  </p:stCondLst>
                                  <p:childTnLst>
                                    <p:set>
                                      <p:cBhvr>
                                        <p:cTn id="49" dur="1" fill="hold">
                                          <p:stCondLst>
                                            <p:cond delay="0"/>
                                          </p:stCondLst>
                                        </p:cTn>
                                        <p:tgtEl>
                                          <p:spTgt spid="123"/>
                                        </p:tgtEl>
                                        <p:attrNameLst>
                                          <p:attrName>style.visibility</p:attrName>
                                        </p:attrNameLst>
                                      </p:cBhvr>
                                      <p:to>
                                        <p:strVal val="visible"/>
                                      </p:to>
                                    </p:set>
                                    <p:animEffect transition="in" filter="strips(downLeft)">
                                      <p:cBhvr>
                                        <p:cTn id="50" dur="500"/>
                                        <p:tgtEl>
                                          <p:spTgt spid="123"/>
                                        </p:tgtEl>
                                      </p:cBhvr>
                                    </p:animEffect>
                                  </p:childTnLst>
                                </p:cTn>
                              </p:par>
                            </p:childTnLst>
                          </p:cTn>
                        </p:par>
                      </p:childTnLst>
                    </p:cTn>
                  </p:par>
                  <p:par>
                    <p:cTn id="51" fill="hold">
                      <p:stCondLst>
                        <p:cond delay="indefinite"/>
                      </p:stCondLst>
                      <p:childTnLst>
                        <p:par>
                          <p:cTn id="52" fill="hold">
                            <p:stCondLst>
                              <p:cond delay="0"/>
                            </p:stCondLst>
                            <p:childTnLst>
                              <p:par>
                                <p:cTn id="53" presetID="18" presetClass="entr" presetSubtype="12" fill="hold" grpId="0" nodeType="clickEffect">
                                  <p:stCondLst>
                                    <p:cond delay="0"/>
                                  </p:stCondLst>
                                  <p:childTnLst>
                                    <p:set>
                                      <p:cBhvr>
                                        <p:cTn id="54" dur="1" fill="hold">
                                          <p:stCondLst>
                                            <p:cond delay="0"/>
                                          </p:stCondLst>
                                        </p:cTn>
                                        <p:tgtEl>
                                          <p:spTgt spid="2"/>
                                        </p:tgtEl>
                                        <p:attrNameLst>
                                          <p:attrName>style.visibility</p:attrName>
                                        </p:attrNameLst>
                                      </p:cBhvr>
                                      <p:to>
                                        <p:strVal val="visible"/>
                                      </p:to>
                                    </p:set>
                                    <p:animEffect transition="in" filter="strips(downLeft)">
                                      <p:cBhvr>
                                        <p:cTn id="55" dur="500"/>
                                        <p:tgtEl>
                                          <p:spTgt spid="2"/>
                                        </p:tgtEl>
                                      </p:cBhvr>
                                    </p:animEffect>
                                  </p:childTnLst>
                                </p:cTn>
                              </p:par>
                              <p:par>
                                <p:cTn id="56" presetID="18" presetClass="entr" presetSubtype="12" fill="hold" grpId="0" nodeType="withEffect">
                                  <p:stCondLst>
                                    <p:cond delay="0"/>
                                  </p:stCondLst>
                                  <p:childTnLst>
                                    <p:set>
                                      <p:cBhvr>
                                        <p:cTn id="57" dur="1" fill="hold">
                                          <p:stCondLst>
                                            <p:cond delay="0"/>
                                          </p:stCondLst>
                                        </p:cTn>
                                        <p:tgtEl>
                                          <p:spTgt spid="3"/>
                                        </p:tgtEl>
                                        <p:attrNameLst>
                                          <p:attrName>style.visibility</p:attrName>
                                        </p:attrNameLst>
                                      </p:cBhvr>
                                      <p:to>
                                        <p:strVal val="visible"/>
                                      </p:to>
                                    </p:set>
                                    <p:animEffect transition="in" filter="strips(downLeft)">
                                      <p:cBhvr>
                                        <p:cTn id="5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p:bldP spid="113" grpId="0"/>
      <p:bldP spid="112" grpId="1"/>
      <p:bldP spid="113" grpId="1"/>
      <p:bldP spid="114" grpId="0"/>
      <p:bldP spid="115" grpId="0"/>
      <p:bldP spid="114" grpId="1"/>
      <p:bldP spid="115" grpId="1"/>
      <p:bldP spid="116" grpId="0"/>
      <p:bldP spid="117" grpId="0"/>
      <p:bldP spid="116" grpId="1"/>
      <p:bldP spid="117" grpId="1"/>
      <p:bldP spid="118" grpId="0"/>
      <p:bldP spid="119" grpId="0"/>
      <p:bldP spid="118" grpId="1"/>
      <p:bldP spid="119" grpId="1"/>
      <p:bldP spid="120" grpId="0"/>
      <p:bldP spid="121" grpId="0"/>
      <p:bldP spid="120" grpId="1"/>
      <p:bldP spid="121" grpId="1"/>
      <p:bldP spid="122" grpId="0"/>
      <p:bldP spid="123" grpId="0"/>
      <p:bldP spid="122" grpId="1"/>
      <p:bldP spid="123" grpId="1"/>
      <p:bldP spid="2" grpId="0"/>
      <p:bldP spid="3" grpId="0"/>
      <p:bldP spid="2" grpId="1"/>
      <p:bldP spid="3"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01" name="Shape 101"/>
        <p:cNvGrpSpPr/>
        <p:nvPr/>
      </p:nvGrpSpPr>
      <p:grpSpPr>
        <a:xfrm>
          <a:off x="0" y="0"/>
          <a:ext cx="0" cy="0"/>
          <a:chOff x="0" y="0"/>
          <a:chExt cx="0" cy="0"/>
        </a:xfrm>
      </p:grpSpPr>
      <p:pic>
        <p:nvPicPr>
          <p:cNvPr id="102" name="Google Shape;102;p14" descr="Empty office hall"/>
          <p:cNvPicPr preferRelativeResize="0"/>
          <p:nvPr>
            <p:custDataLst>
              <p:tags r:id="rId1"/>
            </p:custDataLst>
          </p:nvPr>
        </p:nvPicPr>
        <p:blipFill rotWithShape="1">
          <a:blip r:embed="rId2"/>
          <a:srcRect t="7802" b="7802"/>
          <a:stretch>
            <a:fillRect/>
          </a:stretch>
        </p:blipFill>
        <p:spPr>
          <a:xfrm>
            <a:off x="0" y="-15240"/>
            <a:ext cx="12192000" cy="6858000"/>
          </a:xfrm>
          <a:prstGeom prst="rect">
            <a:avLst/>
          </a:prstGeom>
          <a:noFill/>
          <a:ln>
            <a:noFill/>
          </a:ln>
        </p:spPr>
      </p:pic>
      <p:pic>
        <p:nvPicPr>
          <p:cNvPr id="103" name="Google Shape;103;p14" descr="image.png"/>
          <p:cNvPicPr preferRelativeResize="0"/>
          <p:nvPr/>
        </p:nvPicPr>
        <p:blipFill rotWithShape="1">
          <a:blip r:embed="rId3"/>
          <a:srcRect/>
          <a:stretch>
            <a:fillRect/>
          </a:stretch>
        </p:blipFill>
        <p:spPr>
          <a:xfrm>
            <a:off x="1809750" y="3248025"/>
            <a:ext cx="2730400" cy="1114425"/>
          </a:xfrm>
          <a:prstGeom prst="rect">
            <a:avLst/>
          </a:prstGeom>
          <a:noFill/>
          <a:ln>
            <a:noFill/>
          </a:ln>
        </p:spPr>
      </p:pic>
      <p:pic>
        <p:nvPicPr>
          <p:cNvPr id="104" name="Google Shape;104;p14" descr="image.png"/>
          <p:cNvPicPr preferRelativeResize="0"/>
          <p:nvPr/>
        </p:nvPicPr>
        <p:blipFill rotWithShape="1">
          <a:blip r:embed="rId4"/>
          <a:srcRect/>
          <a:stretch>
            <a:fillRect/>
          </a:stretch>
        </p:blipFill>
        <p:spPr>
          <a:xfrm>
            <a:off x="4730650" y="3248025"/>
            <a:ext cx="2730549" cy="1114425"/>
          </a:xfrm>
          <a:prstGeom prst="rect">
            <a:avLst/>
          </a:prstGeom>
          <a:noFill/>
          <a:ln>
            <a:noFill/>
          </a:ln>
        </p:spPr>
      </p:pic>
      <p:pic>
        <p:nvPicPr>
          <p:cNvPr id="105" name="Google Shape;105;p14" descr="image.png"/>
          <p:cNvPicPr preferRelativeResize="0"/>
          <p:nvPr/>
        </p:nvPicPr>
        <p:blipFill rotWithShape="1">
          <a:blip r:embed="rId3"/>
          <a:srcRect/>
          <a:stretch>
            <a:fillRect/>
          </a:stretch>
        </p:blipFill>
        <p:spPr>
          <a:xfrm>
            <a:off x="7651700" y="3248025"/>
            <a:ext cx="2730400" cy="1114425"/>
          </a:xfrm>
          <a:prstGeom prst="rect">
            <a:avLst/>
          </a:prstGeom>
          <a:noFill/>
          <a:ln>
            <a:noFill/>
          </a:ln>
        </p:spPr>
      </p:pic>
      <p:pic>
        <p:nvPicPr>
          <p:cNvPr id="106" name="Google Shape;106;p14" descr="image.png"/>
          <p:cNvPicPr preferRelativeResize="0"/>
          <p:nvPr/>
        </p:nvPicPr>
        <p:blipFill rotWithShape="1">
          <a:blip r:embed="rId5"/>
          <a:srcRect/>
          <a:stretch>
            <a:fillRect/>
          </a:stretch>
        </p:blipFill>
        <p:spPr>
          <a:xfrm>
            <a:off x="1809750" y="4552950"/>
            <a:ext cx="2730400" cy="942975"/>
          </a:xfrm>
          <a:prstGeom prst="rect">
            <a:avLst/>
          </a:prstGeom>
          <a:noFill/>
          <a:ln>
            <a:noFill/>
          </a:ln>
        </p:spPr>
      </p:pic>
      <p:pic>
        <p:nvPicPr>
          <p:cNvPr id="107" name="Google Shape;107;p14" descr="image.png"/>
          <p:cNvPicPr preferRelativeResize="0"/>
          <p:nvPr/>
        </p:nvPicPr>
        <p:blipFill rotWithShape="1">
          <a:blip r:embed="rId6"/>
          <a:srcRect/>
          <a:stretch>
            <a:fillRect/>
          </a:stretch>
        </p:blipFill>
        <p:spPr>
          <a:xfrm>
            <a:off x="4730650" y="4552950"/>
            <a:ext cx="2730549" cy="942975"/>
          </a:xfrm>
          <a:prstGeom prst="rect">
            <a:avLst/>
          </a:prstGeom>
          <a:noFill/>
          <a:ln>
            <a:noFill/>
          </a:ln>
        </p:spPr>
      </p:pic>
      <p:pic>
        <p:nvPicPr>
          <p:cNvPr id="108" name="Google Shape;108;p14" descr="image.png"/>
          <p:cNvPicPr preferRelativeResize="0"/>
          <p:nvPr/>
        </p:nvPicPr>
        <p:blipFill rotWithShape="1">
          <a:blip r:embed="rId5"/>
          <a:srcRect/>
          <a:stretch>
            <a:fillRect/>
          </a:stretch>
        </p:blipFill>
        <p:spPr>
          <a:xfrm>
            <a:off x="7651700" y="4552950"/>
            <a:ext cx="2730400" cy="942975"/>
          </a:xfrm>
          <a:prstGeom prst="rect">
            <a:avLst/>
          </a:prstGeom>
          <a:noFill/>
          <a:ln>
            <a:noFill/>
          </a:ln>
        </p:spPr>
      </p:pic>
      <p:pic>
        <p:nvPicPr>
          <p:cNvPr id="4" name="Google Shape;108;p14" descr="image.png"/>
          <p:cNvPicPr preferRelativeResize="0"/>
          <p:nvPr/>
        </p:nvPicPr>
        <p:blipFill rotWithShape="1">
          <a:blip r:embed="rId5"/>
          <a:srcRect/>
          <a:stretch>
            <a:fillRect/>
          </a:stretch>
        </p:blipFill>
        <p:spPr>
          <a:xfrm>
            <a:off x="4730700" y="5704840"/>
            <a:ext cx="2730400" cy="942975"/>
          </a:xfrm>
          <a:prstGeom prst="rect">
            <a:avLst/>
          </a:prstGeom>
          <a:noFill/>
          <a:ln>
            <a:noFill/>
          </a:ln>
        </p:spPr>
      </p:pic>
      <p:sp>
        <p:nvSpPr>
          <p:cNvPr id="142" name="Google Shape;142;p15"/>
          <p:cNvSpPr txBox="1"/>
          <p:nvPr/>
        </p:nvSpPr>
        <p:spPr>
          <a:xfrm>
            <a:off x="2336165" y="2966085"/>
            <a:ext cx="8163560" cy="751205"/>
          </a:xfrm>
          <a:prstGeom prst="rect">
            <a:avLst/>
          </a:prstGeom>
          <a:noFill/>
          <a:ln>
            <a:solidFill>
              <a:schemeClr val="tx1"/>
            </a:solidFill>
          </a:ln>
        </p:spPr>
        <p:txBody>
          <a:bodyPr spcFirstLastPara="1" wrap="square" lIns="0" tIns="0" rIns="0" bIns="0" anchor="t" anchorCtr="0">
            <a:noAutofit/>
          </a:bodyPr>
          <a:lstStyle/>
          <a:p>
            <a:pPr marL="0" marR="0" lvl="0" indent="0" algn="ctr" rtl="0">
              <a:lnSpc>
                <a:spcPct val="120000"/>
              </a:lnSpc>
              <a:spcBef>
                <a:spcPts val="0"/>
              </a:spcBef>
              <a:spcAft>
                <a:spcPts val="0"/>
              </a:spcAft>
              <a:buNone/>
            </a:pPr>
            <a:r>
              <a:rPr lang="en-US" sz="4000" b="1" i="0" cap="all">
                <a:solidFill>
                  <a:srgbClr val="1E293B"/>
                </a:solidFill>
                <a:uFillTx/>
                <a:latin typeface="Poppins" panose="00000500000000000000" charset="0"/>
                <a:ea typeface="Poppins" panose="00000500000000000000"/>
                <a:cs typeface="Poppins" panose="00000500000000000000"/>
                <a:sym typeface="Poppins" panose="00000500000000000000"/>
              </a:rPr>
              <a:t>Intro</a:t>
            </a:r>
            <a:r>
              <a:rPr lang="fr-FR" altLang="en-US" sz="4000" b="1" i="0" cap="all">
                <a:solidFill>
                  <a:srgbClr val="1E293B"/>
                </a:solidFill>
                <a:uFillTx/>
                <a:latin typeface="Poppins" panose="00000500000000000000" charset="0"/>
                <a:ea typeface="Poppins" panose="00000500000000000000"/>
                <a:cs typeface="Poppins" panose="00000500000000000000"/>
                <a:sym typeface="Poppins" panose="00000500000000000000"/>
              </a:rPr>
              <a:t>Du</a:t>
            </a:r>
            <a:r>
              <a:rPr lang="en-US" sz="4000" b="1" i="0" cap="all">
                <a:solidFill>
                  <a:srgbClr val="1E293B"/>
                </a:solidFill>
                <a:uFillTx/>
                <a:latin typeface="Poppins" panose="00000500000000000000" charset="0"/>
                <a:ea typeface="Poppins" panose="00000500000000000000"/>
                <a:cs typeface="Poppins" panose="00000500000000000000"/>
                <a:sym typeface="Poppins" panose="00000500000000000000"/>
              </a:rPr>
              <a:t>ction &amp; Contexte </a:t>
            </a:r>
            <a:endParaRPr lang="en-US" sz="4000" b="1" i="0" cap="all">
              <a:solidFill>
                <a:srgbClr val="1E293B"/>
              </a:solidFill>
              <a:uFillTx/>
              <a:latin typeface="Poppins" panose="00000500000000000000" charset="0"/>
              <a:ea typeface="Poppins" panose="00000500000000000000"/>
              <a:cs typeface="Poppins" panose="00000500000000000000"/>
              <a:sym typeface="Poppins" panose="00000500000000000000"/>
            </a:endParaRPr>
          </a:p>
        </p:txBody>
      </p:sp>
      <p:sp>
        <p:nvSpPr>
          <p:cNvPr id="135" name="Google Shape;135;p15"/>
          <p:cNvSpPr txBox="1"/>
          <p:nvPr/>
        </p:nvSpPr>
        <p:spPr>
          <a:xfrm>
            <a:off x="11503660" y="6286500"/>
            <a:ext cx="285750" cy="25717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a:ea typeface="Lato" panose="020F0502020204030203"/>
                <a:cs typeface="Lato" panose="020F0502020204030203"/>
                <a:sym typeface="Lato" panose="020F0502020204030203"/>
              </a:rPr>
              <a:t>0</a:t>
            </a:r>
            <a:r>
              <a:rPr lang="en-US" altLang="en-US" sz="1800" b="1" i="0" u="none" strike="noStrike" cap="none">
                <a:solidFill>
                  <a:schemeClr val="tx1"/>
                </a:solidFill>
                <a:latin typeface="Lato" panose="020F0502020204030203"/>
                <a:ea typeface="Lato" panose="020F0502020204030203"/>
                <a:cs typeface="Lato" panose="020F0502020204030203"/>
                <a:sym typeface="Lato" panose="020F0502020204030203"/>
              </a:rPr>
              <a:t>2</a:t>
            </a:r>
            <a:endParaRPr lang="en-US" altLang="en-US" sz="18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134" name="Google Shape;134;p15"/>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27" name="Shape 127"/>
        <p:cNvGrpSpPr/>
        <p:nvPr/>
      </p:nvGrpSpPr>
      <p:grpSpPr>
        <a:xfrm>
          <a:off x="0" y="0"/>
          <a:ext cx="0" cy="0"/>
          <a:chOff x="0" y="0"/>
          <a:chExt cx="0" cy="0"/>
        </a:xfrm>
      </p:grpSpPr>
      <p:pic>
        <p:nvPicPr>
          <p:cNvPr id="128" name="Google Shape;128;p15"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132" name="Google Shape;132;p15"/>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33" name="Google Shape;133;p15"/>
          <p:cNvSpPr txBox="1"/>
          <p:nvPr/>
        </p:nvSpPr>
        <p:spPr>
          <a:xfrm>
            <a:off x="9491662" y="471487"/>
            <a:ext cx="21288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CONTEXTE IMMOBILIER AU TOGO</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4" name="Google Shape;134;p15"/>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5" name="Google Shape;135;p15"/>
          <p:cNvSpPr txBox="1"/>
          <p:nvPr/>
        </p:nvSpPr>
        <p:spPr>
          <a:xfrm>
            <a:off x="11487150" y="6286500"/>
            <a:ext cx="440690" cy="142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a:ea typeface="Lato" panose="020F0502020204030203"/>
                <a:cs typeface="Lato" panose="020F0502020204030203"/>
                <a:sym typeface="Lato" panose="020F0502020204030203"/>
              </a:rPr>
              <a:t>03</a:t>
            </a:r>
            <a:endParaRPr lang="en-US" sz="18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6" name="Picture 13" descr="image.png"/>
          <p:cNvPicPr>
            <a:picLocks noChangeAspect="1"/>
          </p:cNvPicPr>
          <p:nvPr/>
        </p:nvPicPr>
        <p:blipFill>
          <a:blip r:embed="rId3"/>
          <a:stretch>
            <a:fillRect/>
          </a:stretch>
        </p:blipFill>
        <p:spPr>
          <a:xfrm>
            <a:off x="6244590" y="1351280"/>
            <a:ext cx="5682615" cy="3832860"/>
          </a:xfrm>
          <a:prstGeom prst="rect">
            <a:avLst/>
          </a:prstGeom>
        </p:spPr>
      </p:pic>
      <p:sp>
        <p:nvSpPr>
          <p:cNvPr id="2" name="TextBox 14"/>
          <p:cNvSpPr txBox="1"/>
          <p:nvPr/>
        </p:nvSpPr>
        <p:spPr>
          <a:xfrm>
            <a:off x="695325" y="1456055"/>
            <a:ext cx="5014912" cy="778510"/>
          </a:xfrm>
          <a:prstGeom prst="rect">
            <a:avLst/>
          </a:prstGeom>
          <a:noFill/>
        </p:spPr>
        <p:txBody>
          <a:bodyPr wrap="square" lIns="0" tIns="0" rIns="0" bIns="0" anchor="t">
            <a:spAutoFit/>
          </a:bodyPr>
          <a:lstStyle/>
          <a:p>
            <a:pPr algn="just">
              <a:lnSpc>
                <a:spcPts val="2025"/>
              </a:lnSpc>
            </a:pPr>
            <a:r>
              <a:rPr sz="2400" b="1" i="0" u="none">
                <a:solidFill>
                  <a:srgbClr val="334155"/>
                </a:solidFill>
                <a:latin typeface="Times New Roman" panose="02020603050405020304" charset="0"/>
                <a:cs typeface="Times New Roman" panose="02020603050405020304" charset="0"/>
              </a:rPr>
              <a:t>Essor Urbain à Lomé</a:t>
            </a:r>
            <a:r>
              <a:rPr sz="1800" b="1" i="0" u="none">
                <a:solidFill>
                  <a:srgbClr val="334155"/>
                </a:solidFill>
                <a:latin typeface="Times New Roman" panose="02020603050405020304" charset="0"/>
                <a:cs typeface="Times New Roman" panose="02020603050405020304" charset="0"/>
              </a:rPr>
              <a:t> :</a:t>
            </a:r>
            <a:r>
              <a:rPr sz="1800" b="0" i="0" u="none">
                <a:solidFill>
                  <a:srgbClr val="334155"/>
                </a:solidFill>
                <a:latin typeface="Times New Roman" panose="02020603050405020304" charset="0"/>
                <a:cs typeface="Times New Roman" panose="02020603050405020304" charset="0"/>
              </a:rPr>
              <a:t> </a:t>
            </a:r>
            <a:r>
              <a:rPr sz="2000" b="0" i="0" u="none">
                <a:solidFill>
                  <a:srgbClr val="334155"/>
                </a:solidFill>
                <a:latin typeface="Times New Roman" panose="02020603050405020304" charset="0"/>
                <a:cs typeface="Times New Roman" panose="02020603050405020304" charset="0"/>
              </a:rPr>
              <a:t>Forte dynamique démographique </a:t>
            </a:r>
            <a:r>
              <a:rPr lang="fr-FR" sz="2000" b="0" i="0" u="none">
                <a:solidFill>
                  <a:srgbClr val="334155"/>
                </a:solidFill>
                <a:latin typeface="Times New Roman" panose="02020603050405020304" charset="0"/>
                <a:cs typeface="Times New Roman" panose="02020603050405020304" charset="0"/>
              </a:rPr>
              <a:t>caractérisée par </a:t>
            </a:r>
            <a:r>
              <a:rPr sz="2000" b="0" i="0" u="none">
                <a:solidFill>
                  <a:srgbClr val="334155"/>
                </a:solidFill>
                <a:latin typeface="Times New Roman" panose="02020603050405020304" charset="0"/>
                <a:cs typeface="Times New Roman" panose="02020603050405020304" charset="0"/>
              </a:rPr>
              <a:t>la multiplication</a:t>
            </a:r>
            <a:r>
              <a:rPr lang="fr-FR" sz="2000" b="0" i="0" u="none">
                <a:solidFill>
                  <a:srgbClr val="334155"/>
                </a:solidFill>
                <a:latin typeface="Times New Roman" panose="02020603050405020304" charset="0"/>
                <a:cs typeface="Times New Roman" panose="02020603050405020304" charset="0"/>
              </a:rPr>
              <a:t> d’immeubles et</a:t>
            </a:r>
            <a:r>
              <a:rPr sz="2000" b="0" i="0" u="none">
                <a:solidFill>
                  <a:srgbClr val="334155"/>
                </a:solidFill>
                <a:latin typeface="Times New Roman" panose="02020603050405020304" charset="0"/>
                <a:cs typeface="Times New Roman" panose="02020603050405020304" charset="0"/>
              </a:rPr>
              <a:t> </a:t>
            </a:r>
            <a:r>
              <a:rPr lang="fr-FR" sz="2000" b="0" i="0" u="none">
                <a:solidFill>
                  <a:srgbClr val="334155"/>
                </a:solidFill>
                <a:latin typeface="Times New Roman" panose="02020603050405020304" charset="0"/>
                <a:cs typeface="Times New Roman" panose="02020603050405020304" charset="0"/>
              </a:rPr>
              <a:t>des cours communes</a:t>
            </a:r>
            <a:r>
              <a:rPr sz="2000" b="0" i="0" u="none">
                <a:solidFill>
                  <a:srgbClr val="334155"/>
                </a:solidFill>
                <a:latin typeface="Times New Roman" panose="02020603050405020304" charset="0"/>
                <a:cs typeface="Times New Roman" panose="02020603050405020304" charset="0"/>
              </a:rPr>
              <a:t>.</a:t>
            </a:r>
            <a:endParaRPr sz="2000" b="0" i="0" u="none">
              <a:solidFill>
                <a:srgbClr val="334155"/>
              </a:solidFill>
              <a:latin typeface="Times New Roman" panose="02020603050405020304" charset="0"/>
              <a:cs typeface="Times New Roman" panose="02020603050405020304" charset="0"/>
            </a:endParaRPr>
          </a:p>
        </p:txBody>
      </p:sp>
      <p:sp>
        <p:nvSpPr>
          <p:cNvPr id="3" name="TextBox 15"/>
          <p:cNvSpPr txBox="1"/>
          <p:nvPr/>
        </p:nvSpPr>
        <p:spPr>
          <a:xfrm>
            <a:off x="571500" y="3060700"/>
            <a:ext cx="5014912" cy="1038225"/>
          </a:xfrm>
          <a:prstGeom prst="rect">
            <a:avLst/>
          </a:prstGeom>
          <a:noFill/>
        </p:spPr>
        <p:txBody>
          <a:bodyPr wrap="square" lIns="0" tIns="0" rIns="0" bIns="0" anchor="t">
            <a:spAutoFit/>
          </a:bodyPr>
          <a:lstStyle/>
          <a:p>
            <a:pPr algn="just">
              <a:lnSpc>
                <a:spcPts val="2025"/>
              </a:lnSpc>
            </a:pPr>
            <a:r>
              <a:rPr sz="2800" b="1" i="0" u="none">
                <a:solidFill>
                  <a:srgbClr val="334155"/>
                </a:solidFill>
                <a:latin typeface="Times New Roman" panose="02020603050405020304" charset="0"/>
                <a:cs typeface="Times New Roman" panose="02020603050405020304" charset="0"/>
              </a:rPr>
              <a:t>Décalage Technologique</a:t>
            </a:r>
            <a:r>
              <a:rPr sz="2000" b="1" i="0" u="none">
                <a:solidFill>
                  <a:srgbClr val="334155"/>
                </a:solidFill>
                <a:latin typeface="Times New Roman" panose="02020603050405020304" charset="0"/>
                <a:cs typeface="Times New Roman" panose="02020603050405020304" charset="0"/>
              </a:rPr>
              <a:t> :</a:t>
            </a:r>
            <a:r>
              <a:rPr sz="2000" b="0" i="0" u="none">
                <a:solidFill>
                  <a:srgbClr val="334155"/>
                </a:solidFill>
                <a:latin typeface="Times New Roman" panose="02020603050405020304" charset="0"/>
                <a:cs typeface="Times New Roman" panose="02020603050405020304" charset="0"/>
              </a:rPr>
              <a:t> Prédominance </a:t>
            </a:r>
            <a:r>
              <a:rPr lang="fr-FR" sz="2000" b="0" i="0" u="none">
                <a:solidFill>
                  <a:srgbClr val="334155"/>
                </a:solidFill>
                <a:latin typeface="Times New Roman" panose="02020603050405020304" charset="0"/>
                <a:cs typeface="Times New Roman" panose="02020603050405020304" charset="0"/>
              </a:rPr>
              <a:t>de l’utilisation des </a:t>
            </a:r>
            <a:r>
              <a:rPr sz="2000" b="0" i="0" u="none">
                <a:solidFill>
                  <a:srgbClr val="334155"/>
                </a:solidFill>
                <a:latin typeface="Times New Roman" panose="02020603050405020304" charset="0"/>
                <a:cs typeface="Times New Roman" panose="02020603050405020304" charset="0"/>
              </a:rPr>
              <a:t>registres </a:t>
            </a:r>
            <a:r>
              <a:rPr lang="fr-FR" sz="2000" b="0" i="0" u="none">
                <a:solidFill>
                  <a:srgbClr val="334155"/>
                </a:solidFill>
                <a:latin typeface="Times New Roman" panose="02020603050405020304" charset="0"/>
                <a:cs typeface="Times New Roman" panose="02020603050405020304" charset="0"/>
              </a:rPr>
              <a:t>papiers </a:t>
            </a:r>
            <a:r>
              <a:rPr sz="2000" b="0" i="0" u="none">
                <a:solidFill>
                  <a:srgbClr val="334155"/>
                </a:solidFill>
                <a:latin typeface="Times New Roman" panose="02020603050405020304" charset="0"/>
                <a:cs typeface="Times New Roman" panose="02020603050405020304" charset="0"/>
              </a:rPr>
              <a:t>malgré la digitalisation croissante de la société.</a:t>
            </a:r>
            <a:endParaRPr sz="2000" b="0" i="0" u="none">
              <a:solidFill>
                <a:srgbClr val="334155"/>
              </a:solidFill>
              <a:latin typeface="Times New Roman" panose="02020603050405020304" charset="0"/>
              <a:cs typeface="Times New Roman" panose="02020603050405020304" charset="0"/>
            </a:endParaRPr>
          </a:p>
        </p:txBody>
      </p:sp>
      <p:sp>
        <p:nvSpPr>
          <p:cNvPr id="4" name="TextBox 16"/>
          <p:cNvSpPr txBox="1"/>
          <p:nvPr/>
        </p:nvSpPr>
        <p:spPr>
          <a:xfrm>
            <a:off x="590550" y="4925060"/>
            <a:ext cx="5014912" cy="259080"/>
          </a:xfrm>
          <a:prstGeom prst="rect">
            <a:avLst/>
          </a:prstGeom>
          <a:noFill/>
        </p:spPr>
        <p:txBody>
          <a:bodyPr wrap="square" lIns="0" tIns="0" rIns="0" bIns="0" anchor="t">
            <a:spAutoFit/>
          </a:bodyPr>
          <a:lstStyle/>
          <a:p>
            <a:pPr algn="just">
              <a:lnSpc>
                <a:spcPts val="2025"/>
              </a:lnSpc>
            </a:pPr>
            <a:r>
              <a:rPr lang="fr-FR" sz="2000" b="1" i="0" u="none">
                <a:solidFill>
                  <a:srgbClr val="334155"/>
                </a:solidFill>
                <a:latin typeface="Lato" panose="020F0502020204030203"/>
              </a:rPr>
              <a:t>Adhésion massive au </a:t>
            </a:r>
            <a:r>
              <a:rPr sz="2000" b="1" i="0" u="none">
                <a:solidFill>
                  <a:srgbClr val="334155"/>
                </a:solidFill>
                <a:latin typeface="Lato" panose="020F0502020204030203"/>
              </a:rPr>
              <a:t>Mobile Money</a:t>
            </a:r>
            <a:r>
              <a:rPr sz="1600" b="1" i="0" u="none">
                <a:solidFill>
                  <a:srgbClr val="334155"/>
                </a:solidFill>
                <a:latin typeface="Lato" panose="020F0502020204030203"/>
              </a:rPr>
              <a:t> </a:t>
            </a:r>
            <a:r>
              <a:rPr sz="1600" b="0" i="0" u="none">
                <a:solidFill>
                  <a:srgbClr val="334155"/>
                </a:solidFill>
                <a:latin typeface="Lato" panose="020F0502020204030203"/>
              </a:rPr>
              <a:t>.</a:t>
            </a:r>
            <a:endParaRPr sz="1600" b="0" i="0" u="none">
              <a:solidFill>
                <a:srgbClr val="334155"/>
              </a:solidFill>
              <a:latin typeface="Lato" panose="020F0502020204030203"/>
            </a:endParaRPr>
          </a:p>
        </p:txBody>
      </p:sp>
      <p:pic>
        <p:nvPicPr>
          <p:cNvPr id="5" name="Picture 23" descr="image.png"/>
          <p:cNvPicPr>
            <a:picLocks noChangeAspect="1"/>
          </p:cNvPicPr>
          <p:nvPr/>
        </p:nvPicPr>
        <p:blipFill>
          <a:blip r:embed="rId4"/>
          <a:stretch>
            <a:fillRect/>
          </a:stretch>
        </p:blipFill>
        <p:spPr>
          <a:xfrm>
            <a:off x="352425" y="1479867"/>
            <a:ext cx="238125" cy="200025"/>
          </a:xfrm>
          <a:prstGeom prst="rect">
            <a:avLst/>
          </a:prstGeom>
        </p:spPr>
      </p:pic>
      <p:pic>
        <p:nvPicPr>
          <p:cNvPr id="25" name="Picture 24" descr="image.png"/>
          <p:cNvPicPr>
            <a:picLocks noChangeAspect="1"/>
          </p:cNvPicPr>
          <p:nvPr/>
        </p:nvPicPr>
        <p:blipFill>
          <a:blip r:embed="rId5"/>
          <a:stretch>
            <a:fillRect/>
          </a:stretch>
        </p:blipFill>
        <p:spPr>
          <a:xfrm>
            <a:off x="228600" y="3084512"/>
            <a:ext cx="190500" cy="200025"/>
          </a:xfrm>
          <a:prstGeom prst="rect">
            <a:avLst/>
          </a:prstGeom>
        </p:spPr>
      </p:pic>
      <p:pic>
        <p:nvPicPr>
          <p:cNvPr id="26" name="Picture 25" descr="image.png"/>
          <p:cNvPicPr>
            <a:picLocks noChangeAspect="1"/>
          </p:cNvPicPr>
          <p:nvPr/>
        </p:nvPicPr>
        <p:blipFill>
          <a:blip r:embed="rId6"/>
          <a:stretch>
            <a:fillRect/>
          </a:stretch>
        </p:blipFill>
        <p:spPr>
          <a:xfrm>
            <a:off x="247650" y="4948872"/>
            <a:ext cx="123825" cy="20002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par>
                                <p:cTn id="8" presetID="22" presetClass="entr" presetSubtype="4"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down)">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down)">
                                      <p:cBhvr>
                                        <p:cTn id="15" dur="500"/>
                                        <p:tgtEl>
                                          <p:spTgt spid="3"/>
                                        </p:tgtEl>
                                      </p:cBhvr>
                                    </p:animEffect>
                                  </p:childTnLst>
                                </p:cTn>
                              </p:par>
                              <p:par>
                                <p:cTn id="16" presetID="22" presetClass="entr" presetSubtype="4"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down)">
                                      <p:cBhvr>
                                        <p:cTn id="18" dur="5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wipe(down)">
                                      <p:cBhvr>
                                        <p:cTn id="23" dur="500"/>
                                        <p:tgtEl>
                                          <p:spTgt spid="4"/>
                                        </p:tgtEl>
                                      </p:cBhvr>
                                    </p:animEffect>
                                  </p:childTnLst>
                                </p:cTn>
                              </p:par>
                              <p:par>
                                <p:cTn id="24" presetID="22" presetClass="entr" presetSubtype="4"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wipe(down)">
                                      <p:cBhvr>
                                        <p:cTn id="26"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p:bldP spid="3" grpId="1"/>
      <p:bldP spid="4" grpId="0"/>
      <p:bldP spid="4"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rPr>
              <a:t>RENTAL</a:t>
            </a:r>
            <a:endPar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151" name="Google Shape;151;p16"/>
          <p:cNvSpPr txBox="1"/>
          <p:nvPr/>
        </p:nvSpPr>
        <p:spPr>
          <a:xfrm>
            <a:off x="9948862" y="471487"/>
            <a:ext cx="16716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LES LIMITATIONS MÉTIERS</a:t>
            </a:r>
            <a:endParaRPr lang="en-US" sz="975"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52" name="Google Shape;152;p16"/>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rPr>
              <a:t>Ipnet Institute of Technology — Soutenance de Licence Professionnelle</a:t>
            </a:r>
            <a:endPar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p:txBody>
      </p:sp>
      <p:sp>
        <p:nvSpPr>
          <p:cNvPr id="153" name="Google Shape;153;p16"/>
          <p:cNvSpPr txBox="1"/>
          <p:nvPr/>
        </p:nvSpPr>
        <p:spPr>
          <a:xfrm>
            <a:off x="11487150" y="6286500"/>
            <a:ext cx="356870" cy="45275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04</a:t>
            </a:r>
            <a:endParaRPr 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endParaRPr>
          </a:p>
        </p:txBody>
      </p:sp>
      <p:sp>
        <p:nvSpPr>
          <p:cNvPr id="6" name="Zone de texte 5"/>
          <p:cNvSpPr txBox="1"/>
          <p:nvPr/>
        </p:nvSpPr>
        <p:spPr>
          <a:xfrm>
            <a:off x="2323465" y="2414905"/>
            <a:ext cx="8166735" cy="1399540"/>
          </a:xfrm>
          <a:prstGeom prst="rect">
            <a:avLst/>
          </a:prstGeom>
          <a:noFill/>
          <a:ln>
            <a:solidFill>
              <a:schemeClr val="tx1"/>
            </a:solidFill>
          </a:ln>
        </p:spPr>
        <p:txBody>
          <a:bodyPr wrap="square" rtlCol="0" anchor="t">
            <a:noAutofit/>
          </a:bodyPr>
          <a:p>
            <a:pPr marL="0" indent="0" algn="ctr">
              <a:lnSpc>
                <a:spcPct val="105000"/>
              </a:lnSpc>
              <a:buNone/>
            </a:pPr>
            <a:r>
              <a:rPr lang="en-US" sz="6600" b="1" cap="all">
                <a:solidFill>
                  <a:srgbClr val="1E293B"/>
                </a:solidFill>
                <a:uFillTx/>
                <a:latin typeface="Times New Roman" panose="02020603050405020304" charset="0"/>
                <a:ea typeface="Poppins" panose="00000500000000000000"/>
                <a:cs typeface="Times New Roman" panose="02020603050405020304" charset="0"/>
                <a:sym typeface="Poppins" panose="00000500000000000000"/>
              </a:rPr>
              <a:t>Pro</a:t>
            </a:r>
            <a:r>
              <a:rPr lang="fr-FR" altLang="en-US" sz="6600" b="1" cap="all">
                <a:solidFill>
                  <a:srgbClr val="1E293B"/>
                </a:solidFill>
                <a:uFillTx/>
                <a:latin typeface="Times New Roman" panose="02020603050405020304" charset="0"/>
                <a:ea typeface="Poppins" panose="00000500000000000000"/>
                <a:cs typeface="Times New Roman" panose="02020603050405020304" charset="0"/>
                <a:sym typeface="Poppins" panose="00000500000000000000"/>
              </a:rPr>
              <a:t>blématique</a:t>
            </a:r>
            <a:endParaRPr lang="fr-FR" altLang="en-US" sz="6600" b="1" cap="all" dirty="0">
              <a:solidFill>
                <a:srgbClr val="1E293B"/>
              </a:solidFill>
              <a:uFillTx/>
              <a:latin typeface="Times New Roman" panose="02020603050405020304" charset="0"/>
              <a:ea typeface="Poppins" panose="00000500000000000000"/>
              <a:cs typeface="Times New Roman" panose="02020603050405020304" charset="0"/>
              <a:sym typeface="Poppins" panose="00000500000000000000"/>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rPr>
              <a:t>RENTAL</a:t>
            </a:r>
            <a:endPar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152" name="Google Shape;152;p16"/>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rPr>
              <a:t>Ipnet Institute of Technology — Soutenance de Licence Professionnelle</a:t>
            </a:r>
            <a:endPar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p:txBody>
      </p:sp>
      <p:sp>
        <p:nvSpPr>
          <p:cNvPr id="153" name="Google Shape;153;p16"/>
          <p:cNvSpPr txBox="1"/>
          <p:nvPr/>
        </p:nvSpPr>
        <p:spPr>
          <a:xfrm>
            <a:off x="11487150" y="6286500"/>
            <a:ext cx="369570" cy="14287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0</a:t>
            </a:r>
            <a:r>
              <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5</a:t>
            </a:r>
            <a:endPar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endParaRPr>
          </a:p>
        </p:txBody>
      </p:sp>
      <p:sp>
        <p:nvSpPr>
          <p:cNvPr id="21" name="Shape 0"/>
          <p:cNvSpPr/>
          <p:nvPr/>
        </p:nvSpPr>
        <p:spPr>
          <a:xfrm>
            <a:off x="571500" y="1266190"/>
            <a:ext cx="3291840" cy="384048"/>
          </a:xfrm>
          <a:prstGeom prst="roundRect">
            <a:avLst>
              <a:gd name="adj" fmla="val 50000"/>
            </a:avLst>
          </a:prstGeom>
          <a:solidFill>
            <a:schemeClr val="bg2">
              <a:lumMod val="60000"/>
              <a:lumOff val="40000"/>
            </a:schemeClr>
          </a:solidFill>
        </p:spPr>
      </p:sp>
      <p:sp>
        <p:nvSpPr>
          <p:cNvPr id="22" name="Text 1"/>
          <p:cNvSpPr/>
          <p:nvPr/>
        </p:nvSpPr>
        <p:spPr>
          <a:xfrm>
            <a:off x="571500" y="1266190"/>
            <a:ext cx="3291840" cy="384048"/>
          </a:xfrm>
          <a:prstGeom prst="rect">
            <a:avLst/>
          </a:prstGeom>
          <a:noFill/>
        </p:spPr>
        <p:txBody>
          <a:bodyPr wrap="square" rtlCol="0" anchor="ctr"/>
          <a:lstStyle/>
          <a:p>
            <a:pPr marL="0" indent="0" algn="ctr">
              <a:buNone/>
            </a:pPr>
            <a:r>
              <a:rPr lang="en-US" sz="1200" b="1" kern="0" spc="200" dirty="0">
                <a:solidFill>
                  <a:srgbClr val="FFFFFF"/>
                </a:solidFill>
                <a:latin typeface="Times New Roman" panose="02020603050405020304" charset="0"/>
                <a:ea typeface="Calibri" panose="020F0502020204030204" pitchFamily="34" charset="-122"/>
                <a:cs typeface="Times New Roman" panose="02020603050405020304" charset="0"/>
              </a:rPr>
              <a:t>ARCHIVAGE PAPIER</a:t>
            </a:r>
            <a:endParaRPr lang="en-US" sz="1200" b="1" kern="0" spc="200" dirty="0">
              <a:solidFill>
                <a:srgbClr val="FFFFFF"/>
              </a:solidFill>
              <a:latin typeface="Times New Roman" panose="02020603050405020304" charset="0"/>
              <a:ea typeface="Calibri" panose="020F0502020204030204" pitchFamily="34" charset="-122"/>
              <a:cs typeface="Times New Roman" panose="02020603050405020304" charset="0"/>
            </a:endParaRPr>
          </a:p>
        </p:txBody>
      </p:sp>
      <p:sp>
        <p:nvSpPr>
          <p:cNvPr id="23" name="Text 2"/>
          <p:cNvSpPr/>
          <p:nvPr/>
        </p:nvSpPr>
        <p:spPr>
          <a:xfrm>
            <a:off x="571500" y="1860550"/>
            <a:ext cx="6766560" cy="1005840"/>
          </a:xfrm>
          <a:prstGeom prst="rect">
            <a:avLst/>
          </a:prstGeom>
          <a:noFill/>
        </p:spPr>
        <p:txBody>
          <a:bodyPr wrap="square" rtlCol="0" anchor="ctr"/>
          <a:lstStyle/>
          <a:p>
            <a:pPr marL="0" indent="0">
              <a:lnSpc>
                <a:spcPct val="105000"/>
              </a:lnSpc>
              <a:buNone/>
            </a:pPr>
            <a:r>
              <a:rPr lang="en-US" sz="3000" b="1" dirty="0">
                <a:solidFill>
                  <a:srgbClr val="1B2A4A"/>
                </a:solidFill>
                <a:latin typeface="Times New Roman" panose="02020603050405020304" charset="0"/>
                <a:ea typeface="Cambria" panose="02040503050406030204" pitchFamily="34" charset="-122"/>
                <a:cs typeface="Times New Roman" panose="02020603050405020304" charset="0"/>
              </a:rPr>
              <a:t>Pertes d'informations </a:t>
            </a:r>
            <a:endParaRPr lang="en-US" sz="3000" b="1" dirty="0">
              <a:solidFill>
                <a:srgbClr val="1B2A4A"/>
              </a:solidFill>
              <a:latin typeface="Times New Roman" panose="02020603050405020304" charset="0"/>
              <a:ea typeface="Cambria" panose="02040503050406030204" pitchFamily="34" charset="-122"/>
              <a:cs typeface="Times New Roman" panose="02020603050405020304" charset="0"/>
            </a:endParaRPr>
          </a:p>
        </p:txBody>
      </p:sp>
      <p:sp>
        <p:nvSpPr>
          <p:cNvPr id="24" name="Text 3"/>
          <p:cNvSpPr/>
          <p:nvPr/>
        </p:nvSpPr>
        <p:spPr>
          <a:xfrm>
            <a:off x="571500" y="3003550"/>
            <a:ext cx="6309360" cy="1188720"/>
          </a:xfrm>
          <a:prstGeom prst="rect">
            <a:avLst/>
          </a:prstGeom>
          <a:noFill/>
        </p:spPr>
        <p:txBody>
          <a:bodyPr wrap="square" rtlCol="0" anchor="ctr"/>
          <a:lstStyle/>
          <a:p>
            <a:pPr marL="0" indent="0">
              <a:lnSpc>
                <a:spcPct val="135000"/>
              </a:lnSpc>
              <a:buNone/>
            </a:pPr>
            <a:r>
              <a:rPr lang="en-US" sz="2000" dirty="0">
                <a:solidFill>
                  <a:schemeClr val="tx1"/>
                </a:solidFill>
                <a:latin typeface="Times New Roman" panose="02020603050405020304" charset="0"/>
                <a:ea typeface="Calibri" panose="020F0502020204030204" pitchFamily="34" charset="-122"/>
                <a:cs typeface="Times New Roman" panose="02020603050405020304" charset="0"/>
              </a:rPr>
              <a:t>L'archivage sur carnets papier ou registres physiques expose à d'importants risques d'altération et de destruction accidentelle.</a:t>
            </a:r>
            <a:endParaRPr lang="en-US" sz="2000" dirty="0">
              <a:solidFill>
                <a:schemeClr val="tx1"/>
              </a:solidFill>
              <a:latin typeface="Times New Roman" panose="02020603050405020304" charset="0"/>
              <a:ea typeface="Calibri" panose="020F0502020204030204" pitchFamily="34" charset="-122"/>
              <a:cs typeface="Times New Roman" panose="02020603050405020304" charset="0"/>
            </a:endParaRPr>
          </a:p>
        </p:txBody>
      </p:sp>
      <p:sp>
        <p:nvSpPr>
          <p:cNvPr id="25" name="Shape 4"/>
          <p:cNvSpPr/>
          <p:nvPr/>
        </p:nvSpPr>
        <p:spPr>
          <a:xfrm>
            <a:off x="571500" y="4512310"/>
            <a:ext cx="6309360" cy="1417320"/>
          </a:xfrm>
          <a:prstGeom prst="roundRect">
            <a:avLst>
              <a:gd name="adj" fmla="val 5161"/>
            </a:avLst>
          </a:prstGeom>
          <a:solidFill>
            <a:srgbClr val="F2F4F8"/>
          </a:solidFill>
        </p:spPr>
      </p:sp>
      <p:sp>
        <p:nvSpPr>
          <p:cNvPr id="26" name="Text 5"/>
          <p:cNvSpPr/>
          <p:nvPr/>
        </p:nvSpPr>
        <p:spPr>
          <a:xfrm>
            <a:off x="571500" y="4695190"/>
            <a:ext cx="2743200" cy="274320"/>
          </a:xfrm>
          <a:prstGeom prst="rect">
            <a:avLst/>
          </a:prstGeom>
          <a:noFill/>
        </p:spPr>
        <p:txBody>
          <a:bodyPr wrap="square" rtlCol="0" anchor="ctr"/>
          <a:lstStyle/>
          <a:p>
            <a:pPr marL="0" indent="0">
              <a:buNone/>
            </a:pPr>
            <a:r>
              <a:rPr lang="en-US" sz="1800" b="1" kern="0" spc="150" dirty="0">
                <a:solidFill>
                  <a:srgbClr val="C1443B"/>
                </a:solidFill>
                <a:latin typeface="Times New Roman" panose="02020603050405020304" charset="0"/>
                <a:ea typeface="Calibri" panose="020F0502020204030204" pitchFamily="34" charset="-122"/>
                <a:cs typeface="Times New Roman" panose="02020603050405020304" charset="0"/>
              </a:rPr>
              <a:t>RISQUE</a:t>
            </a:r>
            <a:endParaRPr lang="en-US" sz="1800" b="1" kern="0" spc="150" dirty="0">
              <a:solidFill>
                <a:srgbClr val="C1443B"/>
              </a:solidFill>
              <a:latin typeface="Times New Roman" panose="02020603050405020304" charset="0"/>
              <a:ea typeface="Calibri" panose="020F0502020204030204" pitchFamily="34" charset="-122"/>
              <a:cs typeface="Times New Roman" panose="02020603050405020304" charset="0"/>
            </a:endParaRPr>
          </a:p>
        </p:txBody>
      </p:sp>
      <p:sp>
        <p:nvSpPr>
          <p:cNvPr id="27" name="Text 6"/>
          <p:cNvSpPr/>
          <p:nvPr/>
        </p:nvSpPr>
        <p:spPr>
          <a:xfrm>
            <a:off x="571500" y="4969510"/>
            <a:ext cx="5760720" cy="868680"/>
          </a:xfrm>
          <a:prstGeom prst="rect">
            <a:avLst/>
          </a:prstGeom>
          <a:noFill/>
        </p:spPr>
        <p:txBody>
          <a:bodyPr wrap="square" rtlCol="0" anchor="ctr"/>
          <a:lstStyle/>
          <a:p>
            <a:pPr marL="0" indent="0">
              <a:lnSpc>
                <a:spcPct val="125000"/>
              </a:lnSpc>
              <a:buNone/>
            </a:pPr>
            <a:r>
              <a:rPr lang="en-US" sz="2000" dirty="0">
                <a:solidFill>
                  <a:srgbClr val="1B2A4A"/>
                </a:solidFill>
                <a:latin typeface="Times New Roman" panose="02020603050405020304" charset="0"/>
                <a:ea typeface="Calibri" panose="020F0502020204030204" pitchFamily="34" charset="-122"/>
                <a:cs typeface="Times New Roman" panose="02020603050405020304" charset="0"/>
              </a:rPr>
              <a:t>Perte définitive et irréversible des données de l'activité aucune sauvegarde, aucune traçabilité.</a:t>
            </a:r>
            <a:endParaRPr lang="en-US" sz="2000" dirty="0">
              <a:solidFill>
                <a:srgbClr val="1B2A4A"/>
              </a:solidFill>
              <a:latin typeface="Times New Roman" panose="02020603050405020304" charset="0"/>
              <a:ea typeface="Calibri" panose="020F0502020204030204" pitchFamily="34" charset="-122"/>
              <a:cs typeface="Times New Roman" panose="02020603050405020304" charset="0"/>
            </a:endParaRPr>
          </a:p>
        </p:txBody>
      </p:sp>
      <p:sp>
        <p:nvSpPr>
          <p:cNvPr id="28" name="Shape 7"/>
          <p:cNvSpPr/>
          <p:nvPr/>
        </p:nvSpPr>
        <p:spPr>
          <a:xfrm>
            <a:off x="7703820" y="2180590"/>
            <a:ext cx="3108960" cy="1965960"/>
          </a:xfrm>
          <a:prstGeom prst="roundRect">
            <a:avLst>
              <a:gd name="adj" fmla="val 2791"/>
            </a:avLst>
          </a:prstGeom>
          <a:solidFill>
            <a:srgbClr val="F2F4F8"/>
          </a:solidFill>
          <a:ln w="9525">
            <a:solidFill>
              <a:srgbClr val="C3CADA"/>
            </a:solidFill>
            <a:prstDash val="solid"/>
          </a:ln>
        </p:spPr>
      </p:sp>
      <p:sp>
        <p:nvSpPr>
          <p:cNvPr id="29" name="Shape 8"/>
          <p:cNvSpPr/>
          <p:nvPr/>
        </p:nvSpPr>
        <p:spPr>
          <a:xfrm>
            <a:off x="7904988" y="2436622"/>
            <a:ext cx="3108960" cy="1965960"/>
          </a:xfrm>
          <a:prstGeom prst="roundRect">
            <a:avLst>
              <a:gd name="adj" fmla="val 2791"/>
            </a:avLst>
          </a:prstGeom>
          <a:solidFill>
            <a:srgbClr val="E3E7EF"/>
          </a:solidFill>
          <a:ln w="9525">
            <a:solidFill>
              <a:srgbClr val="C3CADA"/>
            </a:solidFill>
            <a:prstDash val="solid"/>
          </a:ln>
        </p:spPr>
      </p:sp>
      <p:sp>
        <p:nvSpPr>
          <p:cNvPr id="30" name="Shape 9"/>
          <p:cNvSpPr/>
          <p:nvPr/>
        </p:nvSpPr>
        <p:spPr>
          <a:xfrm>
            <a:off x="8106156" y="2692654"/>
            <a:ext cx="3108960" cy="1965960"/>
          </a:xfrm>
          <a:prstGeom prst="roundRect">
            <a:avLst>
              <a:gd name="adj" fmla="val 2791"/>
            </a:avLst>
          </a:prstGeom>
          <a:solidFill>
            <a:srgbClr val="D5DAE6"/>
          </a:solidFill>
          <a:ln w="9525">
            <a:solidFill>
              <a:srgbClr val="C3CADA"/>
            </a:solidFill>
            <a:prstDash val="solid"/>
          </a:ln>
          <a:effectLst>
            <a:outerShdw blurRad="76200" dist="38100" dir="5400000" algn="bl" rotWithShape="0">
              <a:srgbClr val="666677">
                <a:alpha val="25000"/>
              </a:srgbClr>
            </a:outerShdw>
          </a:effectLst>
        </p:spPr>
      </p:sp>
      <p:sp>
        <p:nvSpPr>
          <p:cNvPr id="31" name="Shape 10"/>
          <p:cNvSpPr/>
          <p:nvPr/>
        </p:nvSpPr>
        <p:spPr>
          <a:xfrm>
            <a:off x="8023860" y="2564638"/>
            <a:ext cx="2468880" cy="0"/>
          </a:xfrm>
          <a:prstGeom prst="line">
            <a:avLst/>
          </a:prstGeom>
          <a:noFill/>
          <a:ln w="12700">
            <a:solidFill>
              <a:srgbClr val="AEB7C7"/>
            </a:solidFill>
            <a:prstDash val="solid"/>
          </a:ln>
        </p:spPr>
      </p:sp>
      <p:sp>
        <p:nvSpPr>
          <p:cNvPr id="32" name="Shape 11"/>
          <p:cNvSpPr/>
          <p:nvPr/>
        </p:nvSpPr>
        <p:spPr>
          <a:xfrm>
            <a:off x="8023860" y="2857246"/>
            <a:ext cx="2468880" cy="0"/>
          </a:xfrm>
          <a:prstGeom prst="line">
            <a:avLst/>
          </a:prstGeom>
          <a:noFill/>
          <a:ln w="12700">
            <a:solidFill>
              <a:srgbClr val="AEB7C7"/>
            </a:solidFill>
            <a:prstDash val="solid"/>
          </a:ln>
        </p:spPr>
      </p:sp>
      <p:sp>
        <p:nvSpPr>
          <p:cNvPr id="33" name="Shape 12"/>
          <p:cNvSpPr/>
          <p:nvPr/>
        </p:nvSpPr>
        <p:spPr>
          <a:xfrm>
            <a:off x="8023860" y="3149854"/>
            <a:ext cx="2468880" cy="0"/>
          </a:xfrm>
          <a:prstGeom prst="line">
            <a:avLst/>
          </a:prstGeom>
          <a:noFill/>
          <a:ln w="12700">
            <a:solidFill>
              <a:srgbClr val="AEB7C7"/>
            </a:solidFill>
            <a:prstDash val="solid"/>
          </a:ln>
        </p:spPr>
      </p:sp>
      <p:sp>
        <p:nvSpPr>
          <p:cNvPr id="34" name="Shape 13"/>
          <p:cNvSpPr/>
          <p:nvPr/>
        </p:nvSpPr>
        <p:spPr>
          <a:xfrm>
            <a:off x="8023860" y="3442462"/>
            <a:ext cx="2468880" cy="0"/>
          </a:xfrm>
          <a:prstGeom prst="line">
            <a:avLst/>
          </a:prstGeom>
          <a:noFill/>
          <a:ln w="12700">
            <a:solidFill>
              <a:srgbClr val="AEB7C7"/>
            </a:solidFill>
            <a:prstDash val="solid"/>
          </a:ln>
        </p:spPr>
      </p:sp>
      <p:sp>
        <p:nvSpPr>
          <p:cNvPr id="35" name="Shape 14"/>
          <p:cNvSpPr/>
          <p:nvPr/>
        </p:nvSpPr>
        <p:spPr>
          <a:xfrm>
            <a:off x="8023860" y="3735070"/>
            <a:ext cx="2468880" cy="0"/>
          </a:xfrm>
          <a:prstGeom prst="line">
            <a:avLst/>
          </a:prstGeom>
          <a:noFill/>
          <a:ln w="12700">
            <a:solidFill>
              <a:srgbClr val="AEB7C7"/>
            </a:solidFill>
            <a:prstDash val="solid"/>
          </a:ln>
        </p:spPr>
      </p:sp>
      <p:sp>
        <p:nvSpPr>
          <p:cNvPr id="36" name="Shape 15"/>
          <p:cNvSpPr/>
          <p:nvPr/>
        </p:nvSpPr>
        <p:spPr>
          <a:xfrm rot="-1080000" flipV="1">
            <a:off x="7566660" y="3597910"/>
            <a:ext cx="3657600" cy="822960"/>
          </a:xfrm>
          <a:prstGeom prst="line">
            <a:avLst/>
          </a:prstGeom>
          <a:noFill/>
          <a:ln w="28575">
            <a:solidFill>
              <a:srgbClr val="C1443B"/>
            </a:solidFill>
            <a:prstDash val="solid"/>
          </a:ln>
        </p:spPr>
      </p:sp>
      <p:sp>
        <p:nvSpPr>
          <p:cNvPr id="37" name="Shape 16"/>
          <p:cNvSpPr/>
          <p:nvPr/>
        </p:nvSpPr>
        <p:spPr>
          <a:xfrm>
            <a:off x="10035540" y="1860550"/>
            <a:ext cx="960120" cy="960120"/>
          </a:xfrm>
          <a:prstGeom prst="ellipse">
            <a:avLst/>
          </a:prstGeom>
          <a:solidFill>
            <a:schemeClr val="bg1"/>
          </a:solidFill>
        </p:spPr>
      </p:sp>
      <p:pic>
        <p:nvPicPr>
          <p:cNvPr id="38" name="Image 0" descr="icon-file-warning.png"/>
          <p:cNvPicPr>
            <a:picLocks noChangeAspect="1"/>
          </p:cNvPicPr>
          <p:nvPr/>
        </p:nvPicPr>
        <p:blipFill>
          <a:blip r:embed="rId3"/>
          <a:stretch>
            <a:fillRect/>
          </a:stretch>
        </p:blipFill>
        <p:spPr>
          <a:xfrm>
            <a:off x="10251567" y="2076577"/>
            <a:ext cx="528066" cy="52806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rPr>
              <a:t>RENTAL</a:t>
            </a:r>
            <a:endPar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152" name="Google Shape;152;p16"/>
          <p:cNvSpPr txBox="1"/>
          <p:nvPr/>
        </p:nvSpPr>
        <p:spPr>
          <a:xfrm>
            <a:off x="571500" y="636524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rPr>
              <a:t>Ipnet Institute of Technology — Soutenance de Licence Professionnelle</a:t>
            </a:r>
            <a:endPar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p:txBody>
      </p:sp>
      <p:sp>
        <p:nvSpPr>
          <p:cNvPr id="153" name="Google Shape;153;p16"/>
          <p:cNvSpPr txBox="1"/>
          <p:nvPr/>
        </p:nvSpPr>
        <p:spPr>
          <a:xfrm>
            <a:off x="11487150" y="6286500"/>
            <a:ext cx="379730" cy="2768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0</a:t>
            </a:r>
            <a:r>
              <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6</a:t>
            </a:r>
            <a:endPar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endParaRPr>
          </a:p>
        </p:txBody>
      </p:sp>
      <p:sp>
        <p:nvSpPr>
          <p:cNvPr id="2" name="Shape 0"/>
          <p:cNvSpPr/>
          <p:nvPr/>
        </p:nvSpPr>
        <p:spPr>
          <a:xfrm>
            <a:off x="765810" y="1078230"/>
            <a:ext cx="3291840" cy="384048"/>
          </a:xfrm>
          <a:prstGeom prst="roundRect">
            <a:avLst>
              <a:gd name="adj" fmla="val 50000"/>
            </a:avLst>
          </a:prstGeom>
          <a:solidFill>
            <a:schemeClr val="bg2">
              <a:lumMod val="60000"/>
              <a:lumOff val="40000"/>
            </a:schemeClr>
          </a:solidFill>
        </p:spPr>
      </p:sp>
      <p:sp>
        <p:nvSpPr>
          <p:cNvPr id="3" name="Text 1"/>
          <p:cNvSpPr/>
          <p:nvPr/>
        </p:nvSpPr>
        <p:spPr>
          <a:xfrm>
            <a:off x="873760" y="1078230"/>
            <a:ext cx="3291840" cy="384048"/>
          </a:xfrm>
          <a:prstGeom prst="rect">
            <a:avLst/>
          </a:prstGeom>
          <a:noFill/>
        </p:spPr>
        <p:txBody>
          <a:bodyPr wrap="square" rtlCol="0" anchor="ctr"/>
          <a:lstStyle/>
          <a:p>
            <a:pPr marL="0" indent="0" algn="ctr">
              <a:buNone/>
            </a:pPr>
            <a:r>
              <a:rPr lang="en-US" sz="1200" b="1" kern="0" spc="200" dirty="0">
                <a:solidFill>
                  <a:srgbClr val="FFFFFF"/>
                </a:solidFill>
                <a:latin typeface="Times New Roman" panose="02020603050405020304" charset="0"/>
                <a:ea typeface="Calibri" panose="020F0502020204030204" pitchFamily="34" charset="-122"/>
                <a:cs typeface="Times New Roman" panose="02020603050405020304" charset="0"/>
              </a:rPr>
              <a:t>TRÉSORERIE</a:t>
            </a:r>
            <a:endParaRPr lang="en-US" sz="1200" b="1" kern="0" spc="200" dirty="0">
              <a:solidFill>
                <a:srgbClr val="FFFFFF"/>
              </a:solidFill>
              <a:latin typeface="Times New Roman" panose="02020603050405020304" charset="0"/>
              <a:ea typeface="Calibri" panose="020F0502020204030204" pitchFamily="34" charset="-122"/>
              <a:cs typeface="Times New Roman" panose="02020603050405020304" charset="0"/>
            </a:endParaRPr>
          </a:p>
        </p:txBody>
      </p:sp>
      <p:sp>
        <p:nvSpPr>
          <p:cNvPr id="4" name="Text 2"/>
          <p:cNvSpPr/>
          <p:nvPr/>
        </p:nvSpPr>
        <p:spPr>
          <a:xfrm>
            <a:off x="640080" y="1714500"/>
            <a:ext cx="6766560" cy="751205"/>
          </a:xfrm>
          <a:prstGeom prst="rect">
            <a:avLst/>
          </a:prstGeom>
          <a:noFill/>
        </p:spPr>
        <p:txBody>
          <a:bodyPr wrap="square" rtlCol="0" anchor="ctr"/>
          <a:lstStyle/>
          <a:p>
            <a:pPr marL="0" indent="0">
              <a:lnSpc>
                <a:spcPct val="105000"/>
              </a:lnSpc>
              <a:buNone/>
            </a:pPr>
            <a:r>
              <a:rPr lang="en-US" sz="3000" b="1" dirty="0">
                <a:solidFill>
                  <a:srgbClr val="1B2A4A"/>
                </a:solidFill>
                <a:latin typeface="Times New Roman" panose="02020603050405020304" charset="0"/>
                <a:ea typeface="Cambria" panose="02040503050406030204" pitchFamily="34" charset="-122"/>
                <a:cs typeface="Times New Roman" panose="02020603050405020304" charset="0"/>
              </a:rPr>
              <a:t>R</a:t>
            </a:r>
            <a:r>
              <a:rPr lang="fr-FR" altLang="en-US" sz="3000" b="1" dirty="0">
                <a:solidFill>
                  <a:srgbClr val="1B2A4A"/>
                </a:solidFill>
                <a:latin typeface="Times New Roman" panose="02020603050405020304" charset="0"/>
                <a:ea typeface="Cambria" panose="02040503050406030204" pitchFamily="34" charset="-122"/>
                <a:cs typeface="Times New Roman" panose="02020603050405020304" charset="0"/>
              </a:rPr>
              <a:t>ecouvrement de loyer</a:t>
            </a:r>
            <a:r>
              <a:rPr lang="en-US" sz="3000" b="1" dirty="0">
                <a:solidFill>
                  <a:srgbClr val="1B2A4A"/>
                </a:solidFill>
                <a:latin typeface="Times New Roman" panose="02020603050405020304" charset="0"/>
                <a:ea typeface="Cambria" panose="02040503050406030204" pitchFamily="34" charset="-122"/>
                <a:cs typeface="Times New Roman" panose="02020603050405020304" charset="0"/>
              </a:rPr>
              <a:t> </a:t>
            </a:r>
            <a:endParaRPr lang="en-US" sz="3000" dirty="0">
              <a:latin typeface="Times New Roman" panose="02020603050405020304" charset="0"/>
              <a:cs typeface="Times New Roman" panose="02020603050405020304" charset="0"/>
            </a:endParaRPr>
          </a:p>
        </p:txBody>
      </p:sp>
      <p:sp>
        <p:nvSpPr>
          <p:cNvPr id="5" name="Text 3"/>
          <p:cNvSpPr/>
          <p:nvPr/>
        </p:nvSpPr>
        <p:spPr>
          <a:xfrm>
            <a:off x="640080" y="2523490"/>
            <a:ext cx="6309360" cy="1704975"/>
          </a:xfrm>
          <a:prstGeom prst="rect">
            <a:avLst/>
          </a:prstGeom>
          <a:noFill/>
        </p:spPr>
        <p:txBody>
          <a:bodyPr wrap="square" rtlCol="0" anchor="ctr"/>
          <a:lstStyle/>
          <a:p>
            <a:pPr marL="0" indent="0">
              <a:lnSpc>
                <a:spcPct val="135000"/>
              </a:lnSpc>
              <a:buNone/>
            </a:pPr>
            <a:r>
              <a:rPr lang="en-US" altLang="fr-FR" sz="2000" dirty="0">
                <a:solidFill>
                  <a:schemeClr val="tx1"/>
                </a:solidFill>
                <a:latin typeface="Times New Roman" panose="02020603050405020304" charset="0"/>
                <a:ea typeface="Calibri" panose="020F0502020204030204" pitchFamily="34" charset="-122"/>
                <a:cs typeface="Times New Roman" panose="02020603050405020304" charset="0"/>
              </a:rPr>
              <a:t>La persistance du r</a:t>
            </a:r>
            <a:r>
              <a:rPr lang="en-US" altLang="en-US" sz="2000" dirty="0">
                <a:solidFill>
                  <a:schemeClr val="tx1"/>
                </a:solidFill>
                <a:latin typeface="Times New Roman" panose="02020603050405020304" charset="0"/>
                <a:ea typeface="Calibri" panose="020F0502020204030204" pitchFamily="34" charset="-122"/>
                <a:cs typeface="Times New Roman" panose="02020603050405020304" charset="0"/>
              </a:rPr>
              <a:t>è</a:t>
            </a:r>
            <a:r>
              <a:rPr lang="en-US" altLang="fr-FR" sz="2000" dirty="0">
                <a:solidFill>
                  <a:schemeClr val="tx1"/>
                </a:solidFill>
                <a:latin typeface="Times New Roman" panose="02020603050405020304" charset="0"/>
                <a:ea typeface="Calibri" panose="020F0502020204030204" pitchFamily="34" charset="-122"/>
                <a:cs typeface="Times New Roman" panose="02020603050405020304" charset="0"/>
              </a:rPr>
              <a:t>glement des loyers de main à main (informel), alors m</a:t>
            </a:r>
            <a:r>
              <a:rPr lang="en-US" altLang="en-US" sz="2000" dirty="0">
                <a:solidFill>
                  <a:schemeClr val="tx1"/>
                </a:solidFill>
                <a:latin typeface="Times New Roman" panose="02020603050405020304" charset="0"/>
                <a:ea typeface="Calibri" panose="020F0502020204030204" pitchFamily="34" charset="-122"/>
                <a:cs typeface="Times New Roman" panose="02020603050405020304" charset="0"/>
              </a:rPr>
              <a:t>ê</a:t>
            </a:r>
            <a:r>
              <a:rPr lang="en-US" altLang="fr-FR" sz="2000" dirty="0">
                <a:solidFill>
                  <a:schemeClr val="tx1"/>
                </a:solidFill>
                <a:latin typeface="Times New Roman" panose="02020603050405020304" charset="0"/>
                <a:ea typeface="Calibri" panose="020F0502020204030204" pitchFamily="34" charset="-122"/>
                <a:cs typeface="Times New Roman" panose="02020603050405020304" charset="0"/>
              </a:rPr>
              <a:t>me qu'il existe une forte adh</a:t>
            </a:r>
            <a:r>
              <a:rPr lang="en-US" altLang="en-US" sz="2000" dirty="0">
                <a:solidFill>
                  <a:schemeClr val="tx1"/>
                </a:solidFill>
                <a:latin typeface="Times New Roman" panose="02020603050405020304" charset="0"/>
                <a:ea typeface="Calibri" panose="020F0502020204030204" pitchFamily="34" charset="-122"/>
                <a:cs typeface="Times New Roman" panose="02020603050405020304" charset="0"/>
              </a:rPr>
              <a:t>é</a:t>
            </a:r>
            <a:r>
              <a:rPr lang="en-US" altLang="fr-FR" sz="2000" dirty="0">
                <a:solidFill>
                  <a:schemeClr val="tx1"/>
                </a:solidFill>
                <a:latin typeface="Times New Roman" panose="02020603050405020304" charset="0"/>
                <a:ea typeface="Calibri" panose="020F0502020204030204" pitchFamily="34" charset="-122"/>
                <a:cs typeface="Times New Roman" panose="02020603050405020304" charset="0"/>
              </a:rPr>
              <a:t>sion des populations aux solutions de Mobile Money</a:t>
            </a:r>
            <a:r>
              <a:rPr lang="en-US" sz="2000" dirty="0">
                <a:solidFill>
                  <a:schemeClr val="tx1"/>
                </a:solidFill>
                <a:latin typeface="Times New Roman" panose="02020603050405020304" charset="0"/>
                <a:ea typeface="Calibri" panose="020F0502020204030204" pitchFamily="34" charset="-122"/>
                <a:cs typeface="Times New Roman" panose="02020603050405020304" charset="0"/>
              </a:rPr>
              <a:t>.</a:t>
            </a:r>
            <a:endParaRPr lang="en-US" sz="2000" dirty="0">
              <a:solidFill>
                <a:schemeClr val="tx1"/>
              </a:solidFill>
              <a:latin typeface="Times New Roman" panose="02020603050405020304" charset="0"/>
              <a:ea typeface="Calibri" panose="020F0502020204030204" pitchFamily="34" charset="-122"/>
              <a:cs typeface="Times New Roman" panose="02020603050405020304" charset="0"/>
            </a:endParaRPr>
          </a:p>
        </p:txBody>
      </p:sp>
      <p:sp>
        <p:nvSpPr>
          <p:cNvPr id="6" name="Shape 4"/>
          <p:cNvSpPr/>
          <p:nvPr/>
        </p:nvSpPr>
        <p:spPr>
          <a:xfrm>
            <a:off x="640080" y="4459605"/>
            <a:ext cx="6309360" cy="1674495"/>
          </a:xfrm>
          <a:prstGeom prst="roundRect">
            <a:avLst>
              <a:gd name="adj" fmla="val 5161"/>
            </a:avLst>
          </a:prstGeom>
          <a:solidFill>
            <a:srgbClr val="F2F4F8"/>
          </a:solidFill>
        </p:spPr>
      </p:sp>
      <p:sp>
        <p:nvSpPr>
          <p:cNvPr id="7" name="Text 5"/>
          <p:cNvSpPr/>
          <p:nvPr/>
        </p:nvSpPr>
        <p:spPr>
          <a:xfrm>
            <a:off x="640080" y="4464050"/>
            <a:ext cx="2743200" cy="274320"/>
          </a:xfrm>
          <a:prstGeom prst="rect">
            <a:avLst/>
          </a:prstGeom>
          <a:noFill/>
        </p:spPr>
        <p:txBody>
          <a:bodyPr wrap="square" rtlCol="0" anchor="ctr"/>
          <a:lstStyle/>
          <a:p>
            <a:pPr marL="0" indent="0">
              <a:buNone/>
            </a:pPr>
            <a:r>
              <a:rPr lang="en-US" sz="1800" b="1" kern="0" spc="150" dirty="0">
                <a:solidFill>
                  <a:srgbClr val="C1443B"/>
                </a:solidFill>
                <a:latin typeface="Times New Roman" panose="02020603050405020304" charset="0"/>
                <a:ea typeface="Calibri" panose="020F0502020204030204" pitchFamily="34" charset="-122"/>
                <a:cs typeface="Times New Roman" panose="02020603050405020304" charset="0"/>
              </a:rPr>
              <a:t>IMPACT</a:t>
            </a:r>
            <a:endParaRPr lang="en-US" sz="1800" b="1" kern="0" spc="150" dirty="0">
              <a:solidFill>
                <a:srgbClr val="C1443B"/>
              </a:solidFill>
              <a:latin typeface="Times New Roman" panose="02020603050405020304" charset="0"/>
              <a:ea typeface="Calibri" panose="020F0502020204030204" pitchFamily="34" charset="-122"/>
              <a:cs typeface="Times New Roman" panose="02020603050405020304" charset="0"/>
            </a:endParaRPr>
          </a:p>
        </p:txBody>
      </p:sp>
      <p:sp>
        <p:nvSpPr>
          <p:cNvPr id="8" name="Text 6"/>
          <p:cNvSpPr/>
          <p:nvPr/>
        </p:nvSpPr>
        <p:spPr>
          <a:xfrm>
            <a:off x="640080" y="4823460"/>
            <a:ext cx="5760720" cy="1174115"/>
          </a:xfrm>
          <a:prstGeom prst="rect">
            <a:avLst/>
          </a:prstGeom>
          <a:noFill/>
        </p:spPr>
        <p:txBody>
          <a:bodyPr wrap="square" rtlCol="0" anchor="ctr"/>
          <a:lstStyle/>
          <a:p>
            <a:pPr marL="0" indent="0">
              <a:lnSpc>
                <a:spcPct val="125000"/>
              </a:lnSpc>
              <a:buNone/>
            </a:pPr>
            <a:r>
              <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rPr>
              <a:t>Risques financiers et administratifs : Absence de preuves num</a:t>
            </a:r>
            <a:r>
              <a:rPr lang="en-US" altLang="en-US" sz="2000" dirty="0">
                <a:solidFill>
                  <a:srgbClr val="1B2A4A"/>
                </a:solidFill>
                <a:latin typeface="Times New Roman" panose="02020603050405020304" charset="0"/>
                <a:ea typeface="Calibri" panose="020F0502020204030204" pitchFamily="34" charset="-122"/>
                <a:cs typeface="Times New Roman" panose="02020603050405020304" charset="0"/>
              </a:rPr>
              <a:t>é</a:t>
            </a:r>
            <a:r>
              <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rPr>
              <a:t>riques instantan</a:t>
            </a:r>
            <a:r>
              <a:rPr lang="en-US" altLang="en-US" sz="2000" dirty="0">
                <a:solidFill>
                  <a:srgbClr val="1B2A4A"/>
                </a:solidFill>
                <a:latin typeface="Times New Roman" panose="02020603050405020304" charset="0"/>
                <a:ea typeface="Calibri" panose="020F0502020204030204" pitchFamily="34" charset="-122"/>
                <a:cs typeface="Times New Roman" panose="02020603050405020304" charset="0"/>
              </a:rPr>
              <a:t>é</a:t>
            </a:r>
            <a:r>
              <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rPr>
              <a:t>es</a:t>
            </a:r>
            <a:r>
              <a:rPr lang="fr-FR" altLang="en-US" sz="2000" dirty="0">
                <a:solidFill>
                  <a:srgbClr val="1B2A4A"/>
                </a:solidFill>
                <a:latin typeface="Times New Roman" panose="02020603050405020304" charset="0"/>
                <a:ea typeface="Calibri" panose="020F0502020204030204" pitchFamily="34" charset="-122"/>
                <a:cs typeface="Times New Roman" panose="02020603050405020304" charset="0"/>
              </a:rPr>
              <a:t> </a:t>
            </a:r>
            <a:r>
              <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rPr>
              <a:t>et vuln</a:t>
            </a:r>
            <a:r>
              <a:rPr lang="en-US" altLang="en-US" sz="2000" dirty="0">
                <a:solidFill>
                  <a:srgbClr val="1B2A4A"/>
                </a:solidFill>
                <a:latin typeface="Times New Roman" panose="02020603050405020304" charset="0"/>
                <a:ea typeface="Calibri" panose="020F0502020204030204" pitchFamily="34" charset="-122"/>
                <a:cs typeface="Times New Roman" panose="02020603050405020304" charset="0"/>
              </a:rPr>
              <a:t>é</a:t>
            </a:r>
            <a:r>
              <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rPr>
              <a:t>rabilit</a:t>
            </a:r>
            <a:r>
              <a:rPr lang="en-US" altLang="en-US" sz="2000" dirty="0">
                <a:solidFill>
                  <a:srgbClr val="1B2A4A"/>
                </a:solidFill>
                <a:latin typeface="Times New Roman" panose="02020603050405020304" charset="0"/>
                <a:ea typeface="Calibri" panose="020F0502020204030204" pitchFamily="34" charset="-122"/>
                <a:cs typeface="Times New Roman" panose="02020603050405020304" charset="0"/>
              </a:rPr>
              <a:t>é </a:t>
            </a:r>
            <a:r>
              <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rPr>
              <a:t>face aux impay</a:t>
            </a:r>
            <a:r>
              <a:rPr lang="en-US" altLang="en-US" sz="2000" dirty="0">
                <a:solidFill>
                  <a:srgbClr val="1B2A4A"/>
                </a:solidFill>
                <a:latin typeface="Times New Roman" panose="02020603050405020304" charset="0"/>
                <a:ea typeface="Calibri" panose="020F0502020204030204" pitchFamily="34" charset="-122"/>
                <a:cs typeface="Times New Roman" panose="02020603050405020304" charset="0"/>
              </a:rPr>
              <a:t>é</a:t>
            </a:r>
            <a:r>
              <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rPr>
              <a:t>s</a:t>
            </a:r>
            <a:endParaRPr lang="en-US" altLang="fr-FR" sz="2000" dirty="0">
              <a:solidFill>
                <a:srgbClr val="1B2A4A"/>
              </a:solidFill>
              <a:latin typeface="Times New Roman" panose="02020603050405020304" charset="0"/>
              <a:ea typeface="Calibri" panose="020F0502020204030204" pitchFamily="34" charset="-122"/>
              <a:cs typeface="Times New Roman" panose="02020603050405020304" charset="0"/>
            </a:endParaRPr>
          </a:p>
        </p:txBody>
      </p:sp>
      <p:sp>
        <p:nvSpPr>
          <p:cNvPr id="9" name="Shape 7"/>
          <p:cNvSpPr/>
          <p:nvPr/>
        </p:nvSpPr>
        <p:spPr>
          <a:xfrm>
            <a:off x="7635240" y="2125980"/>
            <a:ext cx="0" cy="2331720"/>
          </a:xfrm>
          <a:prstGeom prst="line">
            <a:avLst/>
          </a:prstGeom>
          <a:noFill/>
          <a:ln w="12700">
            <a:solidFill>
              <a:srgbClr val="C3CADA"/>
            </a:solidFill>
            <a:prstDash val="solid"/>
          </a:ln>
        </p:spPr>
      </p:sp>
      <p:sp>
        <p:nvSpPr>
          <p:cNvPr id="10" name="Shape 8"/>
          <p:cNvSpPr/>
          <p:nvPr/>
        </p:nvSpPr>
        <p:spPr>
          <a:xfrm>
            <a:off x="7635240" y="4457700"/>
            <a:ext cx="3749040" cy="0"/>
          </a:xfrm>
          <a:prstGeom prst="line">
            <a:avLst/>
          </a:prstGeom>
          <a:noFill/>
          <a:ln w="12700">
            <a:solidFill>
              <a:srgbClr val="C3CADA"/>
            </a:solidFill>
            <a:prstDash val="solid"/>
          </a:ln>
        </p:spPr>
      </p:sp>
      <p:sp>
        <p:nvSpPr>
          <p:cNvPr id="11" name="Shape 9"/>
          <p:cNvSpPr/>
          <p:nvPr/>
        </p:nvSpPr>
        <p:spPr>
          <a:xfrm>
            <a:off x="7863840" y="2475738"/>
            <a:ext cx="457200" cy="1981962"/>
          </a:xfrm>
          <a:prstGeom prst="roundRect">
            <a:avLst>
              <a:gd name="adj" fmla="val 6000"/>
            </a:avLst>
          </a:prstGeom>
          <a:solidFill>
            <a:srgbClr val="3E5273"/>
          </a:solidFill>
        </p:spPr>
      </p:sp>
      <p:sp>
        <p:nvSpPr>
          <p:cNvPr id="12" name="Shape 10"/>
          <p:cNvSpPr/>
          <p:nvPr/>
        </p:nvSpPr>
        <p:spPr>
          <a:xfrm>
            <a:off x="8577072" y="2825496"/>
            <a:ext cx="457200" cy="1632204"/>
          </a:xfrm>
          <a:prstGeom prst="roundRect">
            <a:avLst>
              <a:gd name="adj" fmla="val 6000"/>
            </a:avLst>
          </a:prstGeom>
          <a:solidFill>
            <a:srgbClr val="3E5273"/>
          </a:solidFill>
        </p:spPr>
      </p:sp>
      <p:sp>
        <p:nvSpPr>
          <p:cNvPr id="13" name="Shape 11"/>
          <p:cNvSpPr/>
          <p:nvPr/>
        </p:nvSpPr>
        <p:spPr>
          <a:xfrm>
            <a:off x="9290304" y="3175254"/>
            <a:ext cx="457200" cy="1282446"/>
          </a:xfrm>
          <a:prstGeom prst="roundRect">
            <a:avLst>
              <a:gd name="adj" fmla="val 6000"/>
            </a:avLst>
          </a:prstGeom>
          <a:solidFill>
            <a:srgbClr val="3E5273"/>
          </a:solidFill>
        </p:spPr>
      </p:sp>
      <p:sp>
        <p:nvSpPr>
          <p:cNvPr id="14" name="Shape 12"/>
          <p:cNvSpPr/>
          <p:nvPr/>
        </p:nvSpPr>
        <p:spPr>
          <a:xfrm>
            <a:off x="10003536" y="3478378"/>
            <a:ext cx="457200" cy="979322"/>
          </a:xfrm>
          <a:prstGeom prst="roundRect">
            <a:avLst>
              <a:gd name="adj" fmla="val 6000"/>
            </a:avLst>
          </a:prstGeom>
          <a:solidFill>
            <a:srgbClr val="C1443B"/>
          </a:solidFill>
        </p:spPr>
      </p:sp>
      <p:sp>
        <p:nvSpPr>
          <p:cNvPr id="15" name="Shape 13"/>
          <p:cNvSpPr/>
          <p:nvPr/>
        </p:nvSpPr>
        <p:spPr>
          <a:xfrm>
            <a:off x="10716768" y="3758184"/>
            <a:ext cx="457200" cy="699516"/>
          </a:xfrm>
          <a:prstGeom prst="roundRect">
            <a:avLst>
              <a:gd name="adj" fmla="val 6000"/>
            </a:avLst>
          </a:prstGeom>
          <a:solidFill>
            <a:srgbClr val="C1443B"/>
          </a:solidFill>
        </p:spPr>
      </p:sp>
      <p:sp>
        <p:nvSpPr>
          <p:cNvPr id="17" name="Shape 15"/>
          <p:cNvSpPr/>
          <p:nvPr/>
        </p:nvSpPr>
        <p:spPr>
          <a:xfrm>
            <a:off x="10469880" y="1623060"/>
            <a:ext cx="914400" cy="914400"/>
          </a:xfrm>
          <a:prstGeom prst="ellipse">
            <a:avLst/>
          </a:prstGeom>
          <a:solidFill>
            <a:schemeClr val="bg1"/>
          </a:solidFill>
        </p:spPr>
      </p:sp>
      <p:pic>
        <p:nvPicPr>
          <p:cNvPr id="18" name="Image 0" descr="icon-clock.png"/>
          <p:cNvPicPr>
            <a:picLocks noChangeAspect="1"/>
          </p:cNvPicPr>
          <p:nvPr/>
        </p:nvPicPr>
        <p:blipFill>
          <a:blip r:embed="rId3"/>
          <a:stretch>
            <a:fillRect/>
          </a:stretch>
        </p:blipFill>
        <p:spPr>
          <a:xfrm>
            <a:off x="10675620" y="1828800"/>
            <a:ext cx="502920" cy="502920"/>
          </a:xfrm>
          <a:prstGeom prst="rect">
            <a:avLst/>
          </a:prstGeom>
        </p:spPr>
      </p:pic>
      <p:sp>
        <p:nvSpPr>
          <p:cNvPr id="19" name="Shape 16"/>
          <p:cNvSpPr/>
          <p:nvPr/>
        </p:nvSpPr>
        <p:spPr>
          <a:xfrm>
            <a:off x="7498080" y="1623060"/>
            <a:ext cx="914400" cy="914400"/>
          </a:xfrm>
          <a:prstGeom prst="ellipse">
            <a:avLst/>
          </a:prstGeom>
          <a:solidFill>
            <a:srgbClr val="F2F4F8"/>
          </a:solidFill>
        </p:spPr>
      </p:sp>
      <p:pic>
        <p:nvPicPr>
          <p:cNvPr id="20" name="Image 1" descr="icon-receipt.png"/>
          <p:cNvPicPr>
            <a:picLocks noChangeAspect="1"/>
          </p:cNvPicPr>
          <p:nvPr/>
        </p:nvPicPr>
        <p:blipFill>
          <a:blip r:embed="rId4"/>
          <a:stretch>
            <a:fillRect/>
          </a:stretch>
        </p:blipFill>
        <p:spPr>
          <a:xfrm>
            <a:off x="7703820" y="1828800"/>
            <a:ext cx="502920" cy="5029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rPr>
              <a:t>RENTAL</a:t>
            </a:r>
            <a:endPar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152" name="Google Shape;152;p16"/>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rPr>
              <a:t>Ipnet Institute of Technology — Soutenance de Licence Professionnelle</a:t>
            </a:r>
            <a:endPar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p:txBody>
      </p:sp>
      <p:sp>
        <p:nvSpPr>
          <p:cNvPr id="153" name="Google Shape;153;p16"/>
          <p:cNvSpPr txBox="1"/>
          <p:nvPr/>
        </p:nvSpPr>
        <p:spPr>
          <a:xfrm>
            <a:off x="11487150" y="6286500"/>
            <a:ext cx="353060" cy="14287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0</a:t>
            </a:r>
            <a:r>
              <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7</a:t>
            </a:r>
            <a:endPar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endParaRPr>
          </a:p>
        </p:txBody>
      </p:sp>
      <p:sp>
        <p:nvSpPr>
          <p:cNvPr id="4" name="Text 2"/>
          <p:cNvSpPr/>
          <p:nvPr/>
        </p:nvSpPr>
        <p:spPr>
          <a:xfrm>
            <a:off x="640080" y="1714500"/>
            <a:ext cx="6766560" cy="1005840"/>
          </a:xfrm>
          <a:prstGeom prst="rect">
            <a:avLst/>
          </a:prstGeom>
          <a:noFill/>
        </p:spPr>
        <p:txBody>
          <a:bodyPr wrap="square" rtlCol="0" anchor="ctr"/>
          <a:lstStyle/>
          <a:p>
            <a:pPr marL="0" indent="0">
              <a:lnSpc>
                <a:spcPct val="105000"/>
              </a:lnSpc>
              <a:buNone/>
            </a:pPr>
            <a:r>
              <a:rPr lang="en-US" sz="3000" b="1" dirty="0">
                <a:solidFill>
                  <a:srgbClr val="1B2A4A"/>
                </a:solidFill>
                <a:latin typeface="Times New Roman" panose="02020603050405020304" charset="0"/>
                <a:ea typeface="Cambria" panose="02040503050406030204" pitchFamily="34" charset="-122"/>
                <a:cs typeface="Times New Roman" panose="02020603050405020304" charset="0"/>
              </a:rPr>
              <a:t>Absence de canal partagé</a:t>
            </a:r>
            <a:endParaRPr lang="en-US" sz="3000" b="1" dirty="0">
              <a:solidFill>
                <a:srgbClr val="1B2A4A"/>
              </a:solidFill>
              <a:latin typeface="Times New Roman" panose="02020603050405020304" charset="0"/>
              <a:ea typeface="Cambria" panose="02040503050406030204" pitchFamily="34" charset="-122"/>
              <a:cs typeface="Times New Roman" panose="02020603050405020304" charset="0"/>
            </a:endParaRPr>
          </a:p>
        </p:txBody>
      </p:sp>
      <p:sp>
        <p:nvSpPr>
          <p:cNvPr id="5" name="Text 3"/>
          <p:cNvSpPr/>
          <p:nvPr/>
        </p:nvSpPr>
        <p:spPr>
          <a:xfrm>
            <a:off x="640080" y="2721610"/>
            <a:ext cx="6309360" cy="1188720"/>
          </a:xfrm>
          <a:prstGeom prst="rect">
            <a:avLst/>
          </a:prstGeom>
          <a:noFill/>
        </p:spPr>
        <p:txBody>
          <a:bodyPr wrap="square" rtlCol="0" anchor="ctr"/>
          <a:lstStyle/>
          <a:p>
            <a:pPr marL="0" indent="0">
              <a:lnSpc>
                <a:spcPct val="135000"/>
              </a:lnSpc>
              <a:buNone/>
            </a:pPr>
            <a:r>
              <a:rPr lang="en-US" sz="2000" dirty="0">
                <a:solidFill>
                  <a:schemeClr val="tx1"/>
                </a:solidFill>
                <a:latin typeface="Times New Roman" panose="02020603050405020304" charset="0"/>
                <a:ea typeface="Calibri" panose="020F0502020204030204" pitchFamily="34" charset="-122"/>
                <a:cs typeface="Times New Roman" panose="02020603050405020304" charset="0"/>
              </a:rPr>
              <a:t>Sans passerelle transparente</a:t>
            </a:r>
            <a:r>
              <a:rPr lang="fr-FR" altLang="en-US" sz="2000" dirty="0">
                <a:solidFill>
                  <a:schemeClr val="tx1"/>
                </a:solidFill>
                <a:latin typeface="Times New Roman" panose="02020603050405020304" charset="0"/>
                <a:ea typeface="Calibri" panose="020F0502020204030204" pitchFamily="34" charset="-122"/>
                <a:cs typeface="Times New Roman" panose="02020603050405020304" charset="0"/>
              </a:rPr>
              <a:t> entre bailleur et locataire</a:t>
            </a:r>
            <a:r>
              <a:rPr lang="en-US" sz="2000" dirty="0">
                <a:solidFill>
                  <a:schemeClr val="tx1"/>
                </a:solidFill>
                <a:latin typeface="Times New Roman" panose="02020603050405020304" charset="0"/>
                <a:ea typeface="Calibri" panose="020F0502020204030204" pitchFamily="34" charset="-122"/>
                <a:cs typeface="Times New Roman" panose="02020603050405020304" charset="0"/>
              </a:rPr>
              <a:t> l</a:t>
            </a:r>
            <a:r>
              <a:rPr lang="fr-FR" altLang="en-US" sz="2000" dirty="0">
                <a:solidFill>
                  <a:schemeClr val="tx1"/>
                </a:solidFill>
                <a:latin typeface="Times New Roman" panose="02020603050405020304" charset="0"/>
                <a:ea typeface="Calibri" panose="020F0502020204030204" pitchFamily="34" charset="-122"/>
                <a:cs typeface="Times New Roman" panose="02020603050405020304" charset="0"/>
              </a:rPr>
              <a:t>a confiance s’amenuise </a:t>
            </a:r>
            <a:r>
              <a:rPr lang="en-US" sz="2000" dirty="0">
                <a:solidFill>
                  <a:schemeClr val="tx1"/>
                </a:solidFill>
                <a:latin typeface="Times New Roman" panose="02020603050405020304" charset="0"/>
                <a:ea typeface="Calibri" panose="020F0502020204030204" pitchFamily="34" charset="-122"/>
                <a:cs typeface="Times New Roman" panose="02020603050405020304" charset="0"/>
              </a:rPr>
              <a:t>des deux côtés.</a:t>
            </a:r>
            <a:endParaRPr lang="en-US" altLang="en-US" sz="2000" dirty="0">
              <a:solidFill>
                <a:schemeClr val="tx1"/>
              </a:solidFill>
              <a:latin typeface="Times New Roman" panose="02020603050405020304" charset="0"/>
              <a:ea typeface="Calibri" panose="020F0502020204030204" pitchFamily="34" charset="-122"/>
              <a:cs typeface="Times New Roman" panose="02020603050405020304" charset="0"/>
            </a:endParaRPr>
          </a:p>
        </p:txBody>
      </p:sp>
      <p:sp>
        <p:nvSpPr>
          <p:cNvPr id="6" name="Shape 4"/>
          <p:cNvSpPr/>
          <p:nvPr/>
        </p:nvSpPr>
        <p:spPr>
          <a:xfrm>
            <a:off x="640080" y="4366260"/>
            <a:ext cx="6309360" cy="1417320"/>
          </a:xfrm>
          <a:prstGeom prst="roundRect">
            <a:avLst>
              <a:gd name="adj" fmla="val 5161"/>
            </a:avLst>
          </a:prstGeom>
          <a:solidFill>
            <a:srgbClr val="F2F4F8"/>
          </a:solidFill>
        </p:spPr>
      </p:sp>
      <p:sp>
        <p:nvSpPr>
          <p:cNvPr id="7" name="Text 5"/>
          <p:cNvSpPr/>
          <p:nvPr/>
        </p:nvSpPr>
        <p:spPr>
          <a:xfrm>
            <a:off x="640080" y="4549140"/>
            <a:ext cx="3200400" cy="274320"/>
          </a:xfrm>
          <a:prstGeom prst="rect">
            <a:avLst/>
          </a:prstGeom>
          <a:noFill/>
        </p:spPr>
        <p:txBody>
          <a:bodyPr wrap="square" rtlCol="0" anchor="ctr"/>
          <a:lstStyle/>
          <a:p>
            <a:pPr marL="0" indent="0">
              <a:buNone/>
            </a:pPr>
            <a:r>
              <a:rPr lang="en-US" sz="1600" b="1" kern="0" spc="150" dirty="0">
                <a:solidFill>
                  <a:schemeClr val="accent2"/>
                </a:solidFill>
                <a:latin typeface="Times New Roman" panose="02020603050405020304" charset="0"/>
                <a:ea typeface="Calibri" panose="020F0502020204030204" pitchFamily="34" charset="-122"/>
                <a:cs typeface="Times New Roman" panose="02020603050405020304" charset="0"/>
              </a:rPr>
              <a:t>CONSÉQUENCE</a:t>
            </a:r>
            <a:endParaRPr lang="en-US" sz="1600" b="1" kern="0" spc="150" dirty="0">
              <a:solidFill>
                <a:schemeClr val="accent2"/>
              </a:solidFill>
              <a:latin typeface="Times New Roman" panose="02020603050405020304" charset="0"/>
              <a:ea typeface="Calibri" panose="020F0502020204030204" pitchFamily="34" charset="-122"/>
              <a:cs typeface="Times New Roman" panose="02020603050405020304" charset="0"/>
            </a:endParaRPr>
          </a:p>
        </p:txBody>
      </p:sp>
      <p:sp>
        <p:nvSpPr>
          <p:cNvPr id="8" name="Text 6"/>
          <p:cNvSpPr/>
          <p:nvPr/>
        </p:nvSpPr>
        <p:spPr>
          <a:xfrm>
            <a:off x="640080" y="4823460"/>
            <a:ext cx="5760720" cy="868680"/>
          </a:xfrm>
          <a:prstGeom prst="rect">
            <a:avLst/>
          </a:prstGeom>
          <a:noFill/>
        </p:spPr>
        <p:txBody>
          <a:bodyPr wrap="square" rtlCol="0" anchor="ctr"/>
          <a:lstStyle/>
          <a:p>
            <a:pPr marL="0" indent="0">
              <a:lnSpc>
                <a:spcPct val="125000"/>
              </a:lnSpc>
              <a:buNone/>
            </a:pPr>
            <a:r>
              <a:rPr lang="en-US" sz="1800" dirty="0">
                <a:solidFill>
                  <a:srgbClr val="1B2A4A"/>
                </a:solidFill>
                <a:latin typeface="Times New Roman" panose="02020603050405020304" charset="0"/>
                <a:ea typeface="Calibri" panose="020F0502020204030204" pitchFamily="34" charset="-122"/>
                <a:cs typeface="Times New Roman" panose="02020603050405020304" charset="0"/>
              </a:rPr>
              <a:t>Frustration réciproque : ni visibilité partagée, ni preuve de paiement immédiate entre les parties</a:t>
            </a:r>
            <a:r>
              <a:rPr lang="fr-FR" altLang="en-US" sz="1800" dirty="0">
                <a:solidFill>
                  <a:srgbClr val="1B2A4A"/>
                </a:solidFill>
                <a:latin typeface="Times New Roman" panose="02020603050405020304" charset="0"/>
                <a:ea typeface="Calibri" panose="020F0502020204030204" pitchFamily="34" charset="-122"/>
                <a:cs typeface="Times New Roman" panose="02020603050405020304" charset="0"/>
              </a:rPr>
              <a:t>, aucune tracabilité</a:t>
            </a:r>
            <a:r>
              <a:rPr lang="en-US" sz="1800" dirty="0">
                <a:solidFill>
                  <a:srgbClr val="1B2A4A"/>
                </a:solidFill>
                <a:latin typeface="Times New Roman" panose="02020603050405020304" charset="0"/>
                <a:ea typeface="Calibri" panose="020F0502020204030204" pitchFamily="34" charset="-122"/>
                <a:cs typeface="Times New Roman" panose="02020603050405020304" charset="0"/>
              </a:rPr>
              <a:t>.</a:t>
            </a:r>
            <a:endParaRPr lang="en-US" sz="1800" dirty="0">
              <a:solidFill>
                <a:srgbClr val="1B2A4A"/>
              </a:solidFill>
              <a:latin typeface="Times New Roman" panose="02020603050405020304" charset="0"/>
              <a:ea typeface="Calibri" panose="020F0502020204030204" pitchFamily="34" charset="-122"/>
              <a:cs typeface="Times New Roman" panose="02020603050405020304" charset="0"/>
            </a:endParaRPr>
          </a:p>
        </p:txBody>
      </p:sp>
      <p:sp>
        <p:nvSpPr>
          <p:cNvPr id="9" name="Shape 7"/>
          <p:cNvSpPr/>
          <p:nvPr/>
        </p:nvSpPr>
        <p:spPr>
          <a:xfrm>
            <a:off x="7292340" y="2560320"/>
            <a:ext cx="1051560" cy="1051560"/>
          </a:xfrm>
          <a:prstGeom prst="ellipse">
            <a:avLst/>
          </a:prstGeom>
          <a:solidFill>
            <a:srgbClr val="F2F4F8"/>
          </a:solidFill>
        </p:spPr>
      </p:sp>
      <p:pic>
        <p:nvPicPr>
          <p:cNvPr id="10" name="Image 0" descr="icon-building.png"/>
          <p:cNvPicPr>
            <a:picLocks noChangeAspect="1"/>
          </p:cNvPicPr>
          <p:nvPr/>
        </p:nvPicPr>
        <p:blipFill>
          <a:blip r:embed="rId3"/>
          <a:stretch>
            <a:fillRect/>
          </a:stretch>
        </p:blipFill>
        <p:spPr>
          <a:xfrm>
            <a:off x="7555230" y="2823210"/>
            <a:ext cx="525780" cy="525780"/>
          </a:xfrm>
          <a:prstGeom prst="rect">
            <a:avLst/>
          </a:prstGeom>
        </p:spPr>
      </p:pic>
      <p:sp>
        <p:nvSpPr>
          <p:cNvPr id="11" name="Shape 8"/>
          <p:cNvSpPr/>
          <p:nvPr/>
        </p:nvSpPr>
        <p:spPr>
          <a:xfrm>
            <a:off x="9852660" y="2560320"/>
            <a:ext cx="1051560" cy="1051560"/>
          </a:xfrm>
          <a:prstGeom prst="ellipse">
            <a:avLst/>
          </a:prstGeom>
          <a:solidFill>
            <a:srgbClr val="F2F4F8"/>
          </a:solidFill>
        </p:spPr>
      </p:sp>
      <p:pic>
        <p:nvPicPr>
          <p:cNvPr id="12" name="Image 1" descr="icon-users.png"/>
          <p:cNvPicPr>
            <a:picLocks noChangeAspect="1"/>
          </p:cNvPicPr>
          <p:nvPr/>
        </p:nvPicPr>
        <p:blipFill>
          <a:blip r:embed="rId4"/>
          <a:stretch>
            <a:fillRect/>
          </a:stretch>
        </p:blipFill>
        <p:spPr>
          <a:xfrm>
            <a:off x="10115550" y="2823210"/>
            <a:ext cx="525780" cy="525780"/>
          </a:xfrm>
          <a:prstGeom prst="rect">
            <a:avLst/>
          </a:prstGeom>
        </p:spPr>
      </p:pic>
      <p:sp>
        <p:nvSpPr>
          <p:cNvPr id="13" name="Text 9"/>
          <p:cNvSpPr/>
          <p:nvPr/>
        </p:nvSpPr>
        <p:spPr>
          <a:xfrm>
            <a:off x="6766560" y="3685032"/>
            <a:ext cx="2103120" cy="274320"/>
          </a:xfrm>
          <a:prstGeom prst="rect">
            <a:avLst/>
          </a:prstGeom>
          <a:noFill/>
        </p:spPr>
        <p:txBody>
          <a:bodyPr wrap="square" rtlCol="0" anchor="ctr"/>
          <a:lstStyle/>
          <a:p>
            <a:pPr marL="0" indent="0" algn="ctr">
              <a:buNone/>
            </a:pPr>
            <a:r>
              <a:rPr lang="fr-FR" altLang="en-US" sz="1150" dirty="0">
                <a:latin typeface="Times New Roman" panose="02020603050405020304" charset="0"/>
                <a:cs typeface="Times New Roman" panose="02020603050405020304" charset="0"/>
              </a:rPr>
              <a:t>Bailleur</a:t>
            </a:r>
            <a:endParaRPr lang="fr-FR" altLang="en-US" sz="1150" dirty="0">
              <a:latin typeface="Times New Roman" panose="02020603050405020304" charset="0"/>
              <a:cs typeface="Times New Roman" panose="02020603050405020304" charset="0"/>
            </a:endParaRPr>
          </a:p>
        </p:txBody>
      </p:sp>
      <p:sp>
        <p:nvSpPr>
          <p:cNvPr id="14" name="Text 10"/>
          <p:cNvSpPr/>
          <p:nvPr/>
        </p:nvSpPr>
        <p:spPr>
          <a:xfrm>
            <a:off x="9221724" y="3685032"/>
            <a:ext cx="2313432" cy="274320"/>
          </a:xfrm>
          <a:prstGeom prst="rect">
            <a:avLst/>
          </a:prstGeom>
          <a:noFill/>
        </p:spPr>
        <p:txBody>
          <a:bodyPr wrap="square" rtlCol="0" anchor="ctr"/>
          <a:lstStyle/>
          <a:p>
            <a:pPr marL="0" indent="0" algn="ctr">
              <a:buNone/>
            </a:pPr>
            <a:r>
              <a:rPr lang="fr-FR" altLang="en-US" sz="1150" dirty="0">
                <a:latin typeface="Times New Roman" panose="02020603050405020304" charset="0"/>
                <a:cs typeface="Times New Roman" panose="02020603050405020304" charset="0"/>
              </a:rPr>
              <a:t>Locataire</a:t>
            </a:r>
            <a:endParaRPr lang="fr-FR" altLang="en-US" sz="1150" dirty="0">
              <a:latin typeface="Times New Roman" panose="02020603050405020304" charset="0"/>
              <a:cs typeface="Times New Roman" panose="02020603050405020304" charset="0"/>
            </a:endParaRPr>
          </a:p>
        </p:txBody>
      </p:sp>
      <p:sp>
        <p:nvSpPr>
          <p:cNvPr id="15" name="Shape 11"/>
          <p:cNvSpPr/>
          <p:nvPr/>
        </p:nvSpPr>
        <p:spPr>
          <a:xfrm>
            <a:off x="8435340" y="3086100"/>
            <a:ext cx="777240" cy="0"/>
          </a:xfrm>
          <a:prstGeom prst="line">
            <a:avLst/>
          </a:prstGeom>
          <a:noFill/>
          <a:ln w="25400">
            <a:solidFill>
              <a:srgbClr val="C1443B"/>
            </a:solidFill>
            <a:prstDash val="dash"/>
          </a:ln>
        </p:spPr>
      </p:sp>
      <p:sp>
        <p:nvSpPr>
          <p:cNvPr id="16" name="Shape 12"/>
          <p:cNvSpPr/>
          <p:nvPr/>
        </p:nvSpPr>
        <p:spPr>
          <a:xfrm>
            <a:off x="8983980" y="3086100"/>
            <a:ext cx="777240" cy="0"/>
          </a:xfrm>
          <a:prstGeom prst="line">
            <a:avLst/>
          </a:prstGeom>
          <a:noFill/>
          <a:ln w="25400">
            <a:solidFill>
              <a:srgbClr val="C1443B"/>
            </a:solidFill>
            <a:prstDash val="dash"/>
          </a:ln>
        </p:spPr>
      </p:sp>
      <p:sp>
        <p:nvSpPr>
          <p:cNvPr id="17" name="Shape 13"/>
          <p:cNvSpPr/>
          <p:nvPr/>
        </p:nvSpPr>
        <p:spPr>
          <a:xfrm>
            <a:off x="8732520" y="2720340"/>
            <a:ext cx="731520" cy="731520"/>
          </a:xfrm>
          <a:prstGeom prst="ellipse">
            <a:avLst/>
          </a:prstGeom>
          <a:solidFill>
            <a:srgbClr val="FFFFFF"/>
          </a:solidFill>
        </p:spPr>
      </p:sp>
      <p:pic>
        <p:nvPicPr>
          <p:cNvPr id="18" name="Image 2" descr="icon-link-off.png"/>
          <p:cNvPicPr>
            <a:picLocks noChangeAspect="1"/>
          </p:cNvPicPr>
          <p:nvPr/>
        </p:nvPicPr>
        <p:blipFill>
          <a:blip r:embed="rId5"/>
          <a:stretch>
            <a:fillRect/>
          </a:stretch>
        </p:blipFill>
        <p:spPr>
          <a:xfrm>
            <a:off x="8823960" y="2811780"/>
            <a:ext cx="548640" cy="548640"/>
          </a:xfrm>
          <a:prstGeom prst="rect">
            <a:avLst/>
          </a:prstGeom>
        </p:spPr>
      </p:pic>
      <p:sp>
        <p:nvSpPr>
          <p:cNvPr id="19" name="Shape 0"/>
          <p:cNvSpPr/>
          <p:nvPr/>
        </p:nvSpPr>
        <p:spPr>
          <a:xfrm>
            <a:off x="765810" y="1174750"/>
            <a:ext cx="3291840" cy="384048"/>
          </a:xfrm>
          <a:prstGeom prst="roundRect">
            <a:avLst>
              <a:gd name="adj" fmla="val 50000"/>
            </a:avLst>
          </a:prstGeom>
          <a:solidFill>
            <a:schemeClr val="bg2">
              <a:lumMod val="60000"/>
              <a:lumOff val="40000"/>
            </a:schemeClr>
          </a:solidFill>
        </p:spPr>
        <p:txBody>
          <a:bodyPr/>
          <a:p>
            <a:pPr marL="0" indent="0" algn="ctr">
              <a:buNone/>
            </a:pPr>
            <a:r>
              <a:rPr lang="en-US" b="1" spc="200" dirty="0">
                <a:solidFill>
                  <a:srgbClr val="FFFFFF"/>
                </a:solidFill>
                <a:latin typeface="Times New Roman" panose="02020603050405020304" charset="0"/>
                <a:ea typeface="Calibri" panose="020F0502020204030204" pitchFamily="34" charset="-122"/>
                <a:cs typeface="Times New Roman" panose="02020603050405020304" charset="0"/>
                <a:sym typeface="+mn-ea"/>
              </a:rPr>
              <a:t>COMMUNICATION</a:t>
            </a:r>
            <a:endParaRPr lang="fr-FR" altLang="en-US"/>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rPr>
              <a:t>RENTAL</a:t>
            </a:r>
            <a:endPar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151" name="Google Shape;151;p16"/>
          <p:cNvSpPr txBox="1"/>
          <p:nvPr/>
        </p:nvSpPr>
        <p:spPr>
          <a:xfrm>
            <a:off x="9948862" y="471487"/>
            <a:ext cx="16716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LES LIMITATIONS MÉTIERS</a:t>
            </a:r>
            <a:endParaRPr lang="en-US" sz="975"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52" name="Google Shape;152;p16"/>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rPr>
              <a:t>Ipnet Institute of Technology — Soutenance de Licence Professionnelle</a:t>
            </a:r>
            <a:endPar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p:txBody>
      </p:sp>
      <p:sp>
        <p:nvSpPr>
          <p:cNvPr id="153" name="Google Shape;153;p16"/>
          <p:cNvSpPr txBox="1"/>
          <p:nvPr/>
        </p:nvSpPr>
        <p:spPr>
          <a:xfrm>
            <a:off x="11487150" y="6286500"/>
            <a:ext cx="419735" cy="57086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0</a:t>
            </a:r>
            <a:r>
              <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8</a:t>
            </a:r>
            <a:endParaRPr lang="en-US"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endParaRPr>
          </a:p>
        </p:txBody>
      </p:sp>
      <p:sp>
        <p:nvSpPr>
          <p:cNvPr id="6" name="Zone de texte 5"/>
          <p:cNvSpPr txBox="1"/>
          <p:nvPr/>
        </p:nvSpPr>
        <p:spPr>
          <a:xfrm>
            <a:off x="285750" y="2414905"/>
            <a:ext cx="11485245" cy="1551940"/>
          </a:xfrm>
          <a:prstGeom prst="rect">
            <a:avLst/>
          </a:prstGeom>
          <a:noFill/>
          <a:ln>
            <a:solidFill>
              <a:schemeClr val="tx1"/>
            </a:solidFill>
          </a:ln>
        </p:spPr>
        <p:txBody>
          <a:bodyPr wrap="square" rtlCol="0" anchor="t">
            <a:noAutofit/>
          </a:bodyPr>
          <a:p>
            <a:pPr marL="0" indent="0" algn="ctr">
              <a:lnSpc>
                <a:spcPct val="105000"/>
              </a:lnSpc>
              <a:buNone/>
            </a:pPr>
            <a:r>
              <a:rPr lang="en-US" sz="6600" b="1" cap="all">
                <a:solidFill>
                  <a:srgbClr val="1E293B"/>
                </a:solidFill>
                <a:uFillTx/>
                <a:latin typeface="Times New Roman" panose="02020603050405020304" charset="0"/>
                <a:ea typeface="Poppins" panose="00000500000000000000"/>
                <a:cs typeface="Times New Roman" panose="02020603050405020304" charset="0"/>
                <a:sym typeface="Poppins" panose="00000500000000000000"/>
              </a:rPr>
              <a:t>Critique de l’Existant</a:t>
            </a:r>
            <a:endParaRPr lang="en-US" sz="6600" b="1" i="0" cap="all">
              <a:solidFill>
                <a:srgbClr val="1E293B"/>
              </a:solidFill>
              <a:uFillTx/>
              <a:latin typeface="Times New Roman" panose="02020603050405020304" charset="0"/>
              <a:ea typeface="Poppins" panose="00000500000000000000"/>
              <a:cs typeface="Times New Roman" panose="02020603050405020304" charset="0"/>
              <a:sym typeface="Poppins" panose="00000500000000000000"/>
            </a:endParaRPr>
          </a:p>
          <a:p>
            <a:pPr marL="0" indent="0" algn="ctr">
              <a:lnSpc>
                <a:spcPct val="105000"/>
              </a:lnSpc>
              <a:buNone/>
            </a:pPr>
            <a:endParaRPr lang="en-US" altLang="en-US" sz="6600" b="1" i="0" cap="all" dirty="0">
              <a:solidFill>
                <a:srgbClr val="1E293B"/>
              </a:solidFill>
              <a:uFillTx/>
              <a:latin typeface="Times New Roman" panose="02020603050405020304" charset="0"/>
              <a:ea typeface="Poppins" panose="00000500000000000000"/>
              <a:cs typeface="Times New Roman" panose="02020603050405020304" charset="0"/>
              <a:sym typeface="Poppins" panose="00000500000000000000"/>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3"/>
          <a:srcRect/>
          <a:stretch>
            <a:fillRect/>
          </a:stretch>
        </p:blipFill>
        <p:spPr>
          <a:xfrm>
            <a:off x="571500" y="2129730"/>
            <a:ext cx="11049000" cy="340042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rPr>
              <a:t>RENTAL</a:t>
            </a:r>
            <a:endPar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172" name="Google Shape;172;p17"/>
          <p:cNvSpPr txBox="1"/>
          <p:nvPr/>
        </p:nvSpPr>
        <p:spPr>
          <a:xfrm>
            <a:off x="10081895" y="471170"/>
            <a:ext cx="2110740" cy="35877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9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ANALYSE COMPARATIVE</a:t>
            </a:r>
            <a:endParaRPr lang="en-US" sz="9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73" name="Google Shape;173;p17"/>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rPr>
              <a:t>Ipnet Institute of Technology — Soutenance de Licence Professionnelle</a:t>
            </a:r>
            <a:endPar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p:txBody>
      </p:sp>
      <p:sp>
        <p:nvSpPr>
          <p:cNvPr id="174" name="Google Shape;174;p17"/>
          <p:cNvSpPr txBox="1"/>
          <p:nvPr/>
        </p:nvSpPr>
        <p:spPr>
          <a:xfrm>
            <a:off x="11487150" y="6286500"/>
            <a:ext cx="302895" cy="3073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0</a:t>
            </a:r>
            <a:r>
              <a:rPr lang="en-US"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rPr>
              <a:t>9</a:t>
            </a:r>
            <a:endParaRPr lang="en-US" altLang="en-US" sz="2000" b="1" i="0" u="none" strike="noStrike" cap="none">
              <a:solidFill>
                <a:schemeClr val="tx1"/>
              </a:solidFill>
              <a:latin typeface="Times New Roman" panose="02020603050405020304" charset="0"/>
              <a:ea typeface="Lato" panose="020F0502020204030203"/>
              <a:cs typeface="Times New Roman" panose="02020603050405020304" charset="0"/>
              <a:sym typeface="Lato" panose="020F0502020204030203"/>
            </a:endParaRPr>
          </a:p>
        </p:txBody>
      </p:sp>
      <p:graphicFrame>
        <p:nvGraphicFramePr>
          <p:cNvPr id="175" name="Google Shape;175;p17"/>
          <p:cNvGraphicFramePr/>
          <p:nvPr/>
        </p:nvGraphicFramePr>
        <p:xfrm>
          <a:off x="0" y="1351280"/>
          <a:ext cx="12192635" cy="4413885"/>
        </p:xfrm>
        <a:graphic>
          <a:graphicData uri="http://schemas.openxmlformats.org/drawingml/2006/table">
            <a:tbl>
              <a:tblPr firstRow="1" bandRow="1">
                <a:noFill/>
                <a:tableStyleId>{5DAD3497-3041-4D27-8FF0-422A7831B682}</a:tableStyleId>
              </a:tblPr>
              <a:tblGrid>
                <a:gridCol w="2306955"/>
                <a:gridCol w="3887470"/>
                <a:gridCol w="3932555"/>
                <a:gridCol w="2065655"/>
              </a:tblGrid>
              <a:tr h="1092200">
                <a:tc>
                  <a:txBody>
                    <a:bodyPr/>
                    <a:lstStyle/>
                    <a:p>
                      <a:pPr marL="0" marR="0" lvl="0" indent="0" algn="l" rtl="0">
                        <a:spcBef>
                          <a:spcPts val="0"/>
                        </a:spcBef>
                        <a:spcAft>
                          <a:spcPts val="0"/>
                        </a:spcAft>
                        <a:buNone/>
                      </a:pPr>
                      <a:r>
                        <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rPr>
                        <a:t>Solutions existantes</a:t>
                      </a:r>
                      <a:endPar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rPr>
                        <a:t>Avantages</a:t>
                      </a:r>
                      <a:endPar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rPr>
                        <a:t>Limites de l'outil</a:t>
                      </a:r>
                      <a:endPar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rPr>
                        <a:t>Adaptabilité locale (Togo)</a:t>
                      </a:r>
                      <a:endParaRPr lang="en-US" sz="2000" b="1" i="0" u="none" strike="noStrike" cap="none">
                        <a:solidFill>
                          <a:srgbClr val="1E293B"/>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1093470">
                <a:tc>
                  <a:txBody>
                    <a:bodyPr/>
                    <a:lstStyle/>
                    <a:p>
                      <a:pPr marL="0" marR="0" lvl="0" indent="0" algn="l" rtl="0">
                        <a:spcBef>
                          <a:spcPts val="0"/>
                        </a:spcBef>
                        <a:spcAft>
                          <a:spcPts val="0"/>
                        </a:spcAft>
                        <a:buNone/>
                      </a:pPr>
                      <a:r>
                        <a:rPr lang="en-US" sz="2000" b="1"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Registres &amp; Reçus Papier</a:t>
                      </a:r>
                      <a:endParaRPr lang="en-US" sz="2000" b="1"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Facilité d'usage instantanée, coût d'acquisition nul</a:t>
                      </a:r>
                      <a:endPar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Risque majeur de </a:t>
                      </a:r>
                      <a:r>
                        <a:rPr lang="fr-FR" alt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perte</a:t>
                      </a:r>
                      <a:r>
                        <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 aucune traçabilité, fastidieux</a:t>
                      </a:r>
                      <a:endPar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1" i="0" u="none" strike="noStrike" cap="none">
                          <a:solidFill>
                            <a:srgbClr val="EF4444"/>
                          </a:solidFill>
                          <a:latin typeface="Times New Roman" panose="02020603050405020304" charset="0"/>
                          <a:ea typeface="Lato" panose="020F0502020204030203"/>
                          <a:cs typeface="Times New Roman" panose="02020603050405020304" charset="0"/>
                          <a:sym typeface="Lato" panose="020F0502020204030203"/>
                        </a:rPr>
                        <a:t> Non-efficace</a:t>
                      </a:r>
                      <a:endParaRPr lang="en-US" sz="2000" b="1" i="0" u="none" strike="noStrike" cap="none">
                        <a:solidFill>
                          <a:srgbClr val="EF4444"/>
                        </a:solidFill>
                        <a:latin typeface="Times New Roman" panose="02020603050405020304" charset="0"/>
                        <a:ea typeface="Lato" panose="020F0502020204030203"/>
                        <a:cs typeface="Times New Roman" panose="02020603050405020304" charset="0"/>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1113790">
                <a:tc>
                  <a:txBody>
                    <a:bodyPr/>
                    <a:lstStyle/>
                    <a:p>
                      <a:pPr marL="0" marR="0" lvl="0" indent="0" algn="l" rtl="0">
                        <a:spcBef>
                          <a:spcPts val="0"/>
                        </a:spcBef>
                        <a:spcAft>
                          <a:spcPts val="0"/>
                        </a:spcAft>
                        <a:buNone/>
                      </a:pPr>
                      <a:r>
                        <a:rPr lang="en-US" sz="2000" b="1"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Tableurs (Excel/WhatsApp)</a:t>
                      </a:r>
                      <a:endParaRPr lang="en-US" sz="2000" b="1"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Semi-numérisé, modification libre, graphique de base</a:t>
                      </a:r>
                      <a:endPar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Saisie manuelle sujette aux erreurs, absence de relance auto</a:t>
                      </a:r>
                      <a:r>
                        <a:rPr lang="fr-FR" alt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 obligé de faire une personalisation</a:t>
                      </a:r>
                      <a:endParaRPr lang="fr-FR" alt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1"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 Partielle</a:t>
                      </a:r>
                      <a:endParaRPr lang="en-US" sz="2000" b="1"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a:txBody>
                  <a:tcPr marL="2667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1114425">
                <a:tc>
                  <a:txBody>
                    <a:bodyPr/>
                    <a:lstStyle/>
                    <a:p>
                      <a:pPr marL="0" marR="0" lvl="0" indent="0" algn="l" rtl="0">
                        <a:spcBef>
                          <a:spcPts val="0"/>
                        </a:spcBef>
                        <a:spcAft>
                          <a:spcPts val="0"/>
                        </a:spcAft>
                        <a:buNone/>
                      </a:pPr>
                      <a:r>
                        <a:rPr lang="en-US" sz="2000" b="1"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Logiciels SaaS Étrangers</a:t>
                      </a:r>
                      <a:r>
                        <a:rPr lang="fr-FR" altLang="en-US" sz="2000" b="1"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 (GererSeul)</a:t>
                      </a:r>
                      <a:endParaRPr lang="fr-FR" altLang="en-US" sz="2000" b="1"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Automatisation totale de l'édition de baux, quittances PDF</a:t>
                      </a:r>
                      <a:endPar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Modèle juridique européen, absence de passerelles locales</a:t>
                      </a:r>
                      <a:endParaRPr lang="en-US" sz="20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2000" b="1" i="0" u="none" strike="noStrike" cap="none">
                          <a:solidFill>
                            <a:srgbClr val="EF4444"/>
                          </a:solidFill>
                          <a:latin typeface="Times New Roman" panose="02020603050405020304" charset="0"/>
                          <a:ea typeface="Lato" panose="020F0502020204030203"/>
                          <a:cs typeface="Times New Roman" panose="02020603050405020304" charset="0"/>
                          <a:sym typeface="Lato" panose="020F0502020204030203"/>
                        </a:rPr>
                        <a:t> Non-adapté</a:t>
                      </a:r>
                      <a:endParaRPr lang="en-US" sz="2000" b="1" i="0" u="none" strike="noStrike" cap="none">
                        <a:solidFill>
                          <a:srgbClr val="EF4444"/>
                        </a:solidFill>
                        <a:latin typeface="Times New Roman" panose="02020603050405020304" charset="0"/>
                        <a:ea typeface="Lato" panose="020F0502020204030203"/>
                        <a:cs typeface="Times New Roman" panose="02020603050405020304" charset="0"/>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rPr>
              <a:t>RENTAL</a:t>
            </a:r>
            <a:endParaRPr lang="en-US" sz="1200" b="1" i="0" u="none" strike="noStrike" cap="none">
              <a:solidFill>
                <a:srgbClr val="3B82F6"/>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152" name="Google Shape;152;p16"/>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rPr>
              <a:t>Ipnet Institute of Technology — Soutenance de Licence Professionnelle</a:t>
            </a:r>
            <a:endParaRPr lang="en-US" sz="1200" b="0"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p:txBody>
      </p:sp>
      <p:sp>
        <p:nvSpPr>
          <p:cNvPr id="153" name="Google Shape;153;p16"/>
          <p:cNvSpPr txBox="1"/>
          <p:nvPr/>
        </p:nvSpPr>
        <p:spPr>
          <a:xfrm>
            <a:off x="11487150" y="6286500"/>
            <a:ext cx="419735" cy="57086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rPr>
              <a:t>10</a:t>
            </a:r>
            <a:endParaRPr lang="fr-FR" altLang="en-US" sz="1800" b="1" i="0" u="none" strike="noStrike" cap="none">
              <a:solidFill>
                <a:schemeClr val="tx1"/>
              </a:solidFill>
              <a:latin typeface="Lato" panose="020F0502020204030203" charset="0"/>
              <a:ea typeface="Lato" panose="020F0502020204030203"/>
              <a:cs typeface="Lato" panose="020F0502020204030203" charset="0"/>
              <a:sym typeface="Lato" panose="020F0502020204030203"/>
            </a:endParaRPr>
          </a:p>
        </p:txBody>
      </p:sp>
      <p:sp>
        <p:nvSpPr>
          <p:cNvPr id="6" name="Zone de texte 5"/>
          <p:cNvSpPr txBox="1"/>
          <p:nvPr/>
        </p:nvSpPr>
        <p:spPr>
          <a:xfrm>
            <a:off x="572135" y="2414905"/>
            <a:ext cx="10914380" cy="1535430"/>
          </a:xfrm>
          <a:prstGeom prst="rect">
            <a:avLst/>
          </a:prstGeom>
          <a:noFill/>
          <a:ln>
            <a:solidFill>
              <a:schemeClr val="tx1"/>
            </a:solidFill>
          </a:ln>
        </p:spPr>
        <p:txBody>
          <a:bodyPr wrap="square" rtlCol="0" anchor="t">
            <a:noAutofit/>
          </a:bodyPr>
          <a:p>
            <a:pPr marL="0" indent="0" algn="ctr">
              <a:lnSpc>
                <a:spcPct val="105000"/>
              </a:lnSpc>
              <a:buNone/>
            </a:pPr>
            <a:r>
              <a:rPr 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Ob</a:t>
            </a:r>
            <a:r>
              <a:rPr lang="fr-FR" alt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J</a:t>
            </a:r>
            <a:r>
              <a:rPr 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ectif</a:t>
            </a:r>
            <a:r>
              <a:rPr lang="fr-FR" alt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s</a:t>
            </a:r>
            <a:r>
              <a:rPr 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 </a:t>
            </a:r>
            <a:r>
              <a:rPr lang="fr-FR" alt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DU</a:t>
            </a:r>
            <a:r>
              <a:rPr 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 Pro</a:t>
            </a:r>
            <a:r>
              <a:rPr lang="fr-FR" alt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J</a:t>
            </a:r>
            <a:r>
              <a:rPr lang="en-US" sz="6600" b="1" cap="all">
                <a:solidFill>
                  <a:srgbClr val="1E293B"/>
                </a:solidFill>
                <a:uFillTx/>
                <a:latin typeface="Poppins" panose="00000500000000000000" charset="0"/>
                <a:ea typeface="Poppins" panose="00000500000000000000"/>
                <a:cs typeface="Poppins" panose="00000500000000000000"/>
                <a:sym typeface="Poppins" panose="00000500000000000000"/>
              </a:rPr>
              <a:t>et</a:t>
            </a:r>
            <a:endParaRPr lang="en-US" sz="6600" b="1" i="0" cap="all">
              <a:solidFill>
                <a:srgbClr val="1E293B"/>
              </a:solidFill>
              <a:uFillTx/>
              <a:latin typeface="Poppins" panose="00000500000000000000" charset="0"/>
              <a:ea typeface="Poppins" panose="00000500000000000000"/>
              <a:cs typeface="Poppins" panose="00000500000000000000"/>
              <a:sym typeface="Poppins" panose="00000500000000000000"/>
            </a:endParaRPr>
          </a:p>
          <a:p>
            <a:pPr marL="0" indent="0" algn="ctr">
              <a:lnSpc>
                <a:spcPct val="105000"/>
              </a:lnSpc>
              <a:buNone/>
            </a:pPr>
            <a:endParaRPr lang="en-US" altLang="en-US" sz="6600" b="1" i="0" cap="all" dirty="0">
              <a:solidFill>
                <a:srgbClr val="1E293B"/>
              </a:solidFill>
              <a:uFillTx/>
              <a:latin typeface="Poppins" panose="00000500000000000000" charset="0"/>
              <a:ea typeface="Poppins" panose="00000500000000000000"/>
              <a:cs typeface="Poppins" panose="00000500000000000000"/>
              <a:sym typeface="Poppins" panose="00000500000000000000"/>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04" name="Shape 204"/>
        <p:cNvGrpSpPr/>
        <p:nvPr/>
      </p:nvGrpSpPr>
      <p:grpSpPr>
        <a:xfrm>
          <a:off x="0" y="0"/>
          <a:ext cx="0" cy="0"/>
          <a:chOff x="0" y="0"/>
          <a:chExt cx="0" cy="0"/>
        </a:xfrm>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pic>
        <p:nvPicPr>
          <p:cNvPr id="206" name="Google Shape;206;p18" descr="image.png"/>
          <p:cNvPicPr preferRelativeResize="0"/>
          <p:nvPr/>
        </p:nvPicPr>
        <p:blipFill rotWithShape="1">
          <a:blip r:embed="rId3"/>
          <a:srcRect/>
          <a:stretch>
            <a:fillRect/>
          </a:stretch>
        </p:blipFill>
        <p:spPr>
          <a:xfrm>
            <a:off x="1690370" y="2263775"/>
            <a:ext cx="2929890" cy="1323975"/>
          </a:xfrm>
          <a:prstGeom prst="rect">
            <a:avLst/>
          </a:prstGeom>
          <a:noFill/>
          <a:ln>
            <a:noFill/>
          </a:ln>
        </p:spPr>
      </p:pic>
      <p:pic>
        <p:nvPicPr>
          <p:cNvPr id="207" name="Google Shape;207;p18" descr="image.png"/>
          <p:cNvPicPr preferRelativeResize="0"/>
          <p:nvPr/>
        </p:nvPicPr>
        <p:blipFill rotWithShape="1">
          <a:blip r:embed="rId4"/>
          <a:srcRect/>
          <a:stretch>
            <a:fillRect/>
          </a:stretch>
        </p:blipFill>
        <p:spPr>
          <a:xfrm>
            <a:off x="7327265" y="2313305"/>
            <a:ext cx="3074670" cy="1268095"/>
          </a:xfrm>
          <a:prstGeom prst="rect">
            <a:avLst/>
          </a:prstGeom>
          <a:noFill/>
          <a:ln>
            <a:noFill/>
          </a:ln>
        </p:spPr>
      </p:pic>
      <p:pic>
        <p:nvPicPr>
          <p:cNvPr id="208" name="Google Shape;208;p18" descr="image.png"/>
          <p:cNvPicPr preferRelativeResize="0"/>
          <p:nvPr/>
        </p:nvPicPr>
        <p:blipFill rotWithShape="1">
          <a:blip r:embed="rId5"/>
          <a:srcRect/>
          <a:stretch>
            <a:fillRect/>
          </a:stretch>
        </p:blipFill>
        <p:spPr>
          <a:xfrm>
            <a:off x="4620260" y="4375785"/>
            <a:ext cx="3047365" cy="1415415"/>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11" name="Google Shape;211;p18"/>
          <p:cNvSpPr txBox="1"/>
          <p:nvPr/>
        </p:nvSpPr>
        <p:spPr>
          <a:xfrm>
            <a:off x="9944100" y="471487"/>
            <a:ext cx="1676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OBJECTIFS STRATÉGIQUES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2" name="Google Shape;212;p18"/>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3" name="Google Shape;213;p18"/>
          <p:cNvSpPr txBox="1"/>
          <p:nvPr/>
        </p:nvSpPr>
        <p:spPr>
          <a:xfrm>
            <a:off x="11487150" y="6286500"/>
            <a:ext cx="353060" cy="43561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11</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214" name="Google Shape;214;p18"/>
          <p:cNvSpPr txBox="1"/>
          <p:nvPr/>
        </p:nvSpPr>
        <p:spPr>
          <a:xfrm>
            <a:off x="1659095" y="315906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Centralisation </a:t>
            </a: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les données</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6" name="Google Shape;216;p18"/>
          <p:cNvSpPr txBox="1"/>
          <p:nvPr/>
        </p:nvSpPr>
        <p:spPr>
          <a:xfrm>
            <a:off x="7327789" y="3208595"/>
            <a:ext cx="3047099" cy="571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Automatisation des Échéances</a:t>
            </a:r>
            <a:endPar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8" name="Google Shape;218;p18"/>
          <p:cNvSpPr txBox="1"/>
          <p:nvPr/>
        </p:nvSpPr>
        <p:spPr>
          <a:xfrm>
            <a:off x="4620199" y="527107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Moyens de paiement locaux</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220" name="Google Shape;220;p18" descr="image.png"/>
          <p:cNvPicPr preferRelativeResize="0"/>
          <p:nvPr/>
        </p:nvPicPr>
        <p:blipFill rotWithShape="1">
          <a:blip r:embed="rId6"/>
          <a:srcRect/>
          <a:stretch>
            <a:fillRect/>
          </a:stretch>
        </p:blipFill>
        <p:spPr>
          <a:xfrm>
            <a:off x="3015882" y="2597090"/>
            <a:ext cx="333375" cy="381000"/>
          </a:xfrm>
          <a:prstGeom prst="rect">
            <a:avLst/>
          </a:prstGeom>
          <a:noFill/>
          <a:ln>
            <a:noFill/>
          </a:ln>
        </p:spPr>
      </p:pic>
      <p:pic>
        <p:nvPicPr>
          <p:cNvPr id="221" name="Google Shape;221;p18" descr="image.png"/>
          <p:cNvPicPr preferRelativeResize="0"/>
          <p:nvPr/>
        </p:nvPicPr>
        <p:blipFill rotWithShape="1">
          <a:blip r:embed="rId7"/>
          <a:srcRect/>
          <a:stretch>
            <a:fillRect/>
          </a:stretch>
        </p:blipFill>
        <p:spPr>
          <a:xfrm>
            <a:off x="8613140" y="2646620"/>
            <a:ext cx="476250" cy="381000"/>
          </a:xfrm>
          <a:prstGeom prst="rect">
            <a:avLst/>
          </a:prstGeom>
          <a:noFill/>
          <a:ln>
            <a:noFill/>
          </a:ln>
        </p:spPr>
      </p:pic>
      <p:pic>
        <p:nvPicPr>
          <p:cNvPr id="222" name="Google Shape;222;p18" descr="image.png"/>
          <p:cNvPicPr preferRelativeResize="0"/>
          <p:nvPr/>
        </p:nvPicPr>
        <p:blipFill rotWithShape="1">
          <a:blip r:embed="rId8"/>
          <a:srcRect/>
          <a:stretch>
            <a:fillRect/>
          </a:stretch>
        </p:blipFill>
        <p:spPr>
          <a:xfrm>
            <a:off x="6000799" y="4709100"/>
            <a:ext cx="285750" cy="381000"/>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06"/>
                                        </p:tgtEl>
                                        <p:attrNameLst>
                                          <p:attrName>style.visibility</p:attrName>
                                        </p:attrNameLst>
                                      </p:cBhvr>
                                      <p:to>
                                        <p:strVal val="visible"/>
                                      </p:to>
                                    </p:set>
                                    <p:animEffect transition="in" filter="wipe(down)">
                                      <p:cBhvr>
                                        <p:cTn id="7" dur="500"/>
                                        <p:tgtEl>
                                          <p:spTgt spid="206"/>
                                        </p:tgtEl>
                                      </p:cBhvr>
                                    </p:animEffect>
                                  </p:childTnLst>
                                </p:cTn>
                              </p:par>
                              <p:par>
                                <p:cTn id="8" presetID="22" presetClass="entr" presetSubtype="4" fill="hold" nodeType="withEffect">
                                  <p:stCondLst>
                                    <p:cond delay="0"/>
                                  </p:stCondLst>
                                  <p:childTnLst>
                                    <p:set>
                                      <p:cBhvr>
                                        <p:cTn id="9" dur="1" fill="hold">
                                          <p:stCondLst>
                                            <p:cond delay="0"/>
                                          </p:stCondLst>
                                        </p:cTn>
                                        <p:tgtEl>
                                          <p:spTgt spid="220"/>
                                        </p:tgtEl>
                                        <p:attrNameLst>
                                          <p:attrName>style.visibility</p:attrName>
                                        </p:attrNameLst>
                                      </p:cBhvr>
                                      <p:to>
                                        <p:strVal val="visible"/>
                                      </p:to>
                                    </p:set>
                                    <p:animEffect transition="in" filter="wipe(down)">
                                      <p:cBhvr>
                                        <p:cTn id="10" dur="500"/>
                                        <p:tgtEl>
                                          <p:spTgt spid="220"/>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14"/>
                                        </p:tgtEl>
                                        <p:attrNameLst>
                                          <p:attrName>style.visibility</p:attrName>
                                        </p:attrNameLst>
                                      </p:cBhvr>
                                      <p:to>
                                        <p:strVal val="visible"/>
                                      </p:to>
                                    </p:set>
                                    <p:animEffect transition="in" filter="wipe(down)">
                                      <p:cBhvr>
                                        <p:cTn id="13" dur="500"/>
                                        <p:tgtEl>
                                          <p:spTgt spid="2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07"/>
                                        </p:tgtEl>
                                        <p:attrNameLst>
                                          <p:attrName>style.visibility</p:attrName>
                                        </p:attrNameLst>
                                      </p:cBhvr>
                                      <p:to>
                                        <p:strVal val="visible"/>
                                      </p:to>
                                    </p:set>
                                    <p:animEffect transition="in" filter="wipe(down)">
                                      <p:cBhvr>
                                        <p:cTn id="18" dur="500"/>
                                        <p:tgtEl>
                                          <p:spTgt spid="207"/>
                                        </p:tgtEl>
                                      </p:cBhvr>
                                    </p:animEffect>
                                  </p:childTnLst>
                                </p:cTn>
                              </p:par>
                              <p:par>
                                <p:cTn id="19" presetID="22" presetClass="entr" presetSubtype="4" fill="hold" nodeType="withEffect">
                                  <p:stCondLst>
                                    <p:cond delay="0"/>
                                  </p:stCondLst>
                                  <p:childTnLst>
                                    <p:set>
                                      <p:cBhvr>
                                        <p:cTn id="20" dur="1" fill="hold">
                                          <p:stCondLst>
                                            <p:cond delay="0"/>
                                          </p:stCondLst>
                                        </p:cTn>
                                        <p:tgtEl>
                                          <p:spTgt spid="221"/>
                                        </p:tgtEl>
                                        <p:attrNameLst>
                                          <p:attrName>style.visibility</p:attrName>
                                        </p:attrNameLst>
                                      </p:cBhvr>
                                      <p:to>
                                        <p:strVal val="visible"/>
                                      </p:to>
                                    </p:set>
                                    <p:animEffect transition="in" filter="wipe(down)">
                                      <p:cBhvr>
                                        <p:cTn id="21" dur="500"/>
                                        <p:tgtEl>
                                          <p:spTgt spid="221"/>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216"/>
                                        </p:tgtEl>
                                        <p:attrNameLst>
                                          <p:attrName>style.visibility</p:attrName>
                                        </p:attrNameLst>
                                      </p:cBhvr>
                                      <p:to>
                                        <p:strVal val="visible"/>
                                      </p:to>
                                    </p:set>
                                    <p:animEffect transition="in" filter="wipe(down)">
                                      <p:cBhvr>
                                        <p:cTn id="24" dur="500"/>
                                        <p:tgtEl>
                                          <p:spTgt spid="21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208"/>
                                        </p:tgtEl>
                                        <p:attrNameLst>
                                          <p:attrName>style.visibility</p:attrName>
                                        </p:attrNameLst>
                                      </p:cBhvr>
                                      <p:to>
                                        <p:strVal val="visible"/>
                                      </p:to>
                                    </p:set>
                                    <p:animEffect transition="in" filter="wipe(down)">
                                      <p:cBhvr>
                                        <p:cTn id="29" dur="500"/>
                                        <p:tgtEl>
                                          <p:spTgt spid="208"/>
                                        </p:tgtEl>
                                      </p:cBhvr>
                                    </p:animEffect>
                                  </p:childTnLst>
                                </p:cTn>
                              </p:par>
                              <p:par>
                                <p:cTn id="30" presetID="22" presetClass="entr" presetSubtype="4" fill="hold" nodeType="withEffect">
                                  <p:stCondLst>
                                    <p:cond delay="0"/>
                                  </p:stCondLst>
                                  <p:childTnLst>
                                    <p:set>
                                      <p:cBhvr>
                                        <p:cTn id="31" dur="1" fill="hold">
                                          <p:stCondLst>
                                            <p:cond delay="0"/>
                                          </p:stCondLst>
                                        </p:cTn>
                                        <p:tgtEl>
                                          <p:spTgt spid="222"/>
                                        </p:tgtEl>
                                        <p:attrNameLst>
                                          <p:attrName>style.visibility</p:attrName>
                                        </p:attrNameLst>
                                      </p:cBhvr>
                                      <p:to>
                                        <p:strVal val="visible"/>
                                      </p:to>
                                    </p:set>
                                    <p:animEffect transition="in" filter="wipe(down)">
                                      <p:cBhvr>
                                        <p:cTn id="32" dur="500"/>
                                        <p:tgtEl>
                                          <p:spTgt spid="222"/>
                                        </p:tgtEl>
                                      </p:cBhvr>
                                    </p:animEffect>
                                  </p:childTnLst>
                                </p:cTn>
                              </p:par>
                              <p:par>
                                <p:cTn id="33" presetID="22" presetClass="entr" presetSubtype="4" fill="hold" grpId="0" nodeType="withEffect">
                                  <p:stCondLst>
                                    <p:cond delay="0"/>
                                  </p:stCondLst>
                                  <p:childTnLst>
                                    <p:set>
                                      <p:cBhvr>
                                        <p:cTn id="34" dur="1" fill="hold">
                                          <p:stCondLst>
                                            <p:cond delay="0"/>
                                          </p:stCondLst>
                                        </p:cTn>
                                        <p:tgtEl>
                                          <p:spTgt spid="218"/>
                                        </p:tgtEl>
                                        <p:attrNameLst>
                                          <p:attrName>style.visibility</p:attrName>
                                        </p:attrNameLst>
                                      </p:cBhvr>
                                      <p:to>
                                        <p:strVal val="visible"/>
                                      </p:to>
                                    </p:set>
                                    <p:animEffect transition="in" filter="wipe(down)">
                                      <p:cBhvr>
                                        <p:cTn id="35" dur="500"/>
                                        <p:tgtEl>
                                          <p:spTgt spid="2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 grpId="0"/>
      <p:bldP spid="214" grpId="1"/>
      <p:bldP spid="216" grpId="0"/>
      <p:bldP spid="216" grpId="1"/>
      <p:bldP spid="218" grpId="0"/>
      <p:bldP spid="218"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203325" y="2536825"/>
            <a:ext cx="10128250" cy="1722755"/>
          </a:xfrm>
          <a:ln>
            <a:solidFill>
              <a:schemeClr val="accent1"/>
            </a:solidFill>
          </a:ln>
          <a:effectLst/>
        </p:spPr>
        <p:txBody>
          <a:bodyPr>
            <a:normAutofit/>
          </a:bodyPr>
          <a:p>
            <a:r>
              <a:rPr lang="fr-FR" altLang="en-US" sz="4800" b="1" cap="all">
                <a:solidFill>
                  <a:schemeClr val="tx1"/>
                </a:solidFill>
                <a:uFillTx/>
                <a:latin typeface="Times New Roman" panose="02020603050405020304" charset="0"/>
                <a:cs typeface="Times New Roman" panose="02020603050405020304" charset="0"/>
              </a:rPr>
              <a:t>Conception &amp; RéaliSAtion</a:t>
            </a:r>
            <a:endParaRPr lang="fr-FR" altLang="en-US" sz="4800" b="1" cap="all">
              <a:solidFill>
                <a:schemeClr val="tx1"/>
              </a:solidFill>
              <a:uFillTx/>
              <a:latin typeface="Times New Roman" panose="02020603050405020304" charset="0"/>
              <a:cs typeface="Times New Roman" panose="02020603050405020304" charset="0"/>
            </a:endParaRPr>
          </a:p>
        </p:txBody>
      </p:sp>
      <p:sp>
        <p:nvSpPr>
          <p:cNvPr id="213" name="Google Shape;213;p18"/>
          <p:cNvSpPr txBox="1"/>
          <p:nvPr/>
        </p:nvSpPr>
        <p:spPr>
          <a:xfrm>
            <a:off x="11487150" y="6286500"/>
            <a:ext cx="353060" cy="43561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12</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212" name="Google Shape;212;p18"/>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4" name="Zone de texte 3"/>
          <p:cNvSpPr txBox="1"/>
          <p:nvPr/>
        </p:nvSpPr>
        <p:spPr>
          <a:xfrm>
            <a:off x="702945" y="6417945"/>
            <a:ext cx="2795270" cy="272415"/>
          </a:xfrm>
          <a:prstGeom prst="rect">
            <a:avLst/>
          </a:prstGeom>
          <a:noFill/>
        </p:spPr>
        <p:txBody>
          <a:bodyPr wrap="square" rtlCol="0">
            <a:noAutofit/>
          </a:bodyPr>
          <a:p>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a:p>
            <a:endParaRPr lang="en-US" alt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3" name="Google Shape;213;p18"/>
          <p:cNvSpPr txBox="1"/>
          <p:nvPr/>
        </p:nvSpPr>
        <p:spPr>
          <a:xfrm>
            <a:off x="11487150" y="6286500"/>
            <a:ext cx="271145" cy="4038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13</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5" name="Image 4" descr="agile_cycle"/>
          <p:cNvPicPr>
            <a:picLocks noChangeAspect="1"/>
          </p:cNvPicPr>
          <p:nvPr/>
        </p:nvPicPr>
        <p:blipFill>
          <a:blip r:embed="rId3"/>
          <a:stretch>
            <a:fillRect/>
          </a:stretch>
        </p:blipFill>
        <p:spPr>
          <a:xfrm>
            <a:off x="954405" y="1179195"/>
            <a:ext cx="10217150" cy="5748020"/>
          </a:xfrm>
          <a:prstGeom prst="rect">
            <a:avLst/>
          </a:prstGeom>
        </p:spPr>
      </p:pic>
      <p:sp>
        <p:nvSpPr>
          <p:cNvPr id="2" name="Google Shape;336;p23"/>
          <p:cNvSpPr txBox="1"/>
          <p:nvPr/>
        </p:nvSpPr>
        <p:spPr>
          <a:xfrm>
            <a:off x="372745" y="641350"/>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Méthodologie</a:t>
            </a: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
        <p:nvSpPr>
          <p:cNvPr id="6" name="Google Shape;316;p23"/>
          <p:cNvSpPr txBox="1"/>
          <p:nvPr/>
        </p:nvSpPr>
        <p:spPr>
          <a:xfrm>
            <a:off x="372745" y="303848"/>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Google Shape;317;p23"/>
          <p:cNvSpPr txBox="1"/>
          <p:nvPr/>
        </p:nvSpPr>
        <p:spPr>
          <a:xfrm>
            <a:off x="9901872" y="336232"/>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13" name="Shape 313"/>
        <p:cNvGrpSpPr/>
        <p:nvPr/>
      </p:nvGrpSpPr>
      <p:grpSpPr>
        <a:xfrm>
          <a:off x="0" y="0"/>
          <a:ext cx="0" cy="0"/>
          <a:chOff x="0" y="0"/>
          <a:chExt cx="0" cy="0"/>
        </a:xfrm>
      </p:grpSpPr>
      <p:pic>
        <p:nvPicPr>
          <p:cNvPr id="315" name="Google Shape;315;p23" descr="image.png"/>
          <p:cNvPicPr preferRelativeResize="0"/>
          <p:nvPr/>
        </p:nvPicPr>
        <p:blipFill rotWithShape="1">
          <a:blip r:embed="rId1"/>
          <a:srcRect/>
          <a:stretch>
            <a:fillRect/>
          </a:stretch>
        </p:blipFill>
        <p:spPr>
          <a:xfrm>
            <a:off x="571500" y="6134100"/>
            <a:ext cx="11049000" cy="295275"/>
          </a:xfrm>
          <a:prstGeom prst="rect">
            <a:avLst/>
          </a:prstGeom>
          <a:noFill/>
          <a:ln>
            <a:noFill/>
          </a:ln>
        </p:spPr>
      </p:pic>
      <p:sp>
        <p:nvSpPr>
          <p:cNvPr id="318" name="Google Shape;318;p23"/>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9" name="Google Shape;319;p23"/>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09</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205" name="Google Shape;205;p18" descr="Empty office hall"/>
          <p:cNvPicPr preferRelativeResize="0"/>
          <p:nvPr>
            <p:custDataLst>
              <p:tags r:id="rId2"/>
            </p:custDataLst>
          </p:nvPr>
        </p:nvPicPr>
        <p:blipFill rotWithShape="1">
          <a:blip r:embed="rId3"/>
          <a:srcRect t="7802" b="7802"/>
          <a:stretch>
            <a:fillRect/>
          </a:stretch>
        </p:blipFill>
        <p:spPr>
          <a:xfrm>
            <a:off x="0" y="0"/>
            <a:ext cx="12192000" cy="6858000"/>
          </a:xfrm>
          <a:prstGeom prst="rect">
            <a:avLst/>
          </a:prstGeom>
          <a:noFill/>
          <a:ln>
            <a:noFill/>
          </a:ln>
        </p:spPr>
      </p:pic>
      <p:sp>
        <p:nvSpPr>
          <p:cNvPr id="4" name="Google Shape;336;p23"/>
          <p:cNvSpPr txBox="1"/>
          <p:nvPr/>
        </p:nvSpPr>
        <p:spPr>
          <a:xfrm>
            <a:off x="372745" y="641350"/>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Planning de Réalisation du Projet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
        <p:nvSpPr>
          <p:cNvPr id="6" name="Google Shape;316;p23"/>
          <p:cNvSpPr txBox="1"/>
          <p:nvPr/>
        </p:nvSpPr>
        <p:spPr>
          <a:xfrm>
            <a:off x="372745" y="303848"/>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Google Shape;317;p23"/>
          <p:cNvSpPr txBox="1"/>
          <p:nvPr/>
        </p:nvSpPr>
        <p:spPr>
          <a:xfrm>
            <a:off x="9901872" y="336232"/>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8" name="Image 7"/>
          <p:cNvPicPr>
            <a:picLocks noChangeAspect="1"/>
          </p:cNvPicPr>
          <p:nvPr/>
        </p:nvPicPr>
        <p:blipFill>
          <a:blip r:embed="rId4"/>
          <a:stretch>
            <a:fillRect/>
          </a:stretch>
        </p:blipFill>
        <p:spPr>
          <a:xfrm>
            <a:off x="798830" y="1292225"/>
            <a:ext cx="10593705" cy="5274945"/>
          </a:xfrm>
          <a:prstGeom prst="rect">
            <a:avLst/>
          </a:prstGeom>
        </p:spPr>
      </p:pic>
      <p:sp>
        <p:nvSpPr>
          <p:cNvPr id="213" name="Google Shape;213;p18"/>
          <p:cNvSpPr txBox="1"/>
          <p:nvPr/>
        </p:nvSpPr>
        <p:spPr>
          <a:xfrm>
            <a:off x="11487150" y="6286500"/>
            <a:ext cx="271145" cy="4038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14</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70" name="Shape 270"/>
        <p:cNvGrpSpPr/>
        <p:nvPr/>
      </p:nvGrpSpPr>
      <p:grpSpPr>
        <a:xfrm>
          <a:off x="0" y="0"/>
          <a:ext cx="0" cy="0"/>
          <a:chOff x="0" y="0"/>
          <a:chExt cx="0" cy="0"/>
        </a:xfrm>
      </p:grpSpPr>
      <p:pic>
        <p:nvPicPr>
          <p:cNvPr id="271" name="Google Shape;271;p21"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73" name="Google Shape;273;p21"/>
          <p:cNvSpPr txBox="1"/>
          <p:nvPr/>
        </p:nvSpPr>
        <p:spPr>
          <a:xfrm>
            <a:off x="59944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74" name="Google Shape;274;p21"/>
          <p:cNvSpPr txBox="1"/>
          <p:nvPr/>
        </p:nvSpPr>
        <p:spPr>
          <a:xfrm>
            <a:off x="9910762" y="471487"/>
            <a:ext cx="17097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CONCEPTION DU SYSTÈME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5" name="Google Shape;275;p21"/>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286500"/>
            <a:ext cx="334010" cy="36893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15</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277" name="Google Shape;277;p21"/>
          <p:cNvSpPr/>
          <p:nvPr/>
        </p:nvSpPr>
        <p:spPr>
          <a:xfrm>
            <a:off x="571500"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78" name="Google Shape;278;p21"/>
          <p:cNvSpPr txBox="1"/>
          <p:nvPr/>
        </p:nvSpPr>
        <p:spPr>
          <a:xfrm>
            <a:off x="1095375"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de Cas d'Utilisation</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79" name="Google Shape;279;p21"/>
          <p:cNvSpPr/>
          <p:nvPr/>
        </p:nvSpPr>
        <p:spPr>
          <a:xfrm>
            <a:off x="6215062"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0" name="Google Shape;280;p21"/>
          <p:cNvSpPr txBox="1"/>
          <p:nvPr/>
        </p:nvSpPr>
        <p:spPr>
          <a:xfrm>
            <a:off x="6738937"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d'Activités &amp; Séquences</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1" name="Google Shape;281;p21"/>
          <p:cNvSpPr/>
          <p:nvPr/>
        </p:nvSpPr>
        <p:spPr>
          <a:xfrm>
            <a:off x="571500"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2" name="Google Shape;282;p21"/>
          <p:cNvSpPr txBox="1"/>
          <p:nvPr/>
        </p:nvSpPr>
        <p:spPr>
          <a:xfrm>
            <a:off x="1095375"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Modèle Entité-Relationnel (ERD)</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3" name="Google Shape;283;p21"/>
          <p:cNvSpPr/>
          <p:nvPr/>
        </p:nvSpPr>
        <p:spPr>
          <a:xfrm>
            <a:off x="6215062"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4" name="Google Shape;284;p21"/>
          <p:cNvSpPr txBox="1"/>
          <p:nvPr/>
        </p:nvSpPr>
        <p:spPr>
          <a:xfrm>
            <a:off x="6738937"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Isolation Logique Multi-Tenant</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5" name="Google Shape;285;p21"/>
          <p:cNvSpPr/>
          <p:nvPr/>
        </p:nvSpPr>
        <p:spPr>
          <a:xfrm>
            <a:off x="571500"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6" name="Google Shape;286;p21"/>
          <p:cNvSpPr txBox="1"/>
          <p:nvPr/>
        </p:nvSpPr>
        <p:spPr>
          <a:xfrm>
            <a:off x="1104900"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Définition des limites fonctionnelles du système (Administration complète pour le propriétaire ; consultation et paiement pour le locataire).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7" name="Google Shape;287;p21"/>
          <p:cNvSpPr/>
          <p:nvPr/>
        </p:nvSpPr>
        <p:spPr>
          <a:xfrm>
            <a:off x="6215062"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8" name="Google Shape;288;p21"/>
          <p:cNvSpPr txBox="1"/>
          <p:nvPr/>
        </p:nvSpPr>
        <p:spPr>
          <a:xfrm>
            <a:off x="6748462"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Formalisation des processus métiers dynamiques, en particulier l'interaction asynchrone lors de la génération automatique d'échéances.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9" name="Google Shape;289;p21"/>
          <p:cNvSpPr/>
          <p:nvPr/>
        </p:nvSpPr>
        <p:spPr>
          <a:xfrm>
            <a:off x="571500"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0" name="Google Shape;290;p21"/>
          <p:cNvSpPr txBox="1"/>
          <p:nvPr/>
        </p:nvSpPr>
        <p:spPr>
          <a:xfrm>
            <a:off x="1104900"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Tables hautement indexées sur PostgreSQL pour accélérer les requêtes SQL complexes, gérant la relation Biens -&gt; Unités -&gt; Contrats -&gt; 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91" name="Google Shape;291;p21"/>
          <p:cNvSpPr/>
          <p:nvPr/>
        </p:nvSpPr>
        <p:spPr>
          <a:xfrm>
            <a:off x="6215062"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2" name="Google Shape;292;p21"/>
          <p:cNvSpPr txBox="1"/>
          <p:nvPr/>
        </p:nvSpPr>
        <p:spPr>
          <a:xfrm>
            <a:off x="6748462"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Filtre injecté dynamiquement dans toutes les requêtes SQL, empêchant formellement un propriétaire d'accéder aux données d'un autre bailleur.</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93" name="Google Shape;293;p21" descr="image.png"/>
          <p:cNvPicPr preferRelativeResize="0"/>
          <p:nvPr/>
        </p:nvPicPr>
        <p:blipFill rotWithShape="1">
          <a:blip r:embed="rId3"/>
          <a:srcRect/>
          <a:stretch>
            <a:fillRect/>
          </a:stretch>
        </p:blipFill>
        <p:spPr>
          <a:xfrm>
            <a:off x="771525" y="2839342"/>
            <a:ext cx="219075" cy="200025"/>
          </a:xfrm>
          <a:prstGeom prst="rect">
            <a:avLst/>
          </a:prstGeom>
          <a:noFill/>
          <a:ln>
            <a:noFill/>
          </a:ln>
        </p:spPr>
      </p:pic>
      <p:pic>
        <p:nvPicPr>
          <p:cNvPr id="294" name="Google Shape;294;p21" descr="image.png"/>
          <p:cNvPicPr preferRelativeResize="0"/>
          <p:nvPr/>
        </p:nvPicPr>
        <p:blipFill rotWithShape="1">
          <a:blip r:embed="rId4"/>
          <a:srcRect/>
          <a:stretch>
            <a:fillRect/>
          </a:stretch>
        </p:blipFill>
        <p:spPr>
          <a:xfrm>
            <a:off x="6415087" y="2839342"/>
            <a:ext cx="238125" cy="200025"/>
          </a:xfrm>
          <a:prstGeom prst="rect">
            <a:avLst/>
          </a:prstGeom>
          <a:noFill/>
          <a:ln>
            <a:noFill/>
          </a:ln>
        </p:spPr>
      </p:pic>
      <p:pic>
        <p:nvPicPr>
          <p:cNvPr id="295" name="Google Shape;295;p21" descr="image.png"/>
          <p:cNvPicPr preferRelativeResize="0"/>
          <p:nvPr/>
        </p:nvPicPr>
        <p:blipFill rotWithShape="1">
          <a:blip r:embed="rId5"/>
          <a:srcRect/>
          <a:stretch>
            <a:fillRect/>
          </a:stretch>
        </p:blipFill>
        <p:spPr>
          <a:xfrm>
            <a:off x="771525" y="4077592"/>
            <a:ext cx="171450" cy="200025"/>
          </a:xfrm>
          <a:prstGeom prst="rect">
            <a:avLst/>
          </a:prstGeom>
          <a:noFill/>
          <a:ln>
            <a:noFill/>
          </a:ln>
        </p:spPr>
      </p:pic>
      <p:pic>
        <p:nvPicPr>
          <p:cNvPr id="296" name="Google Shape;296;p21" descr="image.png"/>
          <p:cNvPicPr preferRelativeResize="0"/>
          <p:nvPr/>
        </p:nvPicPr>
        <p:blipFill rotWithShape="1">
          <a:blip r:embed="rId6"/>
          <a:srcRect/>
          <a:stretch>
            <a:fillRect/>
          </a:stretch>
        </p:blipFill>
        <p:spPr>
          <a:xfrm>
            <a:off x="6415087" y="4077592"/>
            <a:ext cx="171450" cy="200025"/>
          </a:xfrm>
          <a:prstGeom prst="rect">
            <a:avLst/>
          </a:prstGeom>
          <a:noFill/>
          <a:ln>
            <a:noFill/>
          </a:ln>
        </p:spPr>
      </p:pic>
      <p:sp>
        <p:nvSpPr>
          <p:cNvPr id="297" name="Google Shape;297;p21"/>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Modélisation UML 2.x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500"/>
                                        <p:tgtEl>
                                          <p:spTgt spid="278"/>
                                        </p:tgtEl>
                                      </p:cBhvr>
                                    </p:animEffect>
                                  </p:childTnLst>
                                </p:cTn>
                              </p:par>
                              <p:par>
                                <p:cTn id="8" presetID="22" presetClass="entr" presetSubtype="4" fill="hold" nodeType="withEffect">
                                  <p:stCondLst>
                                    <p:cond delay="0"/>
                                  </p:stCondLst>
                                  <p:childTnLst>
                                    <p:set>
                                      <p:cBhvr>
                                        <p:cTn id="9" dur="1" fill="hold">
                                          <p:stCondLst>
                                            <p:cond delay="0"/>
                                          </p:stCondLst>
                                        </p:cTn>
                                        <p:tgtEl>
                                          <p:spTgt spid="293"/>
                                        </p:tgtEl>
                                        <p:attrNameLst>
                                          <p:attrName>style.visibility</p:attrName>
                                        </p:attrNameLst>
                                      </p:cBhvr>
                                      <p:to>
                                        <p:strVal val="visible"/>
                                      </p:to>
                                    </p:set>
                                    <p:animEffect transition="in" filter="wipe(down)">
                                      <p:cBhvr>
                                        <p:cTn id="10" dur="500"/>
                                        <p:tgtEl>
                                          <p:spTgt spid="293"/>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77"/>
                                        </p:tgtEl>
                                        <p:attrNameLst>
                                          <p:attrName>style.visibility</p:attrName>
                                        </p:attrNameLst>
                                      </p:cBhvr>
                                      <p:to>
                                        <p:strVal val="visible"/>
                                      </p:to>
                                    </p:set>
                                    <p:animEffect transition="in" filter="wipe(down)">
                                      <p:cBhvr>
                                        <p:cTn id="13" dur="500"/>
                                        <p:tgtEl>
                                          <p:spTgt spid="277"/>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286"/>
                                        </p:tgtEl>
                                        <p:attrNameLst>
                                          <p:attrName>style.visibility</p:attrName>
                                        </p:attrNameLst>
                                      </p:cBhvr>
                                      <p:to>
                                        <p:strVal val="visible"/>
                                      </p:to>
                                    </p:set>
                                    <p:animEffect transition="in" filter="wipe(down)">
                                      <p:cBhvr>
                                        <p:cTn id="16" dur="500"/>
                                        <p:tgtEl>
                                          <p:spTgt spid="28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279"/>
                                        </p:tgtEl>
                                        <p:attrNameLst>
                                          <p:attrName>style.visibility</p:attrName>
                                        </p:attrNameLst>
                                      </p:cBhvr>
                                      <p:to>
                                        <p:strVal val="visible"/>
                                      </p:to>
                                    </p:set>
                                    <p:animEffect transition="in" filter="wipe(down)">
                                      <p:cBhvr>
                                        <p:cTn id="21" dur="500"/>
                                        <p:tgtEl>
                                          <p:spTgt spid="279"/>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288"/>
                                        </p:tgtEl>
                                        <p:attrNameLst>
                                          <p:attrName>style.visibility</p:attrName>
                                        </p:attrNameLst>
                                      </p:cBhvr>
                                      <p:to>
                                        <p:strVal val="visible"/>
                                      </p:to>
                                    </p:set>
                                    <p:animEffect transition="in" filter="wipe(down)">
                                      <p:cBhvr>
                                        <p:cTn id="24" dur="500"/>
                                        <p:tgtEl>
                                          <p:spTgt spid="288"/>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280"/>
                                        </p:tgtEl>
                                        <p:attrNameLst>
                                          <p:attrName>style.visibility</p:attrName>
                                        </p:attrNameLst>
                                      </p:cBhvr>
                                      <p:to>
                                        <p:strVal val="visible"/>
                                      </p:to>
                                    </p:set>
                                    <p:animEffect transition="in" filter="wipe(down)">
                                      <p:cBhvr>
                                        <p:cTn id="27" dur="500"/>
                                        <p:tgtEl>
                                          <p:spTgt spid="280"/>
                                        </p:tgtEl>
                                      </p:cBhvr>
                                    </p:animEffect>
                                  </p:childTnLst>
                                </p:cTn>
                              </p:par>
                              <p:par>
                                <p:cTn id="28" presetID="22" presetClass="entr" presetSubtype="4" fill="hold" nodeType="withEffect">
                                  <p:stCondLst>
                                    <p:cond delay="0"/>
                                  </p:stCondLst>
                                  <p:childTnLst>
                                    <p:set>
                                      <p:cBhvr>
                                        <p:cTn id="29" dur="1" fill="hold">
                                          <p:stCondLst>
                                            <p:cond delay="0"/>
                                          </p:stCondLst>
                                        </p:cTn>
                                        <p:tgtEl>
                                          <p:spTgt spid="294"/>
                                        </p:tgtEl>
                                        <p:attrNameLst>
                                          <p:attrName>style.visibility</p:attrName>
                                        </p:attrNameLst>
                                      </p:cBhvr>
                                      <p:to>
                                        <p:strVal val="visible"/>
                                      </p:to>
                                    </p:set>
                                    <p:animEffect transition="in" filter="wipe(down)">
                                      <p:cBhvr>
                                        <p:cTn id="30" dur="500"/>
                                        <p:tgtEl>
                                          <p:spTgt spid="29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281"/>
                                        </p:tgtEl>
                                        <p:attrNameLst>
                                          <p:attrName>style.visibility</p:attrName>
                                        </p:attrNameLst>
                                      </p:cBhvr>
                                      <p:to>
                                        <p:strVal val="visible"/>
                                      </p:to>
                                    </p:set>
                                    <p:animEffect transition="in" filter="wipe(down)">
                                      <p:cBhvr>
                                        <p:cTn id="35" dur="500"/>
                                        <p:tgtEl>
                                          <p:spTgt spid="281"/>
                                        </p:tgtEl>
                                      </p:cBhvr>
                                    </p:animEffect>
                                  </p:childTnLst>
                                </p:cTn>
                              </p:par>
                              <p:par>
                                <p:cTn id="36" presetID="22" presetClass="entr" presetSubtype="4" fill="hold" grpId="0" nodeType="withEffect">
                                  <p:stCondLst>
                                    <p:cond delay="0"/>
                                  </p:stCondLst>
                                  <p:childTnLst>
                                    <p:set>
                                      <p:cBhvr>
                                        <p:cTn id="37" dur="1" fill="hold">
                                          <p:stCondLst>
                                            <p:cond delay="0"/>
                                          </p:stCondLst>
                                        </p:cTn>
                                        <p:tgtEl>
                                          <p:spTgt spid="282"/>
                                        </p:tgtEl>
                                        <p:attrNameLst>
                                          <p:attrName>style.visibility</p:attrName>
                                        </p:attrNameLst>
                                      </p:cBhvr>
                                      <p:to>
                                        <p:strVal val="visible"/>
                                      </p:to>
                                    </p:set>
                                    <p:animEffect transition="in" filter="wipe(down)">
                                      <p:cBhvr>
                                        <p:cTn id="38" dur="500"/>
                                        <p:tgtEl>
                                          <p:spTgt spid="282"/>
                                        </p:tgtEl>
                                      </p:cBhvr>
                                    </p:animEffect>
                                  </p:childTnLst>
                                </p:cTn>
                              </p:par>
                              <p:par>
                                <p:cTn id="39" presetID="22" presetClass="entr" presetSubtype="4" fill="hold" nodeType="withEffect">
                                  <p:stCondLst>
                                    <p:cond delay="0"/>
                                  </p:stCondLst>
                                  <p:childTnLst>
                                    <p:set>
                                      <p:cBhvr>
                                        <p:cTn id="40" dur="1" fill="hold">
                                          <p:stCondLst>
                                            <p:cond delay="0"/>
                                          </p:stCondLst>
                                        </p:cTn>
                                        <p:tgtEl>
                                          <p:spTgt spid="295"/>
                                        </p:tgtEl>
                                        <p:attrNameLst>
                                          <p:attrName>style.visibility</p:attrName>
                                        </p:attrNameLst>
                                      </p:cBhvr>
                                      <p:to>
                                        <p:strVal val="visible"/>
                                      </p:to>
                                    </p:set>
                                    <p:animEffect transition="in" filter="wipe(down)">
                                      <p:cBhvr>
                                        <p:cTn id="41" dur="500"/>
                                        <p:tgtEl>
                                          <p:spTgt spid="295"/>
                                        </p:tgtEl>
                                      </p:cBhvr>
                                    </p:animEffect>
                                  </p:childTnLst>
                                </p:cTn>
                              </p:par>
                              <p:par>
                                <p:cTn id="42" presetID="22" presetClass="entr" presetSubtype="4" fill="hold" grpId="0" nodeType="withEffect">
                                  <p:stCondLst>
                                    <p:cond delay="0"/>
                                  </p:stCondLst>
                                  <p:childTnLst>
                                    <p:set>
                                      <p:cBhvr>
                                        <p:cTn id="43" dur="1" fill="hold">
                                          <p:stCondLst>
                                            <p:cond delay="0"/>
                                          </p:stCondLst>
                                        </p:cTn>
                                        <p:tgtEl>
                                          <p:spTgt spid="290"/>
                                        </p:tgtEl>
                                        <p:attrNameLst>
                                          <p:attrName>style.visibility</p:attrName>
                                        </p:attrNameLst>
                                      </p:cBhvr>
                                      <p:to>
                                        <p:strVal val="visible"/>
                                      </p:to>
                                    </p:set>
                                    <p:animEffect transition="in" filter="wipe(down)">
                                      <p:cBhvr>
                                        <p:cTn id="44" dur="500"/>
                                        <p:tgtEl>
                                          <p:spTgt spid="290"/>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4" fill="hold" grpId="0" nodeType="clickEffect">
                                  <p:stCondLst>
                                    <p:cond delay="0"/>
                                  </p:stCondLst>
                                  <p:childTnLst>
                                    <p:set>
                                      <p:cBhvr>
                                        <p:cTn id="48" dur="1" fill="hold">
                                          <p:stCondLst>
                                            <p:cond delay="0"/>
                                          </p:stCondLst>
                                        </p:cTn>
                                        <p:tgtEl>
                                          <p:spTgt spid="284"/>
                                        </p:tgtEl>
                                        <p:attrNameLst>
                                          <p:attrName>style.visibility</p:attrName>
                                        </p:attrNameLst>
                                      </p:cBhvr>
                                      <p:to>
                                        <p:strVal val="visible"/>
                                      </p:to>
                                    </p:set>
                                    <p:animEffect transition="in" filter="wipe(down)">
                                      <p:cBhvr>
                                        <p:cTn id="49" dur="500"/>
                                        <p:tgtEl>
                                          <p:spTgt spid="284"/>
                                        </p:tgtEl>
                                      </p:cBhvr>
                                    </p:animEffect>
                                  </p:childTnLst>
                                </p:cTn>
                              </p:par>
                              <p:par>
                                <p:cTn id="50" presetID="22" presetClass="entr" presetSubtype="4" fill="hold" grpId="0"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wipe(down)">
                                      <p:cBhvr>
                                        <p:cTn id="52" dur="500"/>
                                        <p:tgtEl>
                                          <p:spTgt spid="292"/>
                                        </p:tgtEl>
                                      </p:cBhvr>
                                    </p:animEffect>
                                  </p:childTnLst>
                                </p:cTn>
                              </p:par>
                              <p:par>
                                <p:cTn id="53" presetID="22" presetClass="entr" presetSubtype="4" fill="hold" grpId="0" nodeType="withEffect">
                                  <p:stCondLst>
                                    <p:cond delay="0"/>
                                  </p:stCondLst>
                                  <p:childTnLst>
                                    <p:set>
                                      <p:cBhvr>
                                        <p:cTn id="54" dur="1" fill="hold">
                                          <p:stCondLst>
                                            <p:cond delay="0"/>
                                          </p:stCondLst>
                                        </p:cTn>
                                        <p:tgtEl>
                                          <p:spTgt spid="283"/>
                                        </p:tgtEl>
                                        <p:attrNameLst>
                                          <p:attrName>style.visibility</p:attrName>
                                        </p:attrNameLst>
                                      </p:cBhvr>
                                      <p:to>
                                        <p:strVal val="visible"/>
                                      </p:to>
                                    </p:set>
                                    <p:animEffect transition="in" filter="wipe(down)">
                                      <p:cBhvr>
                                        <p:cTn id="55" dur="500"/>
                                        <p:tgtEl>
                                          <p:spTgt spid="283"/>
                                        </p:tgtEl>
                                      </p:cBhvr>
                                    </p:animEffect>
                                  </p:childTnLst>
                                </p:cTn>
                              </p:par>
                              <p:par>
                                <p:cTn id="56" presetID="22" presetClass="entr" presetSubtype="4" fill="hold" nodeType="withEffect">
                                  <p:stCondLst>
                                    <p:cond delay="0"/>
                                  </p:stCondLst>
                                  <p:childTnLst>
                                    <p:set>
                                      <p:cBhvr>
                                        <p:cTn id="57" dur="1" fill="hold">
                                          <p:stCondLst>
                                            <p:cond delay="0"/>
                                          </p:stCondLst>
                                        </p:cTn>
                                        <p:tgtEl>
                                          <p:spTgt spid="296"/>
                                        </p:tgtEl>
                                        <p:attrNameLst>
                                          <p:attrName>style.visibility</p:attrName>
                                        </p:attrNameLst>
                                      </p:cBhvr>
                                      <p:to>
                                        <p:strVal val="visible"/>
                                      </p:to>
                                    </p:set>
                                    <p:animEffect transition="in" filter="wipe(down)">
                                      <p:cBhvr>
                                        <p:cTn id="58" dur="500"/>
                                        <p:tgtEl>
                                          <p:spTgt spid="2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8" grpId="0"/>
      <p:bldP spid="277" grpId="0" animBg="1"/>
      <p:bldP spid="286" grpId="0"/>
      <p:bldP spid="278" grpId="1"/>
      <p:bldP spid="277" grpId="1" animBg="1"/>
      <p:bldP spid="286" grpId="1"/>
      <p:bldP spid="279" grpId="0" animBg="1"/>
      <p:bldP spid="288" grpId="0"/>
      <p:bldP spid="280" grpId="0"/>
      <p:bldP spid="279" grpId="1" animBg="1"/>
      <p:bldP spid="288" grpId="1"/>
      <p:bldP spid="280" grpId="1"/>
      <p:bldP spid="281" grpId="0" animBg="1"/>
      <p:bldP spid="282" grpId="0"/>
      <p:bldP spid="290" grpId="0"/>
      <p:bldP spid="281" grpId="1" animBg="1"/>
      <p:bldP spid="282" grpId="1"/>
      <p:bldP spid="290" grpId="1"/>
      <p:bldP spid="284" grpId="0"/>
      <p:bldP spid="292" grpId="0"/>
      <p:bldP spid="283" grpId="0" animBg="1"/>
      <p:bldP spid="284" grpId="1"/>
      <p:bldP spid="292" grpId="1"/>
      <p:bldP spid="283"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600" cap="all">
                <a:solidFill>
                  <a:schemeClr val="tx1"/>
                </a:solidFill>
                <a:uFillTx/>
                <a:latin typeface="Times New Roman" panose="02020603050405020304" charset="0"/>
                <a:cs typeface="Times New Roman" panose="02020603050405020304" charset="0"/>
              </a:rPr>
              <a:t>Diagramme de contexte</a:t>
            </a:r>
            <a:endParaRPr lang="fr-FR" altLang="en-US" sz="3600" cap="all">
              <a:solidFill>
                <a:schemeClr val="tx1"/>
              </a:solidFill>
              <a:uFillTx/>
              <a:latin typeface="Times New Roman" panose="02020603050405020304" charset="0"/>
              <a:cs typeface="Times New Roman" panose="02020603050405020304" charset="0"/>
            </a:endParaRPr>
          </a:p>
        </p:txBody>
      </p:sp>
      <p:sp>
        <p:nvSpPr>
          <p:cNvPr id="4" name="Zone de texte 3"/>
          <p:cNvSpPr txBox="1"/>
          <p:nvPr/>
        </p:nvSpPr>
        <p:spPr>
          <a:xfrm>
            <a:off x="571500" y="6367145"/>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53495" y="6367145"/>
            <a:ext cx="441325"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16</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5" name="Image 4" descr="Contexte.drawio"/>
          <p:cNvPicPr>
            <a:picLocks noChangeAspect="1"/>
          </p:cNvPicPr>
          <p:nvPr/>
        </p:nvPicPr>
        <p:blipFill>
          <a:blip r:embed="rId3"/>
          <a:stretch>
            <a:fillRect/>
          </a:stretch>
        </p:blipFill>
        <p:spPr>
          <a:xfrm>
            <a:off x="1604645" y="1200785"/>
            <a:ext cx="9254490" cy="499173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Package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3"/>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363970"/>
            <a:ext cx="457200" cy="33655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17</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3" name="Image 2" descr="package.drawio1"/>
          <p:cNvPicPr>
            <a:picLocks noChangeAspect="1"/>
          </p:cNvPicPr>
          <p:nvPr/>
        </p:nvPicPr>
        <p:blipFill>
          <a:blip r:embed="rId4"/>
          <a:stretch>
            <a:fillRect/>
          </a:stretch>
        </p:blipFill>
        <p:spPr>
          <a:xfrm>
            <a:off x="404495" y="763270"/>
            <a:ext cx="10949940" cy="609473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cas d’utilisation</a:t>
            </a:r>
            <a:endParaRPr lang="fr-FR" altLang="en-US" sz="2800" cap="all">
              <a:solidFill>
                <a:schemeClr val="tx1"/>
              </a:solidFill>
              <a:uFillTx/>
              <a:latin typeface="Times New Roman" panose="02020603050405020304" charset="0"/>
              <a:cs typeface="Times New Roman" panose="02020603050405020304" charset="0"/>
            </a:endParaRPr>
          </a:p>
        </p:txBody>
      </p:sp>
      <p:sp>
        <p:nvSpPr>
          <p:cNvPr id="4" name="Zone de texte 3"/>
          <p:cNvSpPr txBox="1"/>
          <p:nvPr/>
        </p:nvSpPr>
        <p:spPr>
          <a:xfrm>
            <a:off x="571500" y="6429375"/>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321425"/>
            <a:ext cx="333375" cy="3378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18</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5" name="Image 4" descr="use case"/>
          <p:cNvPicPr>
            <a:picLocks noChangeAspect="1"/>
          </p:cNvPicPr>
          <p:nvPr/>
        </p:nvPicPr>
        <p:blipFill>
          <a:blip r:embed="rId3"/>
          <a:stretch>
            <a:fillRect/>
          </a:stretch>
        </p:blipFill>
        <p:spPr>
          <a:xfrm>
            <a:off x="2687955" y="869315"/>
            <a:ext cx="7487920" cy="5988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Autofit/>
          </a:bodyPr>
          <a:p>
            <a:r>
              <a:rPr lang="fr-FR" altLang="en-US" sz="2500" cap="all">
                <a:solidFill>
                  <a:schemeClr val="tx1"/>
                </a:solidFill>
                <a:uFillTx/>
                <a:latin typeface="Times New Roman" panose="02020603050405020304" charset="0"/>
                <a:cs typeface="Times New Roman" panose="02020603050405020304" charset="0"/>
              </a:rPr>
              <a:t>Diagramme d’activité : création d’un bail</a:t>
            </a:r>
            <a:endParaRPr lang="fr-FR" altLang="en-US" sz="2500" cap="all">
              <a:solidFill>
                <a:schemeClr val="tx1"/>
              </a:solidFill>
              <a:uFillTx/>
              <a:latin typeface="Times New Roman" panose="02020603050405020304" charset="0"/>
              <a:cs typeface="Times New Roman" panose="02020603050405020304" charset="0"/>
            </a:endParaRPr>
          </a:p>
        </p:txBody>
      </p:sp>
      <p:sp>
        <p:nvSpPr>
          <p:cNvPr id="4" name="Zone de texte 3"/>
          <p:cNvSpPr txBox="1"/>
          <p:nvPr/>
        </p:nvSpPr>
        <p:spPr>
          <a:xfrm>
            <a:off x="571500" y="6429375"/>
            <a:ext cx="6096000" cy="275590"/>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363970"/>
            <a:ext cx="36449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19</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3" name="Image 2" descr="activite_contrat_bail.drawio(1)"/>
          <p:cNvPicPr>
            <a:picLocks noChangeAspect="1"/>
          </p:cNvPicPr>
          <p:nvPr/>
        </p:nvPicPr>
        <p:blipFill>
          <a:blip r:embed="rId3"/>
          <a:stretch>
            <a:fillRect/>
          </a:stretch>
        </p:blipFill>
        <p:spPr>
          <a:xfrm>
            <a:off x="1814195" y="809625"/>
            <a:ext cx="9024620" cy="617664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2800" cap="all">
                <a:solidFill>
                  <a:schemeClr val="tx1"/>
                </a:solidFill>
                <a:uFillTx/>
                <a:latin typeface="Times New Roman" panose="02020603050405020304" charset="0"/>
                <a:cs typeface="Times New Roman" panose="02020603050405020304" charset="0"/>
              </a:rPr>
              <a:t>Diagramme de séquence : création d’un bail</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3"/>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501120" y="6520815"/>
            <a:ext cx="272415" cy="33845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20</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5" name="Image 4" descr="creation bail"/>
          <p:cNvPicPr>
            <a:picLocks noChangeAspect="1"/>
          </p:cNvPicPr>
          <p:nvPr/>
        </p:nvPicPr>
        <p:blipFill>
          <a:blip r:embed="rId4"/>
          <a:stretch>
            <a:fillRect/>
          </a:stretch>
        </p:blipFill>
        <p:spPr>
          <a:xfrm>
            <a:off x="0" y="782955"/>
            <a:ext cx="12192000" cy="56464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200" cap="all">
                <a:solidFill>
                  <a:schemeClr val="tx1"/>
                </a:solidFill>
                <a:uFillTx/>
                <a:latin typeface="Times New Roman" panose="02020603050405020304" charset="0"/>
                <a:cs typeface="Times New Roman" panose="02020603050405020304" charset="0"/>
              </a:rPr>
              <a:t>Diagramme de classe</a:t>
            </a:r>
            <a:endParaRPr lang="fr-FR" altLang="en-US" sz="3200" cap="all">
              <a:solidFill>
                <a:schemeClr val="tx1"/>
              </a:solidFill>
              <a:uFillTx/>
              <a:latin typeface="Times New Roman" panose="02020603050405020304" charset="0"/>
              <a:cs typeface="Times New Roman" panose="02020603050405020304" charset="0"/>
            </a:endParaRPr>
          </a:p>
        </p:txBody>
      </p:sp>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53495" y="6363970"/>
            <a:ext cx="441325" cy="33718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21</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5" name="Image 4" descr="classe1"/>
          <p:cNvPicPr>
            <a:picLocks noChangeAspect="1"/>
          </p:cNvPicPr>
          <p:nvPr/>
        </p:nvPicPr>
        <p:blipFill>
          <a:blip r:embed="rId3"/>
          <a:stretch>
            <a:fillRect/>
          </a:stretch>
        </p:blipFill>
        <p:spPr>
          <a:xfrm>
            <a:off x="1908175" y="760095"/>
            <a:ext cx="8135620" cy="641540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200" cap="all">
                <a:solidFill>
                  <a:schemeClr val="tx1"/>
                </a:solidFill>
                <a:uFillTx/>
                <a:latin typeface="Times New Roman" panose="02020603050405020304" charset="0"/>
                <a:cs typeface="Times New Roman" panose="02020603050405020304" charset="0"/>
              </a:rPr>
              <a:t>Diagramme de classe</a:t>
            </a:r>
            <a:endParaRPr lang="fr-FR" altLang="en-US" sz="3200" cap="all">
              <a:solidFill>
                <a:schemeClr val="tx1"/>
              </a:solidFill>
              <a:uFillTx/>
              <a:latin typeface="Times New Roman" panose="02020603050405020304" charset="0"/>
              <a:cs typeface="Times New Roman" panose="02020603050405020304" charset="0"/>
            </a:endParaRPr>
          </a:p>
        </p:txBody>
      </p:sp>
      <p:sp>
        <p:nvSpPr>
          <p:cNvPr id="4" name="Zone de texte 3"/>
          <p:cNvSpPr txBox="1"/>
          <p:nvPr/>
        </p:nvSpPr>
        <p:spPr>
          <a:xfrm>
            <a:off x="571500" y="6429375"/>
            <a:ext cx="6096000" cy="275590"/>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53495" y="6363970"/>
            <a:ext cx="426085" cy="33655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22</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pic>
        <p:nvPicPr>
          <p:cNvPr id="5" name="Image 4" descr="classe2.drawio"/>
          <p:cNvPicPr>
            <a:picLocks noChangeAspect="1"/>
          </p:cNvPicPr>
          <p:nvPr/>
        </p:nvPicPr>
        <p:blipFill>
          <a:blip r:embed="rId3"/>
          <a:stretch>
            <a:fillRect/>
          </a:stretch>
        </p:blipFill>
        <p:spPr>
          <a:xfrm>
            <a:off x="3228340" y="760730"/>
            <a:ext cx="5735320" cy="62001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Architecture logicielle du système</a:t>
            </a:r>
            <a:endParaRPr lang="fr-FR" altLang="en-US" sz="2800" cap="all">
              <a:solidFill>
                <a:schemeClr val="tx1"/>
              </a:solidFill>
              <a:uFillTx/>
              <a:latin typeface="Times New Roman" panose="02020603050405020304" charset="0"/>
              <a:cs typeface="Times New Roman" panose="02020603050405020304" charset="0"/>
            </a:endParaRPr>
          </a:p>
        </p:txBody>
      </p:sp>
      <p:sp>
        <p:nvSpPr>
          <p:cNvPr id="4" name="Zone de texte 3"/>
          <p:cNvSpPr txBox="1"/>
          <p:nvPr/>
        </p:nvSpPr>
        <p:spPr>
          <a:xfrm>
            <a:off x="571500" y="6429375"/>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339840"/>
            <a:ext cx="410845" cy="33655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23</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9" name="Image 8" descr="rental_architecture _logicielle.drawio_pptx"/>
          <p:cNvPicPr>
            <a:picLocks noChangeAspect="1"/>
          </p:cNvPicPr>
          <p:nvPr/>
        </p:nvPicPr>
        <p:blipFill>
          <a:blip r:embed="rId3"/>
          <a:stretch>
            <a:fillRect/>
          </a:stretch>
        </p:blipFill>
        <p:spPr>
          <a:xfrm>
            <a:off x="1814195" y="1046480"/>
            <a:ext cx="9015095" cy="52933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3200" cap="all">
                <a:solidFill>
                  <a:schemeClr val="tx1"/>
                </a:solidFill>
                <a:uFillTx/>
                <a:latin typeface="Times New Roman" panose="02020603050405020304" charset="0"/>
                <a:cs typeface="Times New Roman" panose="02020603050405020304" charset="0"/>
              </a:rPr>
              <a:t>Architecture matérielle du système</a:t>
            </a:r>
            <a:endParaRPr lang="fr-FR" altLang="en-US" sz="3200" cap="all">
              <a:solidFill>
                <a:schemeClr val="tx1"/>
              </a:solidFill>
              <a:uFillTx/>
              <a:latin typeface="Times New Roman" panose="02020603050405020304" charset="0"/>
              <a:cs typeface="Times New Roman" panose="02020603050405020304" charset="0"/>
            </a:endParaRPr>
          </a:p>
        </p:txBody>
      </p:sp>
      <p:sp>
        <p:nvSpPr>
          <p:cNvPr id="276" name="Google Shape;276;p21"/>
          <p:cNvSpPr txBox="1"/>
          <p:nvPr/>
        </p:nvSpPr>
        <p:spPr>
          <a:xfrm>
            <a:off x="11487150" y="6322060"/>
            <a:ext cx="379730" cy="33718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24</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8" name="Image 7" descr="rental_architecture_materielle.drawio_pptx"/>
          <p:cNvPicPr>
            <a:picLocks noChangeAspect="1"/>
          </p:cNvPicPr>
          <p:nvPr/>
        </p:nvPicPr>
        <p:blipFill>
          <a:blip r:embed="rId3"/>
          <a:stretch>
            <a:fillRect/>
          </a:stretch>
        </p:blipFill>
        <p:spPr>
          <a:xfrm>
            <a:off x="2091055" y="779780"/>
            <a:ext cx="8510905" cy="5879465"/>
          </a:xfrm>
          <a:prstGeom prst="rect">
            <a:avLst/>
          </a:prstGeom>
        </p:spPr>
      </p:pic>
      <p:sp>
        <p:nvSpPr>
          <p:cNvPr id="3" name="Zone de texte 2"/>
          <p:cNvSpPr txBox="1"/>
          <p:nvPr/>
        </p:nvSpPr>
        <p:spPr>
          <a:xfrm>
            <a:off x="585470" y="6323330"/>
            <a:ext cx="6096000" cy="398780"/>
          </a:xfrm>
          <a:prstGeom prst="rect">
            <a:avLst/>
          </a:prstGeom>
          <a:noFill/>
        </p:spPr>
        <p:txBody>
          <a:bodyPr wrap="square" rtlCol="0" anchor="t">
            <a:spAutoFit/>
          </a:bodyPr>
          <a:p>
            <a:pPr marL="0" marR="0" lvl="0" indent="0" algn="l" rtl="0">
              <a:spcBef>
                <a:spcPts val="0"/>
              </a:spcBef>
              <a:spcAft>
                <a:spcPts val="0"/>
              </a:spcAft>
              <a:buNone/>
            </a:pPr>
            <a:r>
              <a:rPr lang="en-US" sz="10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0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0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000">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1"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pic>
        <p:nvPicPr>
          <p:cNvPr id="18" name="Google Shape;253;p20" descr="image.png"/>
          <p:cNvPicPr preferRelativeResize="0"/>
          <p:nvPr/>
        </p:nvPicPr>
        <p:blipFill rotWithShape="1">
          <a:blip r:embed="rId3"/>
          <a:srcRect/>
          <a:stretch>
            <a:fillRect/>
          </a:stretch>
        </p:blipFill>
        <p:spPr>
          <a:xfrm>
            <a:off x="950595" y="2065020"/>
            <a:ext cx="2781300" cy="1528445"/>
          </a:xfrm>
          <a:prstGeom prst="rect">
            <a:avLst/>
          </a:prstGeom>
          <a:noFill/>
          <a:ln>
            <a:noFill/>
          </a:ln>
        </p:spPr>
      </p:pic>
      <p:sp>
        <p:nvSpPr>
          <p:cNvPr id="19"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0" name="Google Shape;258;p20"/>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 name="Google Shape;259;p20"/>
          <p:cNvSpPr txBox="1"/>
          <p:nvPr/>
        </p:nvSpPr>
        <p:spPr>
          <a:xfrm>
            <a:off x="11487150" y="6286500"/>
            <a:ext cx="441960" cy="36893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25</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22" name="Google Shape;260;p20"/>
          <p:cNvSpPr txBox="1"/>
          <p:nvPr/>
        </p:nvSpPr>
        <p:spPr>
          <a:xfrm>
            <a:off x="122936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Backend API Robuste</a:t>
            </a:r>
            <a:endPar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3" name="Google Shape;266;p20"/>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Choix Techniques &amp; Technologie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24" name="Image 23" descr="spring-boot-logo"/>
          <p:cNvPicPr>
            <a:picLocks noChangeAspect="1"/>
          </p:cNvPicPr>
          <p:nvPr/>
        </p:nvPicPr>
        <p:blipFill>
          <a:blip r:embed="rId4"/>
          <a:stretch>
            <a:fillRect/>
          </a:stretch>
        </p:blipFill>
        <p:spPr>
          <a:xfrm>
            <a:off x="1590675" y="2717800"/>
            <a:ext cx="1555115" cy="816610"/>
          </a:xfrm>
          <a:prstGeom prst="rect">
            <a:avLst/>
          </a:prstGeom>
        </p:spPr>
      </p:pic>
      <p:pic>
        <p:nvPicPr>
          <p:cNvPr id="25" name="Google Shape;253;p20" descr="image.png"/>
          <p:cNvPicPr preferRelativeResize="0"/>
          <p:nvPr/>
        </p:nvPicPr>
        <p:blipFill rotWithShape="1">
          <a:blip r:embed="rId3"/>
          <a:srcRect/>
          <a:stretch>
            <a:fillRect/>
          </a:stretch>
        </p:blipFill>
        <p:spPr>
          <a:xfrm>
            <a:off x="4705350" y="2065020"/>
            <a:ext cx="2781300" cy="1528445"/>
          </a:xfrm>
          <a:prstGeom prst="rect">
            <a:avLst/>
          </a:prstGeom>
          <a:noFill/>
          <a:ln>
            <a:noFill/>
          </a:ln>
        </p:spPr>
      </p:pic>
      <p:sp>
        <p:nvSpPr>
          <p:cNvPr id="26" name="Google Shape;260;p20"/>
          <p:cNvSpPr txBox="1"/>
          <p:nvPr/>
        </p:nvSpPr>
        <p:spPr>
          <a:xfrm>
            <a:off x="470535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a:t>
            </a: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web (Angular)</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27" name="Google Shape;253;p20" descr="image.png"/>
          <p:cNvPicPr preferRelativeResize="0"/>
          <p:nvPr/>
        </p:nvPicPr>
        <p:blipFill rotWithShape="1">
          <a:blip r:embed="rId3"/>
          <a:srcRect/>
          <a:stretch>
            <a:fillRect/>
          </a:stretch>
        </p:blipFill>
        <p:spPr>
          <a:xfrm>
            <a:off x="8540750" y="2065020"/>
            <a:ext cx="2781300" cy="1528445"/>
          </a:xfrm>
          <a:prstGeom prst="rect">
            <a:avLst/>
          </a:prstGeom>
          <a:noFill/>
          <a:ln>
            <a:noFill/>
          </a:ln>
        </p:spPr>
      </p:pic>
      <p:sp>
        <p:nvSpPr>
          <p:cNvPr id="28" name="Google Shape;260;p20"/>
          <p:cNvSpPr txBox="1"/>
          <p:nvPr/>
        </p:nvSpPr>
        <p:spPr>
          <a:xfrm>
            <a:off x="8714105"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mobile(Ionic)</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29" name="Image 28" descr="idBXx3ksX4_logos"/>
          <p:cNvPicPr>
            <a:picLocks noChangeAspect="1"/>
          </p:cNvPicPr>
          <p:nvPr/>
        </p:nvPicPr>
        <p:blipFill>
          <a:blip r:embed="rId5"/>
          <a:stretch>
            <a:fillRect/>
          </a:stretch>
        </p:blipFill>
        <p:spPr>
          <a:xfrm>
            <a:off x="5633720" y="2557780"/>
            <a:ext cx="924560" cy="924560"/>
          </a:xfrm>
          <a:prstGeom prst="rect">
            <a:avLst/>
          </a:prstGeom>
        </p:spPr>
      </p:pic>
      <p:pic>
        <p:nvPicPr>
          <p:cNvPr id="30" name="Image 29" descr="Ionic Icon"/>
          <p:cNvPicPr>
            <a:picLocks noChangeAspect="1"/>
          </p:cNvPicPr>
          <p:nvPr/>
        </p:nvPicPr>
        <p:blipFill>
          <a:blip r:embed="rId6"/>
          <a:stretch>
            <a:fillRect/>
          </a:stretch>
        </p:blipFill>
        <p:spPr>
          <a:xfrm>
            <a:off x="9554845" y="2654935"/>
            <a:ext cx="827405" cy="827405"/>
          </a:xfrm>
          <a:prstGeom prst="rect">
            <a:avLst/>
          </a:prstGeom>
        </p:spPr>
      </p:pic>
      <p:pic>
        <p:nvPicPr>
          <p:cNvPr id="31" name="Google Shape;253;p20" descr="image.png"/>
          <p:cNvPicPr preferRelativeResize="0"/>
          <p:nvPr/>
        </p:nvPicPr>
        <p:blipFill rotWithShape="1">
          <a:blip r:embed="rId3"/>
          <a:srcRect/>
          <a:stretch>
            <a:fillRect/>
          </a:stretch>
        </p:blipFill>
        <p:spPr>
          <a:xfrm>
            <a:off x="950595" y="4227830"/>
            <a:ext cx="2781300" cy="1528445"/>
          </a:xfrm>
          <a:prstGeom prst="rect">
            <a:avLst/>
          </a:prstGeom>
          <a:noFill/>
          <a:ln>
            <a:noFill/>
          </a:ln>
        </p:spPr>
      </p:pic>
      <p:sp>
        <p:nvSpPr>
          <p:cNvPr id="32" name="Google Shape;260;p20"/>
          <p:cNvSpPr txBox="1"/>
          <p:nvPr/>
        </p:nvSpPr>
        <p:spPr>
          <a:xfrm>
            <a:off x="1832610"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PostgreSQL</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33" name="Google Shape;253;p20" descr="image.png"/>
          <p:cNvPicPr preferRelativeResize="0"/>
          <p:nvPr/>
        </p:nvPicPr>
        <p:blipFill rotWithShape="1">
          <a:blip r:embed="rId3"/>
          <a:srcRect/>
          <a:stretch>
            <a:fillRect/>
          </a:stretch>
        </p:blipFill>
        <p:spPr>
          <a:xfrm>
            <a:off x="4705350" y="4227830"/>
            <a:ext cx="2781300" cy="1528445"/>
          </a:xfrm>
          <a:prstGeom prst="rect">
            <a:avLst/>
          </a:prstGeom>
          <a:noFill/>
          <a:ln>
            <a:noFill/>
          </a:ln>
        </p:spPr>
      </p:pic>
      <p:sp>
        <p:nvSpPr>
          <p:cNvPr id="34" name="Google Shape;260;p20"/>
          <p:cNvSpPr txBox="1"/>
          <p:nvPr/>
        </p:nvSpPr>
        <p:spPr>
          <a:xfrm>
            <a:off x="5506085"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DrawIo</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35" name="Google Shape;253;p20" descr="image.png"/>
          <p:cNvPicPr preferRelativeResize="0"/>
          <p:nvPr/>
        </p:nvPicPr>
        <p:blipFill rotWithShape="1">
          <a:blip r:embed="rId3"/>
          <a:srcRect/>
          <a:stretch>
            <a:fillRect/>
          </a:stretch>
        </p:blipFill>
        <p:spPr>
          <a:xfrm>
            <a:off x="8460105" y="4227830"/>
            <a:ext cx="2781300" cy="1528445"/>
          </a:xfrm>
          <a:prstGeom prst="rect">
            <a:avLst/>
          </a:prstGeom>
          <a:noFill/>
          <a:ln>
            <a:noFill/>
          </a:ln>
        </p:spPr>
      </p:pic>
      <p:sp>
        <p:nvSpPr>
          <p:cNvPr id="36" name="Google Shape;260;p20"/>
          <p:cNvSpPr txBox="1"/>
          <p:nvPr/>
        </p:nvSpPr>
        <p:spPr>
          <a:xfrm>
            <a:off x="9554845" y="4474845"/>
            <a:ext cx="969645" cy="2451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Langage </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37" name="Image 36" descr="postgre"/>
          <p:cNvPicPr>
            <a:picLocks noChangeAspect="1"/>
          </p:cNvPicPr>
          <p:nvPr/>
        </p:nvPicPr>
        <p:blipFill>
          <a:blip r:embed="rId7"/>
          <a:srcRect b="22334"/>
          <a:stretch>
            <a:fillRect/>
          </a:stretch>
        </p:blipFill>
        <p:spPr>
          <a:xfrm>
            <a:off x="1832610" y="4821555"/>
            <a:ext cx="1071880" cy="832485"/>
          </a:xfrm>
          <a:prstGeom prst="rect">
            <a:avLst/>
          </a:prstGeom>
        </p:spPr>
      </p:pic>
      <p:pic>
        <p:nvPicPr>
          <p:cNvPr id="38" name="Image 37" descr="Diagrams.net_Logo.svg"/>
          <p:cNvPicPr>
            <a:picLocks noChangeAspect="1"/>
          </p:cNvPicPr>
          <p:nvPr/>
        </p:nvPicPr>
        <p:blipFill>
          <a:blip r:embed="rId8"/>
          <a:stretch>
            <a:fillRect/>
          </a:stretch>
        </p:blipFill>
        <p:spPr>
          <a:xfrm>
            <a:off x="5506085" y="4821555"/>
            <a:ext cx="860425" cy="860425"/>
          </a:xfrm>
          <a:prstGeom prst="rect">
            <a:avLst/>
          </a:prstGeom>
        </p:spPr>
      </p:pic>
      <p:pic>
        <p:nvPicPr>
          <p:cNvPr id="39" name="Espace réservé du contenu 7" descr="Une image contenant Police, Graphique, logo, conception&#10;&#10;Le contenu généré par l’IA peut être incorrect."/>
          <p:cNvPicPr>
            <a:picLocks noGrp="1" noChangeAspect="1"/>
          </p:cNvPicPr>
          <p:nvPr/>
        </p:nvPicPr>
        <p:blipFill>
          <a:blip r:embed="rId9"/>
          <a:stretch>
            <a:fillRect/>
          </a:stretch>
        </p:blipFill>
        <p:spPr>
          <a:xfrm>
            <a:off x="9287510" y="4773930"/>
            <a:ext cx="1439545" cy="8953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down)">
                                      <p:cBhvr>
                                        <p:cTn id="10" dur="500"/>
                                        <p:tgtEl>
                                          <p:spTgt spid="22"/>
                                        </p:tgtEl>
                                      </p:cBhvr>
                                    </p:animEffect>
                                  </p:childTnLst>
                                </p:cTn>
                              </p:par>
                              <p:par>
                                <p:cTn id="11" presetID="22" presetClass="entr" presetSubtype="4"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wipe(down)">
                                      <p:cBhvr>
                                        <p:cTn id="13"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down)">
                                      <p:cBhvr>
                                        <p:cTn id="18" dur="500"/>
                                        <p:tgtEl>
                                          <p:spTgt spid="25"/>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down)">
                                      <p:cBhvr>
                                        <p:cTn id="21" dur="500"/>
                                        <p:tgtEl>
                                          <p:spTgt spid="26"/>
                                        </p:tgtEl>
                                      </p:cBhvr>
                                    </p:animEffect>
                                  </p:childTnLst>
                                </p:cTn>
                              </p:par>
                              <p:par>
                                <p:cTn id="22" presetID="22" presetClass="entr" presetSubtype="4" fill="hold"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wipe(down)">
                                      <p:cBhvr>
                                        <p:cTn id="24" dur="500"/>
                                        <p:tgtEl>
                                          <p:spTgt spid="29"/>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down)">
                                      <p:cBhvr>
                                        <p:cTn id="29" dur="500"/>
                                        <p:tgtEl>
                                          <p:spTgt spid="27"/>
                                        </p:tgtEl>
                                      </p:cBhvr>
                                    </p:animEffect>
                                  </p:childTnLst>
                                </p:cTn>
                              </p:par>
                              <p:par>
                                <p:cTn id="30" presetID="22" presetClass="entr" presetSubtype="4"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down)">
                                      <p:cBhvr>
                                        <p:cTn id="32" dur="500"/>
                                        <p:tgtEl>
                                          <p:spTgt spid="28"/>
                                        </p:tgtEl>
                                      </p:cBhvr>
                                    </p:animEffect>
                                  </p:childTnLst>
                                </p:cTn>
                              </p:par>
                              <p:par>
                                <p:cTn id="33" presetID="22" presetClass="entr" presetSubtype="4" fill="hold" nodeType="with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down)">
                                      <p:cBhvr>
                                        <p:cTn id="35" dur="500"/>
                                        <p:tgtEl>
                                          <p:spTgt spid="3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4" fill="hold" nodeType="click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wipe(down)">
                                      <p:cBhvr>
                                        <p:cTn id="40" dur="500"/>
                                        <p:tgtEl>
                                          <p:spTgt spid="31"/>
                                        </p:tgtEl>
                                      </p:cBhvr>
                                    </p:animEffect>
                                  </p:childTnLst>
                                </p:cTn>
                              </p:par>
                              <p:par>
                                <p:cTn id="41" presetID="22" presetClass="entr" presetSubtype="4"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wipe(down)">
                                      <p:cBhvr>
                                        <p:cTn id="43" dur="500"/>
                                        <p:tgtEl>
                                          <p:spTgt spid="32"/>
                                        </p:tgtEl>
                                      </p:cBhvr>
                                    </p:animEffect>
                                  </p:childTnLst>
                                </p:cTn>
                              </p:par>
                              <p:par>
                                <p:cTn id="44" presetID="22" presetClass="entr" presetSubtype="4"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wipe(down)">
                                      <p:cBhvr>
                                        <p:cTn id="46" dur="500"/>
                                        <p:tgtEl>
                                          <p:spTgt spid="37"/>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4" fill="hold" nodeType="click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wipe(down)">
                                      <p:cBhvr>
                                        <p:cTn id="51" dur="500"/>
                                        <p:tgtEl>
                                          <p:spTgt spid="33"/>
                                        </p:tgtEl>
                                      </p:cBhvr>
                                    </p:animEffect>
                                  </p:childTnLst>
                                </p:cTn>
                              </p:par>
                              <p:par>
                                <p:cTn id="52" presetID="22" presetClass="entr" presetSubtype="4"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wipe(down)">
                                      <p:cBhvr>
                                        <p:cTn id="54" dur="500"/>
                                        <p:tgtEl>
                                          <p:spTgt spid="34"/>
                                        </p:tgtEl>
                                      </p:cBhvr>
                                    </p:animEffect>
                                  </p:childTnLst>
                                </p:cTn>
                              </p:par>
                              <p:par>
                                <p:cTn id="55" presetID="22" presetClass="entr" presetSubtype="4" fill="hold"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wipe(down)">
                                      <p:cBhvr>
                                        <p:cTn id="57" dur="500"/>
                                        <p:tgtEl>
                                          <p:spTgt spid="38"/>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nodeType="click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wipe(down)">
                                      <p:cBhvr>
                                        <p:cTn id="62" dur="500"/>
                                        <p:tgtEl>
                                          <p:spTgt spid="35"/>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wipe(down)">
                                      <p:cBhvr>
                                        <p:cTn id="65" dur="500"/>
                                        <p:tgtEl>
                                          <p:spTgt spid="36"/>
                                        </p:tgtEl>
                                      </p:cBhvr>
                                    </p:animEffect>
                                  </p:childTnLst>
                                </p:cTn>
                              </p:par>
                              <p:par>
                                <p:cTn id="66" presetID="22" presetClass="entr" presetSubtype="4"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wipe(down)">
                                      <p:cBhvr>
                                        <p:cTn id="68"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2" grpId="1"/>
      <p:bldP spid="26" grpId="0"/>
      <p:bldP spid="26" grpId="1"/>
      <p:bldP spid="28" grpId="0"/>
      <p:bldP spid="28" grpId="1"/>
      <p:bldP spid="32" grpId="0"/>
      <p:bldP spid="32" grpId="1"/>
      <p:bldP spid="34" grpId="0"/>
      <p:bldP spid="34" grpId="1"/>
      <p:bldP spid="36" grpId="0"/>
      <p:bldP spid="36" grpId="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01" name="Shape 301"/>
        <p:cNvGrpSpPr/>
        <p:nvPr/>
      </p:nvGrpSpPr>
      <p:grpSpPr>
        <a:xfrm>
          <a:off x="0" y="0"/>
          <a:ext cx="0" cy="0"/>
          <a:chOff x="0" y="0"/>
          <a:chExt cx="0" cy="0"/>
        </a:xfrm>
      </p:grpSpPr>
      <p:pic>
        <p:nvPicPr>
          <p:cNvPr id="302" name="Google Shape;302;p22"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305" name="Google Shape;305;p22"/>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06" name="Google Shape;306;p22"/>
          <p:cNvSpPr txBox="1"/>
          <p:nvPr/>
        </p:nvSpPr>
        <p:spPr>
          <a:xfrm>
            <a:off x="9505950" y="471487"/>
            <a:ext cx="211455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ASPECTS FINANCIERS DU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7" name="Google Shape;307;p22"/>
          <p:cNvSpPr txBox="1"/>
          <p:nvPr/>
        </p:nvSpPr>
        <p:spPr>
          <a:xfrm>
            <a:off x="571500" y="6286500"/>
            <a:ext cx="3486150" cy="36893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349250" cy="43116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26</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309" name="Google Shape;309;p22"/>
          <p:cNvSpPr txBox="1"/>
          <p:nvPr/>
        </p:nvSpPr>
        <p:spPr>
          <a:xfrm>
            <a:off x="571500" y="1019175"/>
            <a:ext cx="7301865" cy="47371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Évaluation Financière (CAPEX &amp; OPEX)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2" name="Image 1"/>
          <p:cNvPicPr>
            <a:picLocks noChangeAspect="1"/>
          </p:cNvPicPr>
          <p:nvPr/>
        </p:nvPicPr>
        <p:blipFill>
          <a:blip r:embed="rId3"/>
          <a:stretch>
            <a:fillRect/>
          </a:stretch>
        </p:blipFill>
        <p:spPr>
          <a:xfrm>
            <a:off x="635" y="1689100"/>
            <a:ext cx="12191365" cy="44018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p:spPr>
        <p:txBody>
          <a:bodyPr>
            <a:normAutofit/>
          </a:bodyPr>
          <a:p>
            <a:r>
              <a:rPr lang="fr-FR" altLang="en-US" sz="4800" b="1" cap="all">
                <a:solidFill>
                  <a:schemeClr val="tx1"/>
                </a:solidFill>
                <a:uFillTx/>
                <a:latin typeface="Poppins" panose="00000500000000000000" charset="0"/>
                <a:cs typeface="Poppins" panose="00000500000000000000" charset="0"/>
              </a:rPr>
              <a:t>DémonStration</a:t>
            </a:r>
            <a:endParaRPr lang="fr-FR" altLang="en-US" sz="4800" b="1" cap="all">
              <a:solidFill>
                <a:schemeClr val="tx1"/>
              </a:solidFill>
              <a:uFillTx/>
              <a:latin typeface="Poppins" panose="00000500000000000000" charset="0"/>
              <a:cs typeface="Poppins" panose="00000500000000000000" charset="0"/>
            </a:endParaRPr>
          </a:p>
        </p:txBody>
      </p:sp>
      <p:sp>
        <p:nvSpPr>
          <p:cNvPr id="308" name="Google Shape;308;p22"/>
          <p:cNvSpPr txBox="1"/>
          <p:nvPr/>
        </p:nvSpPr>
        <p:spPr>
          <a:xfrm>
            <a:off x="11487150" y="6286500"/>
            <a:ext cx="349250" cy="43116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27</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3" name="Zone de texte 2"/>
          <p:cNvSpPr txBox="1"/>
          <p:nvPr/>
        </p:nvSpPr>
        <p:spPr>
          <a:xfrm>
            <a:off x="585470" y="6323330"/>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08" name="Google Shape;308;p22"/>
          <p:cNvSpPr txBox="1"/>
          <p:nvPr/>
        </p:nvSpPr>
        <p:spPr>
          <a:xfrm>
            <a:off x="11487150" y="6286500"/>
            <a:ext cx="349250" cy="43116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28</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3" name="Zone de texte 2"/>
          <p:cNvSpPr txBox="1"/>
          <p:nvPr/>
        </p:nvSpPr>
        <p:spPr>
          <a:xfrm>
            <a:off x="585470" y="6323330"/>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pic>
        <p:nvPicPr>
          <p:cNvPr id="4" name="Image 3"/>
          <p:cNvPicPr>
            <a:picLocks noChangeAspect="1"/>
          </p:cNvPicPr>
          <p:nvPr/>
        </p:nvPicPr>
        <p:blipFill>
          <a:blip r:embed="rId3"/>
          <a:stretch>
            <a:fillRect/>
          </a:stretch>
        </p:blipFill>
        <p:spPr>
          <a:xfrm>
            <a:off x="0" y="1269365"/>
            <a:ext cx="12192000" cy="4963160"/>
          </a:xfrm>
          <a:prstGeom prst="rect">
            <a:avLst/>
          </a:prstGeom>
        </p:spPr>
      </p:pic>
      <p:sp>
        <p:nvSpPr>
          <p:cNvPr id="309" name="Google Shape;309;p22"/>
          <p:cNvSpPr txBox="1"/>
          <p:nvPr/>
        </p:nvSpPr>
        <p:spPr>
          <a:xfrm>
            <a:off x="448310" y="741680"/>
            <a:ext cx="7301865" cy="47371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None/>
            </a:pPr>
            <a:r>
              <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Recouvrement des loyers: Avant</a:t>
            </a:r>
            <a:endPar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08" name="Google Shape;308;p22"/>
          <p:cNvSpPr txBox="1"/>
          <p:nvPr/>
        </p:nvSpPr>
        <p:spPr>
          <a:xfrm>
            <a:off x="11487150" y="6286500"/>
            <a:ext cx="349250" cy="43116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29</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3" name="Zone de texte 2"/>
          <p:cNvSpPr txBox="1"/>
          <p:nvPr/>
        </p:nvSpPr>
        <p:spPr>
          <a:xfrm>
            <a:off x="585470" y="6323330"/>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309" name="Google Shape;309;p22"/>
          <p:cNvSpPr txBox="1"/>
          <p:nvPr/>
        </p:nvSpPr>
        <p:spPr>
          <a:xfrm>
            <a:off x="448310" y="741680"/>
            <a:ext cx="7301865" cy="47371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None/>
            </a:pPr>
            <a:r>
              <a:rPr lang="fr-FR" altLang="en-US" sz="2700" b="1">
                <a:solidFill>
                  <a:srgbClr val="1E293B"/>
                </a:solidFill>
                <a:latin typeface="Poppins" panose="00000500000000000000"/>
                <a:ea typeface="Poppins" panose="00000500000000000000"/>
                <a:cs typeface="Poppins" panose="00000500000000000000"/>
                <a:sym typeface="Poppins" panose="00000500000000000000"/>
              </a:rPr>
              <a:t>Recouvrement des loyers: </a:t>
            </a:r>
            <a:r>
              <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Après</a:t>
            </a:r>
            <a:endPar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2" name="Image 1"/>
          <p:cNvPicPr>
            <a:picLocks noChangeAspect="1"/>
          </p:cNvPicPr>
          <p:nvPr/>
        </p:nvPicPr>
        <p:blipFill>
          <a:blip r:embed="rId3"/>
          <a:stretch>
            <a:fillRect/>
          </a:stretch>
        </p:blipFill>
        <p:spPr>
          <a:xfrm>
            <a:off x="0" y="1316990"/>
            <a:ext cx="12192000" cy="499681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650095" cy="1722755"/>
          </a:xfrm>
          <a:ln>
            <a:solidFill>
              <a:schemeClr val="accent1"/>
            </a:solidFill>
          </a:ln>
          <a:effectLst/>
        </p:spPr>
        <p:txBody>
          <a:bodyPr>
            <a:normAutofit/>
          </a:bodyPr>
          <a:p>
            <a:r>
              <a:rPr lang="fr-FR" altLang="en-US" sz="4800" b="1" cap="all">
                <a:solidFill>
                  <a:schemeClr val="tx1"/>
                </a:solidFill>
                <a:uFillTx/>
                <a:latin typeface="Poppins" panose="00000500000000000000" charset="0"/>
                <a:cs typeface="Poppins" panose="00000500000000000000" charset="0"/>
              </a:rPr>
              <a:t>ConcluSIon &amp; perSpectiV</a:t>
            </a:r>
            <a:r>
              <a:rPr lang="fr-FR" altLang="en-US" sz="4800" b="1" cap="all">
                <a:solidFill>
                  <a:schemeClr val="tx1"/>
                </a:solidFill>
                <a:uFillTx/>
                <a:latin typeface="Poppins" panose="00000500000000000000" charset="0"/>
                <a:cs typeface="Poppins" panose="00000500000000000000" charset="0"/>
              </a:rPr>
              <a:t>es</a:t>
            </a:r>
            <a:endParaRPr lang="fr-FR" altLang="en-US" sz="4800" b="1" cap="all">
              <a:solidFill>
                <a:schemeClr val="tx1"/>
              </a:solidFill>
              <a:uFillTx/>
              <a:latin typeface="Poppins" panose="00000500000000000000" charset="0"/>
              <a:cs typeface="Poppins" panose="00000500000000000000" charset="0"/>
            </a:endParaRPr>
          </a:p>
        </p:txBody>
      </p:sp>
      <p:sp>
        <p:nvSpPr>
          <p:cNvPr id="308" name="Google Shape;308;p22"/>
          <p:cNvSpPr txBox="1"/>
          <p:nvPr/>
        </p:nvSpPr>
        <p:spPr>
          <a:xfrm>
            <a:off x="11487150" y="6286500"/>
            <a:ext cx="349250" cy="43116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30</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
        <p:nvSpPr>
          <p:cNvPr id="3" name="Zone de texte 2"/>
          <p:cNvSpPr txBox="1"/>
          <p:nvPr/>
        </p:nvSpPr>
        <p:spPr>
          <a:xfrm>
            <a:off x="585470" y="6323330"/>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488440" y="2058035"/>
            <a:ext cx="9215120" cy="2302510"/>
          </a:xfrm>
          <a:ln>
            <a:solidFill>
              <a:schemeClr val="bg2"/>
            </a:solidFill>
          </a:ln>
        </p:spPr>
        <p:txBody>
          <a:bodyPr/>
          <a:p>
            <a:pPr algn="just"/>
            <a:r>
              <a:rPr lang="en-US" altLang="fr-FR" sz="2400">
                <a:latin typeface="Times New Roman" panose="02020603050405020304" charset="0"/>
                <a:cs typeface="Times New Roman" panose="02020603050405020304" charset="0"/>
              </a:rPr>
              <a:t>Ce projet apporte une r</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ponse concr</a:t>
            </a:r>
            <a:r>
              <a:rPr lang="en-US" altLang="en-US" sz="2400">
                <a:latin typeface="Times New Roman" panose="02020603050405020304" charset="0"/>
                <a:cs typeface="Times New Roman" panose="02020603050405020304" charset="0"/>
              </a:rPr>
              <a:t>è</a:t>
            </a:r>
            <a:r>
              <a:rPr lang="en-US" altLang="fr-FR" sz="2400">
                <a:latin typeface="Times New Roman" panose="02020603050405020304" charset="0"/>
                <a:cs typeface="Times New Roman" panose="02020603050405020304" charset="0"/>
              </a:rPr>
              <a:t>te aux limites de la gestion artisanale en automatisant tout le cycle m</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tier (de l'enregistrement du logement au paiement par Mobile Money via FedaPay). Port</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e par une architecture robuste (Spring Boot, Angular, Ionic), la plateforme s</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curise les baux à long terme et </a:t>
            </a:r>
            <a:r>
              <a:rPr lang="fr-FR" altLang="en-US" sz="2400">
                <a:latin typeface="Times New Roman" panose="02020603050405020304" charset="0"/>
                <a:cs typeface="Times New Roman" panose="02020603050405020304" charset="0"/>
              </a:rPr>
              <a:t>garde une traçabilité de toutes les transactions.</a:t>
            </a:r>
            <a:endParaRPr lang="fr-FR" altLang="en-US" sz="24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Conclusion</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
        <p:nvSpPr>
          <p:cNvPr id="3" name="Zone de texte 2"/>
          <p:cNvSpPr txBox="1"/>
          <p:nvPr/>
        </p:nvSpPr>
        <p:spPr>
          <a:xfrm>
            <a:off x="585470" y="6323330"/>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333375" cy="41592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31</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961390" y="2058035"/>
            <a:ext cx="9619615" cy="2132965"/>
          </a:xfrm>
          <a:ln>
            <a:solidFill>
              <a:schemeClr val="bg2"/>
            </a:solidFill>
          </a:ln>
        </p:spPr>
        <p:txBody>
          <a:bodyPr/>
          <a:p>
            <a:pPr algn="just"/>
            <a:r>
              <a:rPr lang="fr-FR" altLang="en-US" sz="2000">
                <a:latin typeface="Times New Roman" panose="02020603050405020304" charset="0"/>
                <a:cs typeface="Times New Roman" panose="02020603050405020304" charset="0"/>
              </a:rPr>
              <a:t>       </a:t>
            </a:r>
            <a:r>
              <a:rPr lang="en-US" altLang="fr-FR" sz="2000">
                <a:latin typeface="Times New Roman" panose="02020603050405020304" charset="0"/>
                <a:cs typeface="Times New Roman" panose="02020603050405020304" charset="0"/>
              </a:rPr>
              <a:t>Documents : G</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n</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ration et signature </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lectronique automatique des contrats de bail.</a:t>
            </a:r>
            <a:br>
              <a:rPr lang="en-US" altLang="fr-FR" sz="2000">
                <a:latin typeface="Times New Roman" panose="02020603050405020304" charset="0"/>
                <a:cs typeface="Times New Roman" panose="02020603050405020304" charset="0"/>
              </a:rPr>
            </a:br>
            <a:br>
              <a:rPr lang="en-US" altLang="fr-FR" sz="2000">
                <a:latin typeface="Times New Roman" panose="02020603050405020304" charset="0"/>
                <a:cs typeface="Times New Roman" panose="02020603050405020304" charset="0"/>
              </a:rPr>
            </a:br>
            <a:r>
              <a:rPr lang="fr-FR" altLang="en-US" sz="2000">
                <a:latin typeface="Times New Roman" panose="02020603050405020304" charset="0"/>
                <a:cs typeface="Times New Roman" panose="02020603050405020304" charset="0"/>
              </a:rPr>
              <a:t>       Génération d’un rapport financier annuel</a:t>
            </a:r>
            <a:endParaRPr lang="fr-FR" altLang="en-US" sz="20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Perspectives</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5" name="Image 4" descr="正方形"/>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1113155" y="2887345"/>
            <a:ext cx="144145" cy="144145"/>
          </a:xfrm>
          <a:prstGeom prst="rect">
            <a:avLst/>
          </a:prstGeom>
        </p:spPr>
      </p:pic>
      <p:pic>
        <p:nvPicPr>
          <p:cNvPr id="6" name="Image 5" descr="正方形"/>
          <p:cNvPicPr>
            <a:picLocks noChangeAspect="1"/>
          </p:cNvPicPr>
          <p:nvPr>
            <p:custDataLst>
              <p:tags r:id="rId6"/>
            </p:custDataLst>
          </p:nvPr>
        </p:nvPicPr>
        <p:blipFill>
          <a:blip r:embed="rId4">
            <a:extLst>
              <a:ext uri="{96DAC541-7B7A-43D3-8B79-37D633B846F1}">
                <asvg:svgBlip xmlns:asvg="http://schemas.microsoft.com/office/drawing/2016/SVG/main" r:embed="rId5"/>
              </a:ext>
            </a:extLst>
          </a:blip>
          <a:stretch>
            <a:fillRect/>
          </a:stretch>
        </p:blipFill>
        <p:spPr>
          <a:xfrm>
            <a:off x="1113155" y="3429000"/>
            <a:ext cx="144145" cy="144145"/>
          </a:xfrm>
          <a:prstGeom prst="rect">
            <a:avLst/>
          </a:prstGeom>
        </p:spPr>
      </p:pic>
      <p:sp>
        <p:nvSpPr>
          <p:cNvPr id="3" name="Zone de texte 2"/>
          <p:cNvSpPr txBox="1"/>
          <p:nvPr/>
        </p:nvSpPr>
        <p:spPr>
          <a:xfrm>
            <a:off x="585470" y="6323330"/>
            <a:ext cx="6096000" cy="460375"/>
          </a:xfrm>
          <a:prstGeom prst="rect">
            <a:avLst/>
          </a:prstGeom>
          <a:noFill/>
        </p:spPr>
        <p:txBody>
          <a:bodyPr wrap="square" rtlCol="0" anchor="t">
            <a:spAutoFit/>
          </a:bodyPr>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Ipnet Institute of Technology — Soutenance de </a:t>
            </a:r>
            <a:endParaRPr lang="en-US" sz="1200">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sz="1200">
                <a:solidFill>
                  <a:srgbClr val="475569"/>
                </a:solidFill>
                <a:latin typeface="Lato" panose="020F0502020204030203"/>
                <a:ea typeface="Lato" panose="020F0502020204030203"/>
                <a:cs typeface="Lato" panose="020F0502020204030203"/>
                <a:sym typeface="Lato" panose="020F0502020204030203"/>
              </a:rPr>
              <a:t>Licence Professionnelle</a:t>
            </a:r>
            <a:endParaRPr lang="en-US" altLang="en-US" sz="12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364490" cy="44640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rPr>
              <a:t>32</a:t>
            </a:r>
            <a:endParaRPr lang="fr-FR" altLang="en-US" sz="1600" b="1" i="0" u="none" strike="noStrike" cap="none">
              <a:solidFill>
                <a:schemeClr val="tx1"/>
              </a:solidFill>
              <a:latin typeface="Lato" panose="020F0502020204030203"/>
              <a:ea typeface="Lato" panose="020F0502020204030203"/>
              <a:cs typeface="Lato" panose="020F0502020204030203"/>
              <a:sym typeface="Lato" panose="020F0502020204030203"/>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340" name="Shape 340"/>
        <p:cNvGrpSpPr/>
        <p:nvPr/>
      </p:nvGrpSpPr>
      <p:grpSpPr>
        <a:xfrm>
          <a:off x="0" y="0"/>
          <a:ext cx="0" cy="0"/>
          <a:chOff x="0" y="0"/>
          <a:chExt cx="0" cy="0"/>
        </a:xfrm>
      </p:grpSpPr>
      <p:pic>
        <p:nvPicPr>
          <p:cNvPr id="341" name="Google Shape;341;p24" descr="Empty office hall"/>
          <p:cNvPicPr preferRelativeResize="0"/>
          <p:nvPr>
            <p:custDataLst>
              <p:tags r:id="rId1"/>
            </p:custDataLst>
          </p:nvPr>
        </p:nvPicPr>
        <p:blipFill rotWithShape="1">
          <a:blip r:embed="rId2"/>
          <a:srcRect t="7802" b="7802"/>
          <a:stretch>
            <a:fillRect/>
          </a:stretch>
        </p:blipFill>
        <p:spPr>
          <a:xfrm>
            <a:off x="0" y="0"/>
            <a:ext cx="12192000" cy="6858000"/>
          </a:xfrm>
          <a:prstGeom prst="rect">
            <a:avLst/>
          </a:prstGeom>
          <a:noFill/>
          <a:ln>
            <a:noFill/>
          </a:ln>
        </p:spPr>
      </p:pic>
      <p:sp>
        <p:nvSpPr>
          <p:cNvPr id="344" name="Google Shape;344;p24"/>
          <p:cNvSpPr/>
          <p:nvPr/>
        </p:nvSpPr>
        <p:spPr>
          <a:xfrm>
            <a:off x="5715000" y="1938337"/>
            <a:ext cx="762000" cy="38100"/>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45" name="Google Shape;345;p24"/>
          <p:cNvSpPr txBox="1"/>
          <p:nvPr/>
        </p:nvSpPr>
        <p:spPr>
          <a:xfrm>
            <a:off x="1695450" y="2823527"/>
            <a:ext cx="8801100" cy="738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rPr>
              <a:t>Merci pour votre Attention !</a:t>
            </a:r>
            <a:endParaRPr lang="en-US" sz="4800" b="1" i="0" u="none" strike="noStrike" cap="none">
              <a:solidFill>
                <a:schemeClr val="tx1"/>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pic>
        <p:nvPicPr>
          <p:cNvPr id="2" name="Image 1" descr="WPS Photos(1)"/>
          <p:cNvPicPr>
            <a:picLocks noChangeAspect="1"/>
          </p:cNvPicPr>
          <p:nvPr/>
        </p:nvPicPr>
        <p:blipFill>
          <a:blip r:embed="rId3"/>
          <a:stretch>
            <a:fillRect/>
          </a:stretch>
        </p:blipFill>
        <p:spPr>
          <a:xfrm>
            <a:off x="9021445" y="0"/>
            <a:ext cx="3170555" cy="121856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wedge/>
      </p:transition>
    </mc:Choice>
    <mc:Fallback>
      <p:transition spd="slow">
        <p:wedge/>
      </p:transition>
    </mc:Fallback>
  </mc:AlternateContent>
</p:sld>
</file>

<file path=ppt/tags/tag1.xml><?xml version="1.0" encoding="utf-8"?>
<p:tagLst xmlns:p="http://schemas.openxmlformats.org/presentationml/2006/main">
  <p:tag name="KSO_WM_BEAUTIFY_FLAG" val="#fgm#"/>
  <p:tag name="KSO_WM_FIGMA_FLAG" val="#fgm#"/>
  <p:tag name="KSO_WM_UNIT_INDEX" val="1"/>
  <p:tag name="KSO_WM_UNIT_TYPE" val="a"/>
  <p:tag name="KSO_WM_LAYOUT_CHECK_HASH" val="fccd111189b7d2a890802631ca6427411a773ef2"/>
  <p:tag name="KSO_WM_NEWLAYOUT_GROUP_ID" val="layout_34"/>
  <p:tag name="KSO_WM_NEWLAYOUT_ID" val="slide_4ae229a2f1c7f65e"/>
</p:tagLst>
</file>

<file path=ppt/tags/tag2.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5.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8.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1.xml><?xml version="1.0" encoding="utf-8"?>
<p:tagLst xmlns:p="http://schemas.openxmlformats.org/presentationml/2006/main">
  <p:tag name="KSO_WM_BEAUTIFY_FLAG" val="#fgm#"/>
  <p:tag name="KSO_WM_DIAGRAM_GROUP_CODE" val="1"/>
  <p:tag name="KSO_WM_FIGMA_FLAG" val="#fgm#"/>
  <p:tag name="KSO_WM_UNIT_INDEX" val="1_4_1"/>
  <p:tag name="KSO_WM_UNIT_TYPE" val="l_h_d"/>
</p:tagLst>
</file>

<file path=ppt/tags/tag12.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13.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14.xml><?xml version="1.0" encoding="utf-8"?>
<p:tagLst xmlns:p="http://schemas.openxmlformats.org/presentationml/2006/main">
  <p:tag name="KSO_DOCER_RESOURCE_TRACE_INFO" val="{&quot;id&quot;:&quot;47371779&quot;,&quot;origin&quot;:0,&quot;type&quot;:&quot;pictures&quot;,&quot;user&quot;:&quot;20358827511810&quot;}"/>
</p:tagLst>
</file>

<file path=ppt/tags/tag15.xml><?xml version="1.0" encoding="utf-8"?>
<p:tagLst xmlns:p="http://schemas.openxmlformats.org/presentationml/2006/main">
  <p:tag name="KSO_DOCER_RESOURCE_TRACE_INFO" val="{&quot;id&quot;:&quot;47371779&quot;,&quot;origin&quot;:0,&quot;type&quot;:&quot;pictures&quot;,&quot;user&quot;:&quot;20358827511810&quot;}"/>
</p:tagLst>
</file>

<file path=ppt/tags/tag16.xml><?xml version="1.0" encoding="utf-8"?>
<p:tagLst xmlns:p="http://schemas.openxmlformats.org/presentationml/2006/main">
  <p:tag name="KSO_DOCER_RESOURCE_TRACE_INFO" val="{&quot;id&quot;:&quot;47371779&quot;,&quot;origin&quot;:0,&quot;type&quot;:&quot;pictures&quot;,&quot;user&quot;:&quot;20358827511810&quot;}"/>
</p:tagLst>
</file>

<file path=ppt/tags/tag17.xml><?xml version="1.0" encoding="utf-8"?>
<p:tagLst xmlns:p="http://schemas.openxmlformats.org/presentationml/2006/main">
  <p:tag name="KSO_DOCER_RESOURCE_TRACE_INFO" val="{&quot;id&quot;:&quot;47371779&quot;,&quot;origin&quot;:0,&quot;type&quot;:&quot;pictures&quot;,&quot;user&quot;:&quot;20358827511810&quot;}"/>
</p:tagLst>
</file>

<file path=ppt/tags/tag18.xml><?xml version="1.0" encoding="utf-8"?>
<p:tagLst xmlns:p="http://schemas.openxmlformats.org/presentationml/2006/main">
  <p:tag name="KSO_DOCER_RESOURCE_TRACE_INFO" val="{&quot;id&quot;:&quot;47371779&quot;,&quot;origin&quot;:0,&quot;type&quot;:&quot;pictures&quot;,&quot;user&quot;:&quot;20358827511810&quot;}"/>
</p:tagLst>
</file>

<file path=ppt/tags/tag19.xml><?xml version="1.0" encoding="utf-8"?>
<p:tagLst xmlns:p="http://schemas.openxmlformats.org/presentationml/2006/main">
  <p:tag name="KSO_DOCER_RESOURCE_TRACE_INFO" val="{&quot;id&quot;:&quot;47371779&quot;,&quot;origin&quot;:0,&quot;type&quot;:&quot;pictures&quot;,&quot;user&quot;:&quot;20358827511810&quot;}"/>
</p:tagLst>
</file>

<file path=ppt/tags/tag20.xml><?xml version="1.0" encoding="utf-8"?>
<p:tagLst xmlns:p="http://schemas.openxmlformats.org/presentationml/2006/main">
  <p:tag name="KSO_DOCER_RESOURCE_TRACE_INFO" val="{&quot;id&quot;:&quot;47371779&quot;,&quot;origin&quot;:0,&quot;type&quot;:&quot;pictures&quot;,&quot;user&quot;:&quot;20358827511810&quot;}"/>
</p:tagLst>
</file>

<file path=ppt/tags/tag21.xml><?xml version="1.0" encoding="utf-8"?>
<p:tagLst xmlns:p="http://schemas.openxmlformats.org/presentationml/2006/main">
  <p:tag name="KSO_DOCER_RESOURCE_TRACE_INFO" val="{&quot;id&quot;:&quot;47371779&quot;,&quot;origin&quot;:0,&quot;type&quot;:&quot;pictures&quot;,&quot;user&quot;:&quot;20358827511810&quot;}"/>
</p:tagLst>
</file>

<file path=ppt/tags/tag22.xml><?xml version="1.0" encoding="utf-8"?>
<p:tagLst xmlns:p="http://schemas.openxmlformats.org/presentationml/2006/main">
  <p:tag name="KSO_DOCER_RESOURCE_TRACE_INFO" val="{&quot;id&quot;:&quot;47371779&quot;,&quot;origin&quot;:0,&quot;type&quot;:&quot;pictures&quot;,&quot;user&quot;:&quot;20358827511810&quot;}"/>
</p:tagLst>
</file>

<file path=ppt/tags/tag23.xml><?xml version="1.0" encoding="utf-8"?>
<p:tagLst xmlns:p="http://schemas.openxmlformats.org/presentationml/2006/main">
  <p:tag name="KSO_DOCER_RESOURCE_TRACE_INFO" val="{&quot;id&quot;:&quot;47371779&quot;,&quot;origin&quot;:0,&quot;type&quot;:&quot;pictures&quot;,&quot;user&quot;:&quot;20358827511810&quot;}"/>
</p:tagLst>
</file>

<file path=ppt/tags/tag24.xml><?xml version="1.0" encoding="utf-8"?>
<p:tagLst xmlns:p="http://schemas.openxmlformats.org/presentationml/2006/main">
  <p:tag name="KSO_DOCER_RESOURCE_TRACE_INFO" val="{&quot;id&quot;:&quot;47371779&quot;,&quot;origin&quot;:0,&quot;type&quot;:&quot;pictures&quot;,&quot;user&quot;:&quot;20358827511810&quot;}"/>
</p:tagLst>
</file>

<file path=ppt/tags/tag25.xml><?xml version="1.0" encoding="utf-8"?>
<p:tagLst xmlns:p="http://schemas.openxmlformats.org/presentationml/2006/main">
  <p:tag name="KSO_DOCER_RESOURCE_TRACE_INFO" val="{&quot;id&quot;:&quot;47371779&quot;,&quot;origin&quot;:0,&quot;type&quot;:&quot;pictures&quot;,&quot;user&quot;:&quot;20358827511810&quot;}"/>
</p:tagLst>
</file>

<file path=ppt/tags/tag26.xml><?xml version="1.0" encoding="utf-8"?>
<p:tagLst xmlns:p="http://schemas.openxmlformats.org/presentationml/2006/main">
  <p:tag name="KSO_DOCER_RESOURCE_TRACE_INFO" val="{&quot;id&quot;:&quot;47371779&quot;,&quot;origin&quot;:0,&quot;type&quot;:&quot;pictures&quot;,&quot;user&quot;:&quot;20358827511810&quot;}"/>
</p:tagLst>
</file>

<file path=ppt/tags/tag27.xml><?xml version="1.0" encoding="utf-8"?>
<p:tagLst xmlns:p="http://schemas.openxmlformats.org/presentationml/2006/main">
  <p:tag name="KSO_DOCER_RESOURCE_TRACE_INFO" val="{&quot;id&quot;:&quot;47371779&quot;,&quot;origin&quot;:0,&quot;type&quot;:&quot;pictures&quot;,&quot;user&quot;:&quot;20358827511810&quot;}"/>
</p:tagLst>
</file>

<file path=ppt/tags/tag28.xml><?xml version="1.0" encoding="utf-8"?>
<p:tagLst xmlns:p="http://schemas.openxmlformats.org/presentationml/2006/main">
  <p:tag name="KSO_DOCER_RESOURCE_TRACE_INFO" val="{&quot;id&quot;:&quot;47371779&quot;,&quot;origin&quot;:0,&quot;type&quot;:&quot;pictures&quot;,&quot;user&quot;:&quot;20358827511810&quot;}"/>
</p:tagLst>
</file>

<file path=ppt/tags/tag29.xml><?xml version="1.0" encoding="utf-8"?>
<p:tagLst xmlns:p="http://schemas.openxmlformats.org/presentationml/2006/main">
  <p:tag name="KSO_DOCER_RESOURCE_TRACE_INFO" val="{&quot;id&quot;:&quot;47371779&quot;,&quot;origin&quot;:0,&quot;type&quot;:&quot;pictures&quot;,&quot;user&quot;:&quot;20358827511810&quot;}"/>
</p:tagLst>
</file>

<file path=ppt/tags/tag30.xml><?xml version="1.0" encoding="utf-8"?>
<p:tagLst xmlns:p="http://schemas.openxmlformats.org/presentationml/2006/main">
  <p:tag name="KSO_DOCER_RESOURCE_TRACE_INFO" val="{&quot;id&quot;:&quot;47371779&quot;,&quot;origin&quot;:0,&quot;type&quot;:&quot;pictures&quot;,&quot;user&quot;:&quot;20358827511810&quot;}"/>
</p:tagLst>
</file>

<file path=ppt/tags/tag31.xml><?xml version="1.0" encoding="utf-8"?>
<p:tagLst xmlns:p="http://schemas.openxmlformats.org/presentationml/2006/main">
  <p:tag name="KSO_DOCER_RESOURCE_TRACE_INFO" val="{&quot;id&quot;:&quot;47371779&quot;,&quot;origin&quot;:0,&quot;type&quot;:&quot;pictures&quot;,&quot;user&quot;:&quot;20358827511810&quot;}"/>
</p:tagLst>
</file>

<file path=ppt/tags/tag32.xml><?xml version="1.0" encoding="utf-8"?>
<p:tagLst xmlns:p="http://schemas.openxmlformats.org/presentationml/2006/main">
  <p:tag name="KSO_DOCER_RESOURCE_TRACE_INFO" val="{&quot;id&quot;:&quot;47371779&quot;,&quot;origin&quot;:0,&quot;type&quot;:&quot;pictures&quot;,&quot;user&quot;:&quot;20358827511810&quot;}"/>
</p:tagLst>
</file>

<file path=ppt/tags/tag33.xml><?xml version="1.0" encoding="utf-8"?>
<p:tagLst xmlns:p="http://schemas.openxmlformats.org/presentationml/2006/main">
  <p:tag name="KSO_DOCER_RESOURCE_TRACE_INFO" val="{&quot;id&quot;:&quot;47371779&quot;,&quot;origin&quot;:0,&quot;type&quot;:&quot;pictures&quot;,&quot;user&quot;:&quot;20358827511810&quot;}"/>
</p:tagLst>
</file>

<file path=ppt/tags/tag34.xml><?xml version="1.0" encoding="utf-8"?>
<p:tagLst xmlns:p="http://schemas.openxmlformats.org/presentationml/2006/main">
  <p:tag name="KSO_DOCER_RESOURCE_TRACE_INFO" val="{&quot;id&quot;:&quot;47371779&quot;,&quot;origin&quot;:0,&quot;type&quot;:&quot;pictures&quot;,&quot;user&quot;:&quot;20358827511810&quot;}"/>
</p:tagLst>
</file>

<file path=ppt/tags/tag35.xml><?xml version="1.0" encoding="utf-8"?>
<p:tagLst xmlns:p="http://schemas.openxmlformats.org/presentationml/2006/main">
  <p:tag name="KSO_DOCER_RESOURCE_TRACE_INFO" val="{&quot;id&quot;:&quot;47371779&quot;,&quot;origin&quot;:0,&quot;type&quot;:&quot;pictures&quot;,&quot;user&quot;:&quot;20358827511810&quot;}"/>
</p:tagLst>
</file>

<file path=ppt/tags/tag36.xml><?xml version="1.0" encoding="utf-8"?>
<p:tagLst xmlns:p="http://schemas.openxmlformats.org/presentationml/2006/main">
  <p:tag name="KSO_DOCER_RESOURCE_TRACE_INFO" val="{&quot;id&quot;:&quot;47371779&quot;,&quot;origin&quot;:0,&quot;type&quot;:&quot;pictures&quot;,&quot;user&quot;:&quot;20358827511810&quot;}"/>
</p:tagLst>
</file>

<file path=ppt/tags/tag37.xml><?xml version="1.0" encoding="utf-8"?>
<p:tagLst xmlns:p="http://schemas.openxmlformats.org/presentationml/2006/main">
  <p:tag name="KSO_DOCER_RESOURCE_TRACE_INFO" val="{&quot;id&quot;:&quot;47371779&quot;,&quot;origin&quot;:0,&quot;type&quot;:&quot;pictures&quot;,&quot;user&quot;:&quot;20358827511810&quot;}"/>
</p:tagLst>
</file>

<file path=ppt/tags/tag38.xml><?xml version="1.0" encoding="utf-8"?>
<p:tagLst xmlns:p="http://schemas.openxmlformats.org/presentationml/2006/main">
  <p:tag name="KSO_DOCER_RESOURCE_TRACE_INFO" val="{&quot;id&quot;:&quot;47371779&quot;,&quot;origin&quot;:0,&quot;type&quot;:&quot;pictures&quot;,&quot;user&quot;:&quot;20358827511810&quot;}"/>
</p:tagLst>
</file>

<file path=ppt/tags/tag39.xml><?xml version="1.0" encoding="utf-8"?>
<p:tagLst xmlns:p="http://schemas.openxmlformats.org/presentationml/2006/main">
  <p:tag name="KSO_DOCER_RESOURCE_TRACE_INFO" val="{&quot;id&quot;:&quot;47371779&quot;,&quot;origin&quot;:0,&quot;type&quot;:&quot;pictures&quot;,&quot;user&quot;:&quot;20358827511810&quot;}"/>
</p:tagLst>
</file>

<file path=ppt/tags/tag40.xml><?xml version="1.0" encoding="utf-8"?>
<p:tagLst xmlns:p="http://schemas.openxmlformats.org/presentationml/2006/main">
  <p:tag name="KSO_DOCER_RESOURCE_TRACE_INFO" val="{&quot;id&quot;:&quot;47371779&quot;,&quot;origin&quot;:0,&quot;type&quot;:&quot;pictures&quot;,&quot;user&quot;:&quot;20358827511810&quot;}"/>
</p:tagLst>
</file>

<file path=ppt/tags/tag41.xml><?xml version="1.0" encoding="utf-8"?>
<p:tagLst xmlns:p="http://schemas.openxmlformats.org/presentationml/2006/main">
  <p:tag name="KSO_DOCER_RESOURCE_TRACE_INFO" val="{&quot;id&quot;:&quot;47371779&quot;,&quot;origin&quot;:0,&quot;type&quot;:&quot;pictures&quot;,&quot;user&quot;:&quot;20358827511810&quot;}"/>
</p:tagLst>
</file>

<file path=ppt/tags/tag42.xml><?xml version="1.0" encoding="utf-8"?>
<p:tagLst xmlns:p="http://schemas.openxmlformats.org/presentationml/2006/main">
  <p:tag name="KSO_DOCER_RESOURCE_TRACE_INFO" val="{&quot;id&quot;:&quot;47371779&quot;,&quot;origin&quot;:0,&quot;type&quot;:&quot;pictures&quot;,&quot;user&quot;:&quot;20358827511810&quot;}"/>
</p:tagLst>
</file>

<file path=ppt/tags/tag43.xml><?xml version="1.0" encoding="utf-8"?>
<p:tagLst xmlns:p="http://schemas.openxmlformats.org/presentationml/2006/main">
  <p:tag name="KSO_DOCER_RESOURCE_TRACE_INFO" val="{&quot;id&quot;:&quot;47371779&quot;,&quot;origin&quot;:0,&quot;type&quot;:&quot;pictures&quot;,&quot;user&quot;:&quot;20358827511810&quot;}"/>
</p:tagLst>
</file>

<file path=ppt/tags/tag44.xml><?xml version="1.0" encoding="utf-8"?>
<p:tagLst xmlns:p="http://schemas.openxmlformats.org/presentationml/2006/main">
  <p:tag name="KSO_DOCER_RESOURCE_TRACE_INFO" val="{&quot;id&quot;:&quot;47371779&quot;,&quot;origin&quot;:0,&quot;type&quot;:&quot;pictures&quot;,&quot;user&quot;:&quot;20358827511810&quot;}"/>
</p:tagLst>
</file>

<file path=ppt/tags/tag45.xml><?xml version="1.0" encoding="utf-8"?>
<p:tagLst xmlns:p="http://schemas.openxmlformats.org/presentationml/2006/main">
  <p:tag name="KSO_DOCER_RESOURCE_TRACE_INFO" val="{&quot;id&quot;:&quot;47371779&quot;,&quot;origin&quot;:0,&quot;type&quot;:&quot;pictures&quot;,&quot;user&quot;:&quot;20358827511810&quot;}"/>
</p:tagLst>
</file>

<file path=ppt/tags/tag46.xml><?xml version="1.0" encoding="utf-8"?>
<p:tagLst xmlns:p="http://schemas.openxmlformats.org/presentationml/2006/main">
  <p:tag name="KSO_DOCER_RESOURCE_TRACE_INFO" val="{&quot;id&quot;:&quot;47371779&quot;,&quot;origin&quot;:0,&quot;type&quot;:&quot;pictures&quot;,&quot;user&quot;:&quot;20358827511810&quot;}"/>
</p:tagLst>
</file>

<file path=ppt/tags/tag47.xml><?xml version="1.0" encoding="utf-8"?>
<p:tagLst xmlns:p="http://schemas.openxmlformats.org/presentationml/2006/main">
  <p:tag name="KSO_DOCER_RESOURCE_TRACE_INFO" val="{&quot;id&quot;:&quot;50059433&quot;,&quot;origin&quot;:0,&quot;type&quot;:&quot;icons&quot;,&quot;user&quot;:&quot;20358827511810&quot;}"/>
</p:tagLst>
</file>

<file path=ppt/tags/tag48.xml><?xml version="1.0" encoding="utf-8"?>
<p:tagLst xmlns:p="http://schemas.openxmlformats.org/presentationml/2006/main">
  <p:tag name="KSO_DOCER_RESOURCE_TRACE_INFO" val="{&quot;id&quot;:&quot;50059433&quot;,&quot;origin&quot;:0,&quot;type&quot;:&quot;icons&quot;,&quot;user&quot;:&quot;20358827511810&quot;}"/>
</p:tagLst>
</file>

<file path=ppt/tags/tag49.xml><?xml version="1.0" encoding="utf-8"?>
<p:tagLst xmlns:p="http://schemas.openxmlformats.org/presentationml/2006/main">
  <p:tag name="KSO_DOCER_RESOURCE_TRACE_INFO" val="{&quot;id&quot;:&quot;47371779&quot;,&quot;origin&quot;:0,&quot;type&quot;:&quot;pictures&quot;,&quot;user&quot;:&quot;20358827511810&quot;}"/>
</p:tagLst>
</file>

<file path=ppt/tags/tag50.xml><?xml version="1.0" encoding="utf-8"?>
<p:tagLst xmlns:p="http://schemas.openxmlformats.org/presentationml/2006/main">
  <p:tag name="resource_record_key" val="{&quot;10&quot;:[50059433]}"/>
</p:tagLst>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6647</Words>
  <Application>WPS Presentation</Application>
  <PresentationFormat/>
  <Paragraphs>427</Paragraphs>
  <Slides>34</Slides>
  <Notes>0</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34</vt:i4>
      </vt:variant>
    </vt:vector>
  </HeadingPairs>
  <TitlesOfParts>
    <vt:vector size="55" baseType="lpstr">
      <vt:lpstr>Arial</vt:lpstr>
      <vt:lpstr>SimSun</vt:lpstr>
      <vt:lpstr>Wingdings</vt:lpstr>
      <vt:lpstr>Arial</vt:lpstr>
      <vt:lpstr>Calibri</vt:lpstr>
      <vt:lpstr>Times New Roman</vt:lpstr>
      <vt:lpstr>Lato</vt:lpstr>
      <vt:lpstr>Poppins</vt:lpstr>
      <vt:lpstr>Lato Light</vt:lpstr>
      <vt:lpstr>Poppins SemiBold</vt:lpstr>
      <vt:lpstr>Calibri</vt:lpstr>
      <vt:lpstr>Calibri</vt:lpstr>
      <vt:lpstr>Calibri</vt:lpstr>
      <vt:lpstr>Cambria</vt:lpstr>
      <vt:lpstr>Cambria</vt:lpstr>
      <vt:lpstr>Cambria</vt:lpstr>
      <vt:lpstr>Poppins</vt:lpstr>
      <vt:lpstr>Microsoft YaHei</vt:lpstr>
      <vt:lpstr>Arial Unicode MS</vt:lpstr>
      <vt:lpstr>Lato</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Conception &amp; RéaliSAtion</vt:lpstr>
      <vt:lpstr>PowerPoint 演示文稿</vt:lpstr>
      <vt:lpstr>PowerPoint 演示文稿</vt:lpstr>
      <vt:lpstr>PowerPoint 演示文稿</vt:lpstr>
      <vt:lpstr>Diagramme de contexte</vt:lpstr>
      <vt:lpstr>Diagramme de Package</vt:lpstr>
      <vt:lpstr>Diagramme de cas d’utilisation</vt:lpstr>
      <vt:lpstr>Diagramme d’activité : création d’un bail</vt:lpstr>
      <vt:lpstr>Diagramme de séquence : Paiement MOBILE</vt:lpstr>
      <vt:lpstr>Diagramme de classe</vt:lpstr>
      <vt:lpstr>Diagramme de classe</vt:lpstr>
      <vt:lpstr>Architecture logicielle du système</vt:lpstr>
      <vt:lpstr>Architecture matérielle du système</vt:lpstr>
      <vt:lpstr>PowerPoint 演示文稿</vt:lpstr>
      <vt:lpstr>PowerPoint 演示文稿</vt:lpstr>
      <vt:lpstr>Démonstration</vt:lpstr>
      <vt:lpstr>DémonStration</vt:lpstr>
      <vt:lpstr>PowerPoint 演示文稿</vt:lpstr>
      <vt:lpstr>ConcluSIon &amp; perSpectiVes</vt:lpstr>
      <vt:lpstr>Ce projet apporte une réponse concrète aux limites de la gestion artisanale en automatisant tout le cycle métier (de l'enregistrement du logement au paiement par Mobile Money via FedaPay). Portée par une architecture robuste (Spring Boot, Angular, Ionic), la plateforme sécurise les baux à long terme et garde une traçabilité de toutes les transactions.</vt:lpstr>
      <vt:lpstr>       Documents : Génération et signature électronique automatique des contrats de bail.         Génération d’un rapport financier annuel</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Xavier GBANDI</cp:lastModifiedBy>
  <cp:revision>34</cp:revision>
  <dcterms:created xsi:type="dcterms:W3CDTF">2026-07-17T19:21:00Z</dcterms:created>
  <dcterms:modified xsi:type="dcterms:W3CDTF">2026-08-05T16:48:18Z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1036-12.1.0.28032</vt:lpwstr>
  </property>
  <property fmtid="{D5CDD505-2E9C-101B-9397-08002B2CF9AE}" pid="3" name="ICV">
    <vt:lpwstr>DA5AD8D80E2F47F58CD50CA50F7FB14F_12</vt:lpwstr>
  </property>
</Properties>
</file>