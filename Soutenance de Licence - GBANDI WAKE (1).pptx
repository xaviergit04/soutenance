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24.fntdata" ContentType="application/x-fontdata"/>
  <Override PartName="/ppt/fonts/font25.fntdata" ContentType="application/x-fontdata"/>
  <Override PartName="/ppt/fonts/font26.fntdata" ContentType="application/x-fontdata"/>
  <Override PartName="/ppt/fonts/font27.fntdata" ContentType="application/x-fontdata"/>
  <Override PartName="/ppt/fonts/font28.fntdata" ContentType="application/x-fontdata"/>
  <Override PartName="/ppt/fonts/font29.fntdata" ContentType="application/x-fontdata"/>
  <Override PartName="/ppt/fonts/font3.fntdata" ContentType="application/x-fontdata"/>
  <Override PartName="/ppt/fonts/font30.fntdata" ContentType="application/x-fontdata"/>
  <Override PartName="/ppt/fonts/font31.fntdata" ContentType="application/x-fontdata"/>
  <Override PartName="/ppt/fonts/font32.fntdata" ContentType="application/x-fontdata"/>
  <Override PartName="/ppt/fonts/font33.fntdata" ContentType="application/x-fontdata"/>
  <Override PartName="/ppt/fonts/font34.fntdata" ContentType="application/x-fontdata"/>
  <Override PartName="/ppt/fonts/font35.fntdata" ContentType="application/x-fontdata"/>
  <Override PartName="/ppt/fonts/font36.fntdata" ContentType="application/x-fontdata"/>
  <Override PartName="/ppt/fonts/font37.fntdata" ContentType="application/x-fontdata"/>
  <Override PartName="/ppt/fonts/font38.fntdata" ContentType="application/x-fontdata"/>
  <Override PartName="/ppt/fonts/font39.fntdata" ContentType="application/x-fontdata"/>
  <Override PartName="/ppt/fonts/font4.fntdata" ContentType="application/x-fontdata"/>
  <Override PartName="/ppt/fonts/font40.fntdata" ContentType="application/x-fontdata"/>
  <Override PartName="/ppt/fonts/font41.fntdata" ContentType="application/x-fontdata"/>
  <Override PartName="/ppt/fonts/font42.fntdata" ContentType="application/x-fontdata"/>
  <Override PartName="/ppt/fonts/font43.fntdata" ContentType="application/x-fontdata"/>
  <Override PartName="/ppt/fonts/font44.fntdata" ContentType="application/x-fontdata"/>
  <Override PartName="/ppt/fonts/font45.fntdata" ContentType="application/x-fontdata"/>
  <Override PartName="/ppt/fonts/font46.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5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87" r:id="rId8"/>
    <p:sldId id="288" r:id="rId9"/>
    <p:sldId id="289" r:id="rId10"/>
    <p:sldId id="260" r:id="rId11"/>
    <p:sldId id="261" r:id="rId12"/>
    <p:sldId id="270" r:id="rId13"/>
    <p:sldId id="271" r:id="rId14"/>
    <p:sldId id="290" r:id="rId15"/>
    <p:sldId id="266" r:id="rId16"/>
    <p:sldId id="264" r:id="rId17"/>
    <p:sldId id="273" r:id="rId18"/>
    <p:sldId id="274" r:id="rId19"/>
    <p:sldId id="275" r:id="rId20"/>
    <p:sldId id="276" r:id="rId21"/>
    <p:sldId id="277" r:id="rId22"/>
    <p:sldId id="278" r:id="rId23"/>
    <p:sldId id="279" r:id="rId24"/>
    <p:sldId id="280" r:id="rId25"/>
    <p:sldId id="263" r:id="rId26"/>
    <p:sldId id="286" r:id="rId27"/>
    <p:sldId id="265" r:id="rId28"/>
    <p:sldId id="281" r:id="rId29"/>
    <p:sldId id="283" r:id="rId30"/>
    <p:sldId id="284" r:id="rId31"/>
    <p:sldId id="285" r:id="rId32"/>
    <p:sldId id="267" r:id="rId33"/>
  </p:sldIdLst>
  <p:sldSz cx="12192000" cy="6858000"/>
  <p:notesSz cx="6858000" cy="9144000"/>
  <p:embeddedFontLst>
    <p:embeddedFont>
      <p:font typeface="Calibri" panose="020F0502020204030204"/>
      <p:regular r:id="rId37"/>
      <p:bold r:id="rId38"/>
      <p:italic r:id="rId39"/>
      <p:boldItalic r:id="rId40"/>
    </p:embeddedFont>
    <p:embeddedFont>
      <p:font typeface="Lato" panose="020F0502020204030203"/>
      <p:regular r:id="rId41"/>
    </p:embeddedFont>
    <p:embeddedFont>
      <p:font typeface="Poppins" panose="00000500000000000000"/>
      <p:regular r:id="rId42"/>
      <p:bold r:id="rId43"/>
      <p:italic r:id="rId44"/>
      <p:boldItalic r:id="rId45"/>
    </p:embeddedFont>
    <p:embeddedFont>
      <p:font typeface="Lato Light" panose="020F0502020204030203"/>
      <p:regular r:id="rId46"/>
      <p:bold r:id="rId47"/>
      <p:italic r:id="rId48"/>
      <p:boldItalic r:id="rId49"/>
    </p:embeddedFont>
    <p:embeddedFont>
      <p:font typeface="Poppins SemiBold" panose="00000500000000000000"/>
      <p:regular r:id="rId50"/>
      <p:bold r:id="rId51"/>
      <p:italic r:id="rId52"/>
      <p:boldItalic r:id="rId53"/>
    </p:embeddedFont>
    <p:embeddedFont>
      <p:font typeface="Poppins" panose="00000500000000000000" charset="0"/>
      <p:regular r:id="rId54"/>
      <p:bold r:id="rId55"/>
      <p:italic r:id="rId56"/>
      <p:boldItalic r:id="rId57"/>
    </p:embeddedFont>
    <p:embeddedFont>
      <p:font typeface="Lato" panose="020F0502020204030203" charset="0"/>
      <p:regular r:id="rId58"/>
    </p:embeddedFont>
    <p:embeddedFont>
      <p:font typeface="Calibri" panose="020F0502020204030204" pitchFamily="34" charset="0"/>
      <p:regular r:id="rId59"/>
      <p:bold r:id="rId60"/>
      <p:italic r:id="rId61"/>
      <p:boldItalic r:id="rId62"/>
    </p:embeddedFont>
    <p:embeddedFont>
      <p:font typeface="Calibri" panose="020F0502020204030204" pitchFamily="34" charset="-122"/>
      <p:regular r:id="rId63"/>
      <p:bold r:id="rId64"/>
      <p:italic r:id="rId65"/>
      <p:boldItalic r:id="rId66"/>
    </p:embeddedFont>
    <p:embeddedFont>
      <p:font typeface="Calibri" panose="020F0502020204030204" pitchFamily="34" charset="-120"/>
      <p:regular r:id="rId67"/>
      <p:bold r:id="rId68"/>
      <p:italic r:id="rId69"/>
      <p:boldItalic r:id="rId70"/>
    </p:embeddedFont>
    <p:embeddedFont>
      <p:font typeface="Cambria" panose="02040503050406030204" pitchFamily="34" charset="0"/>
      <p:regular r:id="rId71"/>
      <p:bold r:id="rId72"/>
      <p:italic r:id="rId73"/>
      <p:boldItalic r:id="rId74"/>
    </p:embeddedFont>
    <p:embeddedFont>
      <p:font typeface="Cambria" panose="02040503050406030204" pitchFamily="34" charset="-122"/>
      <p:regular r:id="rId75"/>
      <p:bold r:id="rId76"/>
      <p:italic r:id="rId77"/>
      <p:boldItalic r:id="rId78"/>
    </p:embeddedFont>
    <p:embeddedFont>
      <p:font typeface="Cambria" panose="02040503050406030204" pitchFamily="34" charset="-120"/>
      <p:regular r:id="rId79"/>
      <p:bold r:id="rId80"/>
      <p:italic r:id="rId81"/>
      <p:boldItalic r:id="rId82"/>
    </p:embeddedFont>
  </p:embeddedFontLst>
  <p:custDataLst>
    <p:tags r:id="rId8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937"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D3497-3041-4D27-8FF0-422A7831B682}"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93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7.xml"/><Relationship Id="rId82" Type="http://schemas.openxmlformats.org/officeDocument/2006/relationships/font" Target="fonts/font46.fntdata"/><Relationship Id="rId81" Type="http://schemas.openxmlformats.org/officeDocument/2006/relationships/font" Target="fonts/font45.fntdata"/><Relationship Id="rId80" Type="http://schemas.openxmlformats.org/officeDocument/2006/relationships/font" Target="fonts/font44.fntdata"/><Relationship Id="rId8" Type="http://schemas.openxmlformats.org/officeDocument/2006/relationships/slide" Target="slides/slide5.xml"/><Relationship Id="rId79" Type="http://schemas.openxmlformats.org/officeDocument/2006/relationships/font" Target="fonts/font43.fntdata"/><Relationship Id="rId78" Type="http://schemas.openxmlformats.org/officeDocument/2006/relationships/font" Target="fonts/font42.fntdata"/><Relationship Id="rId77" Type="http://schemas.openxmlformats.org/officeDocument/2006/relationships/font" Target="fonts/font41.fntdata"/><Relationship Id="rId76" Type="http://schemas.openxmlformats.org/officeDocument/2006/relationships/font" Target="fonts/font40.fntdata"/><Relationship Id="rId75" Type="http://schemas.openxmlformats.org/officeDocument/2006/relationships/font" Target="fonts/font39.fntdata"/><Relationship Id="rId74" Type="http://schemas.openxmlformats.org/officeDocument/2006/relationships/font" Target="fonts/font38.fntdata"/><Relationship Id="rId73" Type="http://schemas.openxmlformats.org/officeDocument/2006/relationships/font" Target="fonts/font37.fntdata"/><Relationship Id="rId72" Type="http://schemas.openxmlformats.org/officeDocument/2006/relationships/font" Target="fonts/font36.fntdata"/><Relationship Id="rId71" Type="http://schemas.openxmlformats.org/officeDocument/2006/relationships/font" Target="fonts/font35.fntdata"/><Relationship Id="rId70" Type="http://schemas.openxmlformats.org/officeDocument/2006/relationships/font" Target="fonts/font34.fntdata"/><Relationship Id="rId7" Type="http://schemas.openxmlformats.org/officeDocument/2006/relationships/slide" Target="slides/slide4.xml"/><Relationship Id="rId69" Type="http://schemas.openxmlformats.org/officeDocument/2006/relationships/font" Target="fonts/font33.fntdata"/><Relationship Id="rId68" Type="http://schemas.openxmlformats.org/officeDocument/2006/relationships/font" Target="fonts/font32.fntdata"/><Relationship Id="rId67" Type="http://schemas.openxmlformats.org/officeDocument/2006/relationships/font" Target="fonts/font31.fntdata"/><Relationship Id="rId66" Type="http://schemas.openxmlformats.org/officeDocument/2006/relationships/font" Target="fonts/font30.fntdata"/><Relationship Id="rId65" Type="http://schemas.openxmlformats.org/officeDocument/2006/relationships/font" Target="fonts/font29.fntdata"/><Relationship Id="rId64" Type="http://schemas.openxmlformats.org/officeDocument/2006/relationships/font" Target="fonts/font28.fntdata"/><Relationship Id="rId63" Type="http://schemas.openxmlformats.org/officeDocument/2006/relationships/font" Target="fonts/font27.fntdata"/><Relationship Id="rId62" Type="http://schemas.openxmlformats.org/officeDocument/2006/relationships/font" Target="fonts/font26.fntdata"/><Relationship Id="rId61" Type="http://schemas.openxmlformats.org/officeDocument/2006/relationships/font" Target="fonts/font25.fntdata"/><Relationship Id="rId60" Type="http://schemas.openxmlformats.org/officeDocument/2006/relationships/font" Target="fonts/font24.fntdata"/><Relationship Id="rId6" Type="http://schemas.openxmlformats.org/officeDocument/2006/relationships/slide" Target="slides/slide3.xml"/><Relationship Id="rId59" Type="http://schemas.openxmlformats.org/officeDocument/2006/relationships/font" Target="fonts/font23.fntdata"/><Relationship Id="rId58" Type="http://schemas.openxmlformats.org/officeDocument/2006/relationships/font" Target="fonts/font22.fntdata"/><Relationship Id="rId57" Type="http://schemas.openxmlformats.org/officeDocument/2006/relationships/font" Target="fonts/font21.fntdata"/><Relationship Id="rId56" Type="http://schemas.openxmlformats.org/officeDocument/2006/relationships/font" Target="fonts/font20.fntdata"/><Relationship Id="rId55" Type="http://schemas.openxmlformats.org/officeDocument/2006/relationships/font" Target="fonts/font19.fntdata"/><Relationship Id="rId54" Type="http://schemas.openxmlformats.org/officeDocument/2006/relationships/font" Target="fonts/font18.fntdata"/><Relationship Id="rId53" Type="http://schemas.openxmlformats.org/officeDocument/2006/relationships/font" Target="fonts/font17.fntdata"/><Relationship Id="rId52" Type="http://schemas.openxmlformats.org/officeDocument/2006/relationships/font" Target="fonts/font16.fntdata"/><Relationship Id="rId51" Type="http://schemas.openxmlformats.org/officeDocument/2006/relationships/font" Target="fonts/font15.fntdata"/><Relationship Id="rId50" Type="http://schemas.openxmlformats.org/officeDocument/2006/relationships/font" Target="fonts/font14.fntdata"/><Relationship Id="rId5" Type="http://schemas.openxmlformats.org/officeDocument/2006/relationships/slide" Target="slides/slide2.xml"/><Relationship Id="rId49" Type="http://schemas.openxmlformats.org/officeDocument/2006/relationships/font" Target="fonts/font13.fntdata"/><Relationship Id="rId48" Type="http://schemas.openxmlformats.org/officeDocument/2006/relationships/font" Target="fonts/font12.fntdata"/><Relationship Id="rId47" Type="http://schemas.openxmlformats.org/officeDocument/2006/relationships/font" Target="fonts/font11.fntdata"/><Relationship Id="rId46" Type="http://schemas.openxmlformats.org/officeDocument/2006/relationships/font" Target="fonts/font10.fntdata"/><Relationship Id="rId45" Type="http://schemas.openxmlformats.org/officeDocument/2006/relationships/font" Target="fonts/font9.fntdata"/><Relationship Id="rId44" Type="http://schemas.openxmlformats.org/officeDocument/2006/relationships/font" Target="fonts/font8.fntdata"/><Relationship Id="rId43" Type="http://schemas.openxmlformats.org/officeDocument/2006/relationships/font" Target="fonts/font7.fntdata"/><Relationship Id="rId42" Type="http://schemas.openxmlformats.org/officeDocument/2006/relationships/font" Target="fonts/font6.fntdata"/><Relationship Id="rId41" Type="http://schemas.openxmlformats.org/officeDocument/2006/relationships/font" Target="fonts/font5.fntdata"/><Relationship Id="rId40" Type="http://schemas.openxmlformats.org/officeDocument/2006/relationships/font" Target="fonts/font4.fntdata"/><Relationship Id="rId4" Type="http://schemas.openxmlformats.org/officeDocument/2006/relationships/notesMaster" Target="notesMasters/notesMaster1.xml"/><Relationship Id="rId39" Type="http://schemas.openxmlformats.org/officeDocument/2006/relationships/font" Target="fonts/font3.fntdata"/><Relationship Id="rId38" Type="http://schemas.openxmlformats.org/officeDocument/2006/relationships/font" Target="fonts/font2.fntdata"/><Relationship Id="rId37" Type="http://schemas.openxmlformats.org/officeDocument/2006/relationships/font" Target="fonts/font1.fntdata"/><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6" name="Google Shape;126;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6" name="Google Shape;16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3" name="Google Shape;203;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2" name="Google Shape;312;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7" name="Shape 267"/>
        <p:cNvGrpSpPr/>
        <p:nvPr/>
      </p:nvGrpSpPr>
      <p:grpSpPr>
        <a:xfrm>
          <a:off x="0" y="0"/>
          <a:ext cx="0" cy="0"/>
          <a:chOff x="0" y="0"/>
          <a:chExt cx="0" cy="0"/>
        </a:xfrm>
      </p:grpSpPr>
      <p:sp>
        <p:nvSpPr>
          <p:cNvPr id="268" name="Google Shape;268;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9" name="Google Shape;269;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8" name="Shape 248"/>
        <p:cNvGrpSpPr/>
        <p:nvPr/>
      </p:nvGrpSpPr>
      <p:grpSpPr>
        <a:xfrm>
          <a:off x="0" y="0"/>
          <a:ext cx="0" cy="0"/>
          <a:chOff x="0" y="0"/>
          <a:chExt cx="0" cy="0"/>
        </a:xfrm>
      </p:grpSpPr>
      <p:sp>
        <p:nvSpPr>
          <p:cNvPr id="249" name="Google Shape;249;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0" name="Google Shape;250;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6" name="Google Shape;16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8" name="Shape 298"/>
        <p:cNvGrpSpPr/>
        <p:nvPr/>
      </p:nvGrpSpPr>
      <p:grpSpPr>
        <a:xfrm>
          <a:off x="0" y="0"/>
          <a:ext cx="0" cy="0"/>
          <a:chOff x="0" y="0"/>
          <a:chExt cx="0" cy="0"/>
        </a:xfrm>
      </p:grpSpPr>
      <p:sp>
        <p:nvSpPr>
          <p:cNvPr id="299" name="Google Shape;299;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0" name="Google Shape;300;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7" name="Shape 337"/>
        <p:cNvGrpSpPr/>
        <p:nvPr/>
      </p:nvGrpSpPr>
      <p:grpSpPr>
        <a:xfrm>
          <a:off x="0" y="0"/>
          <a:ext cx="0" cy="0"/>
          <a:chOff x="0" y="0"/>
          <a:chExt cx="0" cy="0"/>
        </a:xfrm>
      </p:grpSpPr>
      <p:sp>
        <p:nvSpPr>
          <p:cNvPr id="338" name="Google Shape;338;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9" name="Google Shape;339;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re et texte">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pour modifier le style du titre du masque</a:t>
            </a:r>
            <a:endParaRPr lang="fr-FR"/>
          </a:p>
        </p:txBody>
      </p:sp>
      <p:sp>
        <p:nvSpPr>
          <p:cNvPr id="3" name="Espace réservé du texte 2"/>
          <p:cNvSpPr>
            <a:spLocks noGrp="1"/>
          </p:cNvSpPr>
          <p:nvPr>
            <p:ph type="body"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p:txBody>
      </p:sp>
      <p:sp>
        <p:nvSpPr>
          <p:cNvPr id="5" name="Espace réservé du pied de page 4"/>
          <p:cNvSpPr>
            <a:spLocks noGrp="1"/>
          </p:cNvSpPr>
          <p:nvPr>
            <p:ph type="ftr" sz="quarter" idx="11"/>
          </p:nvPr>
        </p:nvSpPr>
        <p:spPr/>
        <p:txBody>
          <a:bodyPr/>
          <a:lstStyle/>
          <a:p/>
        </p:txBody>
      </p:sp>
      <p:sp>
        <p:nvSpPr>
          <p:cNvPr id="6" name="Espace réservé du numéro de diapositive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Slide-34_35">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Title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7" name="Picture Placeholder 6"/>
          <p:cNvSpPr>
            <a:spLocks noGrp="1"/>
          </p:cNvSpPr>
          <p:nvPr>
            <p:ph type="pic" idx="16394" hasCustomPrompt="1"/>
            <p:custDataLst>
              <p:tags r:id="rId3"/>
            </p:custDataLst>
          </p:nvPr>
        </p:nvSpPr>
        <p:spPr>
          <a:xfrm>
            <a:off x="609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8" name="Text Placeholder 7"/>
          <p:cNvSpPr>
            <a:spLocks noGrp="1"/>
          </p:cNvSpPr>
          <p:nvPr>
            <p:ph type="body" idx="16386" hasCustomPrompt="1"/>
            <p:custDataLst>
              <p:tags r:id="rId4"/>
            </p:custDataLst>
          </p:nvPr>
        </p:nvSpPr>
        <p:spPr>
          <a:xfrm>
            <a:off x="1778000" y="19304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9" name="Text Placeholder 8"/>
          <p:cNvSpPr>
            <a:spLocks noGrp="1"/>
          </p:cNvSpPr>
          <p:nvPr>
            <p:ph type="body" idx="16387" hasCustomPrompt="1"/>
            <p:custDataLst>
              <p:tags r:id="rId5"/>
            </p:custDataLst>
          </p:nvPr>
        </p:nvSpPr>
        <p:spPr>
          <a:xfrm>
            <a:off x="1778000" y="24384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0" name="Picture Placeholder 9"/>
          <p:cNvSpPr>
            <a:spLocks noGrp="1"/>
          </p:cNvSpPr>
          <p:nvPr>
            <p:ph type="pic" idx="16395" hasCustomPrompt="1"/>
            <p:custDataLst>
              <p:tags r:id="rId6"/>
            </p:custDataLst>
          </p:nvPr>
        </p:nvSpPr>
        <p:spPr>
          <a:xfrm>
            <a:off x="6324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Text Placeholder 10"/>
          <p:cNvSpPr>
            <a:spLocks noGrp="1"/>
          </p:cNvSpPr>
          <p:nvPr>
            <p:ph type="body" idx="16388" hasCustomPrompt="1"/>
            <p:custDataLst>
              <p:tags r:id="rId7"/>
            </p:custDataLst>
          </p:nvPr>
        </p:nvSpPr>
        <p:spPr>
          <a:xfrm>
            <a:off x="7493000" y="19304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12" name="Text Placeholder 11"/>
          <p:cNvSpPr>
            <a:spLocks noGrp="1"/>
          </p:cNvSpPr>
          <p:nvPr>
            <p:ph type="body" idx="16389" hasCustomPrompt="1"/>
            <p:custDataLst>
              <p:tags r:id="rId8"/>
            </p:custDataLst>
          </p:nvPr>
        </p:nvSpPr>
        <p:spPr>
          <a:xfrm>
            <a:off x="7493000" y="24384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3" name="Picture Placeholder 12"/>
          <p:cNvSpPr>
            <a:spLocks noGrp="1"/>
          </p:cNvSpPr>
          <p:nvPr>
            <p:ph type="pic" idx="16396" hasCustomPrompt="1"/>
            <p:custDataLst>
              <p:tags r:id="rId9"/>
            </p:custDataLst>
          </p:nvPr>
        </p:nvSpPr>
        <p:spPr>
          <a:xfrm>
            <a:off x="609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Text Placeholder 13"/>
          <p:cNvSpPr>
            <a:spLocks noGrp="1"/>
          </p:cNvSpPr>
          <p:nvPr>
            <p:ph type="body" idx="16390" hasCustomPrompt="1"/>
            <p:custDataLst>
              <p:tags r:id="rId10"/>
            </p:custDataLst>
          </p:nvPr>
        </p:nvSpPr>
        <p:spPr>
          <a:xfrm>
            <a:off x="1778000" y="41148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15" name="Text Placeholder 14"/>
          <p:cNvSpPr>
            <a:spLocks noGrp="1"/>
          </p:cNvSpPr>
          <p:nvPr>
            <p:ph type="body" idx="16391" hasCustomPrompt="1"/>
            <p:custDataLst>
              <p:tags r:id="rId11"/>
            </p:custDataLst>
          </p:nvPr>
        </p:nvSpPr>
        <p:spPr>
          <a:xfrm>
            <a:off x="1778000" y="46228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6" name="Picture Placeholder 15"/>
          <p:cNvSpPr>
            <a:spLocks noGrp="1"/>
          </p:cNvSpPr>
          <p:nvPr>
            <p:ph type="pic" idx="16397" hasCustomPrompt="1"/>
            <p:custDataLst>
              <p:tags r:id="rId12"/>
            </p:custDataLst>
          </p:nvPr>
        </p:nvSpPr>
        <p:spPr>
          <a:xfrm>
            <a:off x="6324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Text Placeholder 16"/>
          <p:cNvSpPr>
            <a:spLocks noGrp="1"/>
          </p:cNvSpPr>
          <p:nvPr>
            <p:ph type="body" idx="16392" hasCustomPrompt="1"/>
            <p:custDataLst>
              <p:tags r:id="rId13"/>
            </p:custDataLst>
          </p:nvPr>
        </p:nvSpPr>
        <p:spPr>
          <a:xfrm>
            <a:off x="7493000" y="41148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18" name="Text Placeholder 17"/>
          <p:cNvSpPr>
            <a:spLocks noGrp="1"/>
          </p:cNvSpPr>
          <p:nvPr>
            <p:ph type="body" idx="16393" hasCustomPrompt="1"/>
            <p:custDataLst>
              <p:tags r:id="rId14"/>
            </p:custDataLst>
          </p:nvPr>
        </p:nvSpPr>
        <p:spPr>
          <a:xfrm>
            <a:off x="7493000" y="46228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10.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0" Type="http://schemas.openxmlformats.org/officeDocument/2006/relationships/notesSlide" Target="../notesSlides/notesSlide9.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6.png"/><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8.png"/><Relationship Id="rId2" Type="http://schemas.openxmlformats.org/officeDocument/2006/relationships/image" Target="../media/image10.pn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1.png"/><Relationship Id="rId2" Type="http://schemas.openxmlformats.org/officeDocument/2006/relationships/image" Target="../media/image10.pn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jpeg"/><Relationship Id="rId3" Type="http://schemas.openxmlformats.org/officeDocument/2006/relationships/image" Target="../media/image43.png"/><Relationship Id="rId2" Type="http://schemas.openxmlformats.org/officeDocument/2006/relationships/image" Target="../media/image10.png"/><Relationship Id="rId10" Type="http://schemas.openxmlformats.org/officeDocument/2006/relationships/notesSlide" Target="../notesSlides/notesSlide12.xml"/><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tags" Target="../tags/tag14.xml"/><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49.png"/><Relationship Id="rId2" Type="http://schemas.openxmlformats.org/officeDocument/2006/relationships/image" Target="../media/image10.png"/><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tags" Target="../tags/tag16.xml"/><Relationship Id="rId4" Type="http://schemas.openxmlformats.org/officeDocument/2006/relationships/image" Target="../media/image51.svg"/><Relationship Id="rId3" Type="http://schemas.openxmlformats.org/officeDocument/2006/relationships/image" Target="../media/image50.png"/><Relationship Id="rId2" Type="http://schemas.openxmlformats.org/officeDocument/2006/relationships/tags" Target="../tags/tag15.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2"/>
          <a:srcRect/>
          <a:stretch>
            <a:fillRect/>
          </a:stretch>
        </p:blipFill>
        <p:spPr>
          <a:xfrm>
            <a:off x="713740" y="4981575"/>
            <a:ext cx="10621010" cy="1416685"/>
          </a:xfrm>
          <a:prstGeom prst="rect">
            <a:avLst/>
          </a:prstGeom>
          <a:noFill/>
          <a:ln>
            <a:noFill/>
          </a:ln>
        </p:spPr>
      </p:pic>
      <p:pic>
        <p:nvPicPr>
          <p:cNvPr id="86" name="Google Shape;86;p13" descr="image.png"/>
          <p:cNvPicPr preferRelativeResize="0"/>
          <p:nvPr/>
        </p:nvPicPr>
        <p:blipFill rotWithShape="1">
          <a:blip r:embed="rId3"/>
          <a:srcRect/>
          <a:stretch>
            <a:fillRect/>
          </a:stretch>
        </p:blipFill>
        <p:spPr>
          <a:xfrm>
            <a:off x="2165985" y="5326380"/>
            <a:ext cx="3417570" cy="873125"/>
          </a:xfrm>
          <a:prstGeom prst="rect">
            <a:avLst/>
          </a:prstGeom>
          <a:noFill/>
          <a:ln>
            <a:noFill/>
          </a:ln>
        </p:spPr>
      </p:pic>
      <p:pic>
        <p:nvPicPr>
          <p:cNvPr id="87" name="Google Shape;87;p13" descr="image.png"/>
          <p:cNvPicPr preferRelativeResize="0"/>
          <p:nvPr/>
        </p:nvPicPr>
        <p:blipFill rotWithShape="1">
          <a:blip r:embed="rId3"/>
          <a:srcRect/>
          <a:stretch>
            <a:fillRect/>
          </a:stretch>
        </p:blipFill>
        <p:spPr>
          <a:xfrm>
            <a:off x="7259955" y="5261610"/>
            <a:ext cx="3273425" cy="1121410"/>
          </a:xfrm>
          <a:prstGeom prst="rect">
            <a:avLst/>
          </a:prstGeom>
          <a:noFill/>
          <a:ln>
            <a:noFill/>
          </a:ln>
        </p:spPr>
      </p:pic>
      <p:sp>
        <p:nvSpPr>
          <p:cNvPr id="89" name="Google Shape;89;p13"/>
          <p:cNvSpPr txBox="1"/>
          <p:nvPr/>
        </p:nvSpPr>
        <p:spPr>
          <a:xfrm>
            <a:off x="2025015" y="714375"/>
            <a:ext cx="7778115" cy="10255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3600" b="0" i="0" u="none" strike="noStrike" cap="none">
                <a:solidFill>
                  <a:srgbClr val="F59E0B"/>
                </a:solidFill>
                <a:latin typeface="Times New Roman" panose="02020603050405020304" charset="0"/>
                <a:ea typeface="Lato" panose="020F0502020204030203"/>
                <a:cs typeface="Times New Roman" panose="02020603050405020304" charset="0"/>
                <a:sym typeface="Lato" panose="020F0502020204030203"/>
              </a:rPr>
              <a:t>SOUTENANCE DE </a:t>
            </a:r>
            <a:r>
              <a:rPr lang="fr-FR" altLang="en-US" sz="3600" b="0" i="0" u="none" strike="noStrike" cap="none">
                <a:solidFill>
                  <a:srgbClr val="F59E0B"/>
                </a:solidFill>
                <a:latin typeface="Times New Roman" panose="02020603050405020304" charset="0"/>
                <a:ea typeface="Lato" panose="020F0502020204030203"/>
                <a:cs typeface="Times New Roman" panose="02020603050405020304" charset="0"/>
                <a:sym typeface="Lato" panose="020F0502020204030203"/>
              </a:rPr>
              <a:t>MEMOIRE</a:t>
            </a:r>
            <a:endParaRPr lang="fr-FR" altLang="en-US" sz="3600" b="0" i="0" u="none" strike="noStrike" cap="none">
              <a:solidFill>
                <a:srgbClr val="F59E0B"/>
              </a:solidFill>
              <a:latin typeface="Times New Roman" panose="02020603050405020304" charset="0"/>
              <a:ea typeface="Lato" panose="020F0502020204030203"/>
              <a:cs typeface="Times New Roman" panose="02020603050405020304" charset="0"/>
              <a:sym typeface="Lato" panose="020F0502020204030203"/>
            </a:endParaRPr>
          </a:p>
          <a:p>
            <a:pPr marL="0" marR="0" lvl="0" indent="0" algn="ctr" rtl="0">
              <a:spcBef>
                <a:spcPts val="0"/>
              </a:spcBef>
              <a:spcAft>
                <a:spcPts val="0"/>
              </a:spcAft>
              <a:buNone/>
            </a:pPr>
            <a:r>
              <a:rPr lang="fr-FR" altLang="en-US" sz="3600" b="0" i="0" u="none" strike="noStrike" cap="none">
                <a:solidFill>
                  <a:srgbClr val="F59E0B"/>
                </a:solidFill>
                <a:latin typeface="Times New Roman" panose="02020603050405020304" charset="0"/>
                <a:ea typeface="Lato" panose="020F0502020204030203"/>
                <a:cs typeface="Times New Roman" panose="02020603050405020304" charset="0"/>
                <a:sym typeface="Lato" panose="020F0502020204030203"/>
              </a:rPr>
              <a:t>LICENCE GENIE LOGICIEL</a:t>
            </a:r>
            <a:endParaRPr lang="fr-FR" altLang="en-US" sz="3600" b="0" i="0" u="none" strike="noStrike" cap="none">
              <a:solidFill>
                <a:srgbClr val="F59E0B"/>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90" name="Google Shape;90;p13"/>
          <p:cNvSpPr txBox="1"/>
          <p:nvPr/>
        </p:nvSpPr>
        <p:spPr>
          <a:xfrm>
            <a:off x="1095375" y="2133600"/>
            <a:ext cx="9504045" cy="1483995"/>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None/>
            </a:pPr>
            <a:r>
              <a:rPr lang="en-US" sz="3150" b="1" i="0" u="none" strike="noStrike" cap="none">
                <a:solidFill>
                  <a:srgbClr val="F8FAFC"/>
                </a:solidFill>
                <a:latin typeface="Times New Roman" panose="02020603050405020304" charset="0"/>
                <a:ea typeface="Poppins" panose="00000500000000000000"/>
                <a:cs typeface="Times New Roman" panose="02020603050405020304" charset="0"/>
                <a:sym typeface="Poppins" panose="00000500000000000000"/>
              </a:rPr>
              <a:t>Plateforme Web &amp; Mobile de Gestion des Biens Immobiliers Résidentiels</a:t>
            </a:r>
            <a:endParaRPr lang="en-US" sz="3150" b="1" i="0" u="none" strike="noStrike" cap="none">
              <a:solidFill>
                <a:srgbClr val="F8FAFC"/>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91" name="Google Shape;91;p13"/>
          <p:cNvSpPr txBox="1"/>
          <p:nvPr/>
        </p:nvSpPr>
        <p:spPr>
          <a:xfrm>
            <a:off x="1085850" y="3617595"/>
            <a:ext cx="9363075" cy="60896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800" b="0" i="0" u="none" strike="noStrike" cap="none">
                <a:solidFill>
                  <a:srgbClr val="CBD5E1"/>
                </a:solidFill>
                <a:latin typeface="Times New Roman" panose="02020603050405020304" charset="0"/>
                <a:ea typeface="Lato Light" panose="020F0502020204030203"/>
                <a:cs typeface="Times New Roman" panose="02020603050405020304" charset="0"/>
                <a:sym typeface="Lato Light" panose="020F0502020204030203"/>
              </a:rPr>
              <a:t>Cours Communes &amp; Appartements de séjour (Airbnb) au Togo</a:t>
            </a:r>
            <a:endParaRPr lang="en-US" sz="1800" b="0" i="0" u="none" strike="noStrike" cap="none">
              <a:solidFill>
                <a:srgbClr val="CBD5E1"/>
              </a:solidFill>
              <a:latin typeface="Times New Roman" panose="02020603050405020304" charset="0"/>
              <a:ea typeface="Lato Light" panose="020F0502020204030203"/>
              <a:cs typeface="Times New Roman" panose="02020603050405020304" charset="0"/>
              <a:sym typeface="Lato Light" panose="020F0502020204030203"/>
            </a:endParaRPr>
          </a:p>
        </p:txBody>
      </p:sp>
      <p:sp>
        <p:nvSpPr>
          <p:cNvPr id="92" name="Google Shape;92;p13"/>
          <p:cNvSpPr txBox="1"/>
          <p:nvPr/>
        </p:nvSpPr>
        <p:spPr>
          <a:xfrm>
            <a:off x="2394585" y="5469255"/>
            <a:ext cx="2960370"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rPr>
              <a:t>PRÉSENTÉ PAR</a:t>
            </a:r>
            <a:endParaRPr lang="en-US" sz="16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sp>
        <p:nvSpPr>
          <p:cNvPr id="93" name="Google Shape;93;p13"/>
          <p:cNvSpPr txBox="1"/>
          <p:nvPr/>
        </p:nvSpPr>
        <p:spPr>
          <a:xfrm>
            <a:off x="2394585" y="5707380"/>
            <a:ext cx="2819400" cy="3073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F8FAFC"/>
                </a:solidFill>
                <a:latin typeface="Times New Roman" panose="02020603050405020304" charset="0"/>
                <a:ea typeface="Lato" panose="020F0502020204030203"/>
                <a:cs typeface="Times New Roman" panose="02020603050405020304" charset="0"/>
                <a:sym typeface="Lato" panose="020F0502020204030203"/>
              </a:rPr>
              <a:t>GBANDI WAKE</a:t>
            </a:r>
            <a:endParaRPr lang="en-US" sz="2000" b="0" i="0" u="none" strike="noStrike" cap="none">
              <a:solidFill>
                <a:srgbClr val="F8FAFC"/>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94" name="Google Shape;94;p13"/>
          <p:cNvSpPr txBox="1"/>
          <p:nvPr/>
        </p:nvSpPr>
        <p:spPr>
          <a:xfrm>
            <a:off x="7488555" y="5404485"/>
            <a:ext cx="2960370"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rPr>
              <a:t>SOUS LA DIRECTION DE</a:t>
            </a:r>
            <a:endParaRPr lang="en-US" sz="16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sp>
        <p:nvSpPr>
          <p:cNvPr id="95" name="Google Shape;95;p13"/>
          <p:cNvSpPr txBox="1"/>
          <p:nvPr/>
        </p:nvSpPr>
        <p:spPr>
          <a:xfrm>
            <a:off x="7488555" y="5642610"/>
            <a:ext cx="2819400" cy="6153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F8FAFC"/>
                </a:solidFill>
                <a:latin typeface="Times New Roman" panose="02020603050405020304" charset="0"/>
                <a:ea typeface="Lato" panose="020F0502020204030203"/>
                <a:cs typeface="Times New Roman" panose="02020603050405020304" charset="0"/>
                <a:sym typeface="Lato" panose="020F0502020204030203"/>
              </a:rPr>
              <a:t>M. SHABAN Abdoulatif </a:t>
            </a:r>
            <a:br>
              <a:rPr lang="en-US" sz="20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rPr>
            </a:br>
            <a:r>
              <a:rPr lang="en-US" sz="2000" b="0" i="0" u="none" strike="noStrike" cap="none">
                <a:solidFill>
                  <a:srgbClr val="F8FAFC"/>
                </a:solidFill>
                <a:latin typeface="Times New Roman" panose="02020603050405020304" charset="0"/>
                <a:ea typeface="Lato" panose="020F0502020204030203"/>
                <a:cs typeface="Times New Roman" panose="02020603050405020304" charset="0"/>
                <a:sym typeface="Lato" panose="020F0502020204030203"/>
              </a:rPr>
              <a:t>Ingénieur Logiciel</a:t>
            </a:r>
            <a:endParaRPr lang="en-US" sz="2000" b="0" i="0" u="none" strike="noStrike" cap="none">
              <a:solidFill>
                <a:srgbClr val="F8FAFC"/>
              </a:solidFill>
              <a:latin typeface="Times New Roman" panose="02020603050405020304" charset="0"/>
              <a:ea typeface="Lato" panose="020F0502020204030203"/>
              <a:cs typeface="Times New Roman" panose="02020603050405020304" charset="0"/>
              <a:sym typeface="Lato" panose="020F0502020204030203"/>
            </a:endParaRPr>
          </a:p>
        </p:txBody>
      </p:sp>
      <p:pic>
        <p:nvPicPr>
          <p:cNvPr id="2" name="Image 1" descr="WPS Photos(1)"/>
          <p:cNvPicPr>
            <a:picLocks noChangeAspect="1"/>
          </p:cNvPicPr>
          <p:nvPr/>
        </p:nvPicPr>
        <p:blipFill>
          <a:blip r:embed="rId4"/>
          <a:stretch>
            <a:fillRect/>
          </a:stretch>
        </p:blipFill>
        <p:spPr>
          <a:xfrm>
            <a:off x="9487535" y="0"/>
            <a:ext cx="2704465" cy="10388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01" name="Shape 101"/>
        <p:cNvGrpSpPr/>
        <p:nvPr/>
      </p:nvGrpSpPr>
      <p:grpSpPr>
        <a:xfrm>
          <a:off x="0" y="0"/>
          <a:ext cx="0" cy="0"/>
          <a:chOff x="0" y="0"/>
          <a:chExt cx="0" cy="0"/>
        </a:xfrm>
      </p:grpSpPr>
      <p:pic>
        <p:nvPicPr>
          <p:cNvPr id="102" name="Google Shape;102;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03" name="Google Shape;103;p14" descr="image.png"/>
          <p:cNvPicPr preferRelativeResize="0"/>
          <p:nvPr/>
        </p:nvPicPr>
        <p:blipFill rotWithShape="1">
          <a:blip r:embed="rId2"/>
          <a:srcRect/>
          <a:stretch>
            <a:fillRect/>
          </a:stretch>
        </p:blipFill>
        <p:spPr>
          <a:xfrm>
            <a:off x="1809750" y="3248025"/>
            <a:ext cx="2730400" cy="1114425"/>
          </a:xfrm>
          <a:prstGeom prst="rect">
            <a:avLst/>
          </a:prstGeom>
          <a:noFill/>
          <a:ln>
            <a:noFill/>
          </a:ln>
        </p:spPr>
      </p:pic>
      <p:pic>
        <p:nvPicPr>
          <p:cNvPr id="104" name="Google Shape;104;p14" descr="image.png"/>
          <p:cNvPicPr preferRelativeResize="0"/>
          <p:nvPr/>
        </p:nvPicPr>
        <p:blipFill rotWithShape="1">
          <a:blip r:embed="rId3"/>
          <a:srcRect/>
          <a:stretch>
            <a:fillRect/>
          </a:stretch>
        </p:blipFill>
        <p:spPr>
          <a:xfrm>
            <a:off x="4730650" y="3248025"/>
            <a:ext cx="2730549" cy="1114425"/>
          </a:xfrm>
          <a:prstGeom prst="rect">
            <a:avLst/>
          </a:prstGeom>
          <a:noFill/>
          <a:ln>
            <a:noFill/>
          </a:ln>
        </p:spPr>
      </p:pic>
      <p:pic>
        <p:nvPicPr>
          <p:cNvPr id="105" name="Google Shape;105;p14" descr="image.png"/>
          <p:cNvPicPr preferRelativeResize="0"/>
          <p:nvPr/>
        </p:nvPicPr>
        <p:blipFill rotWithShape="1">
          <a:blip r:embed="rId2"/>
          <a:srcRect/>
          <a:stretch>
            <a:fillRect/>
          </a:stretch>
        </p:blipFill>
        <p:spPr>
          <a:xfrm>
            <a:off x="7651700" y="3248025"/>
            <a:ext cx="2730400" cy="1114425"/>
          </a:xfrm>
          <a:prstGeom prst="rect">
            <a:avLst/>
          </a:prstGeom>
          <a:noFill/>
          <a:ln>
            <a:noFill/>
          </a:ln>
        </p:spPr>
      </p:pic>
      <p:pic>
        <p:nvPicPr>
          <p:cNvPr id="106" name="Google Shape;106;p14" descr="image.png"/>
          <p:cNvPicPr preferRelativeResize="0"/>
          <p:nvPr/>
        </p:nvPicPr>
        <p:blipFill rotWithShape="1">
          <a:blip r:embed="rId4"/>
          <a:srcRect/>
          <a:stretch>
            <a:fillRect/>
          </a:stretch>
        </p:blipFill>
        <p:spPr>
          <a:xfrm>
            <a:off x="1809750" y="4552950"/>
            <a:ext cx="2730400" cy="942975"/>
          </a:xfrm>
          <a:prstGeom prst="rect">
            <a:avLst/>
          </a:prstGeom>
          <a:noFill/>
          <a:ln>
            <a:noFill/>
          </a:ln>
        </p:spPr>
      </p:pic>
      <p:pic>
        <p:nvPicPr>
          <p:cNvPr id="107" name="Google Shape;107;p14" descr="image.png"/>
          <p:cNvPicPr preferRelativeResize="0"/>
          <p:nvPr/>
        </p:nvPicPr>
        <p:blipFill rotWithShape="1">
          <a:blip r:embed="rId5"/>
          <a:srcRect/>
          <a:stretch>
            <a:fillRect/>
          </a:stretch>
        </p:blipFill>
        <p:spPr>
          <a:xfrm>
            <a:off x="4730650" y="4552950"/>
            <a:ext cx="2730549" cy="942975"/>
          </a:xfrm>
          <a:prstGeom prst="rect">
            <a:avLst/>
          </a:prstGeom>
          <a:noFill/>
          <a:ln>
            <a:noFill/>
          </a:ln>
        </p:spPr>
      </p:pic>
      <p:pic>
        <p:nvPicPr>
          <p:cNvPr id="108" name="Google Shape;108;p14" descr="image.png"/>
          <p:cNvPicPr preferRelativeResize="0"/>
          <p:nvPr/>
        </p:nvPicPr>
        <p:blipFill rotWithShape="1">
          <a:blip r:embed="rId4"/>
          <a:srcRect/>
          <a:stretch>
            <a:fillRect/>
          </a:stretch>
        </p:blipFill>
        <p:spPr>
          <a:xfrm>
            <a:off x="7651700" y="4552950"/>
            <a:ext cx="2730400" cy="942975"/>
          </a:xfrm>
          <a:prstGeom prst="rect">
            <a:avLst/>
          </a:prstGeom>
          <a:noFill/>
          <a:ln>
            <a:noFill/>
          </a:ln>
        </p:spPr>
      </p:pic>
      <p:sp>
        <p:nvSpPr>
          <p:cNvPr id="109" name="Google Shape;109;p14"/>
          <p:cNvSpPr/>
          <p:nvPr/>
        </p:nvSpPr>
        <p:spPr>
          <a:xfrm>
            <a:off x="5715000" y="1362075"/>
            <a:ext cx="762000" cy="381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0" name="Google Shape;110;p14"/>
          <p:cNvSpPr txBox="1"/>
          <p:nvPr/>
        </p:nvSpPr>
        <p:spPr>
          <a:xfrm>
            <a:off x="3395662" y="1638300"/>
            <a:ext cx="5400675" cy="67691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4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rPr>
              <a:t>Sommaire Général</a:t>
            </a:r>
            <a:endParaRPr lang="en-US" sz="44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sp>
        <p:nvSpPr>
          <p:cNvPr id="111" name="Google Shape;111;p14"/>
          <p:cNvSpPr txBox="1"/>
          <p:nvPr/>
        </p:nvSpPr>
        <p:spPr>
          <a:xfrm>
            <a:off x="3271837" y="2590800"/>
            <a:ext cx="5648325" cy="3073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0" i="0" u="none" strike="noStrike" cap="none">
                <a:solidFill>
                  <a:srgbClr val="CBD5E1"/>
                </a:solidFill>
                <a:latin typeface="Times New Roman" panose="02020603050405020304" charset="0"/>
                <a:ea typeface="Lato" panose="020F0502020204030203"/>
                <a:cs typeface="Times New Roman" panose="02020603050405020304" charset="0"/>
                <a:sym typeface="Lato" panose="020F0502020204030203"/>
              </a:rPr>
              <a:t>Déroulement de la présentation </a:t>
            </a:r>
            <a:endParaRPr lang="en-US" sz="2000" b="0" i="0" u="none" strike="noStrike" cap="none">
              <a:solidFill>
                <a:srgbClr val="CBD5E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12" name="Google Shape;112;p14"/>
          <p:cNvSpPr txBox="1"/>
          <p:nvPr/>
        </p:nvSpPr>
        <p:spPr>
          <a:xfrm>
            <a:off x="3022600" y="3448050"/>
            <a:ext cx="699770" cy="28257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i="0" u="none" strike="noStrike" cap="none">
                <a:solidFill>
                  <a:srgbClr val="F59E0B"/>
                </a:solidFill>
                <a:latin typeface="Lato" panose="020F0502020204030203"/>
                <a:ea typeface="Lato" panose="020F0502020204030203"/>
                <a:cs typeface="Lato" panose="020F0502020204030203"/>
                <a:sym typeface="Lato" panose="020F0502020204030203"/>
              </a:rPr>
              <a:t>01</a:t>
            </a:r>
            <a:endParaRPr lang="en-US" sz="2100" b="1" i="0" u="none" strike="noStrike" cap="none">
              <a:solidFill>
                <a:srgbClr val="F59E0B"/>
              </a:solidFill>
              <a:latin typeface="Lato" panose="020F0502020204030203"/>
              <a:ea typeface="Lato" panose="020F0502020204030203"/>
              <a:cs typeface="Lato" panose="020F0502020204030203"/>
              <a:sym typeface="Lato" panose="020F0502020204030203"/>
            </a:endParaRPr>
          </a:p>
        </p:txBody>
      </p:sp>
      <p:sp>
        <p:nvSpPr>
          <p:cNvPr id="113" name="Google Shape;113;p14"/>
          <p:cNvSpPr txBox="1"/>
          <p:nvPr/>
        </p:nvSpPr>
        <p:spPr>
          <a:xfrm>
            <a:off x="2009775" y="3819525"/>
            <a:ext cx="2331085" cy="36385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Introduction &amp; </a:t>
            </a:r>
            <a:r>
              <a:rPr 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Contexte</a:t>
            </a:r>
            <a:endParaRPr 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14" name="Google Shape;114;p14"/>
          <p:cNvSpPr txBox="1"/>
          <p:nvPr/>
        </p:nvSpPr>
        <p:spPr>
          <a:xfrm>
            <a:off x="5943600" y="3448050"/>
            <a:ext cx="533400" cy="20891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i="0" u="none" strike="noStrike" cap="none">
                <a:solidFill>
                  <a:srgbClr val="3B82F6"/>
                </a:solidFill>
                <a:latin typeface="Lato" panose="020F0502020204030203"/>
                <a:ea typeface="Lato" panose="020F0502020204030203"/>
                <a:cs typeface="Lato" panose="020F0502020204030203"/>
                <a:sym typeface="Lato" panose="020F0502020204030203"/>
              </a:rPr>
              <a:t>02</a:t>
            </a:r>
            <a:endParaRPr lang="en-US" sz="21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115" name="Google Shape;115;p14"/>
          <p:cNvSpPr txBox="1"/>
          <p:nvPr/>
        </p:nvSpPr>
        <p:spPr>
          <a:xfrm>
            <a:off x="4930775" y="3819525"/>
            <a:ext cx="2330450" cy="3886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Problématique</a:t>
            </a:r>
            <a:endPar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16" name="Google Shape;116;p14"/>
          <p:cNvSpPr txBox="1"/>
          <p:nvPr/>
        </p:nvSpPr>
        <p:spPr>
          <a:xfrm>
            <a:off x="8864600" y="3448050"/>
            <a:ext cx="525780" cy="28257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i="0" u="none" strike="noStrike" cap="none">
                <a:solidFill>
                  <a:srgbClr val="3B82F6"/>
                </a:solidFill>
                <a:latin typeface="Lato" panose="020F0502020204030203"/>
                <a:ea typeface="Lato" panose="020F0502020204030203"/>
                <a:cs typeface="Lato" panose="020F0502020204030203"/>
                <a:sym typeface="Lato" panose="020F0502020204030203"/>
              </a:rPr>
              <a:t>03</a:t>
            </a:r>
            <a:endParaRPr lang="en-US" sz="21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117" name="Google Shape;117;p14"/>
          <p:cNvSpPr txBox="1"/>
          <p:nvPr/>
        </p:nvSpPr>
        <p:spPr>
          <a:xfrm>
            <a:off x="7851775" y="3819525"/>
            <a:ext cx="2330450" cy="5429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Critique de l’Existant</a:t>
            </a:r>
            <a:endPar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18" name="Google Shape;118;p14"/>
          <p:cNvSpPr txBox="1"/>
          <p:nvPr/>
        </p:nvSpPr>
        <p:spPr>
          <a:xfrm>
            <a:off x="3022600" y="4752975"/>
            <a:ext cx="527050" cy="30797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i="0" u="none" strike="noStrike" cap="none">
                <a:solidFill>
                  <a:srgbClr val="F59E0B"/>
                </a:solidFill>
                <a:latin typeface="Lato" panose="020F0502020204030203"/>
                <a:ea typeface="Lato" panose="020F0502020204030203"/>
                <a:cs typeface="Lato" panose="020F0502020204030203"/>
                <a:sym typeface="Lato" panose="020F0502020204030203"/>
              </a:rPr>
              <a:t>04</a:t>
            </a:r>
            <a:endParaRPr lang="en-US" sz="2100" b="1" i="0" u="none" strike="noStrike" cap="none">
              <a:solidFill>
                <a:srgbClr val="F59E0B"/>
              </a:solidFill>
              <a:latin typeface="Lato" panose="020F0502020204030203"/>
              <a:ea typeface="Lato" panose="020F0502020204030203"/>
              <a:cs typeface="Lato" panose="020F0502020204030203"/>
              <a:sym typeface="Lato" panose="020F0502020204030203"/>
            </a:endParaRPr>
          </a:p>
        </p:txBody>
      </p:sp>
      <p:sp>
        <p:nvSpPr>
          <p:cNvPr id="119" name="Google Shape;119;p14"/>
          <p:cNvSpPr txBox="1"/>
          <p:nvPr/>
        </p:nvSpPr>
        <p:spPr>
          <a:xfrm>
            <a:off x="2009775" y="5124450"/>
            <a:ext cx="2330350" cy="2768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Objectifs du projet</a:t>
            </a:r>
            <a:endPar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20" name="Google Shape;120;p14"/>
          <p:cNvSpPr txBox="1"/>
          <p:nvPr/>
        </p:nvSpPr>
        <p:spPr>
          <a:xfrm>
            <a:off x="5943600" y="4752975"/>
            <a:ext cx="502285" cy="292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i="0" u="none" strike="noStrike" cap="none">
                <a:solidFill>
                  <a:srgbClr val="3B82F6"/>
                </a:solidFill>
                <a:latin typeface="Lato" panose="020F0502020204030203"/>
                <a:ea typeface="Lato" panose="020F0502020204030203"/>
                <a:cs typeface="Lato" panose="020F0502020204030203"/>
                <a:sym typeface="Lato" panose="020F0502020204030203"/>
              </a:rPr>
              <a:t>05</a:t>
            </a:r>
            <a:endParaRPr lang="en-US" sz="21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121" name="Google Shape;121;p14"/>
          <p:cNvSpPr txBox="1"/>
          <p:nvPr/>
        </p:nvSpPr>
        <p:spPr>
          <a:xfrm>
            <a:off x="4930675" y="5124450"/>
            <a:ext cx="2330499" cy="230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15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Conception</a:t>
            </a:r>
            <a:r>
              <a:rPr lang="en-US" sz="15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 &amp; </a:t>
            </a:r>
            <a:r>
              <a:rPr lang="fr-FR" altLang="en-US" sz="15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Réalisation</a:t>
            </a:r>
            <a:endParaRPr lang="fr-FR" altLang="en-US" sz="15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22" name="Google Shape;122;p14"/>
          <p:cNvSpPr txBox="1"/>
          <p:nvPr/>
        </p:nvSpPr>
        <p:spPr>
          <a:xfrm>
            <a:off x="8864600" y="4752975"/>
            <a:ext cx="517525" cy="17208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i="0" u="none" strike="noStrike" cap="none">
                <a:solidFill>
                  <a:srgbClr val="F59E0B"/>
                </a:solidFill>
                <a:latin typeface="Lato" panose="020F0502020204030203"/>
                <a:ea typeface="Lato" panose="020F0502020204030203"/>
                <a:cs typeface="Lato" panose="020F0502020204030203"/>
                <a:sym typeface="Lato" panose="020F0502020204030203"/>
              </a:rPr>
              <a:t>06</a:t>
            </a:r>
            <a:endParaRPr lang="en-US" sz="2100" b="1" i="0" u="none" strike="noStrike" cap="none">
              <a:solidFill>
                <a:srgbClr val="F59E0B"/>
              </a:solidFill>
              <a:latin typeface="Lato" panose="020F0502020204030203"/>
              <a:ea typeface="Lato" panose="020F0502020204030203"/>
              <a:cs typeface="Lato" panose="020F0502020204030203"/>
              <a:sym typeface="Lato" panose="020F0502020204030203"/>
            </a:endParaRPr>
          </a:p>
        </p:txBody>
      </p:sp>
      <p:sp>
        <p:nvSpPr>
          <p:cNvPr id="123" name="Google Shape;123;p14"/>
          <p:cNvSpPr txBox="1"/>
          <p:nvPr/>
        </p:nvSpPr>
        <p:spPr>
          <a:xfrm>
            <a:off x="7851725" y="5124450"/>
            <a:ext cx="2330350" cy="2768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Démonstration</a:t>
            </a:r>
            <a:endParaRPr lang="fr-FR" altLang="en-US" sz="18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endParaRPr>
          </a:p>
        </p:txBody>
      </p:sp>
      <p:pic>
        <p:nvPicPr>
          <p:cNvPr id="4" name="Google Shape;108;p14" descr="image.png"/>
          <p:cNvPicPr preferRelativeResize="0"/>
          <p:nvPr/>
        </p:nvPicPr>
        <p:blipFill rotWithShape="1">
          <a:blip r:embed="rId4"/>
          <a:srcRect/>
          <a:stretch>
            <a:fillRect/>
          </a:stretch>
        </p:blipFill>
        <p:spPr>
          <a:xfrm>
            <a:off x="4730700" y="5704840"/>
            <a:ext cx="2730400" cy="942975"/>
          </a:xfrm>
          <a:prstGeom prst="rect">
            <a:avLst/>
          </a:prstGeom>
          <a:noFill/>
          <a:ln>
            <a:noFill/>
          </a:ln>
        </p:spPr>
      </p:pic>
      <p:sp>
        <p:nvSpPr>
          <p:cNvPr id="2" name="Google Shape;122;p14"/>
          <p:cNvSpPr txBox="1"/>
          <p:nvPr/>
        </p:nvSpPr>
        <p:spPr>
          <a:xfrm>
            <a:off x="5974080" y="5904865"/>
            <a:ext cx="517525" cy="17208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i="0" u="none" strike="noStrike" cap="none">
                <a:solidFill>
                  <a:srgbClr val="F59E0B"/>
                </a:solidFill>
                <a:latin typeface="Lato" panose="020F0502020204030203"/>
                <a:ea typeface="Lato" panose="020F0502020204030203"/>
                <a:cs typeface="Lato" panose="020F0502020204030203"/>
                <a:sym typeface="Lato" panose="020F0502020204030203"/>
              </a:rPr>
              <a:t>0</a:t>
            </a:r>
            <a:r>
              <a:rPr lang="fr-FR" altLang="en-US" sz="2100" b="1" i="0" u="none" strike="noStrike" cap="none">
                <a:solidFill>
                  <a:srgbClr val="F59E0B"/>
                </a:solidFill>
                <a:latin typeface="Lato" panose="020F0502020204030203"/>
                <a:ea typeface="Lato" panose="020F0502020204030203"/>
                <a:cs typeface="Lato" panose="020F0502020204030203"/>
                <a:sym typeface="Lato" panose="020F0502020204030203"/>
              </a:rPr>
              <a:t>7</a:t>
            </a:r>
            <a:endParaRPr lang="fr-FR" altLang="en-US" sz="2100" b="1" i="0" u="none" strike="noStrike" cap="none">
              <a:solidFill>
                <a:srgbClr val="F59E0B"/>
              </a:solidFill>
              <a:latin typeface="Lato" panose="020F0502020204030203"/>
              <a:ea typeface="Lato" panose="020F0502020204030203"/>
              <a:cs typeface="Lato" panose="020F0502020204030203"/>
              <a:sym typeface="Lato" panose="020F0502020204030203"/>
            </a:endParaRPr>
          </a:p>
        </p:txBody>
      </p:sp>
      <p:sp>
        <p:nvSpPr>
          <p:cNvPr id="3" name="Google Shape;123;p14"/>
          <p:cNvSpPr txBox="1"/>
          <p:nvPr/>
        </p:nvSpPr>
        <p:spPr>
          <a:xfrm>
            <a:off x="4930725" y="6276340"/>
            <a:ext cx="233035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rPr>
              <a:t>Conclusion &amp; Perspectives</a:t>
            </a:r>
            <a:endParaRPr lang="en-US" sz="1600" b="0" i="0" u="none" strike="noStrike" cap="none">
              <a:solidFill>
                <a:srgbClr val="FFFFFF"/>
              </a:solidFill>
              <a:latin typeface="Times New Roman" panose="02020603050405020304" charset="0"/>
              <a:ea typeface="Lato" panose="020F0502020204030203"/>
              <a:cs typeface="Times New Roman" panose="02020603050405020304" charset="0"/>
              <a:sym typeface="Lato" panose="020F050202020403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27" name="Shape 127"/>
        <p:cNvGrpSpPr/>
        <p:nvPr/>
      </p:nvGrpSpPr>
      <p:grpSpPr>
        <a:xfrm>
          <a:off x="0" y="0"/>
          <a:ext cx="0" cy="0"/>
          <a:chOff x="0" y="0"/>
          <a:chExt cx="0" cy="0"/>
        </a:xfrm>
      </p:grpSpPr>
      <p:pic>
        <p:nvPicPr>
          <p:cNvPr id="128" name="Google Shape;128;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31" name="Google Shape;131;p15"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132" name="Google Shape;132;p15"/>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33" name="Google Shape;133;p15"/>
          <p:cNvSpPr txBox="1"/>
          <p:nvPr/>
        </p:nvSpPr>
        <p:spPr>
          <a:xfrm>
            <a:off x="9491662" y="471487"/>
            <a:ext cx="212883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CONTEXTE IMMOBILIER AU TOGO</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4" name="Google Shape;134;p15"/>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5" name="Google Shape;135;p15"/>
          <p:cNvSpPr txBox="1"/>
          <p:nvPr/>
        </p:nvSpPr>
        <p:spPr>
          <a:xfrm>
            <a:off x="11487150" y="6286500"/>
            <a:ext cx="1333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03</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142" name="Google Shape;142;p15"/>
          <p:cNvSpPr txBox="1"/>
          <p:nvPr/>
        </p:nvSpPr>
        <p:spPr>
          <a:xfrm>
            <a:off x="571500" y="1019175"/>
            <a:ext cx="11601450" cy="4978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Introduction &amp; Contexte </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1" name="Picture 13" descr="image.png"/>
          <p:cNvPicPr>
            <a:picLocks noChangeAspect="1"/>
          </p:cNvPicPr>
          <p:nvPr/>
        </p:nvPicPr>
        <p:blipFill>
          <a:blip r:embed="rId3"/>
          <a:stretch>
            <a:fillRect/>
          </a:stretch>
        </p:blipFill>
        <p:spPr>
          <a:xfrm>
            <a:off x="6233477" y="1654810"/>
            <a:ext cx="5338762" cy="3600450"/>
          </a:xfrm>
          <a:prstGeom prst="rect">
            <a:avLst/>
          </a:prstGeom>
        </p:spPr>
      </p:pic>
      <p:sp>
        <p:nvSpPr>
          <p:cNvPr id="2" name="TextBox 14"/>
          <p:cNvSpPr txBox="1"/>
          <p:nvPr/>
        </p:nvSpPr>
        <p:spPr>
          <a:xfrm>
            <a:off x="695325" y="2379980"/>
            <a:ext cx="5014912" cy="778510"/>
          </a:xfrm>
          <a:prstGeom prst="rect">
            <a:avLst/>
          </a:prstGeom>
          <a:noFill/>
        </p:spPr>
        <p:txBody>
          <a:bodyPr wrap="square" lIns="0" tIns="0" rIns="0" bIns="0" anchor="t">
            <a:spAutoFit/>
          </a:bodyPr>
          <a:lstStyle/>
          <a:p>
            <a:pPr algn="just">
              <a:lnSpc>
                <a:spcPts val="2025"/>
              </a:lnSpc>
            </a:pPr>
            <a:r>
              <a:rPr sz="2000" b="1" i="0" u="none">
                <a:solidFill>
                  <a:srgbClr val="334155"/>
                </a:solidFill>
                <a:latin typeface="Lato" panose="020F0502020204030203"/>
              </a:rPr>
              <a:t>Essor Urbain à Lomé</a:t>
            </a:r>
            <a:r>
              <a:rPr sz="1600" b="1" i="0" u="none">
                <a:solidFill>
                  <a:srgbClr val="334155"/>
                </a:solidFill>
                <a:latin typeface="Lato" panose="020F0502020204030203"/>
              </a:rPr>
              <a:t> :</a:t>
            </a:r>
            <a:r>
              <a:rPr sz="1600" b="0" i="0" u="none">
                <a:solidFill>
                  <a:srgbClr val="334155"/>
                </a:solidFill>
                <a:latin typeface="Lato" panose="020F0502020204030203"/>
              </a:rPr>
              <a:t> Forte dynamique démographique </a:t>
            </a:r>
            <a:r>
              <a:rPr lang="fr-FR" sz="1600" b="0" i="0" u="none">
                <a:solidFill>
                  <a:srgbClr val="334155"/>
                </a:solidFill>
                <a:latin typeface="Lato" panose="020F0502020204030203"/>
              </a:rPr>
              <a:t>caractérisée par </a:t>
            </a:r>
            <a:r>
              <a:rPr sz="1600" b="0" i="0" u="none">
                <a:solidFill>
                  <a:srgbClr val="334155"/>
                </a:solidFill>
                <a:latin typeface="Lato" panose="020F0502020204030203"/>
              </a:rPr>
              <a:t>la multiplication</a:t>
            </a:r>
            <a:r>
              <a:rPr lang="fr-FR" sz="1600" b="0" i="0" u="none">
                <a:solidFill>
                  <a:srgbClr val="334155"/>
                </a:solidFill>
                <a:latin typeface="Lato" panose="020F0502020204030203"/>
              </a:rPr>
              <a:t> d’immeubles et</a:t>
            </a:r>
            <a:r>
              <a:rPr sz="1600" b="0" i="0" u="none">
                <a:solidFill>
                  <a:srgbClr val="334155"/>
                </a:solidFill>
                <a:latin typeface="Lato" panose="020F0502020204030203"/>
              </a:rPr>
              <a:t> </a:t>
            </a:r>
            <a:r>
              <a:rPr lang="fr-FR" sz="1600" b="0" i="0" u="none">
                <a:solidFill>
                  <a:srgbClr val="334155"/>
                </a:solidFill>
                <a:latin typeface="Lato" panose="020F0502020204030203"/>
              </a:rPr>
              <a:t>des cours communes</a:t>
            </a:r>
            <a:r>
              <a:rPr sz="1600" b="0" i="0" u="none">
                <a:solidFill>
                  <a:srgbClr val="334155"/>
                </a:solidFill>
                <a:latin typeface="Lato" panose="020F0502020204030203"/>
              </a:rPr>
              <a:t>.</a:t>
            </a:r>
            <a:endParaRPr sz="1600" b="0" i="0" u="none">
              <a:solidFill>
                <a:srgbClr val="334155"/>
              </a:solidFill>
              <a:latin typeface="Lato" panose="020F0502020204030203"/>
            </a:endParaRPr>
          </a:p>
        </p:txBody>
      </p:sp>
      <p:sp>
        <p:nvSpPr>
          <p:cNvPr id="3" name="TextBox 15"/>
          <p:cNvSpPr txBox="1"/>
          <p:nvPr/>
        </p:nvSpPr>
        <p:spPr>
          <a:xfrm>
            <a:off x="695325" y="3303905"/>
            <a:ext cx="5014912" cy="778510"/>
          </a:xfrm>
          <a:prstGeom prst="rect">
            <a:avLst/>
          </a:prstGeom>
          <a:noFill/>
        </p:spPr>
        <p:txBody>
          <a:bodyPr wrap="square" lIns="0" tIns="0" rIns="0" bIns="0" anchor="t">
            <a:spAutoFit/>
          </a:bodyPr>
          <a:lstStyle/>
          <a:p>
            <a:pPr algn="just">
              <a:lnSpc>
                <a:spcPts val="2025"/>
              </a:lnSpc>
            </a:pPr>
            <a:r>
              <a:rPr sz="2000" b="1" i="0" u="none">
                <a:solidFill>
                  <a:srgbClr val="334155"/>
                </a:solidFill>
                <a:latin typeface="Lato" panose="020F0502020204030203"/>
              </a:rPr>
              <a:t>Décalage Technologique</a:t>
            </a:r>
            <a:r>
              <a:rPr sz="1600" b="1" i="0" u="none">
                <a:solidFill>
                  <a:srgbClr val="334155"/>
                </a:solidFill>
                <a:latin typeface="Lato" panose="020F0502020204030203"/>
              </a:rPr>
              <a:t> :</a:t>
            </a:r>
            <a:r>
              <a:rPr sz="1600" b="0" i="0" u="none">
                <a:solidFill>
                  <a:srgbClr val="334155"/>
                </a:solidFill>
                <a:latin typeface="Lato" panose="020F0502020204030203"/>
              </a:rPr>
              <a:t> Prédominance </a:t>
            </a:r>
            <a:r>
              <a:rPr lang="fr-FR" sz="1600" b="0" i="0" u="none">
                <a:solidFill>
                  <a:srgbClr val="334155"/>
                </a:solidFill>
                <a:latin typeface="Lato" panose="020F0502020204030203"/>
              </a:rPr>
              <a:t>de l’utilisation des </a:t>
            </a:r>
            <a:r>
              <a:rPr sz="1600" b="0" i="0" u="none">
                <a:solidFill>
                  <a:srgbClr val="334155"/>
                </a:solidFill>
                <a:latin typeface="Lato" panose="020F0502020204030203"/>
              </a:rPr>
              <a:t>registres </a:t>
            </a:r>
            <a:r>
              <a:rPr lang="fr-FR" sz="1600" b="0" i="0" u="none">
                <a:solidFill>
                  <a:srgbClr val="334155"/>
                </a:solidFill>
                <a:latin typeface="Lato" panose="020F0502020204030203"/>
              </a:rPr>
              <a:t>papiers </a:t>
            </a:r>
            <a:r>
              <a:rPr sz="1600" b="0" i="0" u="none">
                <a:solidFill>
                  <a:srgbClr val="334155"/>
                </a:solidFill>
                <a:latin typeface="Lato" panose="020F0502020204030203"/>
              </a:rPr>
              <a:t>malgré la digitalisation croissante de la société.</a:t>
            </a:r>
            <a:endParaRPr sz="1600" b="0" i="0" u="none">
              <a:solidFill>
                <a:srgbClr val="334155"/>
              </a:solidFill>
              <a:latin typeface="Lato" panose="020F0502020204030203"/>
            </a:endParaRPr>
          </a:p>
        </p:txBody>
      </p:sp>
      <p:sp>
        <p:nvSpPr>
          <p:cNvPr id="4" name="TextBox 16"/>
          <p:cNvSpPr txBox="1"/>
          <p:nvPr/>
        </p:nvSpPr>
        <p:spPr>
          <a:xfrm>
            <a:off x="695325" y="4227830"/>
            <a:ext cx="5014912" cy="259080"/>
          </a:xfrm>
          <a:prstGeom prst="rect">
            <a:avLst/>
          </a:prstGeom>
          <a:noFill/>
        </p:spPr>
        <p:txBody>
          <a:bodyPr wrap="square" lIns="0" tIns="0" rIns="0" bIns="0" anchor="t">
            <a:spAutoFit/>
          </a:bodyPr>
          <a:lstStyle/>
          <a:p>
            <a:pPr algn="just">
              <a:lnSpc>
                <a:spcPts val="2025"/>
              </a:lnSpc>
            </a:pPr>
            <a:r>
              <a:rPr lang="fr-FR" sz="2000" b="1" i="0" u="none">
                <a:solidFill>
                  <a:srgbClr val="334155"/>
                </a:solidFill>
                <a:latin typeface="Lato" panose="020F0502020204030203"/>
              </a:rPr>
              <a:t>Adhésion massive au </a:t>
            </a:r>
            <a:r>
              <a:rPr sz="2000" b="1" i="0" u="none">
                <a:solidFill>
                  <a:srgbClr val="334155"/>
                </a:solidFill>
                <a:latin typeface="Lato" panose="020F0502020204030203"/>
              </a:rPr>
              <a:t>Mobile Money</a:t>
            </a:r>
            <a:r>
              <a:rPr sz="1600" b="1" i="0" u="none">
                <a:solidFill>
                  <a:srgbClr val="334155"/>
                </a:solidFill>
                <a:latin typeface="Lato" panose="020F0502020204030203"/>
              </a:rPr>
              <a:t> </a:t>
            </a:r>
            <a:r>
              <a:rPr sz="1600" b="0" i="0" u="none">
                <a:solidFill>
                  <a:srgbClr val="334155"/>
                </a:solidFill>
                <a:latin typeface="Lato" panose="020F0502020204030203"/>
              </a:rPr>
              <a:t>.</a:t>
            </a:r>
            <a:endParaRPr sz="1600" b="0" i="0" u="none">
              <a:solidFill>
                <a:srgbClr val="334155"/>
              </a:solidFill>
              <a:latin typeface="Lato" panose="020F0502020204030203"/>
            </a:endParaRPr>
          </a:p>
        </p:txBody>
      </p:sp>
      <p:pic>
        <p:nvPicPr>
          <p:cNvPr id="5" name="Picture 23" descr="image.png"/>
          <p:cNvPicPr>
            <a:picLocks noChangeAspect="1"/>
          </p:cNvPicPr>
          <p:nvPr/>
        </p:nvPicPr>
        <p:blipFill>
          <a:blip r:embed="rId4"/>
          <a:stretch>
            <a:fillRect/>
          </a:stretch>
        </p:blipFill>
        <p:spPr>
          <a:xfrm>
            <a:off x="352425" y="2403792"/>
            <a:ext cx="238125" cy="200025"/>
          </a:xfrm>
          <a:prstGeom prst="rect">
            <a:avLst/>
          </a:prstGeom>
        </p:spPr>
      </p:pic>
      <p:pic>
        <p:nvPicPr>
          <p:cNvPr id="25" name="Picture 24" descr="image.png"/>
          <p:cNvPicPr>
            <a:picLocks noChangeAspect="1"/>
          </p:cNvPicPr>
          <p:nvPr/>
        </p:nvPicPr>
        <p:blipFill>
          <a:blip r:embed="rId5"/>
          <a:stretch>
            <a:fillRect/>
          </a:stretch>
        </p:blipFill>
        <p:spPr>
          <a:xfrm>
            <a:off x="352425" y="3327717"/>
            <a:ext cx="190500" cy="200025"/>
          </a:xfrm>
          <a:prstGeom prst="rect">
            <a:avLst/>
          </a:prstGeom>
        </p:spPr>
      </p:pic>
      <p:pic>
        <p:nvPicPr>
          <p:cNvPr id="26" name="Picture 25" descr="image.png"/>
          <p:cNvPicPr>
            <a:picLocks noChangeAspect="1"/>
          </p:cNvPicPr>
          <p:nvPr/>
        </p:nvPicPr>
        <p:blipFill>
          <a:blip r:embed="rId6"/>
          <a:stretch>
            <a:fillRect/>
          </a:stretch>
        </p:blipFill>
        <p:spPr>
          <a:xfrm>
            <a:off x="352425" y="4251642"/>
            <a:ext cx="123825" cy="2000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49" name="Google Shape;149;p16"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51" name="Google Shape;151;p16"/>
          <p:cNvSpPr txBox="1"/>
          <p:nvPr/>
        </p:nvSpPr>
        <p:spPr>
          <a:xfrm>
            <a:off x="9948862" y="471487"/>
            <a:ext cx="167163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LES LIMITATIONS MÉTIERS</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2" name="Google Shape;152;p16"/>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3" name="Google Shape;153;p16"/>
          <p:cNvSpPr txBox="1"/>
          <p:nvPr/>
        </p:nvSpPr>
        <p:spPr>
          <a:xfrm>
            <a:off x="11487150" y="6286500"/>
            <a:ext cx="1333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04</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6" name="Zone de texte 5"/>
          <p:cNvSpPr txBox="1"/>
          <p:nvPr/>
        </p:nvSpPr>
        <p:spPr>
          <a:xfrm>
            <a:off x="2611120" y="2414905"/>
            <a:ext cx="7337425" cy="1399540"/>
          </a:xfrm>
          <a:prstGeom prst="rect">
            <a:avLst/>
          </a:prstGeom>
          <a:noFill/>
          <a:ln>
            <a:solidFill>
              <a:schemeClr val="tx1"/>
            </a:solidFill>
          </a:ln>
        </p:spPr>
        <p:txBody>
          <a:bodyPr wrap="square" rtlCol="0" anchor="t">
            <a:noAutofit/>
          </a:bodyPr>
          <a:p>
            <a:pPr marL="0" indent="0" algn="ctr">
              <a:lnSpc>
                <a:spcPct val="105000"/>
              </a:lnSpc>
              <a:buNone/>
            </a:pPr>
            <a:r>
              <a:rPr lang="en-US" sz="6600" b="1">
                <a:solidFill>
                  <a:srgbClr val="1E293B"/>
                </a:solidFill>
                <a:latin typeface="Poppins" panose="00000500000000000000"/>
                <a:ea typeface="Poppins" panose="00000500000000000000"/>
                <a:cs typeface="Poppins" panose="00000500000000000000"/>
                <a:sym typeface="Poppins" panose="00000500000000000000"/>
              </a:rPr>
              <a:t>Pro</a:t>
            </a:r>
            <a:r>
              <a:rPr lang="fr-FR" altLang="en-US" sz="6600" b="1">
                <a:solidFill>
                  <a:srgbClr val="1E293B"/>
                </a:solidFill>
                <a:latin typeface="Poppins" panose="00000500000000000000"/>
                <a:ea typeface="Poppins" panose="00000500000000000000"/>
                <a:cs typeface="Poppins" panose="00000500000000000000"/>
                <a:sym typeface="Poppins" panose="00000500000000000000"/>
              </a:rPr>
              <a:t>blématique</a:t>
            </a:r>
            <a:endParaRPr lang="fr-FR" altLang="en-US" sz="6600" b="1" dirty="0">
              <a:solidFill>
                <a:srgbClr val="1E293B"/>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49" name="Google Shape;149;p16"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52" name="Google Shape;152;p16"/>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3" name="Google Shape;153;p16"/>
          <p:cNvSpPr txBox="1"/>
          <p:nvPr/>
        </p:nvSpPr>
        <p:spPr>
          <a:xfrm>
            <a:off x="11487150" y="6286500"/>
            <a:ext cx="1333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04</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21" name="Shape 0"/>
          <p:cNvSpPr/>
          <p:nvPr/>
        </p:nvSpPr>
        <p:spPr>
          <a:xfrm>
            <a:off x="571500" y="1266190"/>
            <a:ext cx="3291840" cy="384048"/>
          </a:xfrm>
          <a:prstGeom prst="roundRect">
            <a:avLst>
              <a:gd name="adj" fmla="val 50000"/>
            </a:avLst>
          </a:prstGeom>
          <a:solidFill>
            <a:schemeClr val="bg2">
              <a:lumMod val="60000"/>
              <a:lumOff val="40000"/>
            </a:schemeClr>
          </a:solidFill>
        </p:spPr>
      </p:sp>
      <p:sp>
        <p:nvSpPr>
          <p:cNvPr id="22" name="Text 1"/>
          <p:cNvSpPr/>
          <p:nvPr/>
        </p:nvSpPr>
        <p:spPr>
          <a:xfrm>
            <a:off x="571500" y="1266190"/>
            <a:ext cx="3291840" cy="384048"/>
          </a:xfrm>
          <a:prstGeom prst="rect">
            <a:avLst/>
          </a:prstGeom>
          <a:noFill/>
        </p:spPr>
        <p:txBody>
          <a:bodyPr wrap="square" rtlCol="0" anchor="ctr"/>
          <a:lstStyle/>
          <a:p>
            <a:pPr marL="0" indent="0" algn="ctr">
              <a:buNone/>
            </a:pPr>
            <a:r>
              <a:rPr lang="en-US" sz="12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ARCHIVAGE PAPIER</a:t>
            </a:r>
            <a:endParaRPr lang="en-US" sz="1200" dirty="0"/>
          </a:p>
        </p:txBody>
      </p:sp>
      <p:sp>
        <p:nvSpPr>
          <p:cNvPr id="23" name="Text 2"/>
          <p:cNvSpPr/>
          <p:nvPr/>
        </p:nvSpPr>
        <p:spPr>
          <a:xfrm>
            <a:off x="571500" y="1860550"/>
            <a:ext cx="6766560" cy="1005840"/>
          </a:xfrm>
          <a:prstGeom prst="rect">
            <a:avLst/>
          </a:prstGeom>
          <a:noFill/>
        </p:spPr>
        <p:txBody>
          <a:bodyPr wrap="square" rtlCol="0" anchor="ctr"/>
          <a:lstStyle/>
          <a:p>
            <a:pPr marL="0" indent="0">
              <a:lnSpc>
                <a:spcPct val="105000"/>
              </a:lnSpc>
              <a:buNone/>
            </a:pP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Pertes d'informations </a:t>
            </a:r>
            <a:endParaRPr lang="en-US" sz="3000" dirty="0"/>
          </a:p>
        </p:txBody>
      </p:sp>
      <p:sp>
        <p:nvSpPr>
          <p:cNvPr id="24" name="Text 3"/>
          <p:cNvSpPr/>
          <p:nvPr/>
        </p:nvSpPr>
        <p:spPr>
          <a:xfrm>
            <a:off x="571500" y="3003550"/>
            <a:ext cx="6309360" cy="1188720"/>
          </a:xfrm>
          <a:prstGeom prst="rect">
            <a:avLst/>
          </a:prstGeom>
          <a:noFill/>
        </p:spPr>
        <p:txBody>
          <a:bodyPr wrap="square" rtlCol="0" anchor="ctr"/>
          <a:lstStyle/>
          <a:p>
            <a:pPr marL="0" indent="0">
              <a:lnSpc>
                <a:spcPct val="135000"/>
              </a:lnSpc>
              <a:buNone/>
            </a:pPr>
            <a:r>
              <a:rPr lang="en-US"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L'archivage sur carnets papier ou registres physiques expose à d'importants risques d'altération et de destruction accidentelle.</a:t>
            </a:r>
            <a:endParaRPr lang="en-US" sz="20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4"/>
          <p:cNvSpPr/>
          <p:nvPr/>
        </p:nvSpPr>
        <p:spPr>
          <a:xfrm>
            <a:off x="571500" y="4512310"/>
            <a:ext cx="6309360" cy="1417320"/>
          </a:xfrm>
          <a:prstGeom prst="roundRect">
            <a:avLst>
              <a:gd name="adj" fmla="val 5161"/>
            </a:avLst>
          </a:prstGeom>
          <a:solidFill>
            <a:srgbClr val="F2F4F8"/>
          </a:solidFill>
        </p:spPr>
      </p:sp>
      <p:sp>
        <p:nvSpPr>
          <p:cNvPr id="26" name="Text 5"/>
          <p:cNvSpPr/>
          <p:nvPr/>
        </p:nvSpPr>
        <p:spPr>
          <a:xfrm>
            <a:off x="845820" y="4695190"/>
            <a:ext cx="2743200" cy="274320"/>
          </a:xfrm>
          <a:prstGeom prst="rect">
            <a:avLst/>
          </a:prstGeom>
          <a:noFill/>
        </p:spPr>
        <p:txBody>
          <a:bodyPr wrap="square" rtlCol="0" anchor="ctr"/>
          <a:lstStyle/>
          <a:p>
            <a:pPr marL="0" indent="0">
              <a:buNone/>
            </a:pPr>
            <a:r>
              <a:rPr lang="en-US" sz="1800" b="1" kern="0" spc="150" dirty="0">
                <a:solidFill>
                  <a:srgbClr val="C1443B"/>
                </a:solidFill>
                <a:latin typeface="Calibri" panose="020F0502020204030204" pitchFamily="34" charset="0"/>
                <a:ea typeface="Calibri" panose="020F0502020204030204" pitchFamily="34" charset="-122"/>
                <a:cs typeface="Calibri" panose="020F0502020204030204" pitchFamily="34" charset="-120"/>
              </a:rPr>
              <a:t>RISQUE</a:t>
            </a:r>
            <a:endParaRPr lang="en-US" sz="1800" b="1" kern="0" spc="150" dirty="0">
              <a:solidFill>
                <a:srgbClr val="C1443B"/>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6"/>
          <p:cNvSpPr/>
          <p:nvPr/>
        </p:nvSpPr>
        <p:spPr>
          <a:xfrm>
            <a:off x="845820" y="4969510"/>
            <a:ext cx="5760720" cy="868680"/>
          </a:xfrm>
          <a:prstGeom prst="rect">
            <a:avLst/>
          </a:prstGeom>
          <a:noFill/>
        </p:spPr>
        <p:txBody>
          <a:bodyPr wrap="square" rtlCol="0" anchor="ctr"/>
          <a:lstStyle/>
          <a:p>
            <a:pPr marL="0" indent="0">
              <a:lnSpc>
                <a:spcPct val="125000"/>
              </a:lnSpc>
              <a:buNone/>
            </a:pPr>
            <a:r>
              <a:rPr 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Perte définitive et irréversible des données de l'activité aucune sauvegarde, aucune traçabilité.</a:t>
            </a:r>
            <a:endParaRPr 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7"/>
          <p:cNvSpPr/>
          <p:nvPr/>
        </p:nvSpPr>
        <p:spPr>
          <a:xfrm>
            <a:off x="7703820" y="2180590"/>
            <a:ext cx="3108960" cy="1965960"/>
          </a:xfrm>
          <a:prstGeom prst="roundRect">
            <a:avLst>
              <a:gd name="adj" fmla="val 2791"/>
            </a:avLst>
          </a:prstGeom>
          <a:solidFill>
            <a:srgbClr val="F2F4F8"/>
          </a:solidFill>
          <a:ln w="9525">
            <a:solidFill>
              <a:srgbClr val="C3CADA"/>
            </a:solidFill>
            <a:prstDash val="solid"/>
          </a:ln>
        </p:spPr>
      </p:sp>
      <p:sp>
        <p:nvSpPr>
          <p:cNvPr id="29" name="Shape 8"/>
          <p:cNvSpPr/>
          <p:nvPr/>
        </p:nvSpPr>
        <p:spPr>
          <a:xfrm>
            <a:off x="7904988" y="2436622"/>
            <a:ext cx="3108960" cy="1965960"/>
          </a:xfrm>
          <a:prstGeom prst="roundRect">
            <a:avLst>
              <a:gd name="adj" fmla="val 2791"/>
            </a:avLst>
          </a:prstGeom>
          <a:solidFill>
            <a:srgbClr val="E3E7EF"/>
          </a:solidFill>
          <a:ln w="9525">
            <a:solidFill>
              <a:srgbClr val="C3CADA"/>
            </a:solidFill>
            <a:prstDash val="solid"/>
          </a:ln>
        </p:spPr>
      </p:sp>
      <p:sp>
        <p:nvSpPr>
          <p:cNvPr id="30" name="Shape 9"/>
          <p:cNvSpPr/>
          <p:nvPr/>
        </p:nvSpPr>
        <p:spPr>
          <a:xfrm>
            <a:off x="8106156" y="2692654"/>
            <a:ext cx="3108960" cy="1965960"/>
          </a:xfrm>
          <a:prstGeom prst="roundRect">
            <a:avLst>
              <a:gd name="adj" fmla="val 2791"/>
            </a:avLst>
          </a:prstGeom>
          <a:solidFill>
            <a:srgbClr val="D5DAE6"/>
          </a:solidFill>
          <a:ln w="9525">
            <a:solidFill>
              <a:srgbClr val="C3CADA"/>
            </a:solidFill>
            <a:prstDash val="solid"/>
          </a:ln>
          <a:effectLst>
            <a:outerShdw blurRad="76200" dist="38100" dir="5400000" algn="bl" rotWithShape="0">
              <a:srgbClr val="666677">
                <a:alpha val="25000"/>
              </a:srgbClr>
            </a:outerShdw>
          </a:effectLst>
        </p:spPr>
      </p:sp>
      <p:sp>
        <p:nvSpPr>
          <p:cNvPr id="31" name="Shape 10"/>
          <p:cNvSpPr/>
          <p:nvPr/>
        </p:nvSpPr>
        <p:spPr>
          <a:xfrm>
            <a:off x="8023860" y="2564638"/>
            <a:ext cx="2468880" cy="0"/>
          </a:xfrm>
          <a:prstGeom prst="line">
            <a:avLst/>
          </a:prstGeom>
          <a:noFill/>
          <a:ln w="12700">
            <a:solidFill>
              <a:srgbClr val="AEB7C7"/>
            </a:solidFill>
            <a:prstDash val="solid"/>
          </a:ln>
        </p:spPr>
      </p:sp>
      <p:sp>
        <p:nvSpPr>
          <p:cNvPr id="32" name="Shape 11"/>
          <p:cNvSpPr/>
          <p:nvPr/>
        </p:nvSpPr>
        <p:spPr>
          <a:xfrm>
            <a:off x="8023860" y="2857246"/>
            <a:ext cx="2468880" cy="0"/>
          </a:xfrm>
          <a:prstGeom prst="line">
            <a:avLst/>
          </a:prstGeom>
          <a:noFill/>
          <a:ln w="12700">
            <a:solidFill>
              <a:srgbClr val="AEB7C7"/>
            </a:solidFill>
            <a:prstDash val="solid"/>
          </a:ln>
        </p:spPr>
      </p:sp>
      <p:sp>
        <p:nvSpPr>
          <p:cNvPr id="33" name="Shape 12"/>
          <p:cNvSpPr/>
          <p:nvPr/>
        </p:nvSpPr>
        <p:spPr>
          <a:xfrm>
            <a:off x="8023860" y="3149854"/>
            <a:ext cx="2468880" cy="0"/>
          </a:xfrm>
          <a:prstGeom prst="line">
            <a:avLst/>
          </a:prstGeom>
          <a:noFill/>
          <a:ln w="12700">
            <a:solidFill>
              <a:srgbClr val="AEB7C7"/>
            </a:solidFill>
            <a:prstDash val="solid"/>
          </a:ln>
        </p:spPr>
      </p:sp>
      <p:sp>
        <p:nvSpPr>
          <p:cNvPr id="34" name="Shape 13"/>
          <p:cNvSpPr/>
          <p:nvPr/>
        </p:nvSpPr>
        <p:spPr>
          <a:xfrm>
            <a:off x="8023860" y="3442462"/>
            <a:ext cx="2468880" cy="0"/>
          </a:xfrm>
          <a:prstGeom prst="line">
            <a:avLst/>
          </a:prstGeom>
          <a:noFill/>
          <a:ln w="12700">
            <a:solidFill>
              <a:srgbClr val="AEB7C7"/>
            </a:solidFill>
            <a:prstDash val="solid"/>
          </a:ln>
        </p:spPr>
      </p:sp>
      <p:sp>
        <p:nvSpPr>
          <p:cNvPr id="35" name="Shape 14"/>
          <p:cNvSpPr/>
          <p:nvPr/>
        </p:nvSpPr>
        <p:spPr>
          <a:xfrm>
            <a:off x="8023860" y="3735070"/>
            <a:ext cx="2468880" cy="0"/>
          </a:xfrm>
          <a:prstGeom prst="line">
            <a:avLst/>
          </a:prstGeom>
          <a:noFill/>
          <a:ln w="12700">
            <a:solidFill>
              <a:srgbClr val="AEB7C7"/>
            </a:solidFill>
            <a:prstDash val="solid"/>
          </a:ln>
        </p:spPr>
      </p:sp>
      <p:sp>
        <p:nvSpPr>
          <p:cNvPr id="36" name="Shape 15"/>
          <p:cNvSpPr/>
          <p:nvPr/>
        </p:nvSpPr>
        <p:spPr>
          <a:xfrm rot="-1080000" flipV="1">
            <a:off x="7566660" y="3597910"/>
            <a:ext cx="3657600" cy="822960"/>
          </a:xfrm>
          <a:prstGeom prst="line">
            <a:avLst/>
          </a:prstGeom>
          <a:noFill/>
          <a:ln w="28575">
            <a:solidFill>
              <a:srgbClr val="C1443B"/>
            </a:solidFill>
            <a:prstDash val="solid"/>
          </a:ln>
        </p:spPr>
      </p:sp>
      <p:sp>
        <p:nvSpPr>
          <p:cNvPr id="37" name="Shape 16"/>
          <p:cNvSpPr/>
          <p:nvPr/>
        </p:nvSpPr>
        <p:spPr>
          <a:xfrm>
            <a:off x="10035540" y="1860550"/>
            <a:ext cx="960120" cy="960120"/>
          </a:xfrm>
          <a:prstGeom prst="ellipse">
            <a:avLst/>
          </a:prstGeom>
          <a:solidFill>
            <a:schemeClr val="bg1"/>
          </a:solidFill>
        </p:spPr>
      </p:sp>
      <p:pic>
        <p:nvPicPr>
          <p:cNvPr id="38" name="Image 0" descr="icon-file-warning.png"/>
          <p:cNvPicPr>
            <a:picLocks noChangeAspect="1"/>
          </p:cNvPicPr>
          <p:nvPr/>
        </p:nvPicPr>
        <p:blipFill>
          <a:blip r:embed="rId3"/>
          <a:stretch>
            <a:fillRect/>
          </a:stretch>
        </p:blipFill>
        <p:spPr>
          <a:xfrm>
            <a:off x="10251567" y="2076577"/>
            <a:ext cx="528066" cy="5280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49" name="Google Shape;149;p16"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52" name="Google Shape;152;p16"/>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3" name="Google Shape;153;p16"/>
          <p:cNvSpPr txBox="1"/>
          <p:nvPr/>
        </p:nvSpPr>
        <p:spPr>
          <a:xfrm>
            <a:off x="11487150" y="6286500"/>
            <a:ext cx="1333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04</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22" name="Text 1"/>
          <p:cNvSpPr/>
          <p:nvPr/>
        </p:nvSpPr>
        <p:spPr>
          <a:xfrm>
            <a:off x="571500" y="1266190"/>
            <a:ext cx="3291840" cy="384048"/>
          </a:xfrm>
          <a:prstGeom prst="rect">
            <a:avLst/>
          </a:prstGeom>
          <a:noFill/>
        </p:spPr>
        <p:txBody>
          <a:bodyPr wrap="square" rtlCol="0" anchor="ctr"/>
          <a:lstStyle/>
          <a:p>
            <a:pPr marL="0" indent="0" algn="ctr">
              <a:buNone/>
            </a:pPr>
            <a:r>
              <a:rPr lang="en-US" sz="12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ARCHIVAGE PAPIER</a:t>
            </a:r>
            <a:endParaRPr lang="en-US" sz="1200" dirty="0"/>
          </a:p>
        </p:txBody>
      </p:sp>
      <p:sp>
        <p:nvSpPr>
          <p:cNvPr id="2" name="Shape 0"/>
          <p:cNvSpPr/>
          <p:nvPr/>
        </p:nvSpPr>
        <p:spPr>
          <a:xfrm>
            <a:off x="640080" y="1120140"/>
            <a:ext cx="3291840" cy="384048"/>
          </a:xfrm>
          <a:prstGeom prst="roundRect">
            <a:avLst>
              <a:gd name="adj" fmla="val 50000"/>
            </a:avLst>
          </a:prstGeom>
          <a:solidFill>
            <a:schemeClr val="bg2">
              <a:lumMod val="60000"/>
              <a:lumOff val="40000"/>
            </a:schemeClr>
          </a:solidFill>
        </p:spPr>
      </p:sp>
      <p:sp>
        <p:nvSpPr>
          <p:cNvPr id="3" name="Text 1"/>
          <p:cNvSpPr/>
          <p:nvPr/>
        </p:nvSpPr>
        <p:spPr>
          <a:xfrm>
            <a:off x="640080" y="1120140"/>
            <a:ext cx="3291840" cy="384048"/>
          </a:xfrm>
          <a:prstGeom prst="rect">
            <a:avLst/>
          </a:prstGeom>
          <a:noFill/>
        </p:spPr>
        <p:txBody>
          <a:bodyPr wrap="square" rtlCol="0" anchor="ctr"/>
          <a:lstStyle/>
          <a:p>
            <a:pPr marL="0" indent="0" algn="ctr">
              <a:buNone/>
            </a:pPr>
            <a:r>
              <a:rPr lang="en-US" sz="12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TRÉSORERIE</a:t>
            </a:r>
            <a:endParaRPr lang="en-US" sz="1200" dirty="0"/>
          </a:p>
        </p:txBody>
      </p:sp>
      <p:sp>
        <p:nvSpPr>
          <p:cNvPr id="4" name="Text 2"/>
          <p:cNvSpPr/>
          <p:nvPr/>
        </p:nvSpPr>
        <p:spPr>
          <a:xfrm>
            <a:off x="640080" y="1714500"/>
            <a:ext cx="6766560" cy="751205"/>
          </a:xfrm>
          <a:prstGeom prst="rect">
            <a:avLst/>
          </a:prstGeom>
          <a:noFill/>
        </p:spPr>
        <p:txBody>
          <a:bodyPr wrap="square" rtlCol="0" anchor="ctr"/>
          <a:lstStyle/>
          <a:p>
            <a:pPr marL="0" indent="0">
              <a:lnSpc>
                <a:spcPct val="105000"/>
              </a:lnSpc>
              <a:buNone/>
            </a:pP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R</a:t>
            </a:r>
            <a:r>
              <a:rPr lang="fr-FR" alt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ecouvrement de loyer</a:t>
            </a: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 </a:t>
            </a:r>
            <a:endParaRPr lang="en-US" sz="3000" dirty="0"/>
          </a:p>
        </p:txBody>
      </p:sp>
      <p:sp>
        <p:nvSpPr>
          <p:cNvPr id="5" name="Text 3"/>
          <p:cNvSpPr/>
          <p:nvPr/>
        </p:nvSpPr>
        <p:spPr>
          <a:xfrm>
            <a:off x="640080" y="2523490"/>
            <a:ext cx="6309360" cy="1704975"/>
          </a:xfrm>
          <a:prstGeom prst="rect">
            <a:avLst/>
          </a:prstGeom>
          <a:noFill/>
        </p:spPr>
        <p:txBody>
          <a:bodyPr wrap="square" rtlCol="0" anchor="ctr"/>
          <a:lstStyle/>
          <a:p>
            <a:pPr marL="0" indent="0">
              <a:lnSpc>
                <a:spcPct val="135000"/>
              </a:lnSpc>
              <a:buNone/>
            </a:pPr>
            <a:r>
              <a:rPr lang="en-US" altLang="fr-FR"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La persistance du r</a:t>
            </a:r>
            <a:r>
              <a:rPr lang="" altLang="en-US"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è</a:t>
            </a:r>
            <a:r>
              <a:rPr lang="en-US" altLang="fr-FR"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glement des loyers de main à main (informel), alors m</a:t>
            </a:r>
            <a:r>
              <a:rPr lang="en-US" altLang="en-US"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ê</a:t>
            </a:r>
            <a:r>
              <a:rPr lang="en-US" altLang="fr-FR"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me qu'il existe une forte adh</a:t>
            </a:r>
            <a:r>
              <a:rPr lang="en-US" altLang="en-US"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é</a:t>
            </a:r>
            <a:r>
              <a:rPr lang="en-US" altLang="fr-FR"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sion des populations aux solutions de Mobile Money</a:t>
            </a:r>
            <a:r>
              <a:rPr lang="en-US" sz="2000"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20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0080" y="4716780"/>
            <a:ext cx="6309360" cy="1417320"/>
          </a:xfrm>
          <a:prstGeom prst="roundRect">
            <a:avLst>
              <a:gd name="adj" fmla="val 5161"/>
            </a:avLst>
          </a:prstGeom>
          <a:solidFill>
            <a:srgbClr val="F2F4F8"/>
          </a:solidFill>
        </p:spPr>
      </p:sp>
      <p:sp>
        <p:nvSpPr>
          <p:cNvPr id="7" name="Text 5"/>
          <p:cNvSpPr/>
          <p:nvPr/>
        </p:nvSpPr>
        <p:spPr>
          <a:xfrm>
            <a:off x="914400" y="4464050"/>
            <a:ext cx="2743200" cy="274320"/>
          </a:xfrm>
          <a:prstGeom prst="rect">
            <a:avLst/>
          </a:prstGeom>
          <a:noFill/>
        </p:spPr>
        <p:txBody>
          <a:bodyPr wrap="square" rtlCol="0" anchor="ctr"/>
          <a:lstStyle/>
          <a:p>
            <a:pPr marL="0" indent="0">
              <a:buNone/>
            </a:pPr>
            <a:r>
              <a:rPr lang="en-US" sz="1800" b="1" kern="0" spc="150" dirty="0">
                <a:solidFill>
                  <a:srgbClr val="C1443B"/>
                </a:solidFill>
                <a:latin typeface="Calibri" panose="020F0502020204030204" pitchFamily="34" charset="0"/>
                <a:ea typeface="Calibri" panose="020F0502020204030204" pitchFamily="34" charset="-122"/>
                <a:cs typeface="Calibri" panose="020F0502020204030204" pitchFamily="34" charset="-120"/>
              </a:rPr>
              <a:t>IMPACT</a:t>
            </a:r>
            <a:endParaRPr lang="en-US" sz="1800" b="1" kern="0" spc="150" dirty="0">
              <a:solidFill>
                <a:srgbClr val="C1443B"/>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914400" y="4823460"/>
            <a:ext cx="5760720" cy="1174115"/>
          </a:xfrm>
          <a:prstGeom prst="rect">
            <a:avLst/>
          </a:prstGeom>
          <a:noFill/>
        </p:spPr>
        <p:txBody>
          <a:bodyPr wrap="square" rtlCol="0" anchor="ctr"/>
          <a:lstStyle/>
          <a:p>
            <a:pPr marL="0" indent="0">
              <a:lnSpc>
                <a:spcPct val="125000"/>
              </a:lnSpc>
              <a:buNone/>
            </a:pPr>
            <a:r>
              <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Risques financiers et administratifs : Absence de preuves num</a:t>
            </a:r>
            <a:r>
              <a:rPr lang="en-US" alt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é</a:t>
            </a:r>
            <a:r>
              <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riques instantan</a:t>
            </a:r>
            <a:r>
              <a:rPr lang="en-US" alt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é</a:t>
            </a:r>
            <a:r>
              <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es</a:t>
            </a:r>
            <a:r>
              <a:rPr lang="fr-FR" alt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 </a:t>
            </a:r>
            <a:r>
              <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et vuln</a:t>
            </a:r>
            <a:r>
              <a:rPr lang="en-US" alt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é</a:t>
            </a:r>
            <a:r>
              <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rabilit</a:t>
            </a:r>
            <a:r>
              <a:rPr lang="en-US" alt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é </a:t>
            </a:r>
            <a:r>
              <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face aux impay</a:t>
            </a:r>
            <a:r>
              <a:rPr lang="en-US" altLang="en-US"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é</a:t>
            </a:r>
            <a:r>
              <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rPr>
              <a:t>s</a:t>
            </a:r>
            <a:endParaRPr lang="en-US" altLang="fr-FR" sz="20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7635240" y="2125980"/>
            <a:ext cx="0" cy="2331720"/>
          </a:xfrm>
          <a:prstGeom prst="line">
            <a:avLst/>
          </a:prstGeom>
          <a:noFill/>
          <a:ln w="12700">
            <a:solidFill>
              <a:srgbClr val="C3CADA"/>
            </a:solidFill>
            <a:prstDash val="solid"/>
          </a:ln>
        </p:spPr>
      </p:sp>
      <p:sp>
        <p:nvSpPr>
          <p:cNvPr id="10" name="Shape 8"/>
          <p:cNvSpPr/>
          <p:nvPr/>
        </p:nvSpPr>
        <p:spPr>
          <a:xfrm>
            <a:off x="7635240" y="4457700"/>
            <a:ext cx="3749040" cy="0"/>
          </a:xfrm>
          <a:prstGeom prst="line">
            <a:avLst/>
          </a:prstGeom>
          <a:noFill/>
          <a:ln w="12700">
            <a:solidFill>
              <a:srgbClr val="C3CADA"/>
            </a:solidFill>
            <a:prstDash val="solid"/>
          </a:ln>
        </p:spPr>
      </p:sp>
      <p:sp>
        <p:nvSpPr>
          <p:cNvPr id="11" name="Shape 9"/>
          <p:cNvSpPr/>
          <p:nvPr/>
        </p:nvSpPr>
        <p:spPr>
          <a:xfrm>
            <a:off x="7863840" y="2475738"/>
            <a:ext cx="457200" cy="1981962"/>
          </a:xfrm>
          <a:prstGeom prst="roundRect">
            <a:avLst>
              <a:gd name="adj" fmla="val 6000"/>
            </a:avLst>
          </a:prstGeom>
          <a:solidFill>
            <a:srgbClr val="3E5273"/>
          </a:solidFill>
        </p:spPr>
      </p:sp>
      <p:sp>
        <p:nvSpPr>
          <p:cNvPr id="12" name="Shape 10"/>
          <p:cNvSpPr/>
          <p:nvPr/>
        </p:nvSpPr>
        <p:spPr>
          <a:xfrm>
            <a:off x="8577072" y="2825496"/>
            <a:ext cx="457200" cy="1632204"/>
          </a:xfrm>
          <a:prstGeom prst="roundRect">
            <a:avLst>
              <a:gd name="adj" fmla="val 6000"/>
            </a:avLst>
          </a:prstGeom>
          <a:solidFill>
            <a:srgbClr val="3E5273"/>
          </a:solidFill>
        </p:spPr>
      </p:sp>
      <p:sp>
        <p:nvSpPr>
          <p:cNvPr id="13" name="Shape 11"/>
          <p:cNvSpPr/>
          <p:nvPr/>
        </p:nvSpPr>
        <p:spPr>
          <a:xfrm>
            <a:off x="9290304" y="3175254"/>
            <a:ext cx="457200" cy="1282446"/>
          </a:xfrm>
          <a:prstGeom prst="roundRect">
            <a:avLst>
              <a:gd name="adj" fmla="val 6000"/>
            </a:avLst>
          </a:prstGeom>
          <a:solidFill>
            <a:srgbClr val="3E5273"/>
          </a:solidFill>
        </p:spPr>
      </p:sp>
      <p:sp>
        <p:nvSpPr>
          <p:cNvPr id="14" name="Shape 12"/>
          <p:cNvSpPr/>
          <p:nvPr/>
        </p:nvSpPr>
        <p:spPr>
          <a:xfrm>
            <a:off x="10003536" y="3478378"/>
            <a:ext cx="457200" cy="979322"/>
          </a:xfrm>
          <a:prstGeom prst="roundRect">
            <a:avLst>
              <a:gd name="adj" fmla="val 6000"/>
            </a:avLst>
          </a:prstGeom>
          <a:solidFill>
            <a:srgbClr val="C1443B"/>
          </a:solidFill>
        </p:spPr>
      </p:sp>
      <p:sp>
        <p:nvSpPr>
          <p:cNvPr id="15" name="Shape 13"/>
          <p:cNvSpPr/>
          <p:nvPr/>
        </p:nvSpPr>
        <p:spPr>
          <a:xfrm>
            <a:off x="10716768" y="3758184"/>
            <a:ext cx="457200" cy="699516"/>
          </a:xfrm>
          <a:prstGeom prst="roundRect">
            <a:avLst>
              <a:gd name="adj" fmla="val 6000"/>
            </a:avLst>
          </a:prstGeom>
          <a:solidFill>
            <a:srgbClr val="C1443B"/>
          </a:solidFill>
        </p:spPr>
      </p:sp>
      <p:sp>
        <p:nvSpPr>
          <p:cNvPr id="17" name="Shape 15"/>
          <p:cNvSpPr/>
          <p:nvPr/>
        </p:nvSpPr>
        <p:spPr>
          <a:xfrm>
            <a:off x="10469880" y="1623060"/>
            <a:ext cx="914400" cy="914400"/>
          </a:xfrm>
          <a:prstGeom prst="ellipse">
            <a:avLst/>
          </a:prstGeom>
          <a:solidFill>
            <a:schemeClr val="bg1"/>
          </a:solidFill>
        </p:spPr>
      </p:sp>
      <p:pic>
        <p:nvPicPr>
          <p:cNvPr id="18" name="Image 0" descr="icon-clock.png"/>
          <p:cNvPicPr>
            <a:picLocks noChangeAspect="1"/>
          </p:cNvPicPr>
          <p:nvPr/>
        </p:nvPicPr>
        <p:blipFill>
          <a:blip r:embed="rId3"/>
          <a:stretch>
            <a:fillRect/>
          </a:stretch>
        </p:blipFill>
        <p:spPr>
          <a:xfrm>
            <a:off x="10675620" y="1828800"/>
            <a:ext cx="502920" cy="502920"/>
          </a:xfrm>
          <a:prstGeom prst="rect">
            <a:avLst/>
          </a:prstGeom>
        </p:spPr>
      </p:pic>
      <p:sp>
        <p:nvSpPr>
          <p:cNvPr id="19" name="Shape 16"/>
          <p:cNvSpPr/>
          <p:nvPr/>
        </p:nvSpPr>
        <p:spPr>
          <a:xfrm>
            <a:off x="7498080" y="1623060"/>
            <a:ext cx="914400" cy="914400"/>
          </a:xfrm>
          <a:prstGeom prst="ellipse">
            <a:avLst/>
          </a:prstGeom>
          <a:solidFill>
            <a:srgbClr val="F2F4F8"/>
          </a:solidFill>
        </p:spPr>
      </p:sp>
      <p:pic>
        <p:nvPicPr>
          <p:cNvPr id="20" name="Image 1" descr="icon-receipt.png"/>
          <p:cNvPicPr>
            <a:picLocks noChangeAspect="1"/>
          </p:cNvPicPr>
          <p:nvPr/>
        </p:nvPicPr>
        <p:blipFill>
          <a:blip r:embed="rId4"/>
          <a:stretch>
            <a:fillRect/>
          </a:stretch>
        </p:blipFill>
        <p:spPr>
          <a:xfrm>
            <a:off x="7703820" y="1828800"/>
            <a:ext cx="50292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49" name="Google Shape;149;p16"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52" name="Google Shape;152;p16"/>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3" name="Google Shape;153;p16"/>
          <p:cNvSpPr txBox="1"/>
          <p:nvPr/>
        </p:nvSpPr>
        <p:spPr>
          <a:xfrm>
            <a:off x="11487150" y="6286500"/>
            <a:ext cx="1333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04</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2" name="Shape 0"/>
          <p:cNvSpPr/>
          <p:nvPr/>
        </p:nvSpPr>
        <p:spPr>
          <a:xfrm>
            <a:off x="640080" y="1120140"/>
            <a:ext cx="3291840" cy="384048"/>
          </a:xfrm>
          <a:prstGeom prst="roundRect">
            <a:avLst>
              <a:gd name="adj" fmla="val 50000"/>
            </a:avLst>
          </a:prstGeom>
          <a:solidFill>
            <a:srgbClr val="D9A441"/>
          </a:solidFill>
        </p:spPr>
      </p:sp>
      <p:sp>
        <p:nvSpPr>
          <p:cNvPr id="3" name="Text 1"/>
          <p:cNvSpPr/>
          <p:nvPr/>
        </p:nvSpPr>
        <p:spPr>
          <a:xfrm>
            <a:off x="640080" y="1120140"/>
            <a:ext cx="3291840" cy="384048"/>
          </a:xfrm>
          <a:prstGeom prst="rect">
            <a:avLst/>
          </a:prstGeom>
          <a:solidFill>
            <a:schemeClr val="bg2">
              <a:lumMod val="60000"/>
              <a:lumOff val="40000"/>
            </a:schemeClr>
          </a:solidFill>
        </p:spPr>
        <p:txBody>
          <a:bodyPr wrap="square" rtlCol="0" anchor="ctr"/>
          <a:lstStyle/>
          <a:p>
            <a:pPr marL="0" indent="0" algn="ctr">
              <a:buNone/>
            </a:pPr>
            <a:r>
              <a:rPr lang="en-US" sz="12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COMMUNICATION</a:t>
            </a:r>
            <a:endParaRPr lang="en-US" sz="1200" dirty="0"/>
          </a:p>
        </p:txBody>
      </p:sp>
      <p:sp>
        <p:nvSpPr>
          <p:cNvPr id="4" name="Text 2"/>
          <p:cNvSpPr/>
          <p:nvPr/>
        </p:nvSpPr>
        <p:spPr>
          <a:xfrm>
            <a:off x="640080" y="1714500"/>
            <a:ext cx="6766560" cy="1005840"/>
          </a:xfrm>
          <a:prstGeom prst="rect">
            <a:avLst/>
          </a:prstGeom>
          <a:noFill/>
        </p:spPr>
        <p:txBody>
          <a:bodyPr wrap="square" rtlCol="0" anchor="ctr"/>
          <a:lstStyle/>
          <a:p>
            <a:pPr marL="0" indent="0">
              <a:lnSpc>
                <a:spcPct val="105000"/>
              </a:lnSpc>
              <a:buNone/>
            </a:pP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Absence de canal partagé</a:t>
            </a:r>
            <a:endParaRPr lang="en-US" sz="3000" dirty="0"/>
          </a:p>
        </p:txBody>
      </p:sp>
      <p:sp>
        <p:nvSpPr>
          <p:cNvPr id="5" name="Text 3"/>
          <p:cNvSpPr/>
          <p:nvPr/>
        </p:nvSpPr>
        <p:spPr>
          <a:xfrm>
            <a:off x="640080" y="2721610"/>
            <a:ext cx="6309360" cy="1188720"/>
          </a:xfrm>
          <a:prstGeom prst="rect">
            <a:avLst/>
          </a:prstGeom>
          <a:noFill/>
        </p:spPr>
        <p:txBody>
          <a:bodyPr wrap="square" rtlCol="0" anchor="ctr"/>
          <a:lstStyle/>
          <a:p>
            <a:pPr marL="0" indent="0">
              <a:lnSpc>
                <a:spcPct val="135000"/>
              </a:lnSpc>
              <a:buNone/>
            </a:pPr>
            <a:r>
              <a:rPr lang="en-US" sz="1800" dirty="0">
                <a:solidFill>
                  <a:srgbClr val="5B6472"/>
                </a:solidFill>
                <a:latin typeface="Calibri" panose="020F0502020204030204" pitchFamily="34" charset="0"/>
                <a:ea typeface="Calibri" panose="020F0502020204030204" pitchFamily="34" charset="-122"/>
                <a:cs typeface="Calibri" panose="020F0502020204030204" pitchFamily="34" charset="-120"/>
              </a:rPr>
              <a:t>Sans passerelle transparente</a:t>
            </a:r>
            <a:r>
              <a:rPr lang="fr-FR" altLang="en-US" sz="1800" dirty="0">
                <a:solidFill>
                  <a:srgbClr val="5B6472"/>
                </a:solidFill>
                <a:latin typeface="Calibri" panose="020F0502020204030204" pitchFamily="34" charset="0"/>
                <a:ea typeface="Calibri" panose="020F0502020204030204" pitchFamily="34" charset="-122"/>
                <a:cs typeface="Calibri" panose="020F0502020204030204" pitchFamily="34" charset="-120"/>
              </a:rPr>
              <a:t> entre bailleur et locataire</a:t>
            </a:r>
            <a:r>
              <a:rPr lang="en-US" sz="1800" dirty="0">
                <a:solidFill>
                  <a:srgbClr val="5B6472"/>
                </a:solidFill>
                <a:latin typeface="Calibri" panose="020F0502020204030204" pitchFamily="34" charset="0"/>
                <a:ea typeface="Calibri" panose="020F0502020204030204" pitchFamily="34" charset="-122"/>
                <a:cs typeface="Calibri" panose="020F0502020204030204" pitchFamily="34" charset="-120"/>
              </a:rPr>
              <a:t> l</a:t>
            </a:r>
            <a:r>
              <a:rPr lang="fr-FR" altLang="en-US" sz="1800" dirty="0">
                <a:solidFill>
                  <a:srgbClr val="5B6472"/>
                </a:solidFill>
                <a:latin typeface="Calibri" panose="020F0502020204030204" pitchFamily="34" charset="0"/>
                <a:ea typeface="Calibri" panose="020F0502020204030204" pitchFamily="34" charset="-122"/>
                <a:cs typeface="Calibri" panose="020F0502020204030204" pitchFamily="34" charset="-120"/>
              </a:rPr>
              <a:t>a confiance s’amenuise </a:t>
            </a:r>
            <a:r>
              <a:rPr lang="en-US" sz="1800" dirty="0">
                <a:solidFill>
                  <a:srgbClr val="5B6472"/>
                </a:solidFill>
                <a:latin typeface="Calibri" panose="020F0502020204030204" pitchFamily="34" charset="0"/>
                <a:ea typeface="Calibri" panose="020F0502020204030204" pitchFamily="34" charset="-122"/>
                <a:cs typeface="Calibri" panose="020F0502020204030204" pitchFamily="34" charset="-120"/>
              </a:rPr>
              <a:t>des deux côtés.</a:t>
            </a:r>
            <a:endParaRPr lang="fr-FR" altLang="en-US" sz="18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0080" y="4366260"/>
            <a:ext cx="6309360" cy="1417320"/>
          </a:xfrm>
          <a:prstGeom prst="roundRect">
            <a:avLst>
              <a:gd name="adj" fmla="val 5161"/>
            </a:avLst>
          </a:prstGeom>
          <a:solidFill>
            <a:srgbClr val="F2F4F8"/>
          </a:solidFill>
        </p:spPr>
      </p:sp>
      <p:sp>
        <p:nvSpPr>
          <p:cNvPr id="7" name="Text 5"/>
          <p:cNvSpPr/>
          <p:nvPr/>
        </p:nvSpPr>
        <p:spPr>
          <a:xfrm>
            <a:off x="914400" y="4549140"/>
            <a:ext cx="3200400" cy="274320"/>
          </a:xfrm>
          <a:prstGeom prst="rect">
            <a:avLst/>
          </a:prstGeom>
          <a:noFill/>
        </p:spPr>
        <p:txBody>
          <a:bodyPr wrap="square" rtlCol="0" anchor="ctr"/>
          <a:lstStyle/>
          <a:p>
            <a:pPr marL="0" indent="0">
              <a:buNone/>
            </a:pPr>
            <a:r>
              <a:rPr lang="en-US" sz="1600" b="1" kern="0" spc="150" dirty="0">
                <a:solidFill>
                  <a:schemeClr val="accent2"/>
                </a:solidFill>
                <a:latin typeface="Calibri" panose="020F0502020204030204" pitchFamily="34" charset="0"/>
                <a:ea typeface="Calibri" panose="020F0502020204030204" pitchFamily="34" charset="-122"/>
                <a:cs typeface="Calibri" panose="020F0502020204030204" pitchFamily="34" charset="-120"/>
              </a:rPr>
              <a:t>CONSÉQUENCE</a:t>
            </a:r>
            <a:endParaRPr lang="en-US" sz="1600" b="1" kern="0" spc="150" dirty="0">
              <a:solidFill>
                <a:schemeClr val="accent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914400" y="4823460"/>
            <a:ext cx="5760720" cy="868680"/>
          </a:xfrm>
          <a:prstGeom prst="rect">
            <a:avLst/>
          </a:prstGeom>
          <a:noFill/>
        </p:spPr>
        <p:txBody>
          <a:bodyPr wrap="square" rtlCol="0" anchor="ctr"/>
          <a:lstStyle/>
          <a:p>
            <a:pPr marL="0" indent="0">
              <a:lnSpc>
                <a:spcPct val="125000"/>
              </a:lnSpc>
              <a:buNone/>
            </a:pPr>
            <a:r>
              <a:rPr lang="en-US" sz="1800" dirty="0">
                <a:solidFill>
                  <a:srgbClr val="1B2A4A"/>
                </a:solidFill>
                <a:latin typeface="Calibri" panose="020F0502020204030204" pitchFamily="34" charset="0"/>
                <a:ea typeface="Calibri" panose="020F0502020204030204" pitchFamily="34" charset="-122"/>
                <a:cs typeface="Calibri" panose="020F0502020204030204" pitchFamily="34" charset="-120"/>
              </a:rPr>
              <a:t>Frustration réciproque : ni visibilité partagée, ni preuve de paiement immédiate entre les parties</a:t>
            </a:r>
            <a:r>
              <a:rPr lang="fr-FR" altLang="en-US" sz="1800" dirty="0">
                <a:solidFill>
                  <a:srgbClr val="1B2A4A"/>
                </a:solidFill>
                <a:latin typeface="Calibri" panose="020F0502020204030204" pitchFamily="34" charset="0"/>
                <a:ea typeface="Calibri" panose="020F0502020204030204" pitchFamily="34" charset="-122"/>
                <a:cs typeface="Calibri" panose="020F0502020204030204" pitchFamily="34" charset="-120"/>
              </a:rPr>
              <a:t>, aucune tracabilité</a:t>
            </a:r>
            <a:r>
              <a:rPr lang="en-US" sz="1800" dirty="0">
                <a:solidFill>
                  <a:srgbClr val="1B2A4A"/>
                </a:solidFill>
                <a:latin typeface="Calibri" panose="020F0502020204030204" pitchFamily="34" charset="0"/>
                <a:ea typeface="Calibri" panose="020F0502020204030204" pitchFamily="34" charset="-122"/>
                <a:cs typeface="Calibri" panose="020F0502020204030204" pitchFamily="34" charset="-120"/>
              </a:rPr>
              <a:t>.</a:t>
            </a:r>
            <a:endParaRPr lang="en-US" sz="18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7292340" y="2560320"/>
            <a:ext cx="1051560" cy="1051560"/>
          </a:xfrm>
          <a:prstGeom prst="ellipse">
            <a:avLst/>
          </a:prstGeom>
          <a:solidFill>
            <a:srgbClr val="F2F4F8"/>
          </a:solidFill>
        </p:spPr>
      </p:sp>
      <p:pic>
        <p:nvPicPr>
          <p:cNvPr id="10" name="Image 0" descr="icon-building.png"/>
          <p:cNvPicPr>
            <a:picLocks noChangeAspect="1"/>
          </p:cNvPicPr>
          <p:nvPr/>
        </p:nvPicPr>
        <p:blipFill>
          <a:blip r:embed="rId3"/>
          <a:stretch>
            <a:fillRect/>
          </a:stretch>
        </p:blipFill>
        <p:spPr>
          <a:xfrm>
            <a:off x="7555230" y="2823210"/>
            <a:ext cx="525780" cy="525780"/>
          </a:xfrm>
          <a:prstGeom prst="rect">
            <a:avLst/>
          </a:prstGeom>
        </p:spPr>
      </p:pic>
      <p:sp>
        <p:nvSpPr>
          <p:cNvPr id="11" name="Shape 8"/>
          <p:cNvSpPr/>
          <p:nvPr/>
        </p:nvSpPr>
        <p:spPr>
          <a:xfrm>
            <a:off x="9852660" y="2560320"/>
            <a:ext cx="1051560" cy="1051560"/>
          </a:xfrm>
          <a:prstGeom prst="ellipse">
            <a:avLst/>
          </a:prstGeom>
          <a:solidFill>
            <a:srgbClr val="F2F4F8"/>
          </a:solidFill>
        </p:spPr>
      </p:sp>
      <p:pic>
        <p:nvPicPr>
          <p:cNvPr id="12" name="Image 1" descr="icon-users.png"/>
          <p:cNvPicPr>
            <a:picLocks noChangeAspect="1"/>
          </p:cNvPicPr>
          <p:nvPr/>
        </p:nvPicPr>
        <p:blipFill>
          <a:blip r:embed="rId4"/>
          <a:stretch>
            <a:fillRect/>
          </a:stretch>
        </p:blipFill>
        <p:spPr>
          <a:xfrm>
            <a:off x="10115550" y="2823210"/>
            <a:ext cx="525780" cy="525780"/>
          </a:xfrm>
          <a:prstGeom prst="rect">
            <a:avLst/>
          </a:prstGeom>
        </p:spPr>
      </p:pic>
      <p:sp>
        <p:nvSpPr>
          <p:cNvPr id="13" name="Text 9"/>
          <p:cNvSpPr/>
          <p:nvPr/>
        </p:nvSpPr>
        <p:spPr>
          <a:xfrm>
            <a:off x="6766560" y="3685032"/>
            <a:ext cx="2103120" cy="274320"/>
          </a:xfrm>
          <a:prstGeom prst="rect">
            <a:avLst/>
          </a:prstGeom>
          <a:noFill/>
        </p:spPr>
        <p:txBody>
          <a:bodyPr wrap="square" rtlCol="0" anchor="ctr"/>
          <a:lstStyle/>
          <a:p>
            <a:pPr marL="0" indent="0" algn="ctr">
              <a:buNone/>
            </a:pPr>
            <a:r>
              <a:rPr lang="fr-FR" altLang="en-US" sz="1150" dirty="0"/>
              <a:t>Bailleur</a:t>
            </a:r>
            <a:endParaRPr lang="fr-FR" altLang="en-US" sz="1150" dirty="0"/>
          </a:p>
        </p:txBody>
      </p:sp>
      <p:sp>
        <p:nvSpPr>
          <p:cNvPr id="14" name="Text 10"/>
          <p:cNvSpPr/>
          <p:nvPr/>
        </p:nvSpPr>
        <p:spPr>
          <a:xfrm>
            <a:off x="9221724" y="3685032"/>
            <a:ext cx="2313432" cy="274320"/>
          </a:xfrm>
          <a:prstGeom prst="rect">
            <a:avLst/>
          </a:prstGeom>
          <a:noFill/>
        </p:spPr>
        <p:txBody>
          <a:bodyPr wrap="square" rtlCol="0" anchor="ctr"/>
          <a:lstStyle/>
          <a:p>
            <a:pPr marL="0" indent="0" algn="ctr">
              <a:buNone/>
            </a:pPr>
            <a:r>
              <a:rPr lang="fr-FR" altLang="en-US" sz="1150" dirty="0"/>
              <a:t>Locataire</a:t>
            </a:r>
            <a:endParaRPr lang="fr-FR" altLang="en-US" sz="1150" dirty="0"/>
          </a:p>
        </p:txBody>
      </p:sp>
      <p:sp>
        <p:nvSpPr>
          <p:cNvPr id="15" name="Shape 11"/>
          <p:cNvSpPr/>
          <p:nvPr/>
        </p:nvSpPr>
        <p:spPr>
          <a:xfrm>
            <a:off x="8435340" y="3086100"/>
            <a:ext cx="777240" cy="0"/>
          </a:xfrm>
          <a:prstGeom prst="line">
            <a:avLst/>
          </a:prstGeom>
          <a:noFill/>
          <a:ln w="25400">
            <a:solidFill>
              <a:srgbClr val="C1443B"/>
            </a:solidFill>
            <a:prstDash val="dash"/>
          </a:ln>
        </p:spPr>
      </p:sp>
      <p:sp>
        <p:nvSpPr>
          <p:cNvPr id="16" name="Shape 12"/>
          <p:cNvSpPr/>
          <p:nvPr/>
        </p:nvSpPr>
        <p:spPr>
          <a:xfrm>
            <a:off x="8983980" y="3086100"/>
            <a:ext cx="777240" cy="0"/>
          </a:xfrm>
          <a:prstGeom prst="line">
            <a:avLst/>
          </a:prstGeom>
          <a:noFill/>
          <a:ln w="25400">
            <a:solidFill>
              <a:srgbClr val="C1443B"/>
            </a:solidFill>
            <a:prstDash val="dash"/>
          </a:ln>
        </p:spPr>
      </p:sp>
      <p:sp>
        <p:nvSpPr>
          <p:cNvPr id="17" name="Shape 13"/>
          <p:cNvSpPr/>
          <p:nvPr/>
        </p:nvSpPr>
        <p:spPr>
          <a:xfrm>
            <a:off x="8732520" y="2720340"/>
            <a:ext cx="731520" cy="731520"/>
          </a:xfrm>
          <a:prstGeom prst="ellipse">
            <a:avLst/>
          </a:prstGeom>
          <a:solidFill>
            <a:srgbClr val="FFFFFF"/>
          </a:solidFill>
        </p:spPr>
      </p:sp>
      <p:pic>
        <p:nvPicPr>
          <p:cNvPr id="18" name="Image 2" descr="icon-link-off.png"/>
          <p:cNvPicPr>
            <a:picLocks noChangeAspect="1"/>
          </p:cNvPicPr>
          <p:nvPr/>
        </p:nvPicPr>
        <p:blipFill>
          <a:blip r:embed="rId5"/>
          <a:stretch>
            <a:fillRect/>
          </a:stretch>
        </p:blipFill>
        <p:spPr>
          <a:xfrm>
            <a:off x="8823960" y="2811780"/>
            <a:ext cx="548640"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67" name="Shape 167"/>
        <p:cNvGrpSpPr/>
        <p:nvPr/>
      </p:nvGrpSpPr>
      <p:grpSpPr>
        <a:xfrm>
          <a:off x="0" y="0"/>
          <a:ext cx="0" cy="0"/>
          <a:chOff x="0" y="0"/>
          <a:chExt cx="0" cy="0"/>
        </a:xfrm>
      </p:grpSpPr>
      <p:pic>
        <p:nvPicPr>
          <p:cNvPr id="168" name="Google Shape;168;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69" name="Google Shape;169;p17" descr="image.png"/>
          <p:cNvPicPr preferRelativeResize="0"/>
          <p:nvPr/>
        </p:nvPicPr>
        <p:blipFill rotWithShape="1">
          <a:blip r:embed="rId2"/>
          <a:srcRect/>
          <a:stretch>
            <a:fillRect/>
          </a:stretch>
        </p:blipFill>
        <p:spPr>
          <a:xfrm>
            <a:off x="571500" y="2129730"/>
            <a:ext cx="11049000" cy="3400425"/>
          </a:xfrm>
          <a:prstGeom prst="rect">
            <a:avLst/>
          </a:prstGeom>
          <a:noFill/>
          <a:ln>
            <a:noFill/>
          </a:ln>
        </p:spPr>
      </p:pic>
      <p:pic>
        <p:nvPicPr>
          <p:cNvPr id="170" name="Google Shape;170;p17" descr="image.png"/>
          <p:cNvPicPr preferRelativeResize="0"/>
          <p:nvPr/>
        </p:nvPicPr>
        <p:blipFill rotWithShape="1">
          <a:blip r:embed="rId3"/>
          <a:srcRect/>
          <a:stretch>
            <a:fillRect/>
          </a:stretch>
        </p:blipFill>
        <p:spPr>
          <a:xfrm>
            <a:off x="571500" y="6134100"/>
            <a:ext cx="11049000" cy="295275"/>
          </a:xfrm>
          <a:prstGeom prst="rect">
            <a:avLst/>
          </a:prstGeom>
          <a:noFill/>
          <a:ln>
            <a:noFill/>
          </a:ln>
        </p:spPr>
      </p:pic>
      <p:sp>
        <p:nvSpPr>
          <p:cNvPr id="171" name="Google Shape;171;p17"/>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72" name="Google Shape;172;p17"/>
          <p:cNvSpPr txBox="1"/>
          <p:nvPr/>
        </p:nvSpPr>
        <p:spPr>
          <a:xfrm>
            <a:off x="10082212" y="471487"/>
            <a:ext cx="153828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ANALYSE COMPARATIVE</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73" name="Google Shape;173;p17"/>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74" name="Google Shape;174;p17"/>
          <p:cNvSpPr txBox="1"/>
          <p:nvPr/>
        </p:nvSpPr>
        <p:spPr>
          <a:xfrm>
            <a:off x="11487150" y="6286500"/>
            <a:ext cx="1333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05</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graphicFrame>
        <p:nvGraphicFramePr>
          <p:cNvPr id="175" name="Google Shape;175;p17"/>
          <p:cNvGraphicFramePr/>
          <p:nvPr/>
        </p:nvGraphicFramePr>
        <p:xfrm>
          <a:off x="581025" y="2139315"/>
          <a:ext cx="11029950" cy="3426460"/>
        </p:xfrm>
        <a:graphic>
          <a:graphicData uri="http://schemas.openxmlformats.org/drawingml/2006/table">
            <a:tbl>
              <a:tblPr firstRow="1" bandRow="1">
                <a:noFill/>
                <a:tableStyleId>{5DAD3497-3041-4D27-8FF0-422A7831B682}</a:tableStyleId>
              </a:tblPr>
              <a:tblGrid>
                <a:gridCol w="2086610"/>
                <a:gridCol w="3517265"/>
                <a:gridCol w="3557270"/>
                <a:gridCol w="1868805"/>
              </a:tblGrid>
              <a:tr h="856615">
                <a:tc>
                  <a:txBody>
                    <a:bodyPr/>
                    <a:lstStyle/>
                    <a:p>
                      <a:pPr marL="0" marR="0" lvl="0" indent="0" algn="l" rtl="0">
                        <a:spcBef>
                          <a:spcPts val="0"/>
                        </a:spcBef>
                        <a:spcAft>
                          <a:spcPts val="0"/>
                        </a:spcAft>
                        <a:buNone/>
                      </a:pPr>
                      <a:r>
                        <a:rPr lang="en-US" sz="1800" b="1" i="0" u="none" strike="noStrike" cap="none">
                          <a:solidFill>
                            <a:srgbClr val="1E293B"/>
                          </a:solidFill>
                          <a:latin typeface="Lato" panose="020F0502020204030203"/>
                          <a:ea typeface="Lato" panose="020F0502020204030203"/>
                          <a:cs typeface="Lato" panose="020F0502020204030203"/>
                          <a:sym typeface="Lato" panose="020F0502020204030203"/>
                        </a:rPr>
                        <a:t>Solutions existantes</a:t>
                      </a:r>
                      <a:endParaRPr lang="en-US" sz="1800" b="1" i="0" u="none" strike="noStrike" cap="none">
                        <a:solidFill>
                          <a:srgbClr val="1E293B"/>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1E293B"/>
                          </a:solidFill>
                          <a:latin typeface="Lato" panose="020F0502020204030203"/>
                          <a:ea typeface="Lato" panose="020F0502020204030203"/>
                          <a:cs typeface="Lato" panose="020F0502020204030203"/>
                          <a:sym typeface="Lato" panose="020F0502020204030203"/>
                        </a:rPr>
                        <a:t>Avantages</a:t>
                      </a:r>
                      <a:endParaRPr lang="en-US" sz="1800" b="1" i="0" u="none" strike="noStrike" cap="none">
                        <a:solidFill>
                          <a:srgbClr val="1E293B"/>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1E293B"/>
                          </a:solidFill>
                          <a:latin typeface="Lato" panose="020F0502020204030203"/>
                          <a:ea typeface="Lato" panose="020F0502020204030203"/>
                          <a:cs typeface="Lato" panose="020F0502020204030203"/>
                          <a:sym typeface="Lato" panose="020F0502020204030203"/>
                        </a:rPr>
                        <a:t>Limites de l'outil</a:t>
                      </a:r>
                      <a:endParaRPr lang="en-US" sz="1800" b="1" i="0" u="none" strike="noStrike" cap="none">
                        <a:solidFill>
                          <a:srgbClr val="1E293B"/>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1E293B"/>
                          </a:solidFill>
                          <a:latin typeface="Lato" panose="020F0502020204030203"/>
                          <a:ea typeface="Lato" panose="020F0502020204030203"/>
                          <a:cs typeface="Lato" panose="020F0502020204030203"/>
                          <a:sym typeface="Lato" panose="020F0502020204030203"/>
                        </a:rPr>
                        <a:t>Adaptabilité locale (Togo)</a:t>
                      </a:r>
                      <a:endParaRPr lang="en-US" sz="1800" b="1" i="0" u="none" strike="noStrike" cap="none">
                        <a:solidFill>
                          <a:srgbClr val="1E293B"/>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r>
              <a:tr h="856615">
                <a:tc>
                  <a:txBody>
                    <a:bodyPr/>
                    <a:lstStyle/>
                    <a:p>
                      <a:pPr marL="0" marR="0" lvl="0" indent="0" algn="l" rtl="0">
                        <a:spcBef>
                          <a:spcPts val="0"/>
                        </a:spcBef>
                        <a:spcAft>
                          <a:spcPts val="0"/>
                        </a:spcAft>
                        <a:buNone/>
                      </a:pPr>
                      <a:r>
                        <a:rPr lang="en-US" sz="1600" b="1" i="0" u="none" strike="noStrike" cap="none">
                          <a:solidFill>
                            <a:srgbClr val="475569"/>
                          </a:solidFill>
                          <a:latin typeface="Lato" panose="020F0502020204030203"/>
                          <a:ea typeface="Lato" panose="020F0502020204030203"/>
                          <a:cs typeface="Lato" panose="020F0502020204030203"/>
                          <a:sym typeface="Lato" panose="020F0502020204030203"/>
                        </a:rPr>
                        <a:t>Registres &amp; Reçus Papier</a:t>
                      </a:r>
                      <a:endParaRPr lang="en-US" sz="1600" b="1"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475569"/>
                          </a:solidFill>
                          <a:latin typeface="Lato" panose="020F0502020204030203"/>
                          <a:ea typeface="Lato" panose="020F0502020204030203"/>
                          <a:cs typeface="Lato" panose="020F0502020204030203"/>
                          <a:sym typeface="Lato" panose="020F0502020204030203"/>
                        </a:rPr>
                        <a:t>Facilité d'usage instantanée, coût d'acquisition nul</a:t>
                      </a:r>
                      <a:endParaRPr lang="en-US" sz="1600" b="0"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475569"/>
                          </a:solidFill>
                          <a:latin typeface="Lato" panose="020F0502020204030203"/>
                          <a:ea typeface="Lato" panose="020F0502020204030203"/>
                          <a:cs typeface="Lato" panose="020F0502020204030203"/>
                          <a:sym typeface="Lato" panose="020F0502020204030203"/>
                        </a:rPr>
                        <a:t>Risque majeur de </a:t>
                      </a:r>
                      <a:r>
                        <a:rPr lang="fr-FR" altLang="en-US" sz="1600" b="0" i="0" u="none" strike="noStrike" cap="none">
                          <a:solidFill>
                            <a:srgbClr val="475569"/>
                          </a:solidFill>
                          <a:latin typeface="Lato" panose="020F0502020204030203"/>
                          <a:ea typeface="Lato" panose="020F0502020204030203"/>
                          <a:cs typeface="Lato" panose="020F0502020204030203"/>
                          <a:sym typeface="Lato" panose="020F0502020204030203"/>
                        </a:rPr>
                        <a:t>perte</a:t>
                      </a:r>
                      <a:r>
                        <a:rPr lang="en-US" sz="1600" b="0" i="0" u="none" strike="noStrike" cap="none">
                          <a:solidFill>
                            <a:srgbClr val="475569"/>
                          </a:solidFill>
                          <a:latin typeface="Lato" panose="020F0502020204030203"/>
                          <a:ea typeface="Lato" panose="020F0502020204030203"/>
                          <a:cs typeface="Lato" panose="020F0502020204030203"/>
                          <a:sym typeface="Lato" panose="020F0502020204030203"/>
                        </a:rPr>
                        <a:t>, aucune traçabilité, fastidieux</a:t>
                      </a:r>
                      <a:endParaRPr lang="en-US" sz="1600" b="0"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EF4444"/>
                          </a:solidFill>
                          <a:latin typeface="Lato" panose="020F0502020204030203"/>
                          <a:ea typeface="Lato" panose="020F0502020204030203"/>
                          <a:cs typeface="Lato" panose="020F0502020204030203"/>
                          <a:sym typeface="Lato" panose="020F0502020204030203"/>
                        </a:rPr>
                        <a:t> Non-efficace</a:t>
                      </a:r>
                      <a:endParaRPr lang="en-US" sz="1600" b="1" i="0" u="none" strike="noStrike" cap="none">
                        <a:solidFill>
                          <a:srgbClr val="EF4444"/>
                        </a:solidFill>
                        <a:latin typeface="Lato" panose="020F0502020204030203"/>
                        <a:ea typeface="Lato" panose="020F0502020204030203"/>
                        <a:cs typeface="Lato" panose="020F0502020204030203"/>
                        <a:sym typeface="Lato" panose="020F0502020204030203"/>
                      </a:endParaRPr>
                    </a:p>
                  </a:txBody>
                  <a:tcPr marL="2286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856615">
                <a:tc>
                  <a:txBody>
                    <a:bodyPr/>
                    <a:lstStyle/>
                    <a:p>
                      <a:pPr marL="0" marR="0" lvl="0" indent="0" algn="l" rtl="0">
                        <a:spcBef>
                          <a:spcPts val="0"/>
                        </a:spcBef>
                        <a:spcAft>
                          <a:spcPts val="0"/>
                        </a:spcAft>
                        <a:buNone/>
                      </a:pPr>
                      <a:r>
                        <a:rPr lang="en-US" sz="1600" b="1" i="0" u="none" strike="noStrike" cap="none">
                          <a:solidFill>
                            <a:srgbClr val="475569"/>
                          </a:solidFill>
                          <a:latin typeface="Lato" panose="020F0502020204030203"/>
                          <a:ea typeface="Lato" panose="020F0502020204030203"/>
                          <a:cs typeface="Lato" panose="020F0502020204030203"/>
                          <a:sym typeface="Lato" panose="020F0502020204030203"/>
                        </a:rPr>
                        <a:t>Tableurs (Excel/WhatsApp)</a:t>
                      </a:r>
                      <a:endParaRPr lang="en-US" sz="1600" b="1"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475569"/>
                          </a:solidFill>
                          <a:latin typeface="Lato" panose="020F0502020204030203"/>
                          <a:ea typeface="Lato" panose="020F0502020204030203"/>
                          <a:cs typeface="Lato" panose="020F0502020204030203"/>
                          <a:sym typeface="Lato" panose="020F0502020204030203"/>
                        </a:rPr>
                        <a:t>Semi-numérisé, modification libre, graphique de base</a:t>
                      </a:r>
                      <a:endParaRPr lang="en-US" sz="1600" b="0"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475569"/>
                          </a:solidFill>
                          <a:latin typeface="Lato" panose="020F0502020204030203"/>
                          <a:ea typeface="Lato" panose="020F0502020204030203"/>
                          <a:cs typeface="Lato" panose="020F0502020204030203"/>
                          <a:sym typeface="Lato" panose="020F0502020204030203"/>
                        </a:rPr>
                        <a:t>Saisie manuelle sujette aux erreurs, absence de relance auto</a:t>
                      </a:r>
                      <a:r>
                        <a:rPr lang="fr-FR" altLang="en-US" sz="1600" b="0" i="0" u="none" strike="noStrike" cap="none">
                          <a:solidFill>
                            <a:srgbClr val="475569"/>
                          </a:solidFill>
                          <a:latin typeface="Lato" panose="020F0502020204030203"/>
                          <a:ea typeface="Lato" panose="020F0502020204030203"/>
                          <a:cs typeface="Lato" panose="020F0502020204030203"/>
                          <a:sym typeface="Lato" panose="020F0502020204030203"/>
                        </a:rPr>
                        <a:t>, obligé de faire une personalisation</a:t>
                      </a:r>
                      <a:endParaRPr lang="fr-FR" altLang="en-US" sz="1600" b="0"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F59E0B"/>
                          </a:solidFill>
                          <a:latin typeface="Lato" panose="020F0502020204030203"/>
                          <a:ea typeface="Lato" panose="020F0502020204030203"/>
                          <a:cs typeface="Lato" panose="020F0502020204030203"/>
                          <a:sym typeface="Lato" panose="020F0502020204030203"/>
                        </a:rPr>
                        <a:t> Partielle</a:t>
                      </a:r>
                      <a:endParaRPr lang="en-US" sz="1600" b="1" i="0" u="none" strike="noStrike" cap="none">
                        <a:solidFill>
                          <a:srgbClr val="F59E0B"/>
                        </a:solidFill>
                        <a:latin typeface="Lato" panose="020F0502020204030203"/>
                        <a:ea typeface="Lato" panose="020F0502020204030203"/>
                        <a:cs typeface="Lato" panose="020F0502020204030203"/>
                        <a:sym typeface="Lato" panose="020F0502020204030203"/>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856615">
                <a:tc>
                  <a:txBody>
                    <a:bodyPr/>
                    <a:lstStyle/>
                    <a:p>
                      <a:pPr marL="0" marR="0" lvl="0" indent="0" algn="l" rtl="0">
                        <a:spcBef>
                          <a:spcPts val="0"/>
                        </a:spcBef>
                        <a:spcAft>
                          <a:spcPts val="0"/>
                        </a:spcAft>
                        <a:buNone/>
                      </a:pPr>
                      <a:r>
                        <a:rPr lang="en-US" sz="1600" b="1" i="0" u="none" strike="noStrike" cap="none">
                          <a:solidFill>
                            <a:srgbClr val="475569"/>
                          </a:solidFill>
                          <a:latin typeface="Lato" panose="020F0502020204030203"/>
                          <a:ea typeface="Lato" panose="020F0502020204030203"/>
                          <a:cs typeface="Lato" panose="020F0502020204030203"/>
                          <a:sym typeface="Lato" panose="020F0502020204030203"/>
                        </a:rPr>
                        <a:t>Logiciels SaaS Étrangers</a:t>
                      </a:r>
                      <a:r>
                        <a:rPr lang="fr-FR" altLang="en-US" sz="1600" b="1" i="0" u="none" strike="noStrike" cap="none">
                          <a:solidFill>
                            <a:srgbClr val="475569"/>
                          </a:solidFill>
                          <a:latin typeface="Lato" panose="020F0502020204030203"/>
                          <a:ea typeface="Lato" panose="020F0502020204030203"/>
                          <a:cs typeface="Lato" panose="020F0502020204030203"/>
                          <a:sym typeface="Lato" panose="020F0502020204030203"/>
                        </a:rPr>
                        <a:t> (GererSeul)</a:t>
                      </a:r>
                      <a:endParaRPr lang="fr-FR" altLang="en-US" sz="1600" b="1"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475569"/>
                          </a:solidFill>
                          <a:latin typeface="Lato" panose="020F0502020204030203"/>
                          <a:ea typeface="Lato" panose="020F0502020204030203"/>
                          <a:cs typeface="Lato" panose="020F0502020204030203"/>
                          <a:sym typeface="Lato" panose="020F0502020204030203"/>
                        </a:rPr>
                        <a:t>Automatisation totale de l'édition de baux, quittances PDF</a:t>
                      </a:r>
                      <a:endParaRPr lang="en-US" sz="1600" b="0"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475569"/>
                          </a:solidFill>
                          <a:latin typeface="Lato" panose="020F0502020204030203"/>
                          <a:ea typeface="Lato" panose="020F0502020204030203"/>
                          <a:cs typeface="Lato" panose="020F0502020204030203"/>
                          <a:sym typeface="Lato" panose="020F0502020204030203"/>
                        </a:rPr>
                        <a:t>Modèle juridique européen, absence de passerelles locales</a:t>
                      </a:r>
                      <a:endParaRPr lang="en-US" sz="1600" b="0"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EF4444"/>
                          </a:solidFill>
                          <a:latin typeface="Lato" panose="020F0502020204030203"/>
                          <a:ea typeface="Lato" panose="020F0502020204030203"/>
                          <a:cs typeface="Lato" panose="020F0502020204030203"/>
                          <a:sym typeface="Lato" panose="020F0502020204030203"/>
                        </a:rPr>
                        <a:t> Non-adapté</a:t>
                      </a:r>
                      <a:endParaRPr lang="en-US" sz="1600" b="1" i="0" u="none" strike="noStrike" cap="none">
                        <a:solidFill>
                          <a:srgbClr val="EF4444"/>
                        </a:solidFill>
                        <a:latin typeface="Lato" panose="020F0502020204030203"/>
                        <a:ea typeface="Lato" panose="020F0502020204030203"/>
                        <a:cs typeface="Lato" panose="020F0502020204030203"/>
                        <a:sym typeface="Lato" panose="020F0502020204030203"/>
                      </a:endParaRPr>
                    </a:p>
                  </a:txBody>
                  <a:tcPr marL="2286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176" name="Google Shape;176;p17"/>
          <p:cNvSpPr/>
          <p:nvPr/>
        </p:nvSpPr>
        <p:spPr>
          <a:xfrm>
            <a:off x="581025" y="2796480"/>
            <a:ext cx="2086867"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7" name="Google Shape;177;p17"/>
          <p:cNvSpPr/>
          <p:nvPr/>
        </p:nvSpPr>
        <p:spPr>
          <a:xfrm>
            <a:off x="2667892" y="2796480"/>
            <a:ext cx="3516957"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8" name="Google Shape;178;p17"/>
          <p:cNvSpPr/>
          <p:nvPr/>
        </p:nvSpPr>
        <p:spPr>
          <a:xfrm>
            <a:off x="6184850" y="2796480"/>
            <a:ext cx="3557438"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9" name="Google Shape;179;p17"/>
          <p:cNvSpPr/>
          <p:nvPr/>
        </p:nvSpPr>
        <p:spPr>
          <a:xfrm>
            <a:off x="9742289" y="2796480"/>
            <a:ext cx="186868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0" name="Google Shape;200;p17"/>
          <p:cNvSpPr txBox="1"/>
          <p:nvPr/>
        </p:nvSpPr>
        <p:spPr>
          <a:xfrm>
            <a:off x="571500" y="1019175"/>
            <a:ext cx="11601450" cy="4113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Critique de l’Existant</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04" name="Shape 204"/>
        <p:cNvGrpSpPr/>
        <p:nvPr/>
      </p:nvGrpSpPr>
      <p:grpSpPr>
        <a:xfrm>
          <a:off x="0" y="0"/>
          <a:ext cx="0" cy="0"/>
          <a:chOff x="0" y="0"/>
          <a:chExt cx="0" cy="0"/>
        </a:xfrm>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06" name="Google Shape;206;p18" descr="image.png"/>
          <p:cNvPicPr preferRelativeResize="0"/>
          <p:nvPr/>
        </p:nvPicPr>
        <p:blipFill rotWithShape="1">
          <a:blip r:embed="rId2"/>
          <a:srcRect/>
          <a:stretch>
            <a:fillRect/>
          </a:stretch>
        </p:blipFill>
        <p:spPr>
          <a:xfrm>
            <a:off x="571500" y="2463165"/>
            <a:ext cx="3492500" cy="3288030"/>
          </a:xfrm>
          <a:prstGeom prst="rect">
            <a:avLst/>
          </a:prstGeom>
          <a:noFill/>
          <a:ln>
            <a:noFill/>
          </a:ln>
        </p:spPr>
      </p:pic>
      <p:pic>
        <p:nvPicPr>
          <p:cNvPr id="207" name="Google Shape;207;p18" descr="image.png"/>
          <p:cNvPicPr preferRelativeResize="0"/>
          <p:nvPr/>
        </p:nvPicPr>
        <p:blipFill rotWithShape="1">
          <a:blip r:embed="rId3"/>
          <a:srcRect/>
          <a:stretch>
            <a:fillRect/>
          </a:stretch>
        </p:blipFill>
        <p:spPr>
          <a:xfrm>
            <a:off x="4349750" y="2463165"/>
            <a:ext cx="3492500" cy="3288030"/>
          </a:xfrm>
          <a:prstGeom prst="rect">
            <a:avLst/>
          </a:prstGeom>
          <a:noFill/>
          <a:ln>
            <a:noFill/>
          </a:ln>
        </p:spPr>
      </p:pic>
      <p:pic>
        <p:nvPicPr>
          <p:cNvPr id="208" name="Google Shape;208;p18" descr="image.png"/>
          <p:cNvPicPr preferRelativeResize="0"/>
          <p:nvPr/>
        </p:nvPicPr>
        <p:blipFill rotWithShape="1">
          <a:blip r:embed="rId4"/>
          <a:srcRect/>
          <a:stretch>
            <a:fillRect/>
          </a:stretch>
        </p:blipFill>
        <p:spPr>
          <a:xfrm>
            <a:off x="8128000" y="2463165"/>
            <a:ext cx="3492500" cy="3288030"/>
          </a:xfrm>
          <a:prstGeom prst="rect">
            <a:avLst/>
          </a:prstGeom>
          <a:noFill/>
          <a:ln>
            <a:noFill/>
          </a:ln>
        </p:spPr>
      </p:pic>
      <p:pic>
        <p:nvPicPr>
          <p:cNvPr id="209" name="Google Shape;209;p18" descr="image.png"/>
          <p:cNvPicPr preferRelativeResize="0"/>
          <p:nvPr/>
        </p:nvPicPr>
        <p:blipFill rotWithShape="1">
          <a:blip r:embed="rId5"/>
          <a:srcRect/>
          <a:stretch>
            <a:fillRect/>
          </a:stretch>
        </p:blipFill>
        <p:spPr>
          <a:xfrm>
            <a:off x="571500" y="6134100"/>
            <a:ext cx="11049000" cy="295275"/>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11" name="Google Shape;211;p18"/>
          <p:cNvSpPr txBox="1"/>
          <p:nvPr/>
        </p:nvSpPr>
        <p:spPr>
          <a:xfrm>
            <a:off x="9944100" y="471487"/>
            <a:ext cx="1676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OBJECTIFS STRATÉGIQUES</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2" name="Google Shape;212;p18"/>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3" name="Google Shape;213;p18"/>
          <p:cNvSpPr txBox="1"/>
          <p:nvPr/>
        </p:nvSpPr>
        <p:spPr>
          <a:xfrm>
            <a:off x="11487150" y="6286500"/>
            <a:ext cx="1333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06</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214" name="Google Shape;214;p18"/>
          <p:cNvSpPr txBox="1"/>
          <p:nvPr/>
        </p:nvSpPr>
        <p:spPr>
          <a:xfrm>
            <a:off x="794225" y="3358455"/>
            <a:ext cx="3047099" cy="230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Centralisation </a:t>
            </a:r>
            <a:r>
              <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les données</a:t>
            </a:r>
            <a:endPar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15" name="Google Shape;215;p18"/>
          <p:cNvSpPr txBox="1"/>
          <p:nvPr/>
        </p:nvSpPr>
        <p:spPr>
          <a:xfrm>
            <a:off x="866775" y="3758565"/>
            <a:ext cx="2901950" cy="1787525"/>
          </a:xfrm>
          <a:prstGeom prst="rect">
            <a:avLst/>
          </a:prstGeom>
          <a:noFill/>
          <a:ln>
            <a:noFill/>
          </a:ln>
        </p:spPr>
        <p:txBody>
          <a:bodyPr spcFirstLastPara="1" wrap="square" lIns="0" tIns="0" rIns="0" bIns="0" anchor="t" anchorCtr="0">
            <a:noAutofit/>
          </a:bodyPr>
          <a:lstStyle/>
          <a:p>
            <a:pPr marL="0" marR="0" lvl="0" indent="0" algn="just" rtl="0">
              <a:lnSpc>
                <a:spcPct val="150000"/>
              </a:lnSpc>
              <a:spcBef>
                <a:spcPts val="0"/>
              </a:spcBef>
              <a:spcAft>
                <a:spcPts val="0"/>
              </a:spcAft>
              <a:buNone/>
            </a:pPr>
            <a:r>
              <a:rPr lang="en-US" b="0" i="0" u="none" strike="noStrike" cap="none">
                <a:solidFill>
                  <a:srgbClr val="475569"/>
                </a:solidFill>
                <a:latin typeface="Lato" panose="020F0502020204030203"/>
                <a:ea typeface="Lato" panose="020F0502020204030203"/>
                <a:cs typeface="Lato" panose="020F0502020204030203"/>
                <a:sym typeface="Lato" panose="020F0502020204030203"/>
              </a:rPr>
              <a:t>Déploiement d’un référentiel de stockage unique pour toutes les données de biens, d'unités de logement et d'historiques locatifs afin de supprimer définitivement les doublons.</a:t>
            </a:r>
            <a:endParaRPr lang="en-US"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6" name="Google Shape;216;p18"/>
          <p:cNvSpPr txBox="1"/>
          <p:nvPr/>
        </p:nvSpPr>
        <p:spPr>
          <a:xfrm>
            <a:off x="4572524" y="3358455"/>
            <a:ext cx="3047099"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Automatisation des Échéances</a:t>
            </a:r>
            <a:endParaRPr 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17" name="Google Shape;217;p18"/>
          <p:cNvSpPr txBox="1"/>
          <p:nvPr/>
        </p:nvSpPr>
        <p:spPr>
          <a:xfrm>
            <a:off x="4645025" y="3860165"/>
            <a:ext cx="2901950" cy="1569085"/>
          </a:xfrm>
          <a:prstGeom prst="rect">
            <a:avLst/>
          </a:prstGeom>
          <a:noFill/>
          <a:ln>
            <a:noFill/>
          </a:ln>
        </p:spPr>
        <p:txBody>
          <a:bodyPr spcFirstLastPara="1" wrap="square" lIns="0" tIns="0" rIns="0" bIns="0" anchor="t" anchorCtr="0">
            <a:noAutofit/>
          </a:bodyPr>
          <a:lstStyle/>
          <a:p>
            <a:pPr marL="0" marR="0" lvl="0" indent="0" algn="just" rtl="0">
              <a:lnSpc>
                <a:spcPct val="150000"/>
              </a:lnSpc>
              <a:spcBef>
                <a:spcPts val="0"/>
              </a:spcBef>
              <a:spcAft>
                <a:spcPts val="0"/>
              </a:spcAft>
              <a:buNone/>
            </a:pPr>
            <a:r>
              <a:rPr lang="en-US" b="0" i="0" u="none" strike="noStrike" cap="none">
                <a:solidFill>
                  <a:srgbClr val="475569"/>
                </a:solidFill>
                <a:latin typeface="Lato" panose="020F0502020204030203"/>
                <a:ea typeface="Lato" panose="020F0502020204030203"/>
                <a:cs typeface="Lato" panose="020F0502020204030203"/>
                <a:sym typeface="Lato" panose="020F0502020204030203"/>
              </a:rPr>
              <a:t>Mise en place d'un algorithme de planification (Scheduler) générant et distribuant automatiquement les avis d'échéances aux locataires à chaque début de cycle.</a:t>
            </a:r>
            <a:endParaRPr lang="en-US"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8" name="Google Shape;218;p18"/>
          <p:cNvSpPr txBox="1"/>
          <p:nvPr/>
        </p:nvSpPr>
        <p:spPr>
          <a:xfrm>
            <a:off x="8350824" y="3358455"/>
            <a:ext cx="3047099" cy="230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Moyens de paiement locaux</a:t>
            </a:r>
            <a:endPar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19" name="Google Shape;219;p18"/>
          <p:cNvSpPr txBox="1"/>
          <p:nvPr/>
        </p:nvSpPr>
        <p:spPr>
          <a:xfrm>
            <a:off x="8423374" y="3758505"/>
            <a:ext cx="2901999" cy="161544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b="0" i="0" u="none" strike="noStrike" cap="none">
                <a:solidFill>
                  <a:srgbClr val="475569"/>
                </a:solidFill>
                <a:latin typeface="Lato" panose="020F0502020204030203"/>
                <a:ea typeface="Lato" panose="020F0502020204030203"/>
                <a:cs typeface="Lato" panose="020F0502020204030203"/>
                <a:sym typeface="Lato" panose="020F0502020204030203"/>
              </a:rPr>
              <a:t>Connexion à FedaPay pour garantir un recouvrement instantané par Mobile Money (T-Money &amp; Flooz), réduisant les délais et renforçant la transparence.</a:t>
            </a:r>
            <a:endParaRPr lang="en-US"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20" name="Google Shape;220;p18" descr="image.png"/>
          <p:cNvPicPr preferRelativeResize="0"/>
          <p:nvPr/>
        </p:nvPicPr>
        <p:blipFill rotWithShape="1">
          <a:blip r:embed="rId6"/>
          <a:srcRect/>
          <a:stretch>
            <a:fillRect/>
          </a:stretch>
        </p:blipFill>
        <p:spPr>
          <a:xfrm>
            <a:off x="2151012" y="2796480"/>
            <a:ext cx="333375" cy="381000"/>
          </a:xfrm>
          <a:prstGeom prst="rect">
            <a:avLst/>
          </a:prstGeom>
          <a:noFill/>
          <a:ln>
            <a:noFill/>
          </a:ln>
        </p:spPr>
      </p:pic>
      <p:pic>
        <p:nvPicPr>
          <p:cNvPr id="221" name="Google Shape;221;p18" descr="image.png"/>
          <p:cNvPicPr preferRelativeResize="0"/>
          <p:nvPr/>
        </p:nvPicPr>
        <p:blipFill rotWithShape="1">
          <a:blip r:embed="rId7"/>
          <a:srcRect/>
          <a:stretch>
            <a:fillRect/>
          </a:stretch>
        </p:blipFill>
        <p:spPr>
          <a:xfrm>
            <a:off x="5857875" y="2796480"/>
            <a:ext cx="476250" cy="381000"/>
          </a:xfrm>
          <a:prstGeom prst="rect">
            <a:avLst/>
          </a:prstGeom>
          <a:noFill/>
          <a:ln>
            <a:noFill/>
          </a:ln>
        </p:spPr>
      </p:pic>
      <p:pic>
        <p:nvPicPr>
          <p:cNvPr id="222" name="Google Shape;222;p18" descr="image.png"/>
          <p:cNvPicPr preferRelativeResize="0"/>
          <p:nvPr/>
        </p:nvPicPr>
        <p:blipFill rotWithShape="1">
          <a:blip r:embed="rId8"/>
          <a:srcRect/>
          <a:stretch>
            <a:fillRect/>
          </a:stretch>
        </p:blipFill>
        <p:spPr>
          <a:xfrm>
            <a:off x="9731424" y="2796480"/>
            <a:ext cx="285750" cy="381000"/>
          </a:xfrm>
          <a:prstGeom prst="rect">
            <a:avLst/>
          </a:prstGeom>
          <a:noFill/>
          <a:ln>
            <a:noFill/>
          </a:ln>
        </p:spPr>
      </p:pic>
      <p:sp>
        <p:nvSpPr>
          <p:cNvPr id="223" name="Google Shape;223;p18"/>
          <p:cNvSpPr txBox="1"/>
          <p:nvPr/>
        </p:nvSpPr>
        <p:spPr>
          <a:xfrm>
            <a:off x="571500" y="1019175"/>
            <a:ext cx="11601450" cy="4113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Objectifs Majeurs du Projet</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Titre 6"/>
          <p:cNvSpPr/>
          <p:nvPr>
            <p:ph type="title"/>
          </p:nvPr>
        </p:nvSpPr>
        <p:spPr>
          <a:xfrm>
            <a:off x="1747520" y="2536825"/>
            <a:ext cx="9244330" cy="1722755"/>
          </a:xfrm>
          <a:ln>
            <a:solidFill>
              <a:schemeClr val="accent1"/>
            </a:solidFill>
          </a:ln>
          <a:effectLst>
            <a:reflection blurRad="6350" stA="50000" endA="300" endPos="55500" dist="50800" dir="5400000" sy="-100000" algn="bl" rotWithShape="0"/>
          </a:effectLst>
        </p:spPr>
        <p:txBody>
          <a:bodyPr>
            <a:normAutofit/>
          </a:bodyPr>
          <a:p>
            <a:r>
              <a:rPr lang="fr-FR" altLang="en-US" sz="4800" b="1" cap="all">
                <a:solidFill>
                  <a:schemeClr val="tx1"/>
                </a:solidFill>
                <a:uFillTx/>
                <a:latin typeface="Poppins" panose="00000500000000000000" charset="0"/>
                <a:cs typeface="Poppins" panose="00000500000000000000" charset="0"/>
              </a:rPr>
              <a:t>Conception &amp; Réalisation</a:t>
            </a:r>
            <a:endParaRPr lang="fr-FR" altLang="en-US" sz="4800" b="1" cap="all">
              <a:solidFill>
                <a:schemeClr val="tx1"/>
              </a:solidFill>
              <a:uFillTx/>
              <a:latin typeface="Poppins" panose="00000500000000000000" charset="0"/>
              <a:cs typeface="Poppins" panose="00000500000000000000"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2789555" y="2805430"/>
            <a:ext cx="6188075" cy="1143000"/>
          </a:xfrm>
          <a:ln>
            <a:solidFill>
              <a:schemeClr val="tx1"/>
            </a:solidFill>
          </a:ln>
        </p:spPr>
        <p:txBody>
          <a:bodyPr/>
          <a:p>
            <a:r>
              <a:rPr lang="fr-FR" altLang="en-US" cap="all">
                <a:solidFill>
                  <a:schemeClr val="tx1"/>
                </a:solidFill>
                <a:uFillTx/>
                <a:latin typeface="Times New Roman" panose="02020603050405020304" charset="0"/>
                <a:cs typeface="Times New Roman" panose="02020603050405020304" charset="0"/>
              </a:rPr>
              <a:t>MéTHODOLOGIE</a:t>
            </a:r>
            <a:endParaRPr lang="fr-FR" altLang="en-US" cap="all">
              <a:solidFill>
                <a:schemeClr val="tx1"/>
              </a:solidFill>
              <a:uFillTx/>
              <a:latin typeface="Times New Roman" panose="02020603050405020304" charset="0"/>
              <a:cs typeface="Times New Roman" panose="02020603050405020304" charset="0"/>
            </a:endParaRPr>
          </a:p>
        </p:txBody>
      </p:sp>
      <p:sp>
        <p:nvSpPr>
          <p:cNvPr id="4" name="Zone de texte 3"/>
          <p:cNvSpPr txBox="1"/>
          <p:nvPr/>
        </p:nvSpPr>
        <p:spPr>
          <a:xfrm>
            <a:off x="702945" y="6417945"/>
            <a:ext cx="2795270" cy="272415"/>
          </a:xfrm>
          <a:prstGeom prst="rect">
            <a:avLst/>
          </a:prstGeom>
          <a:noFill/>
        </p:spPr>
        <p:txBody>
          <a:bodyPr wrap="square" rtlCol="0">
            <a:noAutofit/>
          </a:bodyPr>
          <a:p>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a:p>
            <a:endParaRPr lang="en-US" alt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09" name="Google Shape;209;p18" descr="image.png"/>
          <p:cNvPicPr preferRelativeResize="0"/>
          <p:nvPr/>
        </p:nvPicPr>
        <p:blipFill rotWithShape="1">
          <a:blip r:embed="rId2"/>
          <a:srcRect/>
          <a:stretch>
            <a:fillRect/>
          </a:stretch>
        </p:blipFill>
        <p:spPr>
          <a:xfrm>
            <a:off x="571500" y="6134100"/>
            <a:ext cx="11049000" cy="556260"/>
          </a:xfrm>
          <a:prstGeom prst="rect">
            <a:avLst/>
          </a:prstGeom>
          <a:noFill/>
          <a:ln>
            <a:noFill/>
          </a:ln>
        </p:spPr>
      </p:pic>
      <p:sp>
        <p:nvSpPr>
          <p:cNvPr id="213" name="Google Shape;213;p18"/>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a:t>
            </a: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8</a:t>
            </a:r>
            <a:endPar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317" name="Google Shape;317;p23"/>
          <p:cNvSpPr txBox="1"/>
          <p:nvPr/>
        </p:nvSpPr>
        <p:spPr>
          <a:xfrm>
            <a:off x="10034587" y="471487"/>
            <a:ext cx="1585912"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MÉTHODOLOGIE PROJET</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4" name="Zone de texte 3"/>
          <p:cNvSpPr txBox="1"/>
          <p:nvPr/>
        </p:nvSpPr>
        <p:spPr>
          <a:xfrm>
            <a:off x="702945" y="6417945"/>
            <a:ext cx="2795270" cy="272415"/>
          </a:xfrm>
          <a:prstGeom prst="rect">
            <a:avLst/>
          </a:prstGeom>
          <a:noFill/>
        </p:spPr>
        <p:txBody>
          <a:bodyPr wrap="square" rtlCol="0">
            <a:noAutofit/>
          </a:bodyPr>
          <a:p>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a:p>
            <a:endParaRPr lang="en-US" alt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09" name="Google Shape;209;p18" descr="image.png"/>
          <p:cNvPicPr preferRelativeResize="0"/>
          <p:nvPr/>
        </p:nvPicPr>
        <p:blipFill rotWithShape="1">
          <a:blip r:embed="rId2"/>
          <a:srcRect/>
          <a:stretch>
            <a:fillRect/>
          </a:stretch>
        </p:blipFill>
        <p:spPr>
          <a:xfrm>
            <a:off x="571500" y="6134100"/>
            <a:ext cx="11049000" cy="556260"/>
          </a:xfrm>
          <a:prstGeom prst="rect">
            <a:avLst/>
          </a:prstGeom>
          <a:noFill/>
          <a:ln>
            <a:noFill/>
          </a:ln>
        </p:spPr>
      </p:pic>
      <p:sp>
        <p:nvSpPr>
          <p:cNvPr id="213" name="Google Shape;213;p18"/>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a:t>
            </a: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8</a:t>
            </a:r>
            <a:endPar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5" name="Image 4" descr="agile_cycle"/>
          <p:cNvPicPr>
            <a:picLocks noChangeAspect="1"/>
          </p:cNvPicPr>
          <p:nvPr/>
        </p:nvPicPr>
        <p:blipFill>
          <a:blip r:embed="rId3"/>
          <a:stretch>
            <a:fillRect/>
          </a:stretch>
        </p:blipFill>
        <p:spPr>
          <a:xfrm>
            <a:off x="0" y="635"/>
            <a:ext cx="1219263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13" name="Shape 313"/>
        <p:cNvGrpSpPr/>
        <p:nvPr/>
      </p:nvGrpSpPr>
      <p:grpSpPr>
        <a:xfrm>
          <a:off x="0" y="0"/>
          <a:ext cx="0" cy="0"/>
          <a:chOff x="0" y="0"/>
          <a:chExt cx="0" cy="0"/>
        </a:xfrm>
      </p:grpSpPr>
      <p:pic>
        <p:nvPicPr>
          <p:cNvPr id="315" name="Google Shape;315;p23" descr="image.png"/>
          <p:cNvPicPr preferRelativeResize="0"/>
          <p:nvPr/>
        </p:nvPicPr>
        <p:blipFill rotWithShape="1">
          <a:blip r:embed="rId1"/>
          <a:srcRect/>
          <a:stretch>
            <a:fillRect/>
          </a:stretch>
        </p:blipFill>
        <p:spPr>
          <a:xfrm>
            <a:off x="571500" y="6134100"/>
            <a:ext cx="11049000" cy="295275"/>
          </a:xfrm>
          <a:prstGeom prst="rect">
            <a:avLst/>
          </a:prstGeom>
          <a:noFill/>
          <a:ln>
            <a:noFill/>
          </a:ln>
        </p:spPr>
      </p:pic>
      <p:sp>
        <p:nvSpPr>
          <p:cNvPr id="316" name="Google Shape;316;p23"/>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317" name="Google Shape;317;p23"/>
          <p:cNvSpPr txBox="1"/>
          <p:nvPr/>
        </p:nvSpPr>
        <p:spPr>
          <a:xfrm>
            <a:off x="10034587" y="471487"/>
            <a:ext cx="1585912"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MÉTHODOLOGIE PROJET</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318" name="Google Shape;318;p23"/>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319" name="Google Shape;319;p23"/>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09</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336" name="Google Shape;336;p23"/>
          <p:cNvSpPr txBox="1"/>
          <p:nvPr/>
        </p:nvSpPr>
        <p:spPr>
          <a:xfrm>
            <a:off x="590550" y="640080"/>
            <a:ext cx="11601450" cy="4978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Planning de Réalisation du Projet </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1" name="Image 0"/>
          <p:cNvPicPr>
            <a:picLocks noChangeAspect="1"/>
          </p:cNvPicPr>
          <p:nvPr/>
        </p:nvPicPr>
        <p:blipFill>
          <a:blip r:embed="rId2"/>
          <a:stretch>
            <a:fillRect/>
          </a:stretch>
        </p:blipFill>
        <p:spPr>
          <a:xfrm>
            <a:off x="571500" y="1137920"/>
            <a:ext cx="11049000" cy="55010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70" name="Shape 270"/>
        <p:cNvGrpSpPr/>
        <p:nvPr/>
      </p:nvGrpSpPr>
      <p:grpSpPr>
        <a:xfrm>
          <a:off x="0" y="0"/>
          <a:ext cx="0" cy="0"/>
          <a:chOff x="0" y="0"/>
          <a:chExt cx="0" cy="0"/>
        </a:xfrm>
      </p:grpSpPr>
      <p:pic>
        <p:nvPicPr>
          <p:cNvPr id="271" name="Google Shape;271;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72" name="Google Shape;272;p21"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273" name="Google Shape;273;p21"/>
          <p:cNvSpPr txBox="1"/>
          <p:nvPr/>
        </p:nvSpPr>
        <p:spPr>
          <a:xfrm>
            <a:off x="59944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74" name="Google Shape;274;p21"/>
          <p:cNvSpPr txBox="1"/>
          <p:nvPr/>
        </p:nvSpPr>
        <p:spPr>
          <a:xfrm>
            <a:off x="9910762" y="471487"/>
            <a:ext cx="170973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CONCEPTION DU SYSTÈME</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5" name="Google Shape;275;p21"/>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a:t>
            </a:r>
            <a:r>
              <a:rPr lang="en-US" sz="900" b="1" i="0" u="none" strike="noStrike" cap="none">
                <a:solidFill>
                  <a:srgbClr val="3B82F6"/>
                </a:solidFill>
                <a:latin typeface="Lato" panose="020F0502020204030203"/>
                <a:ea typeface="Lato" panose="020F0502020204030203"/>
                <a:cs typeface="Lato" panose="020F0502020204030203"/>
                <a:sym typeface="Lato" panose="020F0502020204030203"/>
              </a:rPr>
              <a:t>0</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277" name="Google Shape;277;p21"/>
          <p:cNvSpPr/>
          <p:nvPr/>
        </p:nvSpPr>
        <p:spPr>
          <a:xfrm>
            <a:off x="571500" y="2625030"/>
            <a:ext cx="5405437" cy="1000125"/>
          </a:xfrm>
          <a:prstGeom prst="roundRect">
            <a:avLst>
              <a:gd name="adj" fmla="val 7619"/>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78" name="Google Shape;278;p21"/>
          <p:cNvSpPr txBox="1"/>
          <p:nvPr/>
        </p:nvSpPr>
        <p:spPr>
          <a:xfrm>
            <a:off x="1095375" y="2815530"/>
            <a:ext cx="469106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Diagramme de Cas d'Utilisation</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79" name="Google Shape;279;p21"/>
          <p:cNvSpPr/>
          <p:nvPr/>
        </p:nvSpPr>
        <p:spPr>
          <a:xfrm>
            <a:off x="6215062" y="2625030"/>
            <a:ext cx="5405437" cy="1000125"/>
          </a:xfrm>
          <a:prstGeom prst="roundRect">
            <a:avLst>
              <a:gd name="adj" fmla="val 7619"/>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0" name="Google Shape;280;p21"/>
          <p:cNvSpPr txBox="1"/>
          <p:nvPr/>
        </p:nvSpPr>
        <p:spPr>
          <a:xfrm>
            <a:off x="6738937" y="2815530"/>
            <a:ext cx="469106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Diagramme d'Activités &amp; Séquences</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81" name="Google Shape;281;p21"/>
          <p:cNvSpPr/>
          <p:nvPr/>
        </p:nvSpPr>
        <p:spPr>
          <a:xfrm>
            <a:off x="571500" y="3863280"/>
            <a:ext cx="5405437" cy="1171575"/>
          </a:xfrm>
          <a:prstGeom prst="roundRect">
            <a:avLst>
              <a:gd name="adj" fmla="val 650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2" name="Google Shape;282;p21"/>
          <p:cNvSpPr txBox="1"/>
          <p:nvPr/>
        </p:nvSpPr>
        <p:spPr>
          <a:xfrm>
            <a:off x="1095375" y="4053780"/>
            <a:ext cx="4691062" cy="790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Modèle Entité-Relationnel (ERD)</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83" name="Google Shape;283;p21"/>
          <p:cNvSpPr/>
          <p:nvPr/>
        </p:nvSpPr>
        <p:spPr>
          <a:xfrm>
            <a:off x="6215062" y="3863280"/>
            <a:ext cx="5405437" cy="1171575"/>
          </a:xfrm>
          <a:prstGeom prst="roundRect">
            <a:avLst>
              <a:gd name="adj" fmla="val 650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4" name="Google Shape;284;p21"/>
          <p:cNvSpPr txBox="1"/>
          <p:nvPr/>
        </p:nvSpPr>
        <p:spPr>
          <a:xfrm>
            <a:off x="6738937" y="4053780"/>
            <a:ext cx="4691062" cy="790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Isolation Logique Multi-Tenant</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85" name="Google Shape;285;p21"/>
          <p:cNvSpPr/>
          <p:nvPr/>
        </p:nvSpPr>
        <p:spPr>
          <a:xfrm>
            <a:off x="571500" y="36156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6" name="Google Shape;286;p21"/>
          <p:cNvSpPr txBox="1"/>
          <p:nvPr/>
        </p:nvSpPr>
        <p:spPr>
          <a:xfrm>
            <a:off x="1104900" y="3082230"/>
            <a:ext cx="4672012"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Définition des limites fonctionnelles du système (Administration complète pour le propriétaire ; consultation et paiement pour le locataire).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87" name="Google Shape;287;p21"/>
          <p:cNvSpPr/>
          <p:nvPr/>
        </p:nvSpPr>
        <p:spPr>
          <a:xfrm>
            <a:off x="6215062" y="36156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8" name="Google Shape;288;p21"/>
          <p:cNvSpPr txBox="1"/>
          <p:nvPr/>
        </p:nvSpPr>
        <p:spPr>
          <a:xfrm>
            <a:off x="6748462" y="3082230"/>
            <a:ext cx="4672012"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Formalisation des processus métiers dynamiques, en particulier l'interaction asynchrone lors de la génération automatique d'échéances.</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89" name="Google Shape;289;p21"/>
          <p:cNvSpPr/>
          <p:nvPr/>
        </p:nvSpPr>
        <p:spPr>
          <a:xfrm>
            <a:off x="571500" y="50253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0" name="Google Shape;290;p21"/>
          <p:cNvSpPr txBox="1"/>
          <p:nvPr/>
        </p:nvSpPr>
        <p:spPr>
          <a:xfrm>
            <a:off x="1104900" y="4320480"/>
            <a:ext cx="4672012"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Tables hautement indexées sur PostgreSQL pour accélérer les requêtes SQL complexes, gérant la relation Biens -&gt; Unités -&gt; Contrats -&gt; Échéances.</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91" name="Google Shape;291;p21"/>
          <p:cNvSpPr/>
          <p:nvPr/>
        </p:nvSpPr>
        <p:spPr>
          <a:xfrm>
            <a:off x="6215062" y="50253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2" name="Google Shape;292;p21"/>
          <p:cNvSpPr txBox="1"/>
          <p:nvPr/>
        </p:nvSpPr>
        <p:spPr>
          <a:xfrm>
            <a:off x="6748462" y="4320480"/>
            <a:ext cx="4672012"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Filtre injecté dynamiquement dans toutes les requêtes SQL, empêchant formellement un propriétaire d'accéder aux données d'un autre bailleur.</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93" name="Google Shape;293;p21" descr="image.png"/>
          <p:cNvPicPr preferRelativeResize="0"/>
          <p:nvPr/>
        </p:nvPicPr>
        <p:blipFill rotWithShape="1">
          <a:blip r:embed="rId3"/>
          <a:srcRect/>
          <a:stretch>
            <a:fillRect/>
          </a:stretch>
        </p:blipFill>
        <p:spPr>
          <a:xfrm>
            <a:off x="771525" y="2839342"/>
            <a:ext cx="219075" cy="200025"/>
          </a:xfrm>
          <a:prstGeom prst="rect">
            <a:avLst/>
          </a:prstGeom>
          <a:noFill/>
          <a:ln>
            <a:noFill/>
          </a:ln>
        </p:spPr>
      </p:pic>
      <p:pic>
        <p:nvPicPr>
          <p:cNvPr id="294" name="Google Shape;294;p21" descr="image.png"/>
          <p:cNvPicPr preferRelativeResize="0"/>
          <p:nvPr/>
        </p:nvPicPr>
        <p:blipFill rotWithShape="1">
          <a:blip r:embed="rId4"/>
          <a:srcRect/>
          <a:stretch>
            <a:fillRect/>
          </a:stretch>
        </p:blipFill>
        <p:spPr>
          <a:xfrm>
            <a:off x="6415087" y="2839342"/>
            <a:ext cx="238125" cy="200025"/>
          </a:xfrm>
          <a:prstGeom prst="rect">
            <a:avLst/>
          </a:prstGeom>
          <a:noFill/>
          <a:ln>
            <a:noFill/>
          </a:ln>
        </p:spPr>
      </p:pic>
      <p:pic>
        <p:nvPicPr>
          <p:cNvPr id="295" name="Google Shape;295;p21" descr="image.png"/>
          <p:cNvPicPr preferRelativeResize="0"/>
          <p:nvPr/>
        </p:nvPicPr>
        <p:blipFill rotWithShape="1">
          <a:blip r:embed="rId5"/>
          <a:srcRect/>
          <a:stretch>
            <a:fillRect/>
          </a:stretch>
        </p:blipFill>
        <p:spPr>
          <a:xfrm>
            <a:off x="771525" y="4077592"/>
            <a:ext cx="171450" cy="200025"/>
          </a:xfrm>
          <a:prstGeom prst="rect">
            <a:avLst/>
          </a:prstGeom>
          <a:noFill/>
          <a:ln>
            <a:noFill/>
          </a:ln>
        </p:spPr>
      </p:pic>
      <p:pic>
        <p:nvPicPr>
          <p:cNvPr id="296" name="Google Shape;296;p21" descr="image.png"/>
          <p:cNvPicPr preferRelativeResize="0"/>
          <p:nvPr/>
        </p:nvPicPr>
        <p:blipFill rotWithShape="1">
          <a:blip r:embed="rId6"/>
          <a:srcRect/>
          <a:stretch>
            <a:fillRect/>
          </a:stretch>
        </p:blipFill>
        <p:spPr>
          <a:xfrm>
            <a:off x="6415087" y="4077592"/>
            <a:ext cx="171450" cy="200025"/>
          </a:xfrm>
          <a:prstGeom prst="rect">
            <a:avLst/>
          </a:prstGeom>
          <a:noFill/>
          <a:ln>
            <a:noFill/>
          </a:ln>
        </p:spPr>
      </p:pic>
      <p:sp>
        <p:nvSpPr>
          <p:cNvPr id="297" name="Google Shape;297;p21"/>
          <p:cNvSpPr txBox="1"/>
          <p:nvPr/>
        </p:nvSpPr>
        <p:spPr>
          <a:xfrm>
            <a:off x="571500" y="1019175"/>
            <a:ext cx="11601450" cy="4978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Modélisation UML 2.x</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3600" cap="all">
                <a:solidFill>
                  <a:schemeClr val="tx1"/>
                </a:solidFill>
                <a:uFillTx/>
                <a:latin typeface="Times New Roman" panose="02020603050405020304" charset="0"/>
                <a:cs typeface="Times New Roman" panose="02020603050405020304" charset="0"/>
              </a:rPr>
              <a:t>Diagramme de contexte</a:t>
            </a:r>
            <a:endParaRPr lang="fr-FR" altLang="en-US" sz="36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11</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5" name="Image 4" descr="Contexte.drawio"/>
          <p:cNvPicPr>
            <a:picLocks noChangeAspect="1"/>
          </p:cNvPicPr>
          <p:nvPr/>
        </p:nvPicPr>
        <p:blipFill>
          <a:blip r:embed="rId3"/>
          <a:stretch>
            <a:fillRect/>
          </a:stretch>
        </p:blipFill>
        <p:spPr>
          <a:xfrm>
            <a:off x="1604645" y="1200785"/>
            <a:ext cx="8262620" cy="44564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2800" cap="all">
                <a:solidFill>
                  <a:schemeClr val="tx1"/>
                </a:solidFill>
                <a:uFillTx/>
                <a:latin typeface="Times New Roman" panose="02020603050405020304" charset="0"/>
                <a:cs typeface="Times New Roman" panose="02020603050405020304" charset="0"/>
              </a:rPr>
              <a:t>Diagramme de Package</a:t>
            </a:r>
            <a:endParaRPr lang="fr-FR" altLang="en-US" sz="28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12</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3" name="Image 2" descr="package.drawio1"/>
          <p:cNvPicPr>
            <a:picLocks noChangeAspect="1"/>
          </p:cNvPicPr>
          <p:nvPr/>
        </p:nvPicPr>
        <p:blipFill>
          <a:blip r:embed="rId3"/>
          <a:stretch>
            <a:fillRect/>
          </a:stretch>
        </p:blipFill>
        <p:spPr>
          <a:xfrm>
            <a:off x="404495" y="763270"/>
            <a:ext cx="10949940" cy="60947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2800" cap="all">
                <a:solidFill>
                  <a:schemeClr val="tx1"/>
                </a:solidFill>
                <a:uFillTx/>
                <a:latin typeface="Times New Roman" panose="02020603050405020304" charset="0"/>
                <a:cs typeface="Times New Roman" panose="02020603050405020304" charset="0"/>
              </a:rPr>
              <a:t>Diagramme de cas d’utilisation</a:t>
            </a:r>
            <a:endParaRPr lang="fr-FR" altLang="en-US" sz="28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13</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5" name="Image 4" descr="use case"/>
          <p:cNvPicPr>
            <a:picLocks noChangeAspect="1"/>
          </p:cNvPicPr>
          <p:nvPr/>
        </p:nvPicPr>
        <p:blipFill>
          <a:blip r:embed="rId3"/>
          <a:stretch>
            <a:fillRect/>
          </a:stretch>
        </p:blipFill>
        <p:spPr>
          <a:xfrm>
            <a:off x="2734310" y="942975"/>
            <a:ext cx="7040245" cy="56292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noAutofit/>
          </a:bodyPr>
          <a:p>
            <a:r>
              <a:rPr lang="fr-FR" altLang="en-US" sz="2500" cap="all">
                <a:solidFill>
                  <a:schemeClr val="tx1"/>
                </a:solidFill>
                <a:uFillTx/>
                <a:latin typeface="Times New Roman" panose="02020603050405020304" charset="0"/>
                <a:cs typeface="Times New Roman" panose="02020603050405020304" charset="0"/>
              </a:rPr>
              <a:t>Diagramme d’activité : création d’un bail</a:t>
            </a:r>
            <a:endParaRPr lang="fr-FR" altLang="en-US" sz="25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14</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6" name="Image 5" descr="diagrame-Activité - Création Contrat de Bail_1.drawio"/>
          <p:cNvPicPr>
            <a:picLocks noChangeAspect="1"/>
          </p:cNvPicPr>
          <p:nvPr/>
        </p:nvPicPr>
        <p:blipFill>
          <a:blip r:embed="rId3"/>
          <a:stretch>
            <a:fillRect/>
          </a:stretch>
        </p:blipFill>
        <p:spPr>
          <a:xfrm>
            <a:off x="2486025" y="966470"/>
            <a:ext cx="7843520" cy="58915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normAutofit fontScale="90000"/>
          </a:bodyPr>
          <a:p>
            <a:r>
              <a:rPr lang="fr-FR" altLang="en-US" sz="2800" cap="all">
                <a:solidFill>
                  <a:schemeClr val="tx1"/>
                </a:solidFill>
                <a:uFillTx/>
                <a:latin typeface="Times New Roman" panose="02020603050405020304" charset="0"/>
                <a:cs typeface="Times New Roman" panose="02020603050405020304" charset="0"/>
              </a:rPr>
              <a:t>Diagramme de séquence : Paiement MOBILE</a:t>
            </a:r>
            <a:endParaRPr lang="fr-FR" altLang="en-US" sz="28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50112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15</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3" name="Image 2" descr="sequence paiement mobile"/>
          <p:cNvPicPr>
            <a:picLocks noChangeAspect="1"/>
          </p:cNvPicPr>
          <p:nvPr/>
        </p:nvPicPr>
        <p:blipFill>
          <a:blip r:embed="rId3"/>
          <a:stretch>
            <a:fillRect/>
          </a:stretch>
        </p:blipFill>
        <p:spPr>
          <a:xfrm>
            <a:off x="320040" y="878205"/>
            <a:ext cx="11551285" cy="54857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3200" cap="all">
                <a:solidFill>
                  <a:schemeClr val="tx1"/>
                </a:solidFill>
                <a:uFillTx/>
                <a:latin typeface="Times New Roman" panose="02020603050405020304" charset="0"/>
                <a:cs typeface="Times New Roman" panose="02020603050405020304" charset="0"/>
              </a:rPr>
              <a:t>Diagramme de classe</a:t>
            </a:r>
            <a:endParaRPr lang="fr-FR" altLang="en-US" sz="32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16</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3" name="Image 2" descr="classe.drawio"/>
          <p:cNvPicPr>
            <a:picLocks noChangeAspect="1"/>
          </p:cNvPicPr>
          <p:nvPr/>
        </p:nvPicPr>
        <p:blipFill>
          <a:blip r:embed="rId3"/>
          <a:stretch>
            <a:fillRect/>
          </a:stretch>
        </p:blipFill>
        <p:spPr>
          <a:xfrm>
            <a:off x="1299210" y="762635"/>
            <a:ext cx="9816465" cy="62312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2800" cap="all">
                <a:solidFill>
                  <a:schemeClr val="tx1"/>
                </a:solidFill>
                <a:uFillTx/>
                <a:latin typeface="Times New Roman" panose="02020603050405020304" charset="0"/>
                <a:cs typeface="Times New Roman" panose="02020603050405020304" charset="0"/>
              </a:rPr>
              <a:t>Architecture logicielle du système</a:t>
            </a:r>
            <a:endParaRPr lang="fr-FR" altLang="en-US" sz="28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17</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6" name="Zone de texte 5"/>
          <p:cNvSpPr txBox="1"/>
          <p:nvPr/>
        </p:nvSpPr>
        <p:spPr>
          <a:xfrm>
            <a:off x="410210" y="1113155"/>
            <a:ext cx="5318760" cy="5125085"/>
          </a:xfrm>
          <a:prstGeom prst="rect">
            <a:avLst/>
          </a:prstGeom>
          <a:noFill/>
        </p:spPr>
        <p:txBody>
          <a:bodyPr wrap="square" rtlCol="0">
            <a:noAutofit/>
          </a:bodyPr>
          <a:p>
            <a:endParaRPr lang="fr-FR" altLang="en-US"/>
          </a:p>
        </p:txBody>
      </p:sp>
      <p:pic>
        <p:nvPicPr>
          <p:cNvPr id="9" name="Image 8" descr="rental_architecture _logicielle.drawio_pptx"/>
          <p:cNvPicPr>
            <a:picLocks noChangeAspect="1"/>
          </p:cNvPicPr>
          <p:nvPr/>
        </p:nvPicPr>
        <p:blipFill>
          <a:blip r:embed="rId3"/>
          <a:stretch>
            <a:fillRect/>
          </a:stretch>
        </p:blipFill>
        <p:spPr>
          <a:xfrm>
            <a:off x="1814195" y="1046480"/>
            <a:ext cx="9015095" cy="52933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normAutofit fontScale="90000"/>
          </a:bodyPr>
          <a:p>
            <a:r>
              <a:rPr lang="fr-FR" altLang="en-US" sz="3200" cap="all">
                <a:solidFill>
                  <a:schemeClr val="tx1"/>
                </a:solidFill>
                <a:uFillTx/>
                <a:latin typeface="Times New Roman" panose="02020603050405020304" charset="0"/>
                <a:cs typeface="Times New Roman" panose="02020603050405020304" charset="0"/>
              </a:rPr>
              <a:t>Architecture matérielle du système</a:t>
            </a:r>
            <a:endParaRPr lang="fr-FR" altLang="en-US" sz="32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2"/>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520815"/>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18</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6" name="Zone de texte 5"/>
          <p:cNvSpPr txBox="1"/>
          <p:nvPr/>
        </p:nvSpPr>
        <p:spPr>
          <a:xfrm>
            <a:off x="410210" y="1113155"/>
            <a:ext cx="5318760" cy="5125085"/>
          </a:xfrm>
          <a:prstGeom prst="rect">
            <a:avLst/>
          </a:prstGeom>
          <a:noFill/>
        </p:spPr>
        <p:txBody>
          <a:bodyPr wrap="square" rtlCol="0">
            <a:noAutofit/>
          </a:bodyPr>
          <a:p>
            <a:endParaRPr lang="fr-FR" altLang="en-US"/>
          </a:p>
        </p:txBody>
      </p:sp>
      <p:pic>
        <p:nvPicPr>
          <p:cNvPr id="8" name="Image 7" descr="rental_architecture_materielle.drawio_pptx"/>
          <p:cNvPicPr>
            <a:picLocks noChangeAspect="1"/>
          </p:cNvPicPr>
          <p:nvPr/>
        </p:nvPicPr>
        <p:blipFill>
          <a:blip r:embed="rId3"/>
          <a:stretch>
            <a:fillRect/>
          </a:stretch>
        </p:blipFill>
        <p:spPr>
          <a:xfrm>
            <a:off x="1913890" y="892810"/>
            <a:ext cx="8510905" cy="587946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51" name="Shape 251"/>
        <p:cNvGrpSpPr/>
        <p:nvPr/>
      </p:nvGrpSpPr>
      <p:grpSpPr>
        <a:xfrm>
          <a:off x="0" y="0"/>
          <a:ext cx="0" cy="0"/>
          <a:chOff x="0" y="0"/>
          <a:chExt cx="0" cy="0"/>
        </a:xfrm>
      </p:grpSpPr>
      <p:pic>
        <p:nvPicPr>
          <p:cNvPr id="253" name="Google Shape;253;p20" descr="image.png"/>
          <p:cNvPicPr preferRelativeResize="0"/>
          <p:nvPr/>
        </p:nvPicPr>
        <p:blipFill rotWithShape="1">
          <a:blip r:embed="rId1"/>
          <a:srcRect/>
          <a:stretch>
            <a:fillRect/>
          </a:stretch>
        </p:blipFill>
        <p:spPr>
          <a:xfrm>
            <a:off x="950595" y="2065020"/>
            <a:ext cx="2781300" cy="1528445"/>
          </a:xfrm>
          <a:prstGeom prst="rect">
            <a:avLst/>
          </a:prstGeom>
          <a:noFill/>
          <a:ln>
            <a:noFill/>
          </a:ln>
        </p:spPr>
      </p:pic>
      <p:pic>
        <p:nvPicPr>
          <p:cNvPr id="255" name="Google Shape;255;p20"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256" name="Google Shape;256;p20"/>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58" name="Google Shape;258;p20"/>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59" name="Google Shape;259;p20"/>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19</a:t>
            </a:r>
            <a:endPar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260" name="Google Shape;260;p20"/>
          <p:cNvSpPr txBox="1"/>
          <p:nvPr/>
        </p:nvSpPr>
        <p:spPr>
          <a:xfrm>
            <a:off x="1229360" y="2311955"/>
            <a:ext cx="4570571" cy="24574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 Backend API Robuste</a:t>
            </a:r>
            <a:endParaRPr 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66" name="Google Shape;266;p20"/>
          <p:cNvSpPr txBox="1"/>
          <p:nvPr/>
        </p:nvSpPr>
        <p:spPr>
          <a:xfrm>
            <a:off x="571500" y="1019175"/>
            <a:ext cx="11601450" cy="4113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Choix Techniques &amp; Technologie</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17" name="Image 16" descr="spring-boot-logo"/>
          <p:cNvPicPr>
            <a:picLocks noChangeAspect="1"/>
          </p:cNvPicPr>
          <p:nvPr/>
        </p:nvPicPr>
        <p:blipFill>
          <a:blip r:embed="rId3"/>
          <a:stretch>
            <a:fillRect/>
          </a:stretch>
        </p:blipFill>
        <p:spPr>
          <a:xfrm>
            <a:off x="1590675" y="2717800"/>
            <a:ext cx="1555115" cy="816610"/>
          </a:xfrm>
          <a:prstGeom prst="rect">
            <a:avLst/>
          </a:prstGeom>
        </p:spPr>
      </p:pic>
      <p:pic>
        <p:nvPicPr>
          <p:cNvPr id="2" name="Google Shape;253;p20" descr="image.png"/>
          <p:cNvPicPr preferRelativeResize="0"/>
          <p:nvPr/>
        </p:nvPicPr>
        <p:blipFill rotWithShape="1">
          <a:blip r:embed="rId1"/>
          <a:srcRect/>
          <a:stretch>
            <a:fillRect/>
          </a:stretch>
        </p:blipFill>
        <p:spPr>
          <a:xfrm>
            <a:off x="4705350" y="2065020"/>
            <a:ext cx="2781300" cy="1528445"/>
          </a:xfrm>
          <a:prstGeom prst="rect">
            <a:avLst/>
          </a:prstGeom>
          <a:noFill/>
          <a:ln>
            <a:noFill/>
          </a:ln>
        </p:spPr>
      </p:pic>
      <p:sp>
        <p:nvSpPr>
          <p:cNvPr id="3" name="Google Shape;260;p20"/>
          <p:cNvSpPr txBox="1"/>
          <p:nvPr/>
        </p:nvSpPr>
        <p:spPr>
          <a:xfrm>
            <a:off x="4705350" y="2311955"/>
            <a:ext cx="4570571" cy="24574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 </a:t>
            </a:r>
            <a:r>
              <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Framework web (Angular)</a:t>
            </a:r>
            <a:endPar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4" name="Google Shape;253;p20" descr="image.png"/>
          <p:cNvPicPr preferRelativeResize="0"/>
          <p:nvPr/>
        </p:nvPicPr>
        <p:blipFill rotWithShape="1">
          <a:blip r:embed="rId1"/>
          <a:srcRect/>
          <a:stretch>
            <a:fillRect/>
          </a:stretch>
        </p:blipFill>
        <p:spPr>
          <a:xfrm>
            <a:off x="8540750" y="2065020"/>
            <a:ext cx="2781300" cy="1528445"/>
          </a:xfrm>
          <a:prstGeom prst="rect">
            <a:avLst/>
          </a:prstGeom>
          <a:noFill/>
          <a:ln>
            <a:noFill/>
          </a:ln>
        </p:spPr>
      </p:pic>
      <p:sp>
        <p:nvSpPr>
          <p:cNvPr id="5" name="Google Shape;260;p20"/>
          <p:cNvSpPr txBox="1"/>
          <p:nvPr/>
        </p:nvSpPr>
        <p:spPr>
          <a:xfrm>
            <a:off x="8714105" y="2311955"/>
            <a:ext cx="4570571" cy="24574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Framework mobile(Ionic)</a:t>
            </a:r>
            <a:endPar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6" name="Image 5" descr="idBXx3ksX4_logos"/>
          <p:cNvPicPr>
            <a:picLocks noChangeAspect="1"/>
          </p:cNvPicPr>
          <p:nvPr/>
        </p:nvPicPr>
        <p:blipFill>
          <a:blip r:embed="rId4"/>
          <a:stretch>
            <a:fillRect/>
          </a:stretch>
        </p:blipFill>
        <p:spPr>
          <a:xfrm>
            <a:off x="5633720" y="2557780"/>
            <a:ext cx="924560" cy="924560"/>
          </a:xfrm>
          <a:prstGeom prst="rect">
            <a:avLst/>
          </a:prstGeom>
        </p:spPr>
      </p:pic>
      <p:pic>
        <p:nvPicPr>
          <p:cNvPr id="7" name="Image 6" descr="Ionic Icon"/>
          <p:cNvPicPr>
            <a:picLocks noChangeAspect="1"/>
          </p:cNvPicPr>
          <p:nvPr/>
        </p:nvPicPr>
        <p:blipFill>
          <a:blip r:embed="rId5"/>
          <a:stretch>
            <a:fillRect/>
          </a:stretch>
        </p:blipFill>
        <p:spPr>
          <a:xfrm>
            <a:off x="9554845" y="2654935"/>
            <a:ext cx="827405" cy="827405"/>
          </a:xfrm>
          <a:prstGeom prst="rect">
            <a:avLst/>
          </a:prstGeom>
        </p:spPr>
      </p:pic>
      <p:pic>
        <p:nvPicPr>
          <p:cNvPr id="8" name="Google Shape;253;p20" descr="image.png"/>
          <p:cNvPicPr preferRelativeResize="0"/>
          <p:nvPr/>
        </p:nvPicPr>
        <p:blipFill rotWithShape="1">
          <a:blip r:embed="rId1"/>
          <a:srcRect/>
          <a:stretch>
            <a:fillRect/>
          </a:stretch>
        </p:blipFill>
        <p:spPr>
          <a:xfrm>
            <a:off x="950595" y="4227830"/>
            <a:ext cx="2781300" cy="1528445"/>
          </a:xfrm>
          <a:prstGeom prst="rect">
            <a:avLst/>
          </a:prstGeom>
          <a:noFill/>
          <a:ln>
            <a:noFill/>
          </a:ln>
        </p:spPr>
      </p:pic>
      <p:sp>
        <p:nvSpPr>
          <p:cNvPr id="9" name="Google Shape;260;p20"/>
          <p:cNvSpPr txBox="1"/>
          <p:nvPr/>
        </p:nvSpPr>
        <p:spPr>
          <a:xfrm>
            <a:off x="1832610" y="4474765"/>
            <a:ext cx="4570571" cy="24574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PostgreSQL</a:t>
            </a:r>
            <a:endPar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10" name="Google Shape;253;p20" descr="image.png"/>
          <p:cNvPicPr preferRelativeResize="0"/>
          <p:nvPr/>
        </p:nvPicPr>
        <p:blipFill rotWithShape="1">
          <a:blip r:embed="rId1"/>
          <a:srcRect/>
          <a:stretch>
            <a:fillRect/>
          </a:stretch>
        </p:blipFill>
        <p:spPr>
          <a:xfrm>
            <a:off x="4705350" y="4227830"/>
            <a:ext cx="2781300" cy="1528445"/>
          </a:xfrm>
          <a:prstGeom prst="rect">
            <a:avLst/>
          </a:prstGeom>
          <a:noFill/>
          <a:ln>
            <a:noFill/>
          </a:ln>
        </p:spPr>
      </p:pic>
      <p:sp>
        <p:nvSpPr>
          <p:cNvPr id="11" name="Google Shape;260;p20"/>
          <p:cNvSpPr txBox="1"/>
          <p:nvPr/>
        </p:nvSpPr>
        <p:spPr>
          <a:xfrm>
            <a:off x="5506085" y="4474765"/>
            <a:ext cx="4570571" cy="24574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DrawIo</a:t>
            </a:r>
            <a:endPar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12" name="Google Shape;253;p20" descr="image.png"/>
          <p:cNvPicPr preferRelativeResize="0"/>
          <p:nvPr/>
        </p:nvPicPr>
        <p:blipFill rotWithShape="1">
          <a:blip r:embed="rId1"/>
          <a:srcRect/>
          <a:stretch>
            <a:fillRect/>
          </a:stretch>
        </p:blipFill>
        <p:spPr>
          <a:xfrm>
            <a:off x="8460105" y="4227830"/>
            <a:ext cx="2781300" cy="1528445"/>
          </a:xfrm>
          <a:prstGeom prst="rect">
            <a:avLst/>
          </a:prstGeom>
          <a:noFill/>
          <a:ln>
            <a:noFill/>
          </a:ln>
        </p:spPr>
      </p:pic>
      <p:sp>
        <p:nvSpPr>
          <p:cNvPr id="13" name="Google Shape;260;p20"/>
          <p:cNvSpPr txBox="1"/>
          <p:nvPr/>
        </p:nvSpPr>
        <p:spPr>
          <a:xfrm>
            <a:off x="9554845" y="4474845"/>
            <a:ext cx="969645" cy="245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Langage </a:t>
            </a:r>
            <a:endParaRPr lang="fr-FR" altLang="en-US" sz="16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14" name="Image 13" descr="postgre"/>
          <p:cNvPicPr>
            <a:picLocks noChangeAspect="1"/>
          </p:cNvPicPr>
          <p:nvPr/>
        </p:nvPicPr>
        <p:blipFill>
          <a:blip r:embed="rId6"/>
          <a:srcRect b="22334"/>
          <a:stretch>
            <a:fillRect/>
          </a:stretch>
        </p:blipFill>
        <p:spPr>
          <a:xfrm>
            <a:off x="1832610" y="4821555"/>
            <a:ext cx="1071880" cy="832485"/>
          </a:xfrm>
          <a:prstGeom prst="rect">
            <a:avLst/>
          </a:prstGeom>
        </p:spPr>
      </p:pic>
      <p:pic>
        <p:nvPicPr>
          <p:cNvPr id="15" name="Image 14" descr="Diagrams.net_Logo.svg"/>
          <p:cNvPicPr>
            <a:picLocks noChangeAspect="1"/>
          </p:cNvPicPr>
          <p:nvPr/>
        </p:nvPicPr>
        <p:blipFill>
          <a:blip r:embed="rId7"/>
          <a:stretch>
            <a:fillRect/>
          </a:stretch>
        </p:blipFill>
        <p:spPr>
          <a:xfrm>
            <a:off x="5506085" y="4821555"/>
            <a:ext cx="860425" cy="860425"/>
          </a:xfrm>
          <a:prstGeom prst="rect">
            <a:avLst/>
          </a:prstGeom>
        </p:spPr>
      </p:pic>
      <p:pic>
        <p:nvPicPr>
          <p:cNvPr id="16" name="Espace réservé du contenu 7" descr="Une image contenant Police, Graphique, logo, conception&#10;&#10;Le contenu généré par l’IA peut être incorrect."/>
          <p:cNvPicPr>
            <a:picLocks noGrp="1" noChangeAspect="1"/>
          </p:cNvPicPr>
          <p:nvPr/>
        </p:nvPicPr>
        <p:blipFill>
          <a:blip r:embed="rId8"/>
          <a:stretch>
            <a:fillRect/>
          </a:stretch>
        </p:blipFill>
        <p:spPr>
          <a:xfrm>
            <a:off x="9287510" y="4773930"/>
            <a:ext cx="1439545" cy="8953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67" name="Shape 167"/>
        <p:cNvGrpSpPr/>
        <p:nvPr/>
      </p:nvGrpSpPr>
      <p:grpSpPr>
        <a:xfrm>
          <a:off x="0" y="0"/>
          <a:ext cx="0" cy="0"/>
          <a:chOff x="0" y="0"/>
          <a:chExt cx="0" cy="0"/>
        </a:xfrm>
      </p:grpSpPr>
      <p:pic>
        <p:nvPicPr>
          <p:cNvPr id="168" name="Google Shape;168;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69" name="Google Shape;169;p17" descr="image.png"/>
          <p:cNvPicPr preferRelativeResize="0"/>
          <p:nvPr/>
        </p:nvPicPr>
        <p:blipFill rotWithShape="1">
          <a:blip r:embed="rId2"/>
          <a:srcRect/>
          <a:stretch>
            <a:fillRect/>
          </a:stretch>
        </p:blipFill>
        <p:spPr>
          <a:xfrm>
            <a:off x="571500" y="2129730"/>
            <a:ext cx="11049000" cy="3400425"/>
          </a:xfrm>
          <a:prstGeom prst="rect">
            <a:avLst/>
          </a:prstGeom>
          <a:noFill/>
          <a:ln>
            <a:noFill/>
          </a:ln>
        </p:spPr>
      </p:pic>
      <p:pic>
        <p:nvPicPr>
          <p:cNvPr id="170" name="Google Shape;170;p17" descr="image.png"/>
          <p:cNvPicPr preferRelativeResize="0"/>
          <p:nvPr/>
        </p:nvPicPr>
        <p:blipFill rotWithShape="1">
          <a:blip r:embed="rId3"/>
          <a:srcRect/>
          <a:stretch>
            <a:fillRect/>
          </a:stretch>
        </p:blipFill>
        <p:spPr>
          <a:xfrm>
            <a:off x="571500" y="6134100"/>
            <a:ext cx="11049000" cy="295275"/>
          </a:xfrm>
          <a:prstGeom prst="rect">
            <a:avLst/>
          </a:prstGeom>
          <a:noFill/>
          <a:ln>
            <a:noFill/>
          </a:ln>
        </p:spPr>
      </p:pic>
      <p:sp>
        <p:nvSpPr>
          <p:cNvPr id="171" name="Google Shape;171;p17"/>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72" name="Google Shape;172;p17"/>
          <p:cNvSpPr txBox="1"/>
          <p:nvPr/>
        </p:nvSpPr>
        <p:spPr>
          <a:xfrm>
            <a:off x="10082212" y="471487"/>
            <a:ext cx="153828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ANALYSE COMPARATIVE</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73" name="Google Shape;173;p17"/>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74" name="Google Shape;174;p17"/>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20</a:t>
            </a:r>
            <a:endPar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graphicFrame>
        <p:nvGraphicFramePr>
          <p:cNvPr id="175" name="Google Shape;175;p17"/>
          <p:cNvGraphicFramePr/>
          <p:nvPr>
            <p:custDataLst>
              <p:tags r:id="rId4"/>
            </p:custDataLst>
          </p:nvPr>
        </p:nvGraphicFramePr>
        <p:xfrm>
          <a:off x="581025" y="2139315"/>
          <a:ext cx="11040110" cy="3246120"/>
        </p:xfrm>
        <a:graphic>
          <a:graphicData uri="http://schemas.openxmlformats.org/drawingml/2006/table">
            <a:tbl>
              <a:tblPr firstRow="1" bandRow="1">
                <a:noFill/>
                <a:tableStyleId>{5DAD3497-3041-4D27-8FF0-422A7831B682}</a:tableStyleId>
              </a:tblPr>
              <a:tblGrid>
                <a:gridCol w="4110990"/>
                <a:gridCol w="6929120"/>
              </a:tblGrid>
              <a:tr h="835660">
                <a:tc>
                  <a:txBody>
                    <a:bodyPr/>
                    <a:lstStyle/>
                    <a:p>
                      <a:pPr marL="0" marR="0" lvl="0" indent="0" algn="l" rtl="0">
                        <a:spcBef>
                          <a:spcPts val="0"/>
                        </a:spcBef>
                        <a:spcAft>
                          <a:spcPts val="0"/>
                        </a:spcAft>
                        <a:buNone/>
                      </a:pPr>
                      <a:r>
                        <a:rPr lang="fr-FR" altLang="en-US" sz="1800" b="1" i="0" u="none" strike="noStrike" cap="none">
                          <a:solidFill>
                            <a:srgbClr val="1E293B"/>
                          </a:solidFill>
                          <a:latin typeface="Lato" panose="020F0502020204030203"/>
                          <a:ea typeface="Lato" panose="020F0502020204030203"/>
                          <a:cs typeface="Lato" panose="020F0502020204030203"/>
                          <a:sym typeface="Lato" panose="020F0502020204030203"/>
                        </a:rPr>
                        <a:t>Matériel</a:t>
                      </a:r>
                      <a:endParaRPr lang="fr-FR" altLang="en-US" sz="1800" b="1" i="0" u="none" strike="noStrike" cap="none">
                        <a:solidFill>
                          <a:srgbClr val="1E293B"/>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fr-FR" altLang="en-US" sz="1800" b="1" i="0" u="none" strike="noStrike" cap="none">
                          <a:solidFill>
                            <a:srgbClr val="1E293B"/>
                          </a:solidFill>
                          <a:latin typeface="Lato" panose="020F0502020204030203"/>
                          <a:ea typeface="Lato" panose="020F0502020204030203"/>
                          <a:cs typeface="Lato" panose="020F0502020204030203"/>
                          <a:sym typeface="Lato" panose="020F0502020204030203"/>
                        </a:rPr>
                        <a:t>Caractéristiques</a:t>
                      </a:r>
                      <a:endParaRPr lang="fr-FR" altLang="en-US" sz="1800" b="1" i="0" u="none" strike="noStrike" cap="none">
                        <a:solidFill>
                          <a:srgbClr val="1E293B"/>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r>
              <a:tr h="1140460">
                <a:tc>
                  <a:txBody>
                    <a:bodyPr/>
                    <a:lstStyle/>
                    <a:p>
                      <a:pPr marL="0" marR="0" lvl="0" indent="0" algn="l" rtl="0">
                        <a:spcBef>
                          <a:spcPts val="0"/>
                        </a:spcBef>
                        <a:spcAft>
                          <a:spcPts val="0"/>
                        </a:spcAft>
                        <a:buFont typeface="Arial" panose="020B0604020202020204" pitchFamily="34" charset="0"/>
                        <a:buNone/>
                      </a:pPr>
                      <a:r>
                        <a:rPr lang="fr-FR" altLang="en-US" sz="1800" b="1" i="0" u="none" strike="noStrike" cap="none">
                          <a:solidFill>
                            <a:srgbClr val="475569"/>
                          </a:solidFill>
                          <a:latin typeface="Lato" panose="020F0502020204030203"/>
                          <a:ea typeface="Lato" panose="020F0502020204030203"/>
                          <a:cs typeface="Lato" panose="020F0502020204030203"/>
                          <a:sym typeface="Lato" panose="020F0502020204030203"/>
                        </a:rPr>
                        <a:t>Ordinateur (destiné au Bailleur)</a:t>
                      </a:r>
                      <a:endParaRPr lang="fr-FR" altLang="en-US" sz="1800" b="1"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85750" marR="0" lvl="0" indent="-285750" algn="l" rtl="0">
                        <a:spcBef>
                          <a:spcPts val="0"/>
                        </a:spcBef>
                        <a:spcAft>
                          <a:spcPts val="0"/>
                        </a:spcAft>
                        <a:buFont typeface="Arial" panose="020B0604020202020204" pitchFamily="34" charset="0"/>
                        <a:buChar char="•"/>
                      </a:pPr>
                      <a:r>
                        <a:rPr lang="en-US" altLang="en-US" sz="1800" b="1" i="0" u="none" strike="noStrike" cap="none">
                          <a:solidFill>
                            <a:srgbClr val="475569"/>
                          </a:solidFill>
                          <a:latin typeface="Lato" panose="020F0502020204030203" charset="0"/>
                          <a:ea typeface="Lato" panose="020F0502020204030203"/>
                          <a:cs typeface="Lato" panose="020F0502020204030203" charset="0"/>
                          <a:sym typeface="Lato" panose="020F0502020204030203"/>
                        </a:rPr>
                        <a:t>é</a:t>
                      </a:r>
                      <a:r>
                        <a:rPr lang="en-US" altLang="fr-FR" sz="1800" b="1" i="0" u="none" strike="noStrike" cap="none">
                          <a:solidFill>
                            <a:srgbClr val="475569"/>
                          </a:solidFill>
                          <a:latin typeface="Lato" panose="020F0502020204030203" charset="0"/>
                          <a:ea typeface="Lato" panose="020F0502020204030203"/>
                          <a:cs typeface="Lato" panose="020F0502020204030203" charset="0"/>
                          <a:sym typeface="Lato" panose="020F0502020204030203"/>
                        </a:rPr>
                        <a:t>quip</a:t>
                      </a:r>
                      <a:r>
                        <a:rPr lang="en-US" altLang="en-US" sz="1800" b="1" i="0" u="none" strike="noStrike" cap="none">
                          <a:solidFill>
                            <a:srgbClr val="475569"/>
                          </a:solidFill>
                          <a:latin typeface="Lato" panose="020F0502020204030203" charset="0"/>
                          <a:ea typeface="Lato" panose="020F0502020204030203"/>
                          <a:cs typeface="Lato" panose="020F0502020204030203" charset="0"/>
                          <a:sym typeface="Lato" panose="020F0502020204030203"/>
                        </a:rPr>
                        <a:t>é </a:t>
                      </a:r>
                      <a:r>
                        <a:rPr lang="en-US" altLang="fr-FR" sz="1800" b="1" i="0" u="none" strike="noStrike" cap="none">
                          <a:solidFill>
                            <a:srgbClr val="475569"/>
                          </a:solidFill>
                          <a:latin typeface="Lato" panose="020F0502020204030203" charset="0"/>
                          <a:ea typeface="Lato" panose="020F0502020204030203"/>
                          <a:cs typeface="Lato" panose="020F0502020204030203" charset="0"/>
                          <a:sym typeface="Lato" panose="020F0502020204030203"/>
                        </a:rPr>
                        <a:t>d'un navigateur internet moderne</a:t>
                      </a:r>
                      <a:r>
                        <a:rPr lang="fr-FR" altLang="en-US" sz="1800" b="1" i="0" u="none" strike="noStrike" cap="none">
                          <a:solidFill>
                            <a:srgbClr val="475569"/>
                          </a:solidFill>
                          <a:latin typeface="Lato" panose="020F0502020204030203" charset="0"/>
                          <a:ea typeface="Lato" panose="020F0502020204030203"/>
                          <a:cs typeface="Lato" panose="020F0502020204030203" charset="0"/>
                          <a:sym typeface="Lato" panose="020F0502020204030203"/>
                        </a:rPr>
                        <a:t> </a:t>
                      </a:r>
                      <a:r>
                        <a:rPr lang="en-US" altLang="fr-FR" sz="1800" b="1" i="0" u="none" strike="noStrike" cap="none">
                          <a:solidFill>
                            <a:srgbClr val="475569"/>
                          </a:solidFill>
                          <a:latin typeface="Lato" panose="020F0502020204030203" charset="0"/>
                          <a:ea typeface="Lato" panose="020F0502020204030203"/>
                          <a:cs typeface="Lato" panose="020F0502020204030203" charset="0"/>
                          <a:sym typeface="Lato" panose="020F0502020204030203"/>
                        </a:rPr>
                        <a:t>(Chrome, Firefox, Edge).</a:t>
                      </a:r>
                      <a:endParaRPr lang="en-US" altLang="fr-FR" sz="1800" b="1"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a:p>
                      <a:pPr marL="285750" lvl="0" indent="-285750" algn="l">
                        <a:lnSpc>
                          <a:spcPct val="100000"/>
                        </a:lnSpc>
                        <a:spcBef>
                          <a:spcPts val="0"/>
                        </a:spcBef>
                        <a:spcAft>
                          <a:spcPts val="0"/>
                        </a:spcAft>
                        <a:buSzTx/>
                        <a:buFont typeface="Arial" panose="020B0604020202020204" pitchFamily="34" charset="0"/>
                        <a:buChar char="•"/>
                      </a:pPr>
                      <a:r>
                        <a:rPr lang="fr-FR" altLang="en-US" sz="1800" b="1">
                          <a:solidFill>
                            <a:srgbClr val="475569"/>
                          </a:solidFill>
                          <a:latin typeface="Lato" panose="020F0502020204030203"/>
                          <a:ea typeface="Lato" panose="020F0502020204030203"/>
                          <a:cs typeface="Lato" panose="020F0502020204030203"/>
                          <a:sym typeface="+mn-ea"/>
                        </a:rPr>
                        <a:t>Mémoire RAM installée : 8,00 Go </a:t>
                      </a:r>
                      <a:endParaRPr lang="fr-FR" altLang="en-US" sz="1800" b="1">
                        <a:solidFill>
                          <a:srgbClr val="475569"/>
                        </a:solidFill>
                        <a:latin typeface="Lato" panose="020F0502020204030203"/>
                        <a:ea typeface="Lato" panose="020F0502020204030203"/>
                        <a:cs typeface="Lato" panose="020F0502020204030203"/>
                      </a:endParaRPr>
                    </a:p>
                    <a:p>
                      <a:pPr marL="285750" lvl="0" indent="-285750" algn="l">
                        <a:lnSpc>
                          <a:spcPct val="100000"/>
                        </a:lnSpc>
                        <a:spcBef>
                          <a:spcPts val="0"/>
                        </a:spcBef>
                        <a:spcAft>
                          <a:spcPts val="0"/>
                        </a:spcAft>
                        <a:buSzTx/>
                        <a:buFont typeface="Arial" panose="020B0604020202020204" pitchFamily="34" charset="0"/>
                        <a:buChar char="•"/>
                      </a:pPr>
                      <a:r>
                        <a:rPr lang="fr-FR" altLang="en-US" sz="1800" b="1">
                          <a:solidFill>
                            <a:srgbClr val="475569"/>
                          </a:solidFill>
                          <a:latin typeface="Lato" panose="020F0502020204030203"/>
                          <a:ea typeface="Lato" panose="020F0502020204030203"/>
                          <a:cs typeface="Lato" panose="020F0502020204030203"/>
                          <a:sym typeface="+mn-ea"/>
                        </a:rPr>
                        <a:t>Disque dur SSD : 1 To</a:t>
                      </a:r>
                      <a:endParaRPr lang="fr-FR" altLang="en-US" sz="1800" b="1" i="0" u="none" strike="noStrike">
                        <a:solidFill>
                          <a:srgbClr val="475569"/>
                        </a:solidFill>
                        <a:latin typeface="Lato" panose="020F0502020204030203"/>
                        <a:ea typeface="Lato" panose="020F0502020204030203"/>
                        <a:cs typeface="Lato" panose="020F0502020204030203"/>
                      </a:endParaRPr>
                    </a:p>
                    <a:p>
                      <a:pPr marL="285750" lvl="0" indent="-285750" algn="l">
                        <a:lnSpc>
                          <a:spcPct val="100000"/>
                        </a:lnSpc>
                        <a:spcBef>
                          <a:spcPts val="0"/>
                        </a:spcBef>
                        <a:spcAft>
                          <a:spcPts val="0"/>
                        </a:spcAft>
                        <a:buSzTx/>
                        <a:buFont typeface="Arial" panose="020B0604020202020204" pitchFamily="34" charset="0"/>
                        <a:buChar char="•"/>
                      </a:pPr>
                      <a:r>
                        <a:rPr lang="fr-FR" altLang="en-US" sz="1800" b="1">
                          <a:solidFill>
                            <a:srgbClr val="475569"/>
                          </a:solidFill>
                          <a:latin typeface="Lato" panose="020F0502020204030203"/>
                          <a:ea typeface="Lato" panose="020F0502020204030203"/>
                          <a:cs typeface="Lato" panose="020F0502020204030203"/>
                          <a:sym typeface="+mn-ea"/>
                        </a:rPr>
                        <a:t>Type du système : Système d’exploitation 64 bits, processeur x64 </a:t>
                      </a:r>
                      <a:endParaRPr lang="fr-FR" altLang="en-US" sz="1800" b="1">
                        <a:solidFill>
                          <a:srgbClr val="475569"/>
                        </a:solidFill>
                        <a:latin typeface="Lato" panose="020F0502020204030203"/>
                        <a:ea typeface="Lato" panose="020F0502020204030203"/>
                        <a:cs typeface="Lato" panose="020F0502020204030203"/>
                      </a:endParaRPr>
                    </a:p>
                    <a:p>
                      <a:pPr marL="285750" lvl="0" indent="-285750" algn="l">
                        <a:lnSpc>
                          <a:spcPct val="100000"/>
                        </a:lnSpc>
                        <a:spcBef>
                          <a:spcPts val="0"/>
                        </a:spcBef>
                        <a:spcAft>
                          <a:spcPts val="0"/>
                        </a:spcAft>
                        <a:buSzTx/>
                        <a:buFont typeface="Arial" panose="020B0604020202020204" pitchFamily="34" charset="0"/>
                        <a:buChar char="•"/>
                      </a:pPr>
                      <a:r>
                        <a:rPr lang="fr-FR" altLang="en-US" sz="1800" b="1">
                          <a:solidFill>
                            <a:srgbClr val="475569"/>
                          </a:solidFill>
                          <a:latin typeface="Lato" panose="020F0502020204030203"/>
                          <a:ea typeface="Lato" panose="020F0502020204030203"/>
                          <a:cs typeface="Lato" panose="020F0502020204030203"/>
                          <a:sym typeface="+mn-ea"/>
                        </a:rPr>
                        <a:t>Système d’exploitation : Windows 11 ou 10</a:t>
                      </a:r>
                      <a:endParaRPr lang="fr-FR" altLang="en-US" sz="1800" b="1" i="0" u="none" strike="noStrike" cap="none">
                        <a:solidFill>
                          <a:srgbClr val="475569"/>
                        </a:solidFill>
                        <a:latin typeface="Lato" panose="020F0502020204030203"/>
                        <a:ea typeface="Lato" panose="020F0502020204030203"/>
                        <a:cs typeface="Lato" panose="020F0502020204030203"/>
                        <a:sym typeface="+mn-ea"/>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140460">
                <a:tc>
                  <a:txBody>
                    <a:bodyPr/>
                    <a:lstStyle/>
                    <a:p>
                      <a:pPr marL="0" marR="0" lvl="0" indent="0" algn="l" rtl="0">
                        <a:spcBef>
                          <a:spcPts val="0"/>
                        </a:spcBef>
                        <a:spcAft>
                          <a:spcPts val="0"/>
                        </a:spcAft>
                        <a:buNone/>
                      </a:pPr>
                      <a:r>
                        <a:rPr lang="fr-FR" altLang="en-US" sz="1800" b="1" i="0" u="none" strike="noStrike" cap="none">
                          <a:solidFill>
                            <a:srgbClr val="475569"/>
                          </a:solidFill>
                          <a:latin typeface="Lato" panose="020F0502020204030203"/>
                          <a:ea typeface="Lato" panose="020F0502020204030203"/>
                          <a:cs typeface="Lato" panose="020F0502020204030203"/>
                          <a:sym typeface="Lato" panose="020F0502020204030203"/>
                        </a:rPr>
                        <a:t>Smartphone</a:t>
                      </a:r>
                      <a:r>
                        <a:rPr lang="en-US" sz="1800" b="1" i="0" u="none" strike="noStrike" cap="none">
                          <a:solidFill>
                            <a:srgbClr val="475569"/>
                          </a:solidFill>
                          <a:latin typeface="Lato" panose="020F0502020204030203"/>
                          <a:ea typeface="Lato" panose="020F0502020204030203"/>
                          <a:cs typeface="Lato" panose="020F0502020204030203"/>
                          <a:sym typeface="Lato" panose="020F0502020204030203"/>
                        </a:rPr>
                        <a:t>(</a:t>
                      </a:r>
                      <a:r>
                        <a:rPr lang="fr-FR" altLang="en-US" sz="1800" b="1" i="0" u="none" strike="noStrike" cap="none">
                          <a:solidFill>
                            <a:srgbClr val="475569"/>
                          </a:solidFill>
                          <a:latin typeface="Lato" panose="020F0502020204030203"/>
                          <a:ea typeface="Lato" panose="020F0502020204030203"/>
                          <a:cs typeface="Lato" panose="020F0502020204030203"/>
                          <a:sym typeface="Lato" panose="020F0502020204030203"/>
                        </a:rPr>
                        <a:t>Locataire</a:t>
                      </a:r>
                      <a:r>
                        <a:rPr lang="en-US" sz="1800" b="1"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800" b="1"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rPr>
                        <a:t>Smartphone </a:t>
                      </a:r>
                      <a:r>
                        <a:rPr lang="en-US" altLang="en-US" sz="1800" b="0" i="0" u="none" strike="noStrike" cap="none">
                          <a:solidFill>
                            <a:srgbClr val="475569"/>
                          </a:solidFill>
                          <a:latin typeface="Lato" panose="020F0502020204030203"/>
                          <a:ea typeface="Lato" panose="020F0502020204030203"/>
                          <a:cs typeface="Lato" panose="020F0502020204030203"/>
                          <a:sym typeface="Lato" panose="020F0502020204030203"/>
                        </a:rPr>
                        <a:t>é</a:t>
                      </a:r>
                      <a:r>
                        <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rPr>
                        <a:t>quip</a:t>
                      </a:r>
                      <a:r>
                        <a:rPr lang="en-US" altLang="en-US" sz="1800" b="0" i="0" u="none" strike="noStrike" cap="none">
                          <a:solidFill>
                            <a:srgbClr val="475569"/>
                          </a:solidFill>
                          <a:latin typeface="Lato" panose="020F0502020204030203"/>
                          <a:ea typeface="Lato" panose="020F0502020204030203"/>
                          <a:cs typeface="Lato" panose="020F0502020204030203"/>
                          <a:sym typeface="Lato" panose="020F0502020204030203"/>
                        </a:rPr>
                        <a:t>é </a:t>
                      </a:r>
                      <a:r>
                        <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rPr>
                        <a:t>du syst</a:t>
                      </a:r>
                      <a:r>
                        <a:rPr lang="en-US" altLang="en-US" sz="1800" b="0" i="0" u="none" strike="noStrike" cap="none">
                          <a:solidFill>
                            <a:srgbClr val="475569"/>
                          </a:solidFill>
                          <a:latin typeface="Lato" panose="020F0502020204030203"/>
                          <a:ea typeface="Lato" panose="020F0502020204030203"/>
                          <a:cs typeface="Lato" panose="020F0502020204030203"/>
                          <a:sym typeface="Lato" panose="020F0502020204030203"/>
                        </a:rPr>
                        <a:t>è</a:t>
                      </a:r>
                      <a:r>
                        <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rPr>
                        <a:t>me Android version 8.0 (Oreo) ou</a:t>
                      </a:r>
                      <a:endPar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rPr>
                        <a:t>sup</a:t>
                      </a:r>
                      <a:r>
                        <a:rPr lang="en-US" altLang="en-US" sz="1800" b="0" i="0" u="none" strike="noStrike" cap="none">
                          <a:solidFill>
                            <a:srgbClr val="475569"/>
                          </a:solidFill>
                          <a:latin typeface="Lato" panose="020F0502020204030203"/>
                          <a:ea typeface="Lato" panose="020F0502020204030203"/>
                          <a:cs typeface="Lato" panose="020F0502020204030203"/>
                          <a:sym typeface="Lato" panose="020F0502020204030203"/>
                        </a:rPr>
                        <a:t>é</a:t>
                      </a:r>
                      <a:r>
                        <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rPr>
                        <a:t>rieure.</a:t>
                      </a:r>
                      <a:endParaRPr lang="en-US" altLang="fr-FR" sz="1800" b="0" i="0" u="none" strike="noStrike" cap="none">
                        <a:solidFill>
                          <a:srgbClr val="475569"/>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176" name="Google Shape;176;p17"/>
          <p:cNvSpPr/>
          <p:nvPr/>
        </p:nvSpPr>
        <p:spPr>
          <a:xfrm>
            <a:off x="581025" y="2796480"/>
            <a:ext cx="2086867"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7" name="Google Shape;177;p17"/>
          <p:cNvSpPr/>
          <p:nvPr/>
        </p:nvSpPr>
        <p:spPr>
          <a:xfrm>
            <a:off x="2667892" y="2796480"/>
            <a:ext cx="3516957"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8" name="Google Shape;178;p17"/>
          <p:cNvSpPr/>
          <p:nvPr/>
        </p:nvSpPr>
        <p:spPr>
          <a:xfrm>
            <a:off x="6184850" y="2796480"/>
            <a:ext cx="3557438"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9" name="Google Shape;179;p17"/>
          <p:cNvSpPr/>
          <p:nvPr/>
        </p:nvSpPr>
        <p:spPr>
          <a:xfrm>
            <a:off x="9742289" y="2796480"/>
            <a:ext cx="186868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0" name="Google Shape;200;p17"/>
          <p:cNvSpPr txBox="1"/>
          <p:nvPr/>
        </p:nvSpPr>
        <p:spPr>
          <a:xfrm>
            <a:off x="571500" y="1019175"/>
            <a:ext cx="11601450" cy="4978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fr-FR" altLang="en-US" sz="2700" b="1">
                <a:solidFill>
                  <a:srgbClr val="1E293B"/>
                </a:solidFill>
                <a:latin typeface="Poppins" panose="00000500000000000000"/>
                <a:ea typeface="Poppins" panose="00000500000000000000"/>
                <a:cs typeface="Poppins" panose="00000500000000000000"/>
                <a:sym typeface="Poppins" panose="00000500000000000000"/>
              </a:rPr>
              <a:t>Matériel de base</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01" name="Shape 301"/>
        <p:cNvGrpSpPr/>
        <p:nvPr/>
      </p:nvGrpSpPr>
      <p:grpSpPr>
        <a:xfrm>
          <a:off x="0" y="0"/>
          <a:ext cx="0" cy="0"/>
          <a:chOff x="0" y="0"/>
          <a:chExt cx="0" cy="0"/>
        </a:xfrm>
      </p:grpSpPr>
      <p:pic>
        <p:nvPicPr>
          <p:cNvPr id="302" name="Google Shape;302;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04" name="Google Shape;304;p22"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305" name="Google Shape;305;p22"/>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306" name="Google Shape;306;p22"/>
          <p:cNvSpPr txBox="1"/>
          <p:nvPr/>
        </p:nvSpPr>
        <p:spPr>
          <a:xfrm>
            <a:off x="9505950" y="471487"/>
            <a:ext cx="21145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ASPECTS FINANCIERS DU PROJET</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307" name="Google Shape;307;p22"/>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308" name="Google Shape;308;p22"/>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22</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
        <p:nvSpPr>
          <p:cNvPr id="309" name="Google Shape;309;p22"/>
          <p:cNvSpPr txBox="1"/>
          <p:nvPr/>
        </p:nvSpPr>
        <p:spPr>
          <a:xfrm>
            <a:off x="571500" y="1019175"/>
            <a:ext cx="11601450" cy="4113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Évaluation Financière (CAPEX &amp; OPEX)</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2" name="Image 1"/>
          <p:cNvPicPr>
            <a:picLocks noChangeAspect="1"/>
          </p:cNvPicPr>
          <p:nvPr/>
        </p:nvPicPr>
        <p:blipFill>
          <a:blip r:embed="rId3"/>
          <a:stretch>
            <a:fillRect/>
          </a:stretch>
        </p:blipFill>
        <p:spPr>
          <a:xfrm>
            <a:off x="217170" y="1689100"/>
            <a:ext cx="11757025" cy="41865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Titre 6"/>
          <p:cNvSpPr/>
          <p:nvPr>
            <p:ph type="title"/>
          </p:nvPr>
        </p:nvSpPr>
        <p:spPr>
          <a:xfrm>
            <a:off x="1747520" y="2536825"/>
            <a:ext cx="9244330" cy="1722755"/>
          </a:xfrm>
          <a:ln>
            <a:solidFill>
              <a:schemeClr val="accent1"/>
            </a:solidFill>
          </a:ln>
          <a:effectLst>
            <a:reflection blurRad="6350" stA="50000" endA="300" endPos="55500" dist="50800" dir="5400000" sy="-100000" algn="bl" rotWithShape="0"/>
          </a:effectLst>
        </p:spPr>
        <p:txBody>
          <a:bodyPr>
            <a:normAutofit/>
          </a:bodyPr>
          <a:p>
            <a:r>
              <a:rPr lang="fr-FR" altLang="en-US" sz="4800" b="1" cap="all">
                <a:solidFill>
                  <a:schemeClr val="tx1"/>
                </a:solidFill>
                <a:uFillTx/>
                <a:latin typeface="Poppins" panose="00000500000000000000" charset="0"/>
                <a:cs typeface="Poppins" panose="00000500000000000000" charset="0"/>
              </a:rPr>
              <a:t>Démonstration</a:t>
            </a:r>
            <a:endParaRPr lang="fr-FR" altLang="en-US" sz="4800" b="1" cap="all">
              <a:solidFill>
                <a:schemeClr val="tx1"/>
              </a:solidFill>
              <a:uFillTx/>
              <a:latin typeface="Poppins" panose="00000500000000000000" charset="0"/>
              <a:cs typeface="Poppins" panose="00000500000000000000"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Titre 6"/>
          <p:cNvSpPr/>
          <p:nvPr>
            <p:ph type="title"/>
          </p:nvPr>
        </p:nvSpPr>
        <p:spPr>
          <a:xfrm>
            <a:off x="1747520" y="2536825"/>
            <a:ext cx="9650095" cy="1722755"/>
          </a:xfrm>
          <a:ln>
            <a:solidFill>
              <a:schemeClr val="accent1"/>
            </a:solidFill>
          </a:ln>
          <a:effectLst>
            <a:reflection blurRad="6350" stA="50000" endA="300" endPos="55500" dist="50800" dir="5400000" sy="-100000" algn="bl" rotWithShape="0"/>
          </a:effectLst>
        </p:spPr>
        <p:txBody>
          <a:bodyPr>
            <a:normAutofit/>
          </a:bodyPr>
          <a:p>
            <a:r>
              <a:rPr lang="fr-FR" altLang="en-US" sz="4800" b="1" cap="all">
                <a:solidFill>
                  <a:schemeClr val="tx1"/>
                </a:solidFill>
                <a:uFillTx/>
                <a:latin typeface="Poppins" panose="00000500000000000000" charset="0"/>
                <a:cs typeface="Poppins" panose="00000500000000000000" charset="0"/>
              </a:rPr>
              <a:t>Conclusion &amp; perspecti</a:t>
            </a:r>
            <a:r>
              <a:rPr lang="fr-FR" altLang="en-US" sz="4800" b="1" cap="all">
                <a:solidFill>
                  <a:schemeClr val="tx1"/>
                </a:solidFill>
                <a:uFillTx/>
                <a:latin typeface="Poppins" panose="00000500000000000000" charset="0"/>
                <a:cs typeface="Poppins" panose="00000500000000000000" charset="0"/>
              </a:rPr>
              <a:t>ves</a:t>
            </a:r>
            <a:endParaRPr lang="fr-FR" altLang="en-US" sz="4800" b="1" cap="all">
              <a:solidFill>
                <a:schemeClr val="tx1"/>
              </a:solidFill>
              <a:uFillTx/>
              <a:latin typeface="Poppins" panose="00000500000000000000" charset="0"/>
              <a:cs typeface="Poppins" panose="00000500000000000000"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488440" y="2058035"/>
            <a:ext cx="9215120" cy="2302510"/>
          </a:xfrm>
          <a:ln>
            <a:solidFill>
              <a:schemeClr val="bg2"/>
            </a:solidFill>
          </a:ln>
        </p:spPr>
        <p:txBody>
          <a:bodyPr/>
          <a:p>
            <a:pPr algn="just"/>
            <a:r>
              <a:rPr lang="en-US" altLang="fr-FR" sz="2400">
                <a:latin typeface="Times New Roman" panose="02020603050405020304" charset="0"/>
                <a:cs typeface="Times New Roman" panose="02020603050405020304" charset="0"/>
              </a:rPr>
              <a:t>Ce projet apporte une r</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ponse concr</a:t>
            </a:r>
            <a:r>
              <a:rPr lang="en-US" altLang="en-US" sz="2400">
                <a:latin typeface="Times New Roman" panose="02020603050405020304" charset="0"/>
                <a:cs typeface="Times New Roman" panose="02020603050405020304" charset="0"/>
              </a:rPr>
              <a:t>è</a:t>
            </a:r>
            <a:r>
              <a:rPr lang="en-US" altLang="fr-FR" sz="2400">
                <a:latin typeface="Times New Roman" panose="02020603050405020304" charset="0"/>
                <a:cs typeface="Times New Roman" panose="02020603050405020304" charset="0"/>
              </a:rPr>
              <a:t>te aux limites de la gestion artisanale en automatisant tout le cycle m</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tier (de l'enregistrement du logement au paiement par Mobile Money via FedaPay). Port</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e par une architecture robuste (Spring Boot, Angular, Ionic), la plateforme s</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curise les baux à long terme et </a:t>
            </a:r>
            <a:r>
              <a:rPr lang="fr-FR" altLang="en-US" sz="2400">
                <a:latin typeface="Times New Roman" panose="02020603050405020304" charset="0"/>
                <a:cs typeface="Times New Roman" panose="02020603050405020304" charset="0"/>
              </a:rPr>
              <a:t>garde une traçabilité de toutes les transactions.</a:t>
            </a:r>
            <a:endParaRPr lang="fr-FR" altLang="en-US" sz="2400">
              <a:latin typeface="Times New Roman" panose="02020603050405020304" charset="0"/>
              <a:cs typeface="Times New Roman" panose="02020603050405020304" charset="0"/>
            </a:endParaRPr>
          </a:p>
        </p:txBody>
      </p:sp>
      <p:sp>
        <p:nvSpPr>
          <p:cNvPr id="4" name="Zone de texte 3"/>
          <p:cNvSpPr txBox="1"/>
          <p:nvPr/>
        </p:nvSpPr>
        <p:spPr>
          <a:xfrm>
            <a:off x="1113155" y="1172210"/>
            <a:ext cx="3810000" cy="706755"/>
          </a:xfrm>
          <a:prstGeom prst="rect">
            <a:avLst/>
          </a:prstGeom>
          <a:noFill/>
        </p:spPr>
        <p:txBody>
          <a:bodyPr wrap="square" rtlCol="0">
            <a:spAutoFit/>
          </a:bodyPr>
          <a:p>
            <a:r>
              <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rPr>
              <a:t>Conclusion</a:t>
            </a:r>
            <a:endPar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304" name="Google Shape;304;p22" descr="image.png"/>
          <p:cNvPicPr preferRelativeResize="0"/>
          <p:nvPr/>
        </p:nvPicPr>
        <p:blipFill rotWithShape="1">
          <a:blip r:embed="rId2"/>
          <a:srcRect/>
          <a:stretch>
            <a:fillRect/>
          </a:stretch>
        </p:blipFill>
        <p:spPr>
          <a:xfrm>
            <a:off x="571500" y="6134100"/>
            <a:ext cx="11049000" cy="295275"/>
          </a:xfrm>
          <a:prstGeom prst="rect">
            <a:avLst/>
          </a:prstGeom>
          <a:noFill/>
          <a:ln>
            <a:noFill/>
          </a:ln>
        </p:spPr>
      </p:pic>
      <p:sp>
        <p:nvSpPr>
          <p:cNvPr id="3" name="Zone de texte 2"/>
          <p:cNvSpPr txBox="1"/>
          <p:nvPr/>
        </p:nvSpPr>
        <p:spPr>
          <a:xfrm>
            <a:off x="585470" y="6323330"/>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308" name="Google Shape;308;p22"/>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25</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961390" y="2058035"/>
            <a:ext cx="9742170" cy="2302510"/>
          </a:xfrm>
          <a:ln>
            <a:solidFill>
              <a:schemeClr val="bg2"/>
            </a:solidFill>
          </a:ln>
        </p:spPr>
        <p:txBody>
          <a:bodyPr/>
          <a:p>
            <a:pPr algn="just"/>
            <a:r>
              <a:rPr lang="fr-FR" altLang="en-US" sz="2000">
                <a:latin typeface="Times New Roman" panose="02020603050405020304" charset="0"/>
                <a:cs typeface="Times New Roman" panose="02020603050405020304" charset="0"/>
              </a:rPr>
              <a:t>       </a:t>
            </a:r>
            <a:r>
              <a:rPr lang="en-US" altLang="fr-FR" sz="2000">
                <a:latin typeface="Times New Roman" panose="02020603050405020304" charset="0"/>
                <a:cs typeface="Times New Roman" panose="02020603050405020304" charset="0"/>
              </a:rPr>
              <a:t>Documents : G</a:t>
            </a:r>
            <a:r>
              <a:rPr lang="en-US" altLang="en-US" sz="2000">
                <a:latin typeface="Times New Roman" panose="02020603050405020304" charset="0"/>
                <a:cs typeface="Times New Roman" panose="02020603050405020304" charset="0"/>
              </a:rPr>
              <a:t>é</a:t>
            </a:r>
            <a:r>
              <a:rPr lang="en-US" altLang="fr-FR" sz="2000">
                <a:latin typeface="Times New Roman" panose="02020603050405020304" charset="0"/>
                <a:cs typeface="Times New Roman" panose="02020603050405020304" charset="0"/>
              </a:rPr>
              <a:t>n</a:t>
            </a:r>
            <a:r>
              <a:rPr lang="en-US" altLang="en-US" sz="2000">
                <a:latin typeface="Times New Roman" panose="02020603050405020304" charset="0"/>
                <a:cs typeface="Times New Roman" panose="02020603050405020304" charset="0"/>
              </a:rPr>
              <a:t>é</a:t>
            </a:r>
            <a:r>
              <a:rPr lang="en-US" altLang="fr-FR" sz="2000">
                <a:latin typeface="Times New Roman" panose="02020603050405020304" charset="0"/>
                <a:cs typeface="Times New Roman" panose="02020603050405020304" charset="0"/>
              </a:rPr>
              <a:t>ration et signature </a:t>
            </a:r>
            <a:r>
              <a:rPr lang="en-US" altLang="en-US" sz="2000">
                <a:latin typeface="Times New Roman" panose="02020603050405020304" charset="0"/>
                <a:cs typeface="Times New Roman" panose="02020603050405020304" charset="0"/>
              </a:rPr>
              <a:t>é</a:t>
            </a:r>
            <a:r>
              <a:rPr lang="en-US" altLang="fr-FR" sz="2000">
                <a:latin typeface="Times New Roman" panose="02020603050405020304" charset="0"/>
                <a:cs typeface="Times New Roman" panose="02020603050405020304" charset="0"/>
              </a:rPr>
              <a:t>lectronique automatique des contrats de bail.</a:t>
            </a:r>
            <a:br>
              <a:rPr lang="en-US" altLang="fr-FR" sz="2000">
                <a:latin typeface="Times New Roman" panose="02020603050405020304" charset="0"/>
                <a:cs typeface="Times New Roman" panose="02020603050405020304" charset="0"/>
              </a:rPr>
            </a:br>
            <a:br>
              <a:rPr lang="en-US" altLang="fr-FR" sz="2000">
                <a:latin typeface="Times New Roman" panose="02020603050405020304" charset="0"/>
                <a:cs typeface="Times New Roman" panose="02020603050405020304" charset="0"/>
              </a:rPr>
            </a:br>
            <a:r>
              <a:rPr lang="fr-FR" altLang="en-US" sz="2000">
                <a:latin typeface="Times New Roman" panose="02020603050405020304" charset="0"/>
                <a:cs typeface="Times New Roman" panose="02020603050405020304" charset="0"/>
              </a:rPr>
              <a:t>       Génération d’un rapport financier annuel</a:t>
            </a:r>
            <a:endParaRPr lang="fr-FR" altLang="en-US" sz="2000">
              <a:latin typeface="Times New Roman" panose="02020603050405020304" charset="0"/>
              <a:cs typeface="Times New Roman" panose="02020603050405020304" charset="0"/>
            </a:endParaRPr>
          </a:p>
        </p:txBody>
      </p:sp>
      <p:sp>
        <p:nvSpPr>
          <p:cNvPr id="4" name="Zone de texte 3"/>
          <p:cNvSpPr txBox="1"/>
          <p:nvPr/>
        </p:nvSpPr>
        <p:spPr>
          <a:xfrm>
            <a:off x="1113155" y="1172210"/>
            <a:ext cx="3810000" cy="706755"/>
          </a:xfrm>
          <a:prstGeom prst="rect">
            <a:avLst/>
          </a:prstGeom>
          <a:noFill/>
        </p:spPr>
        <p:txBody>
          <a:bodyPr wrap="square" rtlCol="0">
            <a:spAutoFit/>
          </a:bodyPr>
          <a:p>
            <a:r>
              <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rPr>
              <a:t>Perspectives</a:t>
            </a:r>
            <a:endPar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5" name="Image 4" descr="正方形"/>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113155" y="2743200"/>
            <a:ext cx="205740" cy="205740"/>
          </a:xfrm>
          <a:prstGeom prst="rect">
            <a:avLst/>
          </a:prstGeom>
        </p:spPr>
      </p:pic>
      <p:pic>
        <p:nvPicPr>
          <p:cNvPr id="6" name="Image 5" descr="正方形"/>
          <p:cNvPicPr>
            <a:picLocks noChangeAspect="1"/>
          </p:cNvPicPr>
          <p:nvPr>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1113155" y="3429000"/>
            <a:ext cx="205740" cy="205740"/>
          </a:xfrm>
          <a:prstGeom prst="rect">
            <a:avLst/>
          </a:prstGeom>
        </p:spPr>
      </p:pic>
      <p:pic>
        <p:nvPicPr>
          <p:cNvPr id="304" name="Google Shape;304;p22" descr="image.png"/>
          <p:cNvPicPr preferRelativeResize="0"/>
          <p:nvPr/>
        </p:nvPicPr>
        <p:blipFill rotWithShape="1">
          <a:blip r:embed="rId6"/>
          <a:srcRect/>
          <a:stretch>
            <a:fillRect/>
          </a:stretch>
        </p:blipFill>
        <p:spPr>
          <a:xfrm>
            <a:off x="571500" y="6134100"/>
            <a:ext cx="11049000" cy="295275"/>
          </a:xfrm>
          <a:prstGeom prst="rect">
            <a:avLst/>
          </a:prstGeom>
          <a:noFill/>
          <a:ln>
            <a:noFill/>
          </a:ln>
        </p:spPr>
      </p:pic>
      <p:sp>
        <p:nvSpPr>
          <p:cNvPr id="3" name="Zone de texte 2"/>
          <p:cNvSpPr txBox="1"/>
          <p:nvPr/>
        </p:nvSpPr>
        <p:spPr>
          <a:xfrm>
            <a:off x="585470" y="6323330"/>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308" name="Google Shape;308;p22"/>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26</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340" name="Shape 340"/>
        <p:cNvGrpSpPr/>
        <p:nvPr/>
      </p:nvGrpSpPr>
      <p:grpSpPr>
        <a:xfrm>
          <a:off x="0" y="0"/>
          <a:ext cx="0" cy="0"/>
          <a:chOff x="0" y="0"/>
          <a:chExt cx="0" cy="0"/>
        </a:xfrm>
      </p:grpSpPr>
      <p:pic>
        <p:nvPicPr>
          <p:cNvPr id="341" name="Google Shape;341;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44" name="Google Shape;344;p24"/>
          <p:cNvSpPr/>
          <p:nvPr/>
        </p:nvSpPr>
        <p:spPr>
          <a:xfrm>
            <a:off x="5715000" y="1938337"/>
            <a:ext cx="762000" cy="381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45" name="Google Shape;345;p24"/>
          <p:cNvSpPr txBox="1"/>
          <p:nvPr/>
        </p:nvSpPr>
        <p:spPr>
          <a:xfrm>
            <a:off x="1695450" y="2823527"/>
            <a:ext cx="8801100" cy="738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rPr>
              <a:t>Merci pour votre Attention !</a:t>
            </a:r>
            <a:endParaRPr lang="en-US" sz="4800" b="0" i="0" u="none" strike="noStrike" cap="none">
              <a:solidFill>
                <a:srgbClr val="F59E0B"/>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pic>
        <p:nvPicPr>
          <p:cNvPr id="2" name="Image 1" descr="WPS Photos(1)"/>
          <p:cNvPicPr>
            <a:picLocks noChangeAspect="1"/>
          </p:cNvPicPr>
          <p:nvPr/>
        </p:nvPicPr>
        <p:blipFill>
          <a:blip r:embed="rId2"/>
          <a:stretch>
            <a:fillRect/>
          </a:stretch>
        </p:blipFill>
        <p:spPr>
          <a:xfrm>
            <a:off x="8359775" y="0"/>
            <a:ext cx="3832225" cy="1472565"/>
          </a:xfrm>
          <a:prstGeom prst="rect">
            <a:avLst/>
          </a:prstGeom>
        </p:spPr>
      </p:pic>
    </p:spTree>
  </p:cSld>
  <p:clrMapOvr>
    <a:masterClrMapping/>
  </p:clrMapOvr>
</p:sld>
</file>

<file path=ppt/tags/tag1.xml><?xml version="1.0" encoding="utf-8"?>
<p:tagLst xmlns:p="http://schemas.openxmlformats.org/presentationml/2006/main">
  <p:tag name="KSO_WM_BEAUTIFY_FLAG" val="#fgm#"/>
  <p:tag name="KSO_WM_FIGMA_FLAG" val="#fgm#"/>
  <p:tag name="KSO_WM_UNIT_INDEX" val="1"/>
  <p:tag name="KSO_WM_UNIT_TYPE" val="a"/>
  <p:tag name="KSO_WM_LAYOUT_CHECK_HASH" val="fccd111189b7d2a890802631ca6427411a773ef2"/>
  <p:tag name="KSO_WM_NEWLAYOUT_GROUP_ID" val="layout_34"/>
  <p:tag name="KSO_WM_NEWLAYOUT_ID" val="slide_4ae229a2f1c7f65e"/>
</p:tagLst>
</file>

<file path=ppt/tags/tag2.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1.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1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4.xml><?xml version="1.0" encoding="utf-8"?>
<p:tagLst xmlns:p="http://schemas.openxmlformats.org/presentationml/2006/main">
  <p:tag name="TABLE_ENDDRAG_ORIGIN_RECT" val="869*269"/>
  <p:tag name="TABLE_ENDDRAG_RECT" val="45*168*869*269"/>
</p:tagLst>
</file>

<file path=ppt/tags/tag15.xml><?xml version="1.0" encoding="utf-8"?>
<p:tagLst xmlns:p="http://schemas.openxmlformats.org/presentationml/2006/main">
  <p:tag name="KSO_DOCER_RESOURCE_TRACE_INFO" val="{&quot;id&quot;:&quot;50059433&quot;,&quot;origin&quot;:0,&quot;type&quot;:&quot;icons&quot;,&quot;user&quot;:&quot;20358827511810&quot;}"/>
</p:tagLst>
</file>

<file path=ppt/tags/tag16.xml><?xml version="1.0" encoding="utf-8"?>
<p:tagLst xmlns:p="http://schemas.openxmlformats.org/presentationml/2006/main">
  <p:tag name="KSO_DOCER_RESOURCE_TRACE_INFO" val="{&quot;id&quot;:&quot;50059433&quot;,&quot;origin&quot;:0,&quot;type&quot;:&quot;icons&quot;,&quot;user&quot;:&quot;20358827511810&quot;}"/>
</p:tagLst>
</file>

<file path=ppt/tags/tag17.xml><?xml version="1.0" encoding="utf-8"?>
<p:tagLst xmlns:p="http://schemas.openxmlformats.org/presentationml/2006/main">
  <p:tag name="resource_record_key" val="{&quot;10&quot;:[50059433]}"/>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7004</Words>
  <Application>WPS Presentation</Application>
  <PresentationFormat/>
  <Paragraphs>398</Paragraphs>
  <Slides>30</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30</vt:i4>
      </vt:variant>
    </vt:vector>
  </HeadingPairs>
  <TitlesOfParts>
    <vt:vector size="51" baseType="lpstr">
      <vt:lpstr>Arial</vt:lpstr>
      <vt:lpstr>SimSun</vt:lpstr>
      <vt:lpstr>Wingdings</vt:lpstr>
      <vt:lpstr>Arial</vt:lpstr>
      <vt:lpstr>Calibri</vt:lpstr>
      <vt:lpstr>Times New Roman</vt:lpstr>
      <vt:lpstr>Lato</vt:lpstr>
      <vt:lpstr>Poppins</vt:lpstr>
      <vt:lpstr>Lato Light</vt:lpstr>
      <vt:lpstr>Poppins SemiBold</vt:lpstr>
      <vt:lpstr>Poppins</vt:lpstr>
      <vt:lpstr>Microsoft YaHei</vt:lpstr>
      <vt:lpstr>Arial Unicode MS</vt:lpstr>
      <vt:lpstr>Lato</vt:lpstr>
      <vt:lpstr>Calibri</vt:lpstr>
      <vt:lpstr>Calibri</vt:lpstr>
      <vt:lpstr>Calibri</vt:lpstr>
      <vt:lpstr>Cambria</vt:lpstr>
      <vt:lpstr>Cambria</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Conception &amp; Réalisation</vt:lpstr>
      <vt:lpstr>MéTHODOLOGIE AGILE</vt:lpstr>
      <vt:lpstr>MéTHODOLOGIE</vt:lpstr>
      <vt:lpstr>PowerPoint 演示文稿</vt:lpstr>
      <vt:lpstr>PowerPoint 演示文稿</vt:lpstr>
      <vt:lpstr>Diagramme de contexte</vt:lpstr>
      <vt:lpstr>Diagramme de Package</vt:lpstr>
      <vt:lpstr>Diagramme de cas d’utilisation</vt:lpstr>
      <vt:lpstr>Diagramme d’activité : création d’un bail</vt:lpstr>
      <vt:lpstr>Diagramme de séquence : Paiement MOBILE</vt:lpstr>
      <vt:lpstr>Diagramme de classe</vt:lpstr>
      <vt:lpstr>Architecture logicielle du système</vt:lpstr>
      <vt:lpstr>Architecture matérielle du système</vt:lpstr>
      <vt:lpstr>PowerPoint 演示文稿</vt:lpstr>
      <vt:lpstr>PowerPoint 演示文稿</vt:lpstr>
      <vt:lpstr>PowerPoint 演示文稿</vt:lpstr>
      <vt:lpstr>Démonstration</vt:lpstr>
      <vt:lpstr>Conclusion &amp; perspectives</vt:lpstr>
      <vt:lpstr>Ce projet apporte une réponse concrète aux limites de la gestion artisanale en automatisant tout le cycle métier (de l'enregistrement du logement au paiement par Mobile Money via FedaPay). Portée par une architecture robuste (Spring Boot, Angular, Ionic), la plateforme sécurise les baux à long terme et garde une traçabilité de toutes les transactions.</vt:lpstr>
      <vt:lpstr>       Documents : Génération et signature électronique automatique des contrats de bail.         Génération d’un rapport financier annuel</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USER</cp:lastModifiedBy>
  <cp:revision>19</cp:revision>
  <dcterms:created xsi:type="dcterms:W3CDTF">2026-07-17T19:21:00Z</dcterms:created>
  <dcterms:modified xsi:type="dcterms:W3CDTF">2026-07-29T17:00:45Z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1036-12.1.0.27458</vt:lpwstr>
  </property>
  <property fmtid="{D5CDD505-2E9C-101B-9397-08002B2CF9AE}" pid="3" name="ICV">
    <vt:lpwstr>DA5AD8D80E2F47F58CD50CA50F7FB14F_12</vt:lpwstr>
  </property>
</Properties>
</file>