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12.fntdata" ContentType="application/x-fontdata"/>
  <Override PartName="/ppt/fonts/font13.fntdata" ContentType="application/x-fontdata"/>
  <Override PartName="/ppt/fonts/font14.fntdata" ContentType="application/x-fontdata"/>
  <Override PartName="/ppt/fonts/font15.fntdata" ContentType="application/x-fontdata"/>
  <Override PartName="/ppt/fonts/font16.fntdata" ContentType="application/x-fontdata"/>
  <Override PartName="/ppt/fonts/font17.fntdata" ContentType="application/x-fontdata"/>
  <Override PartName="/ppt/fonts/font18.fntdata" ContentType="application/x-fontdata"/>
  <Override PartName="/ppt/fonts/font19.fntdata" ContentType="application/x-fontdata"/>
  <Override PartName="/ppt/fonts/font2.fntdata" ContentType="application/x-fontdata"/>
  <Override PartName="/ppt/fonts/font20.fntdata" ContentType="application/x-fontdata"/>
  <Override PartName="/ppt/fonts/font21.fntdata" ContentType="application/x-fontdata"/>
  <Override PartName="/ppt/fonts/font2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media/image4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70" r:id="rId10"/>
    <p:sldId id="271" r:id="rId11"/>
    <p:sldId id="266" r:id="rId12"/>
    <p:sldId id="264" r:id="rId13"/>
    <p:sldId id="273" r:id="rId14"/>
    <p:sldId id="274" r:id="rId15"/>
    <p:sldId id="275" r:id="rId16"/>
    <p:sldId id="276" r:id="rId17"/>
    <p:sldId id="277" r:id="rId18"/>
    <p:sldId id="278" r:id="rId19"/>
    <p:sldId id="279" r:id="rId20"/>
    <p:sldId id="280" r:id="rId21"/>
    <p:sldId id="263" r:id="rId22"/>
    <p:sldId id="286" r:id="rId23"/>
    <p:sldId id="282" r:id="rId24"/>
    <p:sldId id="265" r:id="rId25"/>
    <p:sldId id="281" r:id="rId26"/>
    <p:sldId id="283" r:id="rId27"/>
    <p:sldId id="284" r:id="rId28"/>
    <p:sldId id="285" r:id="rId29"/>
    <p:sldId id="267" r:id="rId30"/>
  </p:sldIdLst>
  <p:sldSz cx="12192000" cy="6858000"/>
  <p:notesSz cx="6858000" cy="9144000"/>
  <p:embeddedFontLst>
    <p:embeddedFont>
      <p:font typeface="Calibri" panose="020F0502020204030204"/>
      <p:regular r:id="rId34"/>
      <p:bold r:id="rId35"/>
      <p:italic r:id="rId36"/>
      <p:boldItalic r:id="rId37"/>
    </p:embeddedFont>
    <p:embeddedFont>
      <p:font typeface="Lato" panose="020F0502020204030203"/>
      <p:regular r:id="rId38"/>
    </p:embeddedFont>
    <p:embeddedFont>
      <p:font typeface="Poppins" panose="00000500000000000000"/>
      <p:regular r:id="rId39"/>
      <p:bold r:id="rId40"/>
      <p:italic r:id="rId41"/>
      <p:boldItalic r:id="rId42"/>
    </p:embeddedFont>
    <p:embeddedFont>
      <p:font typeface="Lato Light" panose="020F0502020204030203"/>
      <p:regular r:id="rId43"/>
      <p:bold r:id="rId44"/>
      <p:italic r:id="rId45"/>
      <p:boldItalic r:id="rId46"/>
    </p:embeddedFont>
    <p:embeddedFont>
      <p:font typeface="Poppins SemiBold" panose="00000500000000000000"/>
      <p:regular r:id="rId47"/>
      <p:bold r:id="rId48"/>
      <p:italic r:id="rId49"/>
      <p:boldItalic r:id="rId50"/>
    </p:embeddedFont>
    <p:embeddedFont>
      <p:font typeface="Poppins" panose="00000500000000000000" charset="0"/>
      <p:regular r:id="rId51"/>
      <p:bold r:id="rId52"/>
      <p:italic r:id="rId53"/>
      <p:boldItalic r:id="rId54"/>
    </p:embeddedFont>
    <p:embeddedFont>
      <p:font typeface="Lato" panose="020F0502020204030203" charset="0"/>
      <p:regular r:id="rId55"/>
    </p:embeddedFont>
  </p:embeddedFontLst>
  <p:custDataLst>
    <p:tags r:id="rId56"/>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2160" userDrawn="1">
          <p15:clr>
            <a:srgbClr val="000000"/>
          </p15:clr>
        </p15:guide>
        <p15:guide id="2" pos="2964" userDrawn="1">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DAD3497-3041-4D27-8FF0-422A7831B682}" styleName="Table_0">
    <a:wholeTbl>
      <a:tcTxStyle>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Style>
        <a:tcBdr/>
        <a:fill>
          <a:solidFill>
            <a:srgbClr val="CFD7E7"/>
          </a:solidFill>
        </a:fill>
      </a:tcStyle>
    </a:band1H>
    <a:band2H>
      <a:tcStyle>
        <a:tcBdr/>
      </a:tcStyle>
    </a:band2H>
    <a:band1V>
      <a:tcStyle>
        <a:tcBdr/>
        <a:fill>
          <a:solidFill>
            <a:srgbClr val="CFD7E7"/>
          </a:solidFill>
        </a:fill>
      </a:tcStyle>
    </a:band1V>
    <a:band2V>
      <a:tcStyle>
        <a:tcBdr/>
      </a:tcStyle>
    </a:band2V>
    <a:lastCol>
      <a:tcTxStyle b="on">
        <a:font>
          <a:latin typeface="Calibri"/>
          <a:ea typeface="Calibri"/>
          <a:cs typeface="Calibri"/>
        </a:font>
        <a:schemeClr val="lt1"/>
      </a:tcTxStyle>
      <a:tcStyle>
        <a:tcBdr/>
        <a:fill>
          <a:solidFill>
            <a:schemeClr val="accent1"/>
          </a:solidFill>
        </a:fill>
      </a:tcStyle>
    </a:lastCol>
    <a:firstCol>
      <a:tcTxStyle b="on">
        <a:font>
          <a:latin typeface="Calibri"/>
          <a:ea typeface="Calibri"/>
          <a:cs typeface="Calibri"/>
        </a:font>
        <a:schemeClr val="lt1"/>
      </a:tcTxStyle>
      <a:tcStyle>
        <a:tcBdr/>
        <a:fill>
          <a:solidFill>
            <a:schemeClr val="accent1"/>
          </a:solidFill>
        </a:fill>
      </a:tcStyle>
    </a:firstCol>
    <a:lastRow>
      <a:tcTxStyle b="on">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Style>
        <a:tcBdr/>
      </a:tcStyle>
    </a:seCell>
    <a:swCell>
      <a:tcStyle>
        <a:tcBdr/>
      </a:tcStyle>
    </a:swCell>
    <a:firstRow>
      <a:tcTxStyle b="on">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2160"/>
        <p:guide pos="2964"/>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6" Type="http://schemas.openxmlformats.org/officeDocument/2006/relationships/tags" Target="tags/tag17.xml"/><Relationship Id="rId55" Type="http://schemas.openxmlformats.org/officeDocument/2006/relationships/font" Target="fonts/font22.fntdata"/><Relationship Id="rId54" Type="http://schemas.openxmlformats.org/officeDocument/2006/relationships/font" Target="fonts/font21.fntdata"/><Relationship Id="rId53" Type="http://schemas.openxmlformats.org/officeDocument/2006/relationships/font" Target="fonts/font20.fntdata"/><Relationship Id="rId52" Type="http://schemas.openxmlformats.org/officeDocument/2006/relationships/font" Target="fonts/font19.fntdata"/><Relationship Id="rId51" Type="http://schemas.openxmlformats.org/officeDocument/2006/relationships/font" Target="fonts/font18.fntdata"/><Relationship Id="rId50" Type="http://schemas.openxmlformats.org/officeDocument/2006/relationships/font" Target="fonts/font17.fntdata"/><Relationship Id="rId5" Type="http://schemas.openxmlformats.org/officeDocument/2006/relationships/slide" Target="slides/slide2.xml"/><Relationship Id="rId49" Type="http://schemas.openxmlformats.org/officeDocument/2006/relationships/font" Target="fonts/font16.fntdata"/><Relationship Id="rId48" Type="http://schemas.openxmlformats.org/officeDocument/2006/relationships/font" Target="fonts/font15.fntdata"/><Relationship Id="rId47" Type="http://schemas.openxmlformats.org/officeDocument/2006/relationships/font" Target="fonts/font14.fntdata"/><Relationship Id="rId46" Type="http://schemas.openxmlformats.org/officeDocument/2006/relationships/font" Target="fonts/font13.fntdata"/><Relationship Id="rId45" Type="http://schemas.openxmlformats.org/officeDocument/2006/relationships/font" Target="fonts/font12.fntdata"/><Relationship Id="rId44" Type="http://schemas.openxmlformats.org/officeDocument/2006/relationships/font" Target="fonts/font11.fntdata"/><Relationship Id="rId43" Type="http://schemas.openxmlformats.org/officeDocument/2006/relationships/font" Target="fonts/font10.fntdata"/><Relationship Id="rId42" Type="http://schemas.openxmlformats.org/officeDocument/2006/relationships/font" Target="fonts/font9.fntdata"/><Relationship Id="rId41" Type="http://schemas.openxmlformats.org/officeDocument/2006/relationships/font" Target="fonts/font8.fntdata"/><Relationship Id="rId40" Type="http://schemas.openxmlformats.org/officeDocument/2006/relationships/font" Target="fonts/font7.fntdata"/><Relationship Id="rId4" Type="http://schemas.openxmlformats.org/officeDocument/2006/relationships/notesMaster" Target="notesMasters/notesMaster1.xml"/><Relationship Id="rId39" Type="http://schemas.openxmlformats.org/officeDocument/2006/relationships/font" Target="fonts/font6.fntdata"/><Relationship Id="rId38" Type="http://schemas.openxmlformats.org/officeDocument/2006/relationships/font" Target="fonts/font5.fntdata"/><Relationship Id="rId37" Type="http://schemas.openxmlformats.org/officeDocument/2006/relationships/font" Target="fonts/font4.fntdata"/><Relationship Id="rId36" Type="http://schemas.openxmlformats.org/officeDocument/2006/relationships/font" Target="fonts/font3.fntdata"/><Relationship Id="rId35" Type="http://schemas.openxmlformats.org/officeDocument/2006/relationships/font" Target="fonts/font2.fntdata"/><Relationship Id="rId34" Type="http://schemas.openxmlformats.org/officeDocument/2006/relationships/font" Target="fonts/font1.fntdata"/><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0" name="Shape 80"/>
        <p:cNvGrpSpPr/>
        <p:nvPr/>
      </p:nvGrpSpPr>
      <p:grpSpPr>
        <a:xfrm>
          <a:off x="0" y="0"/>
          <a:ext cx="0" cy="0"/>
          <a:chOff x="0" y="0"/>
          <a:chExt cx="0" cy="0"/>
        </a:xfrm>
      </p:grpSpPr>
      <p:sp>
        <p:nvSpPr>
          <p:cNvPr id="81" name="Google Shape;81;p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82" name="Google Shape;82;p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8" name="Shape 98"/>
        <p:cNvGrpSpPr/>
        <p:nvPr/>
      </p:nvGrpSpPr>
      <p:grpSpPr>
        <a:xfrm>
          <a:off x="0" y="0"/>
          <a:ext cx="0" cy="0"/>
          <a:chOff x="0" y="0"/>
          <a:chExt cx="0" cy="0"/>
        </a:xfrm>
      </p:grpSpPr>
      <p:sp>
        <p:nvSpPr>
          <p:cNvPr id="99" name="Google Shape;99;p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00" name="Google Shape;100;p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4" name="Shape 124"/>
        <p:cNvGrpSpPr/>
        <p:nvPr/>
      </p:nvGrpSpPr>
      <p:grpSpPr>
        <a:xfrm>
          <a:off x="0" y="0"/>
          <a:ext cx="0" cy="0"/>
          <a:chOff x="0" y="0"/>
          <a:chExt cx="0" cy="0"/>
        </a:xfrm>
      </p:grpSpPr>
      <p:sp>
        <p:nvSpPr>
          <p:cNvPr id="125" name="Google Shape;125;p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26" name="Google Shape;126;p3: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3" name="Shape 143"/>
        <p:cNvGrpSpPr/>
        <p:nvPr/>
      </p:nvGrpSpPr>
      <p:grpSpPr>
        <a:xfrm>
          <a:off x="0" y="0"/>
          <a:ext cx="0" cy="0"/>
          <a:chOff x="0" y="0"/>
          <a:chExt cx="0" cy="0"/>
        </a:xfrm>
      </p:grpSpPr>
      <p:sp>
        <p:nvSpPr>
          <p:cNvPr id="144" name="Google Shape;144;p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5" name="Google Shape;145;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4" name="Shape 164"/>
        <p:cNvGrpSpPr/>
        <p:nvPr/>
      </p:nvGrpSpPr>
      <p:grpSpPr>
        <a:xfrm>
          <a:off x="0" y="0"/>
          <a:ext cx="0" cy="0"/>
          <a:chOff x="0" y="0"/>
          <a:chExt cx="0" cy="0"/>
        </a:xfrm>
      </p:grpSpPr>
      <p:sp>
        <p:nvSpPr>
          <p:cNvPr id="165" name="Google Shape;165;p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66" name="Google Shape;166;p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1" name="Shape 201"/>
        <p:cNvGrpSpPr/>
        <p:nvPr/>
      </p:nvGrpSpPr>
      <p:grpSpPr>
        <a:xfrm>
          <a:off x="0" y="0"/>
          <a:ext cx="0" cy="0"/>
          <a:chOff x="0" y="0"/>
          <a:chExt cx="0" cy="0"/>
        </a:xfrm>
      </p:grpSpPr>
      <p:sp>
        <p:nvSpPr>
          <p:cNvPr id="202" name="Google Shape;202;p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03" name="Google Shape;203;p6: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310" name="Shape 310"/>
        <p:cNvGrpSpPr/>
        <p:nvPr/>
      </p:nvGrpSpPr>
      <p:grpSpPr>
        <a:xfrm>
          <a:off x="0" y="0"/>
          <a:ext cx="0" cy="0"/>
          <a:chOff x="0" y="0"/>
          <a:chExt cx="0" cy="0"/>
        </a:xfrm>
      </p:grpSpPr>
      <p:sp>
        <p:nvSpPr>
          <p:cNvPr id="311" name="Google Shape;311;p1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12" name="Google Shape;312;p1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7" name="Shape 267"/>
        <p:cNvGrpSpPr/>
        <p:nvPr/>
      </p:nvGrpSpPr>
      <p:grpSpPr>
        <a:xfrm>
          <a:off x="0" y="0"/>
          <a:ext cx="0" cy="0"/>
          <a:chOff x="0" y="0"/>
          <a:chExt cx="0" cy="0"/>
        </a:xfrm>
      </p:grpSpPr>
      <p:sp>
        <p:nvSpPr>
          <p:cNvPr id="268" name="Google Shape;268;p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69" name="Google Shape;269;p9: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8" name="Shape 248"/>
        <p:cNvGrpSpPr/>
        <p:nvPr/>
      </p:nvGrpSpPr>
      <p:grpSpPr>
        <a:xfrm>
          <a:off x="0" y="0"/>
          <a:ext cx="0" cy="0"/>
          <a:chOff x="0" y="0"/>
          <a:chExt cx="0" cy="0"/>
        </a:xfrm>
      </p:grpSpPr>
      <p:sp>
        <p:nvSpPr>
          <p:cNvPr id="249" name="Google Shape;249;p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50" name="Google Shape;250;p8: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4" name="Shape 164"/>
        <p:cNvGrpSpPr/>
        <p:nvPr/>
      </p:nvGrpSpPr>
      <p:grpSpPr>
        <a:xfrm>
          <a:off x="0" y="0"/>
          <a:ext cx="0" cy="0"/>
          <a:chOff x="0" y="0"/>
          <a:chExt cx="0" cy="0"/>
        </a:xfrm>
      </p:grpSpPr>
      <p:sp>
        <p:nvSpPr>
          <p:cNvPr id="165" name="Google Shape;165;p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66" name="Google Shape;166;p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8" name="Shape 248"/>
        <p:cNvGrpSpPr/>
        <p:nvPr/>
      </p:nvGrpSpPr>
      <p:grpSpPr>
        <a:xfrm>
          <a:off x="0" y="0"/>
          <a:ext cx="0" cy="0"/>
          <a:chOff x="0" y="0"/>
          <a:chExt cx="0" cy="0"/>
        </a:xfrm>
      </p:grpSpPr>
      <p:sp>
        <p:nvSpPr>
          <p:cNvPr id="249" name="Google Shape;249;p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50" name="Google Shape;250;p8: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98" name="Shape 298"/>
        <p:cNvGrpSpPr/>
        <p:nvPr/>
      </p:nvGrpSpPr>
      <p:grpSpPr>
        <a:xfrm>
          <a:off x="0" y="0"/>
          <a:ext cx="0" cy="0"/>
          <a:chOff x="0" y="0"/>
          <a:chExt cx="0" cy="0"/>
        </a:xfrm>
      </p:grpSpPr>
      <p:sp>
        <p:nvSpPr>
          <p:cNvPr id="299" name="Google Shape;299;p1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00" name="Google Shape;300;p10: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337" name="Shape 337"/>
        <p:cNvGrpSpPr/>
        <p:nvPr/>
      </p:nvGrpSpPr>
      <p:grpSpPr>
        <a:xfrm>
          <a:off x="0" y="0"/>
          <a:ext cx="0" cy="0"/>
          <a:chOff x="0" y="0"/>
          <a:chExt cx="0" cy="0"/>
        </a:xfrm>
      </p:grpSpPr>
      <p:sp>
        <p:nvSpPr>
          <p:cNvPr id="338" name="Google Shape;338;p1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39" name="Google Shape;339;p1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4" Type="http://schemas.openxmlformats.org/officeDocument/2006/relationships/tags" Target="../tags/tag13.xml"/><Relationship Id="rId13" Type="http://schemas.openxmlformats.org/officeDocument/2006/relationships/tags" Target="../tags/tag12.xml"/><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11" name="Shape 11"/>
        <p:cNvGrpSpPr/>
        <p:nvPr/>
      </p:nvGrpSpPr>
      <p:grpSpPr>
        <a:xfrm>
          <a:off x="0" y="0"/>
          <a:ext cx="0" cy="0"/>
          <a:chOff x="0" y="0"/>
          <a:chExt cx="0" cy="0"/>
        </a:xfrm>
      </p:grpSpPr>
      <p:sp>
        <p:nvSpPr>
          <p:cNvPr id="12" name="Google Shape;12;p2"/>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24" name="Google Shape;24;p4"/>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panose="020F0502020204030204"/>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p:txBody>
      </p:sp>
      <p:sp>
        <p:nvSpPr>
          <p:cNvPr id="36" name="Google Shape;36;p6"/>
          <p:cNvSpPr txBox="1"/>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p:txBody>
      </p:sp>
      <p:sp>
        <p:nvSpPr>
          <p:cNvPr id="37" name="Google Shape;37;p6"/>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panose="020F0502020204030204"/>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p:txBody>
      </p:sp>
      <p:sp>
        <p:nvSpPr>
          <p:cNvPr id="43" name="Google Shape;43;p7"/>
          <p:cNvSpPr txBox="1"/>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p:txBody>
      </p:sp>
      <p:sp>
        <p:nvSpPr>
          <p:cNvPr id="44" name="Google Shape;44;p7"/>
          <p:cNvSpPr txBox="1"/>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p:txBody>
      </p:sp>
      <p:sp>
        <p:nvSpPr>
          <p:cNvPr id="45" name="Google Shape;45;p7"/>
          <p:cNvSpPr txBox="1"/>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p:txBody>
      </p:sp>
      <p:sp>
        <p:nvSpPr>
          <p:cNvPr id="46" name="Google Shape;46;p7"/>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panose="020F0502020204030204"/>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p:txBody>
      </p:sp>
      <p:sp>
        <p:nvSpPr>
          <p:cNvPr id="57" name="Google Shape;57;p9"/>
          <p:cNvSpPr txBox="1"/>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p:txBody>
      </p:sp>
      <p:sp>
        <p:nvSpPr>
          <p:cNvPr id="58" name="Google Shape;58;p9"/>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panose="020F0502020204030204"/>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type="pic" idx="2"/>
          </p:nvPr>
        </p:nvSpPr>
        <p:spPr>
          <a:xfrm>
            <a:off x="1792288" y="612775"/>
            <a:ext cx="5486400" cy="4114800"/>
          </a:xfrm>
          <a:prstGeom prst="rect">
            <a:avLst/>
          </a:prstGeom>
          <a:noFill/>
          <a:ln>
            <a:noFill/>
          </a:ln>
        </p:spPr>
      </p:sp>
      <p:sp>
        <p:nvSpPr>
          <p:cNvPr id="64" name="Google Shape;64;p10"/>
          <p:cNvSpPr txBox="1"/>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p:txBody>
      </p:sp>
      <p:sp>
        <p:nvSpPr>
          <p:cNvPr id="65" name="Google Shape;65;p10"/>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71" name="Google Shape;71;p11"/>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77" name="Google Shape;77;p12"/>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re et texte">
    <p:spTree>
      <p:nvGrpSpPr>
        <p:cNvPr id="1" name=""/>
        <p:cNvGrpSpPr/>
        <p:nvPr/>
      </p:nvGrpSpPr>
      <p:grpSpPr>
        <a:xfrm>
          <a:off x="0" y="0"/>
          <a:ext cx="0" cy="0"/>
          <a:chOff x="0" y="0"/>
          <a:chExt cx="0" cy="0"/>
        </a:xfrm>
      </p:grpSpPr>
      <p:sp>
        <p:nvSpPr>
          <p:cNvPr id="2" name="Titre 1"/>
          <p:cNvSpPr>
            <a:spLocks noGrp="1"/>
          </p:cNvSpPr>
          <p:nvPr>
            <p:ph type="title" hasCustomPrompt="1"/>
          </p:nvPr>
        </p:nvSpPr>
        <p:spPr/>
        <p:txBody>
          <a:bodyPr/>
          <a:lstStyle/>
          <a:p>
            <a:r>
              <a:rPr lang="fr-FR" smtClean="0"/>
              <a:t>Cliquez pour modifier le style du titre du masque</a:t>
            </a:r>
            <a:endParaRPr lang="fr-FR"/>
          </a:p>
        </p:txBody>
      </p:sp>
      <p:sp>
        <p:nvSpPr>
          <p:cNvPr id="3" name="Espace réservé du texte 2"/>
          <p:cNvSpPr>
            <a:spLocks noGrp="1"/>
          </p:cNvSpPr>
          <p:nvPr>
            <p:ph type="body" idx="1" hasCustomPrompt="1"/>
          </p:nvPr>
        </p:nvSpPr>
        <p:spPr/>
        <p:txBody>
          <a:bodyPr/>
          <a:lstStyle/>
          <a:p>
            <a:pPr lvl="0"/>
            <a:r>
              <a:rPr lang="fr-FR" smtClean="0"/>
              <a:t>Cliquez pour modifier les styles du texte du masque</a:t>
            </a:r>
            <a:endParaRPr lang="fr-FR" smtClean="0"/>
          </a:p>
          <a:p>
            <a:pPr lvl="1"/>
            <a:r>
              <a:rPr lang="fr-FR" smtClean="0"/>
              <a:t>Deuxième niveau</a:t>
            </a:r>
            <a:endParaRPr lang="fr-FR" smtClean="0"/>
          </a:p>
          <a:p>
            <a:pPr lvl="2"/>
            <a:r>
              <a:rPr lang="fr-FR" smtClean="0"/>
              <a:t>Troisième niveau</a:t>
            </a:r>
            <a:endParaRPr lang="fr-FR" smtClean="0"/>
          </a:p>
          <a:p>
            <a:pPr lvl="3"/>
            <a:r>
              <a:rPr lang="fr-FR" smtClean="0"/>
              <a:t>Quatrième niveau</a:t>
            </a:r>
            <a:endParaRPr lang="fr-FR" smtClean="0"/>
          </a:p>
          <a:p>
            <a:pPr lvl="4"/>
            <a:r>
              <a:rPr lang="fr-FR" smtClean="0"/>
              <a:t>Cinquième niveau</a:t>
            </a:r>
            <a:endParaRPr lang="fr-FR"/>
          </a:p>
        </p:txBody>
      </p:sp>
      <p:sp>
        <p:nvSpPr>
          <p:cNvPr id="4" name="Espace réservé de la date 3"/>
          <p:cNvSpPr>
            <a:spLocks noGrp="1"/>
          </p:cNvSpPr>
          <p:nvPr>
            <p:ph type="dt" sz="half" idx="10"/>
          </p:nvPr>
        </p:nvSpPr>
        <p:spPr/>
        <p:txBody>
          <a:bodyPr/>
          <a:lstStyle/>
          <a:p/>
        </p:txBody>
      </p:sp>
      <p:sp>
        <p:nvSpPr>
          <p:cNvPr id="5" name="Espace réservé du pied de page 4"/>
          <p:cNvSpPr>
            <a:spLocks noGrp="1"/>
          </p:cNvSpPr>
          <p:nvPr>
            <p:ph type="ftr" sz="quarter" idx="11"/>
          </p:nvPr>
        </p:nvSpPr>
        <p:spPr/>
        <p:txBody>
          <a:bodyPr/>
          <a:lstStyle/>
          <a:p/>
        </p:txBody>
      </p:sp>
      <p:sp>
        <p:nvSpPr>
          <p:cNvPr id="6" name="Espace réservé du numéro de diapositive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_Slide-34_35">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6" name="Title 5"/>
          <p:cNvSpPr>
            <a:spLocks noGrp="1"/>
          </p:cNvSpPr>
          <p:nvPr>
            <p:ph type="ctrTitle" idx="16385" hasCustomPrompt="1"/>
            <p:custDataLst>
              <p:tags r:id="rId2"/>
            </p:custDataLst>
          </p:nvPr>
        </p:nvSpPr>
        <p:spPr>
          <a:xfrm>
            <a:off x="609600" y="533400"/>
            <a:ext cx="10972800" cy="6096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pPr lvl="0"/>
            <a:r>
              <a:rPr lang="zh-CN" altLang="en-US"/>
              <a:t>Your slide title here</a:t>
            </a:r>
            <a:endParaRPr lang="zh-CN" altLang="en-US"/>
          </a:p>
        </p:txBody>
      </p:sp>
      <p:sp>
        <p:nvSpPr>
          <p:cNvPr id="7" name="Picture Placeholder 6"/>
          <p:cNvSpPr>
            <a:spLocks noGrp="1"/>
          </p:cNvSpPr>
          <p:nvPr>
            <p:ph type="pic" idx="16394" hasCustomPrompt="1"/>
            <p:custDataLst>
              <p:tags r:id="rId3"/>
            </p:custDataLst>
          </p:nvPr>
        </p:nvSpPr>
        <p:spPr>
          <a:xfrm>
            <a:off x="609600" y="19304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8" name="Text Placeholder 7"/>
          <p:cNvSpPr>
            <a:spLocks noGrp="1"/>
          </p:cNvSpPr>
          <p:nvPr>
            <p:ph type="body" idx="16386" hasCustomPrompt="1"/>
            <p:custDataLst>
              <p:tags r:id="rId4"/>
            </p:custDataLst>
          </p:nvPr>
        </p:nvSpPr>
        <p:spPr>
          <a:xfrm>
            <a:off x="1778000" y="19304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9" name="Text Placeholder 8"/>
          <p:cNvSpPr>
            <a:spLocks noGrp="1"/>
          </p:cNvSpPr>
          <p:nvPr>
            <p:ph type="body" idx="16387" hasCustomPrompt="1"/>
            <p:custDataLst>
              <p:tags r:id="rId5"/>
            </p:custDataLst>
          </p:nvPr>
        </p:nvSpPr>
        <p:spPr>
          <a:xfrm>
            <a:off x="1778000" y="24384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
        <p:nvSpPr>
          <p:cNvPr id="10" name="Picture Placeholder 9"/>
          <p:cNvSpPr>
            <a:spLocks noGrp="1"/>
          </p:cNvSpPr>
          <p:nvPr>
            <p:ph type="pic" idx="16395" hasCustomPrompt="1"/>
            <p:custDataLst>
              <p:tags r:id="rId6"/>
            </p:custDataLst>
          </p:nvPr>
        </p:nvSpPr>
        <p:spPr>
          <a:xfrm>
            <a:off x="6324600" y="19304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1" name="Text Placeholder 10"/>
          <p:cNvSpPr>
            <a:spLocks noGrp="1"/>
          </p:cNvSpPr>
          <p:nvPr>
            <p:ph type="body" idx="16388" hasCustomPrompt="1"/>
            <p:custDataLst>
              <p:tags r:id="rId7"/>
            </p:custDataLst>
          </p:nvPr>
        </p:nvSpPr>
        <p:spPr>
          <a:xfrm>
            <a:off x="7493000" y="19304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12" name="Text Placeholder 11"/>
          <p:cNvSpPr>
            <a:spLocks noGrp="1"/>
          </p:cNvSpPr>
          <p:nvPr>
            <p:ph type="body" idx="16389" hasCustomPrompt="1"/>
            <p:custDataLst>
              <p:tags r:id="rId8"/>
            </p:custDataLst>
          </p:nvPr>
        </p:nvSpPr>
        <p:spPr>
          <a:xfrm>
            <a:off x="7493000" y="24384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
        <p:nvSpPr>
          <p:cNvPr id="13" name="Picture Placeholder 12"/>
          <p:cNvSpPr>
            <a:spLocks noGrp="1"/>
          </p:cNvSpPr>
          <p:nvPr>
            <p:ph type="pic" idx="16396" hasCustomPrompt="1"/>
            <p:custDataLst>
              <p:tags r:id="rId9"/>
            </p:custDataLst>
          </p:nvPr>
        </p:nvSpPr>
        <p:spPr>
          <a:xfrm>
            <a:off x="609600" y="41148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4" name="Text Placeholder 13"/>
          <p:cNvSpPr>
            <a:spLocks noGrp="1"/>
          </p:cNvSpPr>
          <p:nvPr>
            <p:ph type="body" idx="16390" hasCustomPrompt="1"/>
            <p:custDataLst>
              <p:tags r:id="rId10"/>
            </p:custDataLst>
          </p:nvPr>
        </p:nvSpPr>
        <p:spPr>
          <a:xfrm>
            <a:off x="1778000" y="41148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15" name="Text Placeholder 14"/>
          <p:cNvSpPr>
            <a:spLocks noGrp="1"/>
          </p:cNvSpPr>
          <p:nvPr>
            <p:ph type="body" idx="16391" hasCustomPrompt="1"/>
            <p:custDataLst>
              <p:tags r:id="rId11"/>
            </p:custDataLst>
          </p:nvPr>
        </p:nvSpPr>
        <p:spPr>
          <a:xfrm>
            <a:off x="1778000" y="46228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
        <p:nvSpPr>
          <p:cNvPr id="16" name="Picture Placeholder 15"/>
          <p:cNvSpPr>
            <a:spLocks noGrp="1"/>
          </p:cNvSpPr>
          <p:nvPr>
            <p:ph type="pic" idx="16397" hasCustomPrompt="1"/>
            <p:custDataLst>
              <p:tags r:id="rId12"/>
            </p:custDataLst>
          </p:nvPr>
        </p:nvSpPr>
        <p:spPr>
          <a:xfrm>
            <a:off x="6324600" y="41148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7" name="Text Placeholder 16"/>
          <p:cNvSpPr>
            <a:spLocks noGrp="1"/>
          </p:cNvSpPr>
          <p:nvPr>
            <p:ph type="body" idx="16392" hasCustomPrompt="1"/>
            <p:custDataLst>
              <p:tags r:id="rId13"/>
            </p:custDataLst>
          </p:nvPr>
        </p:nvSpPr>
        <p:spPr>
          <a:xfrm>
            <a:off x="7493000" y="41148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18" name="Text Placeholder 17"/>
          <p:cNvSpPr>
            <a:spLocks noGrp="1"/>
          </p:cNvSpPr>
          <p:nvPr>
            <p:ph type="body" idx="16393" hasCustomPrompt="1"/>
            <p:custDataLst>
              <p:tags r:id="rId14"/>
            </p:custDataLst>
          </p:nvPr>
        </p:nvSpPr>
        <p:spPr>
          <a:xfrm>
            <a:off x="7493000" y="46228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panose="020B0604020202020204"/>
              <a:buChar char="•"/>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406400" algn="l" rtl="0">
              <a:spcBef>
                <a:spcPts val="56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81000" algn="l" rtl="0">
              <a:spcBef>
                <a:spcPts val="48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p1"/>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9" name="Google Shape;9;p1"/>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0" name="Google Shape;10;p1"/>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7" Type="http://schemas.openxmlformats.org/officeDocument/2006/relationships/notesSlide" Target="../notesSlides/notesSlide2.xml"/><Relationship Id="rId6"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image" Target="../media/image9.png"/></Relationships>
</file>

<file path=ppt/slides/_rels/slide4.xml.rels><?xml version="1.0" encoding="UTF-8" standalone="yes"?>
<Relationships xmlns="http://schemas.openxmlformats.org/package/2006/relationships"><Relationship Id="rId6" Type="http://schemas.openxmlformats.org/officeDocument/2006/relationships/notesSlide" Target="../notesSlides/notesSlide4.xml"/><Relationship Id="rId5" Type="http://schemas.openxmlformats.org/officeDocument/2006/relationships/slideLayout" Target="../slideLayouts/slideLayout1.xml"/><Relationship Id="rId4" Type="http://schemas.openxmlformats.org/officeDocument/2006/relationships/image" Target="../media/image16.png"/><Relationship Id="rId3" Type="http://schemas.openxmlformats.org/officeDocument/2006/relationships/image" Target="../media/image12.png"/><Relationship Id="rId2" Type="http://schemas.openxmlformats.org/officeDocument/2006/relationships/image" Target="../media/image15.png"/><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1.xml"/><Relationship Id="rId3" Type="http://schemas.openxmlformats.org/officeDocument/2006/relationships/image" Target="../media/image12.png"/><Relationship Id="rId2" Type="http://schemas.openxmlformats.org/officeDocument/2006/relationships/image" Target="../media/image17.png"/><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23.png"/><Relationship Id="rId7" Type="http://schemas.openxmlformats.org/officeDocument/2006/relationships/image" Target="../media/image22.png"/><Relationship Id="rId6" Type="http://schemas.openxmlformats.org/officeDocument/2006/relationships/image" Target="../media/image21.png"/><Relationship Id="rId5" Type="http://schemas.openxmlformats.org/officeDocument/2006/relationships/image" Target="../media/image12.png"/><Relationship Id="rId4" Type="http://schemas.openxmlformats.org/officeDocument/2006/relationships/image" Target="../media/image20.png"/><Relationship Id="rId3" Type="http://schemas.openxmlformats.org/officeDocument/2006/relationships/image" Target="../media/image19.png"/><Relationship Id="rId2" Type="http://schemas.openxmlformats.org/officeDocument/2006/relationships/image" Target="../media/image18.png"/><Relationship Id="rId10" Type="http://schemas.openxmlformats.org/officeDocument/2006/relationships/notesSlide" Target="../notesSlides/notesSlide6.xml"/><Relationship Id="rId1"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8.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12.png"/><Relationship Id="rId2" Type="http://schemas.openxmlformats.org/officeDocument/2006/relationships/image" Target="../media/image24.png"/><Relationship Id="rId1" Type="http://schemas.openxmlformats.org/officeDocument/2006/relationships/image" Target="../media/image9.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12.png"/><Relationship Id="rId1" Type="http://schemas.openxmlformats.org/officeDocument/2006/relationships/image" Target="../media/image9.png"/></Relationships>
</file>

<file path=ppt/slides/_rels/slide10.xml.rels><?xml version="1.0" encoding="UTF-8" standalone="yes"?>
<Relationships xmlns="http://schemas.openxmlformats.org/package/2006/relationships"><Relationship Id="rId8" Type="http://schemas.openxmlformats.org/officeDocument/2006/relationships/notesSlide" Target="../notesSlides/notesSlide8.xml"/><Relationship Id="rId7"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 Id="rId3" Type="http://schemas.openxmlformats.org/officeDocument/2006/relationships/image" Target="../media/image25.png"/><Relationship Id="rId2" Type="http://schemas.openxmlformats.org/officeDocument/2006/relationships/image" Target="../media/image12.png"/><Relationship Id="rId1" Type="http://schemas.openxmlformats.org/officeDocument/2006/relationships/image" Target="../media/image9.png"/></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12.png"/><Relationship Id="rId2" Type="http://schemas.openxmlformats.org/officeDocument/2006/relationships/image" Target="../media/image29.png"/><Relationship Id="rId1" Type="http://schemas.openxmlformats.org/officeDocument/2006/relationships/image" Target="../media/image9.png"/></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0.png"/><Relationship Id="rId2" Type="http://schemas.openxmlformats.org/officeDocument/2006/relationships/image" Target="../media/image12.png"/><Relationship Id="rId1" Type="http://schemas.openxmlformats.org/officeDocument/2006/relationships/image" Target="../media/image9.png"/></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1.png"/><Relationship Id="rId2" Type="http://schemas.openxmlformats.org/officeDocument/2006/relationships/image" Target="../media/image12.png"/><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2.png"/><Relationship Id="rId2" Type="http://schemas.openxmlformats.org/officeDocument/2006/relationships/image" Target="../media/image12.png"/><Relationship Id="rId1" Type="http://schemas.openxmlformats.org/officeDocument/2006/relationships/image" Target="../media/image9.png"/></Relationships>
</file>

<file path=ppt/slides/_rels/slide15.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3.png"/><Relationship Id="rId2" Type="http://schemas.openxmlformats.org/officeDocument/2006/relationships/image" Target="../media/image12.png"/><Relationship Id="rId1" Type="http://schemas.openxmlformats.org/officeDocument/2006/relationships/image" Target="../media/image9.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4.png"/><Relationship Id="rId2" Type="http://schemas.openxmlformats.org/officeDocument/2006/relationships/image" Target="../media/image12.png"/><Relationship Id="rId1" Type="http://schemas.openxmlformats.org/officeDocument/2006/relationships/image" Target="../media/image9.png"/></Relationships>
</file>

<file path=ppt/slides/_rels/slide17.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5.png"/><Relationship Id="rId2" Type="http://schemas.openxmlformats.org/officeDocument/2006/relationships/image" Target="../media/image12.png"/><Relationship Id="rId1" Type="http://schemas.openxmlformats.org/officeDocument/2006/relationships/image" Target="../media/image9.png"/></Relationships>
</file>

<file path=ppt/slides/_rels/slide18.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6.png"/><Relationship Id="rId2" Type="http://schemas.openxmlformats.org/officeDocument/2006/relationships/image" Target="../media/image12.png"/><Relationship Id="rId1" Type="http://schemas.openxmlformats.org/officeDocument/2006/relationships/image" Target="../media/image9.png"/></Relationships>
</file>

<file path=ppt/slides/_rels/slide19.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43.png"/><Relationship Id="rId7" Type="http://schemas.openxmlformats.org/officeDocument/2006/relationships/image" Target="../media/image42.png"/><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jpeg"/><Relationship Id="rId3" Type="http://schemas.openxmlformats.org/officeDocument/2006/relationships/image" Target="../media/image38.png"/><Relationship Id="rId2" Type="http://schemas.openxmlformats.org/officeDocument/2006/relationships/image" Target="../media/image12.png"/><Relationship Id="rId10" Type="http://schemas.openxmlformats.org/officeDocument/2006/relationships/notesSlide" Target="../notesSlides/notesSlide9.xml"/><Relationship Id="rId1" Type="http://schemas.openxmlformats.org/officeDocument/2006/relationships/image" Target="../media/image37.png"/></Relationships>
</file>

<file path=ppt/slides/_rels/slide20.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xml"/><Relationship Id="rId4" Type="http://schemas.openxmlformats.org/officeDocument/2006/relationships/tags" Target="../tags/tag14.xml"/><Relationship Id="rId3" Type="http://schemas.openxmlformats.org/officeDocument/2006/relationships/image" Target="../media/image12.png"/><Relationship Id="rId2" Type="http://schemas.openxmlformats.org/officeDocument/2006/relationships/image" Target="../media/image17.png"/><Relationship Id="rId1" Type="http://schemas.openxmlformats.org/officeDocument/2006/relationships/image" Target="../media/image9.png"/></Relationships>
</file>

<file path=ppt/slides/_rels/slide21.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1.xml"/><Relationship Id="rId2" Type="http://schemas.openxmlformats.org/officeDocument/2006/relationships/image" Target="../media/image44.png"/><Relationship Id="rId1" Type="http://schemas.openxmlformats.org/officeDocument/2006/relationships/image" Target="../media/image12.png"/></Relationships>
</file>

<file path=ppt/slides/_rels/slide22.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45.png"/><Relationship Id="rId2" Type="http://schemas.openxmlformats.org/officeDocument/2006/relationships/image" Target="../media/image12.png"/><Relationship Id="rId1" Type="http://schemas.openxmlformats.org/officeDocument/2006/relationships/image" Target="../media/image9.png"/></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2.png"/><Relationship Id="rId1" Type="http://schemas.openxmlformats.org/officeDocument/2006/relationships/image" Target="../media/image9.png"/></Relationships>
</file>

<file path=ppt/slides/_rels/slide26.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tags" Target="../tags/tag16.xml"/><Relationship Id="rId4" Type="http://schemas.openxmlformats.org/officeDocument/2006/relationships/image" Target="../media/image47.svg"/><Relationship Id="rId3" Type="http://schemas.openxmlformats.org/officeDocument/2006/relationships/image" Target="../media/image46.png"/><Relationship Id="rId2" Type="http://schemas.openxmlformats.org/officeDocument/2006/relationships/tags" Target="../tags/tag15.xml"/><Relationship Id="rId1" Type="http://schemas.openxmlformats.org/officeDocument/2006/relationships/image" Target="../media/image9.png"/></Relationships>
</file>

<file path=ppt/slides/_rels/slide27.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83" name="Shape 83"/>
        <p:cNvGrpSpPr/>
        <p:nvPr/>
      </p:nvGrpSpPr>
      <p:grpSpPr>
        <a:xfrm>
          <a:off x="0" y="0"/>
          <a:ext cx="0" cy="0"/>
          <a:chOff x="0" y="0"/>
          <a:chExt cx="0" cy="0"/>
        </a:xfrm>
      </p:grpSpPr>
      <p:pic>
        <p:nvPicPr>
          <p:cNvPr id="84" name="Google Shape;84;p13"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85" name="Google Shape;85;p13" descr="image.png"/>
          <p:cNvPicPr preferRelativeResize="0"/>
          <p:nvPr/>
        </p:nvPicPr>
        <p:blipFill rotWithShape="1">
          <a:blip r:embed="rId2"/>
          <a:srcRect/>
          <a:stretch>
            <a:fillRect/>
          </a:stretch>
        </p:blipFill>
        <p:spPr>
          <a:xfrm>
            <a:off x="713740" y="4981575"/>
            <a:ext cx="10621010" cy="1416685"/>
          </a:xfrm>
          <a:prstGeom prst="rect">
            <a:avLst/>
          </a:prstGeom>
          <a:noFill/>
          <a:ln>
            <a:noFill/>
          </a:ln>
        </p:spPr>
      </p:pic>
      <p:pic>
        <p:nvPicPr>
          <p:cNvPr id="86" name="Google Shape;86;p13" descr="image.png"/>
          <p:cNvPicPr preferRelativeResize="0"/>
          <p:nvPr/>
        </p:nvPicPr>
        <p:blipFill rotWithShape="1">
          <a:blip r:embed="rId3"/>
          <a:srcRect/>
          <a:stretch>
            <a:fillRect/>
          </a:stretch>
        </p:blipFill>
        <p:spPr>
          <a:xfrm>
            <a:off x="2165985" y="5326380"/>
            <a:ext cx="3417570" cy="873125"/>
          </a:xfrm>
          <a:prstGeom prst="rect">
            <a:avLst/>
          </a:prstGeom>
          <a:noFill/>
          <a:ln>
            <a:noFill/>
          </a:ln>
        </p:spPr>
      </p:pic>
      <p:pic>
        <p:nvPicPr>
          <p:cNvPr id="87" name="Google Shape;87;p13" descr="image.png"/>
          <p:cNvPicPr preferRelativeResize="0"/>
          <p:nvPr/>
        </p:nvPicPr>
        <p:blipFill rotWithShape="1">
          <a:blip r:embed="rId3"/>
          <a:srcRect/>
          <a:stretch>
            <a:fillRect/>
          </a:stretch>
        </p:blipFill>
        <p:spPr>
          <a:xfrm>
            <a:off x="7259955" y="5261610"/>
            <a:ext cx="3273425" cy="1121410"/>
          </a:xfrm>
          <a:prstGeom prst="rect">
            <a:avLst/>
          </a:prstGeom>
          <a:noFill/>
          <a:ln>
            <a:noFill/>
          </a:ln>
        </p:spPr>
      </p:pic>
      <p:sp>
        <p:nvSpPr>
          <p:cNvPr id="89" name="Google Shape;89;p13"/>
          <p:cNvSpPr txBox="1"/>
          <p:nvPr/>
        </p:nvSpPr>
        <p:spPr>
          <a:xfrm>
            <a:off x="2025015" y="714375"/>
            <a:ext cx="7778115" cy="102552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rPr>
              <a:t>SOUTENANCE DE </a:t>
            </a:r>
            <a:r>
              <a:rPr lang="fr-FR" alt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rPr>
              <a:t>MEMOIRE</a:t>
            </a:r>
            <a:endParaRPr lang="fr-FR" alt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endParaRPr>
          </a:p>
          <a:p>
            <a:pPr marL="0" marR="0" lvl="0" indent="0" algn="ctr" rtl="0">
              <a:spcBef>
                <a:spcPts val="0"/>
              </a:spcBef>
              <a:spcAft>
                <a:spcPts val="0"/>
              </a:spcAft>
              <a:buNone/>
            </a:pPr>
            <a:r>
              <a:rPr lang="fr-FR" alt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rPr>
              <a:t>LICENCE GENIE LOGICIEL</a:t>
            </a:r>
            <a:endParaRPr lang="fr-FR" alt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90" name="Google Shape;90;p13"/>
          <p:cNvSpPr txBox="1"/>
          <p:nvPr/>
        </p:nvSpPr>
        <p:spPr>
          <a:xfrm>
            <a:off x="1095375" y="2133600"/>
            <a:ext cx="9504045" cy="1483995"/>
          </a:xfrm>
          <a:prstGeom prst="rect">
            <a:avLst/>
          </a:prstGeom>
          <a:noFill/>
          <a:ln>
            <a:noFill/>
          </a:ln>
        </p:spPr>
        <p:txBody>
          <a:bodyPr spcFirstLastPara="1" wrap="square" lIns="0" tIns="0" rIns="0" bIns="0" anchor="t" anchorCtr="0">
            <a:noAutofit/>
          </a:bodyPr>
          <a:lstStyle/>
          <a:p>
            <a:pPr marL="0" marR="0" lvl="0" indent="0" algn="ctr" rtl="0">
              <a:lnSpc>
                <a:spcPct val="125000"/>
              </a:lnSpc>
              <a:spcBef>
                <a:spcPts val="0"/>
              </a:spcBef>
              <a:spcAft>
                <a:spcPts val="0"/>
              </a:spcAft>
              <a:buNone/>
            </a:pPr>
            <a:r>
              <a:rPr lang="en-US" sz="3150" b="1" i="0" u="none" strike="noStrike" cap="none">
                <a:solidFill>
                  <a:srgbClr val="F8FAFC"/>
                </a:solidFill>
                <a:latin typeface="Times New Roman" panose="02020603050405020304" charset="0"/>
                <a:ea typeface="Poppins" panose="00000500000000000000"/>
                <a:cs typeface="Times New Roman" panose="02020603050405020304" charset="0"/>
                <a:sym typeface="Poppins" panose="00000500000000000000"/>
              </a:rPr>
              <a:t>Plateforme Web &amp; Mobile de Gestion des Biens Immobiliers Résidentiels</a:t>
            </a:r>
            <a:endParaRPr lang="en-US" sz="3150" b="1" i="0" u="none" strike="noStrike" cap="none">
              <a:solidFill>
                <a:srgbClr val="F8FAFC"/>
              </a:solidFill>
              <a:latin typeface="Times New Roman" panose="02020603050405020304" charset="0"/>
              <a:ea typeface="Poppins" panose="00000500000000000000"/>
              <a:cs typeface="Times New Roman" panose="02020603050405020304" charset="0"/>
              <a:sym typeface="Poppins" panose="00000500000000000000"/>
            </a:endParaRPr>
          </a:p>
        </p:txBody>
      </p:sp>
      <p:sp>
        <p:nvSpPr>
          <p:cNvPr id="91" name="Google Shape;91;p13"/>
          <p:cNvSpPr txBox="1"/>
          <p:nvPr/>
        </p:nvSpPr>
        <p:spPr>
          <a:xfrm>
            <a:off x="1085850" y="3617595"/>
            <a:ext cx="9363075" cy="60896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1800" b="0" i="0" u="none" strike="noStrike" cap="none">
                <a:solidFill>
                  <a:srgbClr val="CBD5E1"/>
                </a:solidFill>
                <a:latin typeface="Times New Roman" panose="02020603050405020304" charset="0"/>
                <a:ea typeface="Lato Light" panose="020F0502020204030203"/>
                <a:cs typeface="Times New Roman" panose="02020603050405020304" charset="0"/>
                <a:sym typeface="Lato Light" panose="020F0502020204030203"/>
              </a:rPr>
              <a:t>Cas d’Étude Spécifique : Cours Communes &amp; Appartements de séjour (Airbnb) au Togo</a:t>
            </a:r>
            <a:endParaRPr lang="en-US" sz="1800" b="0" i="0" u="none" strike="noStrike" cap="none">
              <a:solidFill>
                <a:srgbClr val="CBD5E1"/>
              </a:solidFill>
              <a:latin typeface="Times New Roman" panose="02020603050405020304" charset="0"/>
              <a:ea typeface="Lato Light" panose="020F0502020204030203"/>
              <a:cs typeface="Times New Roman" panose="02020603050405020304" charset="0"/>
              <a:sym typeface="Lato Light" panose="020F0502020204030203"/>
            </a:endParaRPr>
          </a:p>
        </p:txBody>
      </p:sp>
      <p:sp>
        <p:nvSpPr>
          <p:cNvPr id="92" name="Google Shape;92;p13"/>
          <p:cNvSpPr txBox="1"/>
          <p:nvPr/>
        </p:nvSpPr>
        <p:spPr>
          <a:xfrm>
            <a:off x="2394585" y="5469255"/>
            <a:ext cx="2960370" cy="24574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PRÉSENTÉ PAR</a:t>
            </a:r>
            <a:endPar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93" name="Google Shape;93;p13"/>
          <p:cNvSpPr txBox="1"/>
          <p:nvPr/>
        </p:nvSpPr>
        <p:spPr>
          <a:xfrm>
            <a:off x="2394585" y="5707380"/>
            <a:ext cx="2819400" cy="3073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GBANDI WAKE</a:t>
            </a:r>
            <a:endPar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94" name="Google Shape;94;p13"/>
          <p:cNvSpPr txBox="1"/>
          <p:nvPr/>
        </p:nvSpPr>
        <p:spPr>
          <a:xfrm>
            <a:off x="7488555" y="5404485"/>
            <a:ext cx="2960370" cy="24574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SOUS LA DIRECTION DE</a:t>
            </a:r>
            <a:endPar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95" name="Google Shape;95;p13"/>
          <p:cNvSpPr txBox="1"/>
          <p:nvPr/>
        </p:nvSpPr>
        <p:spPr>
          <a:xfrm>
            <a:off x="7488555" y="5642610"/>
            <a:ext cx="2819400" cy="61531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M. SHABAN Abdoulatif </a:t>
            </a:r>
            <a:br>
              <a:rPr lang="en-US" sz="2000" b="0" i="0" u="none" strike="noStrike" cap="none">
                <a:solidFill>
                  <a:schemeClr val="dk1"/>
                </a:solidFill>
                <a:latin typeface="Times New Roman" panose="02020603050405020304" charset="0"/>
                <a:ea typeface="Calibri" panose="020F0502020204030204"/>
                <a:cs typeface="Times New Roman" panose="02020603050405020304" charset="0"/>
                <a:sym typeface="Calibri" panose="020F0502020204030204"/>
              </a:rPr>
            </a:br>
            <a:r>
              <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Ingénieur Logiciel</a:t>
            </a:r>
            <a:endPar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endParaRPr>
          </a:p>
        </p:txBody>
      </p:sp>
      <p:pic>
        <p:nvPicPr>
          <p:cNvPr id="2" name="Image 1" descr="WPS Photos(1)"/>
          <p:cNvPicPr>
            <a:picLocks noChangeAspect="1"/>
          </p:cNvPicPr>
          <p:nvPr/>
        </p:nvPicPr>
        <p:blipFill>
          <a:blip r:embed="rId4"/>
          <a:stretch>
            <a:fillRect/>
          </a:stretch>
        </p:blipFill>
        <p:spPr>
          <a:xfrm>
            <a:off x="9487535" y="0"/>
            <a:ext cx="2704465" cy="10388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01" name="Shape 101"/>
        <p:cNvGrpSpPr/>
        <p:nvPr/>
      </p:nvGrpSpPr>
      <p:grpSpPr>
        <a:xfrm>
          <a:off x="0" y="0"/>
          <a:ext cx="0" cy="0"/>
          <a:chOff x="0" y="0"/>
          <a:chExt cx="0" cy="0"/>
        </a:xfrm>
      </p:grpSpPr>
      <p:pic>
        <p:nvPicPr>
          <p:cNvPr id="102" name="Google Shape;102;p14"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03" name="Google Shape;103;p14" descr="image.png"/>
          <p:cNvPicPr preferRelativeResize="0"/>
          <p:nvPr/>
        </p:nvPicPr>
        <p:blipFill rotWithShape="1">
          <a:blip r:embed="rId2"/>
          <a:srcRect/>
          <a:stretch>
            <a:fillRect/>
          </a:stretch>
        </p:blipFill>
        <p:spPr>
          <a:xfrm>
            <a:off x="1809750" y="3248025"/>
            <a:ext cx="2730400" cy="1114425"/>
          </a:xfrm>
          <a:prstGeom prst="rect">
            <a:avLst/>
          </a:prstGeom>
          <a:noFill/>
          <a:ln>
            <a:noFill/>
          </a:ln>
        </p:spPr>
      </p:pic>
      <p:pic>
        <p:nvPicPr>
          <p:cNvPr id="104" name="Google Shape;104;p14" descr="image.png"/>
          <p:cNvPicPr preferRelativeResize="0"/>
          <p:nvPr/>
        </p:nvPicPr>
        <p:blipFill rotWithShape="1">
          <a:blip r:embed="rId3"/>
          <a:srcRect/>
          <a:stretch>
            <a:fillRect/>
          </a:stretch>
        </p:blipFill>
        <p:spPr>
          <a:xfrm>
            <a:off x="4730650" y="3248025"/>
            <a:ext cx="2730549" cy="1114425"/>
          </a:xfrm>
          <a:prstGeom prst="rect">
            <a:avLst/>
          </a:prstGeom>
          <a:noFill/>
          <a:ln>
            <a:noFill/>
          </a:ln>
        </p:spPr>
      </p:pic>
      <p:pic>
        <p:nvPicPr>
          <p:cNvPr id="105" name="Google Shape;105;p14" descr="image.png"/>
          <p:cNvPicPr preferRelativeResize="0"/>
          <p:nvPr/>
        </p:nvPicPr>
        <p:blipFill rotWithShape="1">
          <a:blip r:embed="rId2"/>
          <a:srcRect/>
          <a:stretch>
            <a:fillRect/>
          </a:stretch>
        </p:blipFill>
        <p:spPr>
          <a:xfrm>
            <a:off x="7651700" y="3248025"/>
            <a:ext cx="2730400" cy="1114425"/>
          </a:xfrm>
          <a:prstGeom prst="rect">
            <a:avLst/>
          </a:prstGeom>
          <a:noFill/>
          <a:ln>
            <a:noFill/>
          </a:ln>
        </p:spPr>
      </p:pic>
      <p:pic>
        <p:nvPicPr>
          <p:cNvPr id="106" name="Google Shape;106;p14" descr="image.png"/>
          <p:cNvPicPr preferRelativeResize="0"/>
          <p:nvPr/>
        </p:nvPicPr>
        <p:blipFill rotWithShape="1">
          <a:blip r:embed="rId4"/>
          <a:srcRect/>
          <a:stretch>
            <a:fillRect/>
          </a:stretch>
        </p:blipFill>
        <p:spPr>
          <a:xfrm>
            <a:off x="1809750" y="4552950"/>
            <a:ext cx="2730400" cy="942975"/>
          </a:xfrm>
          <a:prstGeom prst="rect">
            <a:avLst/>
          </a:prstGeom>
          <a:noFill/>
          <a:ln>
            <a:noFill/>
          </a:ln>
        </p:spPr>
      </p:pic>
      <p:pic>
        <p:nvPicPr>
          <p:cNvPr id="107" name="Google Shape;107;p14" descr="image.png"/>
          <p:cNvPicPr preferRelativeResize="0"/>
          <p:nvPr/>
        </p:nvPicPr>
        <p:blipFill rotWithShape="1">
          <a:blip r:embed="rId5"/>
          <a:srcRect/>
          <a:stretch>
            <a:fillRect/>
          </a:stretch>
        </p:blipFill>
        <p:spPr>
          <a:xfrm>
            <a:off x="4730650" y="4552950"/>
            <a:ext cx="2730549" cy="942975"/>
          </a:xfrm>
          <a:prstGeom prst="rect">
            <a:avLst/>
          </a:prstGeom>
          <a:noFill/>
          <a:ln>
            <a:noFill/>
          </a:ln>
        </p:spPr>
      </p:pic>
      <p:pic>
        <p:nvPicPr>
          <p:cNvPr id="108" name="Google Shape;108;p14" descr="image.png"/>
          <p:cNvPicPr preferRelativeResize="0"/>
          <p:nvPr/>
        </p:nvPicPr>
        <p:blipFill rotWithShape="1">
          <a:blip r:embed="rId4"/>
          <a:srcRect/>
          <a:stretch>
            <a:fillRect/>
          </a:stretch>
        </p:blipFill>
        <p:spPr>
          <a:xfrm>
            <a:off x="7651700" y="4552950"/>
            <a:ext cx="2730400" cy="942975"/>
          </a:xfrm>
          <a:prstGeom prst="rect">
            <a:avLst/>
          </a:prstGeom>
          <a:noFill/>
          <a:ln>
            <a:noFill/>
          </a:ln>
        </p:spPr>
      </p:pic>
      <p:sp>
        <p:nvSpPr>
          <p:cNvPr id="109" name="Google Shape;109;p14"/>
          <p:cNvSpPr/>
          <p:nvPr/>
        </p:nvSpPr>
        <p:spPr>
          <a:xfrm>
            <a:off x="5715000" y="1362075"/>
            <a:ext cx="762000" cy="38100"/>
          </a:xfrm>
          <a:prstGeom prst="rect">
            <a:avLst/>
          </a:prstGeom>
          <a:solidFill>
            <a:srgbClr val="3B82F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10" name="Google Shape;110;p14"/>
          <p:cNvSpPr txBox="1"/>
          <p:nvPr/>
        </p:nvSpPr>
        <p:spPr>
          <a:xfrm>
            <a:off x="3395662" y="1638300"/>
            <a:ext cx="5400675" cy="67691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4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Sommaire Général</a:t>
            </a:r>
            <a:endParaRPr lang="en-US" sz="44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111" name="Google Shape;111;p14"/>
          <p:cNvSpPr txBox="1"/>
          <p:nvPr/>
        </p:nvSpPr>
        <p:spPr>
          <a:xfrm>
            <a:off x="3271837" y="2590800"/>
            <a:ext cx="5648325" cy="30734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000" b="0" i="0" u="none" strike="noStrike" cap="none">
                <a:solidFill>
                  <a:srgbClr val="CBD5E1"/>
                </a:solidFill>
                <a:latin typeface="Times New Roman" panose="02020603050405020304" charset="0"/>
                <a:ea typeface="Lato" panose="020F0502020204030203"/>
                <a:cs typeface="Times New Roman" panose="02020603050405020304" charset="0"/>
                <a:sym typeface="Lato" panose="020F0502020204030203"/>
              </a:rPr>
              <a:t>Déroulement de la présentation </a:t>
            </a:r>
            <a:endParaRPr lang="en-US" sz="2000" b="0" i="0" u="none" strike="noStrike" cap="none">
              <a:solidFill>
                <a:srgbClr val="CBD5E1"/>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2" name="Google Shape;112;p14"/>
          <p:cNvSpPr txBox="1"/>
          <p:nvPr/>
        </p:nvSpPr>
        <p:spPr>
          <a:xfrm>
            <a:off x="3022600" y="3448050"/>
            <a:ext cx="699770" cy="28257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F59E0B"/>
                </a:solidFill>
                <a:latin typeface="Lato" panose="020F0502020204030203"/>
                <a:ea typeface="Lato" panose="020F0502020204030203"/>
                <a:cs typeface="Lato" panose="020F0502020204030203"/>
                <a:sym typeface="Lato" panose="020F0502020204030203"/>
              </a:rPr>
              <a:t>01</a:t>
            </a:r>
            <a:endParaRPr lang="en-US" sz="2100" b="1" i="0" u="none" strike="noStrike" cap="none">
              <a:solidFill>
                <a:srgbClr val="F59E0B"/>
              </a:solidFill>
              <a:latin typeface="Lato" panose="020F0502020204030203"/>
              <a:ea typeface="Lato" panose="020F0502020204030203"/>
              <a:cs typeface="Lato" panose="020F0502020204030203"/>
              <a:sym typeface="Lato" panose="020F0502020204030203"/>
            </a:endParaRPr>
          </a:p>
        </p:txBody>
      </p:sp>
      <p:sp>
        <p:nvSpPr>
          <p:cNvPr id="113" name="Google Shape;113;p14"/>
          <p:cNvSpPr txBox="1"/>
          <p:nvPr/>
        </p:nvSpPr>
        <p:spPr>
          <a:xfrm>
            <a:off x="2009775" y="3819525"/>
            <a:ext cx="2331085" cy="36385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Introduction &amp; </a:t>
            </a:r>
            <a:r>
              <a:rPr 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Contexte</a:t>
            </a:r>
            <a:endParaRPr 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4" name="Google Shape;114;p14"/>
          <p:cNvSpPr txBox="1"/>
          <p:nvPr/>
        </p:nvSpPr>
        <p:spPr>
          <a:xfrm>
            <a:off x="5943600" y="3448050"/>
            <a:ext cx="533400" cy="20891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3B82F6"/>
                </a:solidFill>
                <a:latin typeface="Lato" panose="020F0502020204030203"/>
                <a:ea typeface="Lato" panose="020F0502020204030203"/>
                <a:cs typeface="Lato" panose="020F0502020204030203"/>
                <a:sym typeface="Lato" panose="020F0502020204030203"/>
              </a:rPr>
              <a:t>02</a:t>
            </a:r>
            <a:endParaRPr lang="en-US" sz="21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15" name="Google Shape;115;p14"/>
          <p:cNvSpPr txBox="1"/>
          <p:nvPr/>
        </p:nvSpPr>
        <p:spPr>
          <a:xfrm>
            <a:off x="4930775" y="3819525"/>
            <a:ext cx="2330450" cy="3886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Problématique</a:t>
            </a:r>
            <a:endPar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6" name="Google Shape;116;p14"/>
          <p:cNvSpPr txBox="1"/>
          <p:nvPr/>
        </p:nvSpPr>
        <p:spPr>
          <a:xfrm>
            <a:off x="8864600" y="3448050"/>
            <a:ext cx="525780" cy="28257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3B82F6"/>
                </a:solidFill>
                <a:latin typeface="Lato" panose="020F0502020204030203"/>
                <a:ea typeface="Lato" panose="020F0502020204030203"/>
                <a:cs typeface="Lato" panose="020F0502020204030203"/>
                <a:sym typeface="Lato" panose="020F0502020204030203"/>
              </a:rPr>
              <a:t>03</a:t>
            </a:r>
            <a:endParaRPr lang="en-US" sz="21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17" name="Google Shape;117;p14"/>
          <p:cNvSpPr txBox="1"/>
          <p:nvPr/>
        </p:nvSpPr>
        <p:spPr>
          <a:xfrm>
            <a:off x="7851775" y="3819525"/>
            <a:ext cx="2330450" cy="54292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Critique de l’Existant</a:t>
            </a:r>
            <a:endPar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8" name="Google Shape;118;p14"/>
          <p:cNvSpPr txBox="1"/>
          <p:nvPr/>
        </p:nvSpPr>
        <p:spPr>
          <a:xfrm>
            <a:off x="3022600" y="4752975"/>
            <a:ext cx="527050" cy="30797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F59E0B"/>
                </a:solidFill>
                <a:latin typeface="Lato" panose="020F0502020204030203"/>
                <a:ea typeface="Lato" panose="020F0502020204030203"/>
                <a:cs typeface="Lato" panose="020F0502020204030203"/>
                <a:sym typeface="Lato" panose="020F0502020204030203"/>
              </a:rPr>
              <a:t>04</a:t>
            </a:r>
            <a:endParaRPr lang="en-US" sz="2100" b="1" i="0" u="none" strike="noStrike" cap="none">
              <a:solidFill>
                <a:srgbClr val="F59E0B"/>
              </a:solidFill>
              <a:latin typeface="Lato" panose="020F0502020204030203"/>
              <a:ea typeface="Lato" panose="020F0502020204030203"/>
              <a:cs typeface="Lato" panose="020F0502020204030203"/>
              <a:sym typeface="Lato" panose="020F0502020204030203"/>
            </a:endParaRPr>
          </a:p>
        </p:txBody>
      </p:sp>
      <p:sp>
        <p:nvSpPr>
          <p:cNvPr id="119" name="Google Shape;119;p14"/>
          <p:cNvSpPr txBox="1"/>
          <p:nvPr/>
        </p:nvSpPr>
        <p:spPr>
          <a:xfrm>
            <a:off x="2009775" y="5124450"/>
            <a:ext cx="2330350" cy="27686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Objectifs du projet</a:t>
            </a:r>
            <a:endPar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20" name="Google Shape;120;p14"/>
          <p:cNvSpPr txBox="1"/>
          <p:nvPr/>
        </p:nvSpPr>
        <p:spPr>
          <a:xfrm>
            <a:off x="5943600" y="4752975"/>
            <a:ext cx="502285" cy="2921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3B82F6"/>
                </a:solidFill>
                <a:latin typeface="Lato" panose="020F0502020204030203"/>
                <a:ea typeface="Lato" panose="020F0502020204030203"/>
                <a:cs typeface="Lato" panose="020F0502020204030203"/>
                <a:sym typeface="Lato" panose="020F0502020204030203"/>
              </a:rPr>
              <a:t>05</a:t>
            </a:r>
            <a:endParaRPr lang="en-US" sz="21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21" name="Google Shape;121;p14"/>
          <p:cNvSpPr txBox="1"/>
          <p:nvPr/>
        </p:nvSpPr>
        <p:spPr>
          <a:xfrm>
            <a:off x="4930675" y="5124450"/>
            <a:ext cx="2330499" cy="230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5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Conception</a:t>
            </a:r>
            <a:r>
              <a:rPr lang="en-US" sz="15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 &amp; </a:t>
            </a:r>
            <a:r>
              <a:rPr lang="fr-FR" altLang="en-US" sz="15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Réalisation</a:t>
            </a:r>
            <a:endParaRPr lang="fr-FR" altLang="en-US" sz="15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22" name="Google Shape;122;p14"/>
          <p:cNvSpPr txBox="1"/>
          <p:nvPr/>
        </p:nvSpPr>
        <p:spPr>
          <a:xfrm>
            <a:off x="8864600" y="4752975"/>
            <a:ext cx="517525" cy="17208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F59E0B"/>
                </a:solidFill>
                <a:latin typeface="Lato" panose="020F0502020204030203"/>
                <a:ea typeface="Lato" panose="020F0502020204030203"/>
                <a:cs typeface="Lato" panose="020F0502020204030203"/>
                <a:sym typeface="Lato" panose="020F0502020204030203"/>
              </a:rPr>
              <a:t>06</a:t>
            </a:r>
            <a:endParaRPr lang="en-US" sz="2100" b="1" i="0" u="none" strike="noStrike" cap="none">
              <a:solidFill>
                <a:srgbClr val="F59E0B"/>
              </a:solidFill>
              <a:latin typeface="Lato" panose="020F0502020204030203"/>
              <a:ea typeface="Lato" panose="020F0502020204030203"/>
              <a:cs typeface="Lato" panose="020F0502020204030203"/>
              <a:sym typeface="Lato" panose="020F0502020204030203"/>
            </a:endParaRPr>
          </a:p>
        </p:txBody>
      </p:sp>
      <p:sp>
        <p:nvSpPr>
          <p:cNvPr id="123" name="Google Shape;123;p14"/>
          <p:cNvSpPr txBox="1"/>
          <p:nvPr/>
        </p:nvSpPr>
        <p:spPr>
          <a:xfrm>
            <a:off x="7851725" y="5124450"/>
            <a:ext cx="2330350" cy="27686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Démonstration</a:t>
            </a:r>
            <a:endPar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pic>
        <p:nvPicPr>
          <p:cNvPr id="4" name="Google Shape;108;p14" descr="image.png"/>
          <p:cNvPicPr preferRelativeResize="0"/>
          <p:nvPr/>
        </p:nvPicPr>
        <p:blipFill rotWithShape="1">
          <a:blip r:embed="rId4"/>
          <a:srcRect/>
          <a:stretch>
            <a:fillRect/>
          </a:stretch>
        </p:blipFill>
        <p:spPr>
          <a:xfrm>
            <a:off x="4730700" y="5704840"/>
            <a:ext cx="2730400" cy="942975"/>
          </a:xfrm>
          <a:prstGeom prst="rect">
            <a:avLst/>
          </a:prstGeom>
          <a:noFill/>
          <a:ln>
            <a:noFill/>
          </a:ln>
        </p:spPr>
      </p:pic>
      <p:sp>
        <p:nvSpPr>
          <p:cNvPr id="2" name="Google Shape;122;p14"/>
          <p:cNvSpPr txBox="1"/>
          <p:nvPr/>
        </p:nvSpPr>
        <p:spPr>
          <a:xfrm>
            <a:off x="5974080" y="5904865"/>
            <a:ext cx="517525" cy="17208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F59E0B"/>
                </a:solidFill>
                <a:latin typeface="Lato" panose="020F0502020204030203"/>
                <a:ea typeface="Lato" panose="020F0502020204030203"/>
                <a:cs typeface="Lato" panose="020F0502020204030203"/>
                <a:sym typeface="Lato" panose="020F0502020204030203"/>
              </a:rPr>
              <a:t>0</a:t>
            </a:r>
            <a:r>
              <a:rPr lang="fr-FR" altLang="en-US" sz="2100" b="1" i="0" u="none" strike="noStrike" cap="none">
                <a:solidFill>
                  <a:srgbClr val="F59E0B"/>
                </a:solidFill>
                <a:latin typeface="Lato" panose="020F0502020204030203"/>
                <a:ea typeface="Lato" panose="020F0502020204030203"/>
                <a:cs typeface="Lato" panose="020F0502020204030203"/>
                <a:sym typeface="Lato" panose="020F0502020204030203"/>
              </a:rPr>
              <a:t>7</a:t>
            </a:r>
            <a:endParaRPr lang="fr-FR" altLang="en-US" sz="2100" b="1" i="0" u="none" strike="noStrike" cap="none">
              <a:solidFill>
                <a:srgbClr val="F59E0B"/>
              </a:solidFill>
              <a:latin typeface="Lato" panose="020F0502020204030203"/>
              <a:ea typeface="Lato" panose="020F0502020204030203"/>
              <a:cs typeface="Lato" panose="020F0502020204030203"/>
              <a:sym typeface="Lato" panose="020F0502020204030203"/>
            </a:endParaRPr>
          </a:p>
        </p:txBody>
      </p:sp>
      <p:sp>
        <p:nvSpPr>
          <p:cNvPr id="3" name="Google Shape;123;p14"/>
          <p:cNvSpPr txBox="1"/>
          <p:nvPr/>
        </p:nvSpPr>
        <p:spPr>
          <a:xfrm>
            <a:off x="4930725" y="6276340"/>
            <a:ext cx="2330350" cy="24574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Conclusion &amp; Perspectives</a:t>
            </a:r>
            <a:endParaRPr lang="en-US" sz="16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27" name="Shape 127"/>
        <p:cNvGrpSpPr/>
        <p:nvPr/>
      </p:nvGrpSpPr>
      <p:grpSpPr>
        <a:xfrm>
          <a:off x="0" y="0"/>
          <a:ext cx="0" cy="0"/>
          <a:chOff x="0" y="0"/>
          <a:chExt cx="0" cy="0"/>
        </a:xfrm>
      </p:grpSpPr>
      <p:pic>
        <p:nvPicPr>
          <p:cNvPr id="128" name="Google Shape;128;p15"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29" name="Google Shape;129;p15" descr="image.png"/>
          <p:cNvPicPr preferRelativeResize="0"/>
          <p:nvPr/>
        </p:nvPicPr>
        <p:blipFill rotWithShape="1">
          <a:blip r:embed="rId2"/>
          <a:srcRect/>
          <a:stretch>
            <a:fillRect/>
          </a:stretch>
        </p:blipFill>
        <p:spPr>
          <a:xfrm>
            <a:off x="571500" y="2045335"/>
            <a:ext cx="5334000" cy="3858895"/>
          </a:xfrm>
          <a:prstGeom prst="rect">
            <a:avLst/>
          </a:prstGeom>
          <a:noFill/>
          <a:ln>
            <a:noFill/>
          </a:ln>
        </p:spPr>
      </p:pic>
      <p:pic>
        <p:nvPicPr>
          <p:cNvPr id="130" name="Google Shape;130;p15" descr="image.png"/>
          <p:cNvPicPr preferRelativeResize="0"/>
          <p:nvPr/>
        </p:nvPicPr>
        <p:blipFill rotWithShape="1">
          <a:blip r:embed="rId3"/>
          <a:srcRect/>
          <a:stretch>
            <a:fillRect/>
          </a:stretch>
        </p:blipFill>
        <p:spPr>
          <a:xfrm>
            <a:off x="6286500" y="2045335"/>
            <a:ext cx="5334000" cy="3858895"/>
          </a:xfrm>
          <a:prstGeom prst="rect">
            <a:avLst/>
          </a:prstGeom>
          <a:noFill/>
          <a:ln>
            <a:noFill/>
          </a:ln>
        </p:spPr>
      </p:pic>
      <p:pic>
        <p:nvPicPr>
          <p:cNvPr id="131" name="Google Shape;131;p15" descr="image.png"/>
          <p:cNvPicPr preferRelativeResize="0"/>
          <p:nvPr/>
        </p:nvPicPr>
        <p:blipFill rotWithShape="1">
          <a:blip r:embed="rId4"/>
          <a:srcRect/>
          <a:stretch>
            <a:fillRect/>
          </a:stretch>
        </p:blipFill>
        <p:spPr>
          <a:xfrm>
            <a:off x="571500" y="6134100"/>
            <a:ext cx="11049000" cy="295275"/>
          </a:xfrm>
          <a:prstGeom prst="rect">
            <a:avLst/>
          </a:prstGeom>
          <a:noFill/>
          <a:ln>
            <a:noFill/>
          </a:ln>
        </p:spPr>
      </p:pic>
      <p:sp>
        <p:nvSpPr>
          <p:cNvPr id="132" name="Google Shape;132;p15"/>
          <p:cNvSpPr txBox="1"/>
          <p:nvPr/>
        </p:nvSpPr>
        <p:spPr>
          <a:xfrm>
            <a:off x="571500" y="428625"/>
            <a:ext cx="1019175" cy="2381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r>
              <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rPr>
              <a:t>API</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33" name="Google Shape;133;p15"/>
          <p:cNvSpPr txBox="1"/>
          <p:nvPr/>
        </p:nvSpPr>
        <p:spPr>
          <a:xfrm>
            <a:off x="9491662" y="471487"/>
            <a:ext cx="212883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CONTEXTE IMMOBILIER AU TOGO</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34" name="Google Shape;134;p15"/>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35" name="Google Shape;135;p15"/>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03</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36" name="Google Shape;136;p15"/>
          <p:cNvSpPr txBox="1"/>
          <p:nvPr/>
        </p:nvSpPr>
        <p:spPr>
          <a:xfrm>
            <a:off x="1200150" y="2481560"/>
            <a:ext cx="4480560" cy="33337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Expansion Urbaine à Lomé</a:t>
            </a:r>
            <a:endParaRPr lang="en-US" sz="18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137" name="Google Shape;137;p15"/>
          <p:cNvSpPr txBox="1"/>
          <p:nvPr/>
        </p:nvSpPr>
        <p:spPr>
          <a:xfrm>
            <a:off x="819150" y="2933700"/>
            <a:ext cx="4743450" cy="3113405"/>
          </a:xfrm>
          <a:prstGeom prst="rect">
            <a:avLst/>
          </a:prstGeom>
          <a:noFill/>
          <a:ln>
            <a:noFill/>
          </a:ln>
        </p:spPr>
        <p:txBody>
          <a:bodyPr spcFirstLastPara="1" wrap="square" lIns="0" tIns="0" rIns="0" bIns="0" anchor="t" anchorCtr="0">
            <a:noAutofit/>
          </a:bodyPr>
          <a:lstStyle/>
          <a:p>
            <a:pPr marL="0" marR="0" lvl="0" indent="0" algn="just" rtl="0">
              <a:lnSpc>
                <a:spcPct val="160000"/>
              </a:lnSpc>
              <a:spcBef>
                <a:spcPts val="0"/>
              </a:spcBef>
              <a:spcAft>
                <a:spcPts val="0"/>
              </a:spcAft>
              <a:buNone/>
            </a:pPr>
            <a:r>
              <a:rPr lang="en-US" sz="17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La capitale du Togo connaît un essor démographique et urbain sans précédent. Cette forte dynamique s’accompagne d’une multiplication rapide des biens immobiliers, notamment sous deux formes majeures : la location à long terme (immeubles, cours communes) et l</a:t>
            </a:r>
            <a:r>
              <a:rPr lang="fr-FR" altLang="en-US" sz="17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a location de </a:t>
            </a:r>
            <a:r>
              <a:rPr lang="en-US" sz="1700">
                <a:solidFill>
                  <a:srgbClr val="475569"/>
                </a:solidFill>
                <a:latin typeface="Times New Roman" panose="02020603050405020304" charset="0"/>
                <a:ea typeface="Lato" panose="020F0502020204030203"/>
                <a:cs typeface="Times New Roman" panose="02020603050405020304" charset="0"/>
                <a:sym typeface="Lato" panose="020F0502020204030203"/>
              </a:rPr>
              <a:t>courts </a:t>
            </a:r>
            <a:r>
              <a:rPr lang="en-US" sz="17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 séjours meublés de type Airbnb pour la diaspora.</a:t>
            </a:r>
            <a:endParaRPr lang="en-US" sz="17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38" name="Google Shape;138;p15"/>
          <p:cNvSpPr txBox="1"/>
          <p:nvPr/>
        </p:nvSpPr>
        <p:spPr>
          <a:xfrm>
            <a:off x="6946900" y="2418695"/>
            <a:ext cx="4540567" cy="33337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Décalage Technologique</a:t>
            </a:r>
            <a:endParaRPr lang="en-US" sz="18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139" name="Google Shape;139;p15"/>
          <p:cNvSpPr txBox="1"/>
          <p:nvPr/>
        </p:nvSpPr>
        <p:spPr>
          <a:xfrm>
            <a:off x="6622415" y="3070225"/>
            <a:ext cx="4655185" cy="2583180"/>
          </a:xfrm>
          <a:prstGeom prst="rect">
            <a:avLst/>
          </a:prstGeom>
          <a:noFill/>
          <a:ln>
            <a:noFill/>
          </a:ln>
        </p:spPr>
        <p:txBody>
          <a:bodyPr spcFirstLastPara="1" wrap="square" lIns="0" tIns="0" rIns="0" bIns="0" anchor="t" anchorCtr="0">
            <a:noAutofit/>
          </a:bodyPr>
          <a:lstStyle/>
          <a:p>
            <a:pPr marL="0" marR="0" lvl="0" indent="0" algn="just" rtl="0">
              <a:lnSpc>
                <a:spcPct val="160000"/>
              </a:lnSpc>
              <a:spcBef>
                <a:spcPts val="0"/>
              </a:spcBef>
              <a:spcAft>
                <a:spcPts val="0"/>
              </a:spcAft>
              <a:buNone/>
            </a:pPr>
            <a:r>
              <a:rPr lang="en-US" sz="17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En dépit d'une numérisation globale de la société, le secteur de la gestion locative résidentielle reste profondément artisanal au Togo. L'immense majorité des bailleurs administrent encore leur patrimoine manuellement, ce qui ralentit l'efficacité globale de ce marché en pleine croissance.</a:t>
            </a:r>
            <a:endParaRPr lang="en-US" sz="17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p:txBody>
      </p:sp>
      <p:pic>
        <p:nvPicPr>
          <p:cNvPr id="140" name="Google Shape;140;p15" descr="image.png"/>
          <p:cNvPicPr preferRelativeResize="0"/>
          <p:nvPr/>
        </p:nvPicPr>
        <p:blipFill rotWithShape="1">
          <a:blip r:embed="rId5"/>
          <a:srcRect/>
          <a:stretch>
            <a:fillRect/>
          </a:stretch>
        </p:blipFill>
        <p:spPr>
          <a:xfrm>
            <a:off x="819150" y="2533947"/>
            <a:ext cx="285750" cy="228600"/>
          </a:xfrm>
          <a:prstGeom prst="rect">
            <a:avLst/>
          </a:prstGeom>
          <a:noFill/>
          <a:ln>
            <a:noFill/>
          </a:ln>
        </p:spPr>
      </p:pic>
      <p:pic>
        <p:nvPicPr>
          <p:cNvPr id="141" name="Google Shape;141;p15" descr="image.png"/>
          <p:cNvPicPr preferRelativeResize="0"/>
          <p:nvPr/>
        </p:nvPicPr>
        <p:blipFill rotWithShape="1">
          <a:blip r:embed="rId6"/>
          <a:srcRect/>
          <a:stretch>
            <a:fillRect/>
          </a:stretch>
        </p:blipFill>
        <p:spPr>
          <a:xfrm>
            <a:off x="6623050" y="2471082"/>
            <a:ext cx="228600" cy="228600"/>
          </a:xfrm>
          <a:prstGeom prst="rect">
            <a:avLst/>
          </a:prstGeom>
          <a:noFill/>
          <a:ln>
            <a:noFill/>
          </a:ln>
        </p:spPr>
      </p:pic>
      <p:sp>
        <p:nvSpPr>
          <p:cNvPr id="142" name="Google Shape;142;p15"/>
          <p:cNvSpPr txBox="1"/>
          <p:nvPr/>
        </p:nvSpPr>
        <p:spPr>
          <a:xfrm>
            <a:off x="571500" y="1019175"/>
            <a:ext cx="11601450" cy="4978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Introduction &amp; Contexte </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46" name="Shape 146"/>
        <p:cNvGrpSpPr/>
        <p:nvPr/>
      </p:nvGrpSpPr>
      <p:grpSpPr>
        <a:xfrm>
          <a:off x="0" y="0"/>
          <a:ext cx="0" cy="0"/>
          <a:chOff x="0" y="0"/>
          <a:chExt cx="0" cy="0"/>
        </a:xfrm>
      </p:grpSpPr>
      <p:pic>
        <p:nvPicPr>
          <p:cNvPr id="147" name="Google Shape;147;p16"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48" name="Google Shape;148;p16" descr="image.png"/>
          <p:cNvPicPr preferRelativeResize="0"/>
          <p:nvPr/>
        </p:nvPicPr>
        <p:blipFill rotWithShape="1">
          <a:blip r:embed="rId2"/>
          <a:srcRect/>
          <a:stretch>
            <a:fillRect/>
          </a:stretch>
        </p:blipFill>
        <p:spPr>
          <a:xfrm>
            <a:off x="571500" y="2634555"/>
            <a:ext cx="4419600" cy="2390775"/>
          </a:xfrm>
          <a:prstGeom prst="rect">
            <a:avLst/>
          </a:prstGeom>
          <a:noFill/>
          <a:ln>
            <a:noFill/>
          </a:ln>
        </p:spPr>
      </p:pic>
      <p:pic>
        <p:nvPicPr>
          <p:cNvPr id="149" name="Google Shape;149;p16" descr="image.png"/>
          <p:cNvPicPr preferRelativeResize="0"/>
          <p:nvPr/>
        </p:nvPicPr>
        <p:blipFill rotWithShape="1">
          <a:blip r:embed="rId3"/>
          <a:srcRect/>
          <a:stretch>
            <a:fillRect/>
          </a:stretch>
        </p:blipFill>
        <p:spPr>
          <a:xfrm>
            <a:off x="571500" y="6134100"/>
            <a:ext cx="11049000" cy="295275"/>
          </a:xfrm>
          <a:prstGeom prst="rect">
            <a:avLst/>
          </a:prstGeom>
          <a:noFill/>
          <a:ln>
            <a:noFill/>
          </a:ln>
        </p:spPr>
      </p:pic>
      <p:sp>
        <p:nvSpPr>
          <p:cNvPr id="150" name="Google Shape;150;p16"/>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51" name="Google Shape;151;p16"/>
          <p:cNvSpPr txBox="1"/>
          <p:nvPr/>
        </p:nvSpPr>
        <p:spPr>
          <a:xfrm>
            <a:off x="9948862" y="471487"/>
            <a:ext cx="167163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LES LIMITATIONS MÉTIERS</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2" name="Google Shape;152;p16"/>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3" name="Google Shape;153;p16"/>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04</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54" name="Google Shape;154;p16"/>
          <p:cNvSpPr txBox="1"/>
          <p:nvPr/>
        </p:nvSpPr>
        <p:spPr>
          <a:xfrm>
            <a:off x="971550" y="3034605"/>
            <a:ext cx="3619500" cy="123825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9750" b="1" i="0" u="none" strike="noStrike" cap="none">
                <a:solidFill>
                  <a:srgbClr val="3B82F6"/>
                </a:solidFill>
                <a:latin typeface="Poppins" panose="00000500000000000000"/>
                <a:ea typeface="Poppins" panose="00000500000000000000"/>
                <a:cs typeface="Poppins" panose="00000500000000000000"/>
                <a:sym typeface="Poppins" panose="00000500000000000000"/>
              </a:rPr>
              <a:t>90%</a:t>
            </a:r>
            <a:endParaRPr lang="en-US" sz="9750" b="1" i="0" u="none" strike="noStrike" cap="none">
              <a:solidFill>
                <a:srgbClr val="3B82F6"/>
              </a:solidFill>
              <a:latin typeface="Poppins" panose="00000500000000000000"/>
              <a:ea typeface="Poppins" panose="00000500000000000000"/>
              <a:cs typeface="Poppins" panose="00000500000000000000"/>
              <a:sym typeface="Poppins" panose="00000500000000000000"/>
            </a:endParaRPr>
          </a:p>
        </p:txBody>
      </p:sp>
      <p:sp>
        <p:nvSpPr>
          <p:cNvPr id="155" name="Google Shape;155;p16"/>
          <p:cNvSpPr txBox="1"/>
          <p:nvPr/>
        </p:nvSpPr>
        <p:spPr>
          <a:xfrm>
            <a:off x="971550" y="4368105"/>
            <a:ext cx="3619500"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1" i="0" u="none" strike="noStrike" cap="none">
                <a:solidFill>
                  <a:srgbClr val="1E293B"/>
                </a:solidFill>
                <a:latin typeface="Lato" panose="020F0502020204030203"/>
                <a:ea typeface="Lato" panose="020F0502020204030203"/>
                <a:cs typeface="Lato" panose="020F0502020204030203"/>
                <a:sym typeface="Lato" panose="020F0502020204030203"/>
              </a:rPr>
              <a:t>Gestion Informelle au Togo</a:t>
            </a:r>
            <a:endParaRPr lang="en-US" sz="165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156" name="Google Shape;156;p16"/>
          <p:cNvSpPr txBox="1"/>
          <p:nvPr/>
        </p:nvSpPr>
        <p:spPr>
          <a:xfrm>
            <a:off x="5372100" y="2223194"/>
            <a:ext cx="6819900" cy="4305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00" b="0" i="0" u="none" strike="noStrike" cap="none">
                <a:solidFill>
                  <a:srgbClr val="1E293B"/>
                </a:solidFill>
                <a:latin typeface="Times New Roman" panose="02020603050405020304" charset="0"/>
                <a:ea typeface="Poppins SemiBold" panose="00000500000000000000"/>
                <a:cs typeface="Times New Roman" panose="02020603050405020304" charset="0"/>
                <a:sym typeface="Poppins SemiBold" panose="00000500000000000000"/>
              </a:rPr>
              <a:t>Faiblesses Structurelles Identifiées</a:t>
            </a:r>
            <a:endParaRPr lang="en-US" sz="2800" b="0" i="0" u="none" strike="noStrike" cap="none">
              <a:solidFill>
                <a:srgbClr val="1E293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157" name="Google Shape;157;p16"/>
          <p:cNvSpPr txBox="1"/>
          <p:nvPr/>
        </p:nvSpPr>
        <p:spPr>
          <a:xfrm>
            <a:off x="5657850" y="2813744"/>
            <a:ext cx="6343650" cy="1032510"/>
          </a:xfrm>
          <a:prstGeom prst="rect">
            <a:avLst/>
          </a:prstGeom>
          <a:noFill/>
          <a:ln>
            <a:noFill/>
          </a:ln>
        </p:spPr>
        <p:txBody>
          <a:bodyPr spcFirstLastPara="1" wrap="square" lIns="0" tIns="0" rIns="0" bIns="0" anchor="t" anchorCtr="0">
            <a:spAutoFit/>
          </a:bodyPr>
          <a:lstStyle/>
          <a:p>
            <a:pPr marL="0" marR="0" lvl="0" indent="0" algn="just" rtl="0">
              <a:lnSpc>
                <a:spcPct val="160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Pertes d'informations récurrentes :</a:t>
            </a: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L'archivage sur carnets papier ou registres physiques expose à d'importants risques d'altération et de destruction accidentelle.</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8" name="Google Shape;158;p16"/>
          <p:cNvSpPr txBox="1"/>
          <p:nvPr/>
        </p:nvSpPr>
        <p:spPr>
          <a:xfrm>
            <a:off x="5657850" y="3779490"/>
            <a:ext cx="6343650" cy="688340"/>
          </a:xfrm>
          <a:prstGeom prst="rect">
            <a:avLst/>
          </a:prstGeom>
          <a:noFill/>
          <a:ln>
            <a:noFill/>
          </a:ln>
        </p:spPr>
        <p:txBody>
          <a:bodyPr spcFirstLastPara="1" wrap="square" lIns="0" tIns="0" rIns="0" bIns="0" anchor="t" anchorCtr="0">
            <a:spAutoFit/>
          </a:bodyPr>
          <a:lstStyle/>
          <a:p>
            <a:pPr marL="0" marR="0" lvl="0" indent="0" algn="just" rtl="0">
              <a:lnSpc>
                <a:spcPct val="160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Retards de paiement chroniques :</a:t>
            </a: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Pas d'automatisation des relances, provoquant un suivi inefficace de la trésorerie et d'importantes factures impayées.</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9" name="Google Shape;159;p16"/>
          <p:cNvSpPr txBox="1"/>
          <p:nvPr/>
        </p:nvSpPr>
        <p:spPr>
          <a:xfrm>
            <a:off x="5657850" y="4745235"/>
            <a:ext cx="6343650" cy="688340"/>
          </a:xfrm>
          <a:prstGeom prst="rect">
            <a:avLst/>
          </a:prstGeom>
          <a:noFill/>
          <a:ln>
            <a:noFill/>
          </a:ln>
        </p:spPr>
        <p:txBody>
          <a:bodyPr spcFirstLastPara="1" wrap="square" lIns="0" tIns="0" rIns="0" bIns="0" anchor="t" anchorCtr="0">
            <a:spAutoFit/>
          </a:bodyPr>
          <a:lstStyle/>
          <a:p>
            <a:pPr marL="0" marR="0" lvl="0" indent="0" algn="just" rtl="0">
              <a:lnSpc>
                <a:spcPct val="160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Absence de canal partagé :</a:t>
            </a: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Frustrations réciproques dues à l'inexistence d'une passerelle transparente et sécurisée de paiement </a:t>
            </a:r>
            <a:r>
              <a:rPr lang="fr-FR" altLang="en-US" b="0" i="0" u="none" strike="noStrike" cap="none">
                <a:solidFill>
                  <a:srgbClr val="475569"/>
                </a:solidFill>
                <a:latin typeface="Lato" panose="020F0502020204030203"/>
                <a:ea typeface="Lato" panose="020F0502020204030203"/>
                <a:cs typeface="Lato" panose="020F0502020204030203"/>
                <a:sym typeface="Lato" panose="020F0502020204030203"/>
              </a:rPr>
              <a:t>(exemple des </a:t>
            </a: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Mobile Money</a:t>
            </a:r>
            <a:r>
              <a:rPr lang="fr-FR" altLang="en-US" b="0" i="0" u="none" strike="noStrike" cap="none">
                <a:solidFill>
                  <a:srgbClr val="475569"/>
                </a:solidFill>
                <a:latin typeface="Lato" panose="020F0502020204030203"/>
                <a:ea typeface="Lato" panose="020F0502020204030203"/>
                <a:cs typeface="Lato" panose="020F0502020204030203"/>
                <a:sym typeface="Lato" panose="020F0502020204030203"/>
              </a:rPr>
              <a:t>)</a:t>
            </a: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160" name="Google Shape;160;p16" descr="image.png"/>
          <p:cNvPicPr preferRelativeResize="0"/>
          <p:nvPr/>
        </p:nvPicPr>
        <p:blipFill rotWithShape="1">
          <a:blip r:embed="rId4"/>
          <a:srcRect/>
          <a:stretch>
            <a:fillRect/>
          </a:stretch>
        </p:blipFill>
        <p:spPr>
          <a:xfrm>
            <a:off x="5372100" y="2856607"/>
            <a:ext cx="171450" cy="180975"/>
          </a:xfrm>
          <a:prstGeom prst="rect">
            <a:avLst/>
          </a:prstGeom>
          <a:noFill/>
          <a:ln>
            <a:noFill/>
          </a:ln>
        </p:spPr>
      </p:pic>
      <p:pic>
        <p:nvPicPr>
          <p:cNvPr id="161" name="Google Shape;161;p16" descr="image.png"/>
          <p:cNvPicPr preferRelativeResize="0"/>
          <p:nvPr/>
        </p:nvPicPr>
        <p:blipFill rotWithShape="1">
          <a:blip r:embed="rId4"/>
          <a:srcRect/>
          <a:stretch>
            <a:fillRect/>
          </a:stretch>
        </p:blipFill>
        <p:spPr>
          <a:xfrm>
            <a:off x="5372100" y="3822352"/>
            <a:ext cx="171450" cy="180975"/>
          </a:xfrm>
          <a:prstGeom prst="rect">
            <a:avLst/>
          </a:prstGeom>
          <a:noFill/>
          <a:ln>
            <a:noFill/>
          </a:ln>
        </p:spPr>
      </p:pic>
      <p:pic>
        <p:nvPicPr>
          <p:cNvPr id="162" name="Google Shape;162;p16" descr="image.png"/>
          <p:cNvPicPr preferRelativeResize="0"/>
          <p:nvPr/>
        </p:nvPicPr>
        <p:blipFill rotWithShape="1">
          <a:blip r:embed="rId4"/>
          <a:srcRect/>
          <a:stretch>
            <a:fillRect/>
          </a:stretch>
        </p:blipFill>
        <p:spPr>
          <a:xfrm>
            <a:off x="5372100" y="4788098"/>
            <a:ext cx="171450" cy="180975"/>
          </a:xfrm>
          <a:prstGeom prst="rect">
            <a:avLst/>
          </a:prstGeom>
          <a:noFill/>
          <a:ln>
            <a:noFill/>
          </a:ln>
        </p:spPr>
      </p:pic>
      <p:sp>
        <p:nvSpPr>
          <p:cNvPr id="163" name="Google Shape;163;p16"/>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Problématique de la Gestion Manuelle</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67" name="Shape 167"/>
        <p:cNvGrpSpPr/>
        <p:nvPr/>
      </p:nvGrpSpPr>
      <p:grpSpPr>
        <a:xfrm>
          <a:off x="0" y="0"/>
          <a:ext cx="0" cy="0"/>
          <a:chOff x="0" y="0"/>
          <a:chExt cx="0" cy="0"/>
        </a:xfrm>
      </p:grpSpPr>
      <p:pic>
        <p:nvPicPr>
          <p:cNvPr id="168" name="Google Shape;168;p17"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69" name="Google Shape;169;p17" descr="image.png"/>
          <p:cNvPicPr preferRelativeResize="0"/>
          <p:nvPr/>
        </p:nvPicPr>
        <p:blipFill rotWithShape="1">
          <a:blip r:embed="rId2"/>
          <a:srcRect/>
          <a:stretch>
            <a:fillRect/>
          </a:stretch>
        </p:blipFill>
        <p:spPr>
          <a:xfrm>
            <a:off x="571500" y="2129730"/>
            <a:ext cx="11049000" cy="3400425"/>
          </a:xfrm>
          <a:prstGeom prst="rect">
            <a:avLst/>
          </a:prstGeom>
          <a:noFill/>
          <a:ln>
            <a:noFill/>
          </a:ln>
        </p:spPr>
      </p:pic>
      <p:pic>
        <p:nvPicPr>
          <p:cNvPr id="170" name="Google Shape;170;p17" descr="image.png"/>
          <p:cNvPicPr preferRelativeResize="0"/>
          <p:nvPr/>
        </p:nvPicPr>
        <p:blipFill rotWithShape="1">
          <a:blip r:embed="rId3"/>
          <a:srcRect/>
          <a:stretch>
            <a:fillRect/>
          </a:stretch>
        </p:blipFill>
        <p:spPr>
          <a:xfrm>
            <a:off x="571500" y="6134100"/>
            <a:ext cx="11049000" cy="295275"/>
          </a:xfrm>
          <a:prstGeom prst="rect">
            <a:avLst/>
          </a:prstGeom>
          <a:noFill/>
          <a:ln>
            <a:noFill/>
          </a:ln>
        </p:spPr>
      </p:pic>
      <p:sp>
        <p:nvSpPr>
          <p:cNvPr id="171" name="Google Shape;171;p17"/>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72" name="Google Shape;172;p17"/>
          <p:cNvSpPr txBox="1"/>
          <p:nvPr/>
        </p:nvSpPr>
        <p:spPr>
          <a:xfrm>
            <a:off x="10082212" y="471487"/>
            <a:ext cx="153828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ANALYSE COMPARATIVE</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73" name="Google Shape;173;p17"/>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74" name="Google Shape;174;p17"/>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05</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graphicFrame>
        <p:nvGraphicFramePr>
          <p:cNvPr id="175" name="Google Shape;175;p17"/>
          <p:cNvGraphicFramePr/>
          <p:nvPr/>
        </p:nvGraphicFramePr>
        <p:xfrm>
          <a:off x="581025" y="2139315"/>
          <a:ext cx="11029950" cy="3426460"/>
        </p:xfrm>
        <a:graphic>
          <a:graphicData uri="http://schemas.openxmlformats.org/drawingml/2006/table">
            <a:tbl>
              <a:tblPr firstRow="1" bandRow="1">
                <a:noFill/>
                <a:tableStyleId>{5DAD3497-3041-4D27-8FF0-422A7831B682}</a:tableStyleId>
              </a:tblPr>
              <a:tblGrid>
                <a:gridCol w="2086610"/>
                <a:gridCol w="3517265"/>
                <a:gridCol w="3557270"/>
                <a:gridCol w="1868805"/>
              </a:tblGrid>
              <a:tr h="856615">
                <a:tc>
                  <a:txBody>
                    <a:bodyPr/>
                    <a:lstStyle/>
                    <a:p>
                      <a:pPr marL="0" marR="0" lvl="0" indent="0" algn="l" rtl="0">
                        <a:spcBef>
                          <a:spcPts val="0"/>
                        </a:spcBef>
                        <a:spcAft>
                          <a:spcPts val="0"/>
                        </a:spcAft>
                        <a:buNone/>
                      </a:pPr>
                      <a:r>
                        <a:rPr lang="en-US" sz="1800" b="1" i="0" u="none" strike="noStrike" cap="none">
                          <a:solidFill>
                            <a:srgbClr val="1E293B"/>
                          </a:solidFill>
                          <a:latin typeface="Lato" panose="020F0502020204030203"/>
                          <a:ea typeface="Lato" panose="020F0502020204030203"/>
                          <a:cs typeface="Lato" panose="020F0502020204030203"/>
                          <a:sym typeface="Lato" panose="020F0502020204030203"/>
                        </a:rPr>
                        <a:t>Solutions existantes</a:t>
                      </a:r>
                      <a:endParaRPr 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800" b="1" i="0" u="none" strike="noStrike" cap="none">
                          <a:solidFill>
                            <a:srgbClr val="1E293B"/>
                          </a:solidFill>
                          <a:latin typeface="Lato" panose="020F0502020204030203"/>
                          <a:ea typeface="Lato" panose="020F0502020204030203"/>
                          <a:cs typeface="Lato" panose="020F0502020204030203"/>
                          <a:sym typeface="Lato" panose="020F0502020204030203"/>
                        </a:rPr>
                        <a:t>Avantages</a:t>
                      </a:r>
                      <a:endParaRPr 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800" b="1" i="0" u="none" strike="noStrike" cap="none">
                          <a:solidFill>
                            <a:srgbClr val="1E293B"/>
                          </a:solidFill>
                          <a:latin typeface="Lato" panose="020F0502020204030203"/>
                          <a:ea typeface="Lato" panose="020F0502020204030203"/>
                          <a:cs typeface="Lato" panose="020F0502020204030203"/>
                          <a:sym typeface="Lato" panose="020F0502020204030203"/>
                        </a:rPr>
                        <a:t>Limites de l'outil</a:t>
                      </a:r>
                      <a:endParaRPr 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800" b="1" i="0" u="none" strike="noStrike" cap="none">
                          <a:solidFill>
                            <a:srgbClr val="1E293B"/>
                          </a:solidFill>
                          <a:latin typeface="Lato" panose="020F0502020204030203"/>
                          <a:ea typeface="Lato" panose="020F0502020204030203"/>
                          <a:cs typeface="Lato" panose="020F0502020204030203"/>
                          <a:sym typeface="Lato" panose="020F0502020204030203"/>
                        </a:rPr>
                        <a:t>Adaptabilité locale (Togo)</a:t>
                      </a:r>
                      <a:endParaRPr 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r>
              <a:tr h="856615">
                <a:tc>
                  <a:txBody>
                    <a:bodyPr/>
                    <a:lstStyle/>
                    <a:p>
                      <a:pPr marL="0" marR="0" lvl="0" indent="0" algn="l" rtl="0">
                        <a:spcBef>
                          <a:spcPts val="0"/>
                        </a:spcBef>
                        <a:spcAft>
                          <a:spcPts val="0"/>
                        </a:spcAft>
                        <a:buNone/>
                      </a:pPr>
                      <a:r>
                        <a:rPr lang="en-US" sz="1600" b="1" i="0" u="none" strike="noStrike" cap="none">
                          <a:solidFill>
                            <a:srgbClr val="475569"/>
                          </a:solidFill>
                          <a:latin typeface="Lato" panose="020F0502020204030203"/>
                          <a:ea typeface="Lato" panose="020F0502020204030203"/>
                          <a:cs typeface="Lato" panose="020F0502020204030203"/>
                          <a:sym typeface="Lato" panose="020F0502020204030203"/>
                        </a:rPr>
                        <a:t>Registres &amp; Reçus Papier</a:t>
                      </a:r>
                      <a:endParaRPr lang="en-US" sz="16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Facilité d'usage instantanée, coût d'acquisition nul</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Risque majeur de </a:t>
                      </a:r>
                      <a:r>
                        <a:rPr lang="fr-FR" altLang="en-US" sz="1600" b="0" i="0" u="none" strike="noStrike" cap="none">
                          <a:solidFill>
                            <a:srgbClr val="475569"/>
                          </a:solidFill>
                          <a:latin typeface="Lato" panose="020F0502020204030203"/>
                          <a:ea typeface="Lato" panose="020F0502020204030203"/>
                          <a:cs typeface="Lato" panose="020F0502020204030203"/>
                          <a:sym typeface="Lato" panose="020F0502020204030203"/>
                        </a:rPr>
                        <a:t>perte</a:t>
                      </a: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 aucune traçabilité, fastidieux</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1" i="0" u="none" strike="noStrike" cap="none">
                          <a:solidFill>
                            <a:srgbClr val="EF4444"/>
                          </a:solidFill>
                          <a:latin typeface="Lato" panose="020F0502020204030203"/>
                          <a:ea typeface="Lato" panose="020F0502020204030203"/>
                          <a:cs typeface="Lato" panose="020F0502020204030203"/>
                          <a:sym typeface="Lato" panose="020F0502020204030203"/>
                        </a:rPr>
                        <a:t> Non-efficace</a:t>
                      </a:r>
                      <a:endParaRPr lang="en-US" sz="1600" b="1" i="0" u="none" strike="noStrike" cap="none">
                        <a:solidFill>
                          <a:srgbClr val="EF4444"/>
                        </a:solidFill>
                        <a:latin typeface="Lato" panose="020F0502020204030203"/>
                        <a:ea typeface="Lato" panose="020F0502020204030203"/>
                        <a:cs typeface="Lato" panose="020F0502020204030203"/>
                        <a:sym typeface="Lato" panose="020F0502020204030203"/>
                      </a:endParaRPr>
                    </a:p>
                  </a:txBody>
                  <a:tcPr marL="2286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856615">
                <a:tc>
                  <a:txBody>
                    <a:bodyPr/>
                    <a:lstStyle/>
                    <a:p>
                      <a:pPr marL="0" marR="0" lvl="0" indent="0" algn="l" rtl="0">
                        <a:spcBef>
                          <a:spcPts val="0"/>
                        </a:spcBef>
                        <a:spcAft>
                          <a:spcPts val="0"/>
                        </a:spcAft>
                        <a:buNone/>
                      </a:pPr>
                      <a:r>
                        <a:rPr lang="en-US" sz="1600" b="1" i="0" u="none" strike="noStrike" cap="none">
                          <a:solidFill>
                            <a:srgbClr val="475569"/>
                          </a:solidFill>
                          <a:latin typeface="Lato" panose="020F0502020204030203"/>
                          <a:ea typeface="Lato" panose="020F0502020204030203"/>
                          <a:cs typeface="Lato" panose="020F0502020204030203"/>
                          <a:sym typeface="Lato" panose="020F0502020204030203"/>
                        </a:rPr>
                        <a:t>Tableurs (Excel/WhatsApp)</a:t>
                      </a:r>
                      <a:endParaRPr lang="en-US" sz="16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Semi-numérisé, modification libre, graphique de base</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Saisie manuelle sujette aux erreurs, absence de relance auto</a:t>
                      </a:r>
                      <a:r>
                        <a:rPr lang="fr-FR" altLang="en-US" sz="1600" b="0" i="0" u="none" strike="noStrike" cap="none">
                          <a:solidFill>
                            <a:srgbClr val="475569"/>
                          </a:solidFill>
                          <a:latin typeface="Lato" panose="020F0502020204030203"/>
                          <a:ea typeface="Lato" panose="020F0502020204030203"/>
                          <a:cs typeface="Lato" panose="020F0502020204030203"/>
                          <a:sym typeface="Lato" panose="020F0502020204030203"/>
                        </a:rPr>
                        <a:t>, obligé de faire une personalisation</a:t>
                      </a:r>
                      <a:endParaRPr lang="fr-FR" alt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1" i="0" u="none" strike="noStrike" cap="none">
                          <a:solidFill>
                            <a:srgbClr val="F59E0B"/>
                          </a:solidFill>
                          <a:latin typeface="Lato" panose="020F0502020204030203"/>
                          <a:ea typeface="Lato" panose="020F0502020204030203"/>
                          <a:cs typeface="Lato" panose="020F0502020204030203"/>
                          <a:sym typeface="Lato" panose="020F0502020204030203"/>
                        </a:rPr>
                        <a:t> Partielle</a:t>
                      </a:r>
                      <a:endParaRPr lang="en-US" sz="1600" b="1" i="0" u="none" strike="noStrike" cap="none">
                        <a:solidFill>
                          <a:srgbClr val="F59E0B"/>
                        </a:solidFill>
                        <a:latin typeface="Lato" panose="020F0502020204030203"/>
                        <a:ea typeface="Lato" panose="020F0502020204030203"/>
                        <a:cs typeface="Lato" panose="020F0502020204030203"/>
                        <a:sym typeface="Lato" panose="020F0502020204030203"/>
                      </a:endParaRPr>
                    </a:p>
                  </a:txBody>
                  <a:tcPr marL="2667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856615">
                <a:tc>
                  <a:txBody>
                    <a:bodyPr/>
                    <a:lstStyle/>
                    <a:p>
                      <a:pPr marL="0" marR="0" lvl="0" indent="0" algn="l" rtl="0">
                        <a:spcBef>
                          <a:spcPts val="0"/>
                        </a:spcBef>
                        <a:spcAft>
                          <a:spcPts val="0"/>
                        </a:spcAft>
                        <a:buNone/>
                      </a:pPr>
                      <a:r>
                        <a:rPr lang="en-US" sz="1600" b="1" i="0" u="none" strike="noStrike" cap="none">
                          <a:solidFill>
                            <a:srgbClr val="475569"/>
                          </a:solidFill>
                          <a:latin typeface="Lato" panose="020F0502020204030203"/>
                          <a:ea typeface="Lato" panose="020F0502020204030203"/>
                          <a:cs typeface="Lato" panose="020F0502020204030203"/>
                          <a:sym typeface="Lato" panose="020F0502020204030203"/>
                        </a:rPr>
                        <a:t>Logiciels SaaS Étrangers</a:t>
                      </a:r>
                      <a:r>
                        <a:rPr lang="fr-FR" altLang="en-US" sz="1600" b="1" i="0" u="none" strike="noStrike" cap="none">
                          <a:solidFill>
                            <a:srgbClr val="475569"/>
                          </a:solidFill>
                          <a:latin typeface="Lato" panose="020F0502020204030203"/>
                          <a:ea typeface="Lato" panose="020F0502020204030203"/>
                          <a:cs typeface="Lato" panose="020F0502020204030203"/>
                          <a:sym typeface="Lato" panose="020F0502020204030203"/>
                        </a:rPr>
                        <a:t> (GererSeul)</a:t>
                      </a:r>
                      <a:endParaRPr lang="fr-FR" altLang="en-US" sz="16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Automatisation totale de l'édition de baux, quittances PDF</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Modèle juridique européen, absence de passerelles locales</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1" i="0" u="none" strike="noStrike" cap="none">
                          <a:solidFill>
                            <a:srgbClr val="EF4444"/>
                          </a:solidFill>
                          <a:latin typeface="Lato" panose="020F0502020204030203"/>
                          <a:ea typeface="Lato" panose="020F0502020204030203"/>
                          <a:cs typeface="Lato" panose="020F0502020204030203"/>
                          <a:sym typeface="Lato" panose="020F0502020204030203"/>
                        </a:rPr>
                        <a:t> Non-adapté</a:t>
                      </a:r>
                      <a:endParaRPr lang="en-US" sz="1600" b="1" i="0" u="none" strike="noStrike" cap="none">
                        <a:solidFill>
                          <a:srgbClr val="EF4444"/>
                        </a:solidFill>
                        <a:latin typeface="Lato" panose="020F0502020204030203"/>
                        <a:ea typeface="Lato" panose="020F0502020204030203"/>
                        <a:cs typeface="Lato" panose="020F0502020204030203"/>
                        <a:sym typeface="Lato" panose="020F0502020204030203"/>
                      </a:endParaRPr>
                    </a:p>
                  </a:txBody>
                  <a:tcPr marL="2286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bl>
          </a:graphicData>
        </a:graphic>
      </p:graphicFrame>
      <p:sp>
        <p:nvSpPr>
          <p:cNvPr id="176" name="Google Shape;176;p17"/>
          <p:cNvSpPr/>
          <p:nvPr/>
        </p:nvSpPr>
        <p:spPr>
          <a:xfrm>
            <a:off x="581025" y="2796480"/>
            <a:ext cx="2086867"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7" name="Google Shape;177;p17"/>
          <p:cNvSpPr/>
          <p:nvPr/>
        </p:nvSpPr>
        <p:spPr>
          <a:xfrm>
            <a:off x="2667892" y="2796480"/>
            <a:ext cx="3516957"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8" name="Google Shape;178;p17"/>
          <p:cNvSpPr/>
          <p:nvPr/>
        </p:nvSpPr>
        <p:spPr>
          <a:xfrm>
            <a:off x="6184850" y="2796480"/>
            <a:ext cx="3557438"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9" name="Google Shape;179;p17"/>
          <p:cNvSpPr/>
          <p:nvPr/>
        </p:nvSpPr>
        <p:spPr>
          <a:xfrm>
            <a:off x="9742289" y="2796480"/>
            <a:ext cx="1868685"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00" name="Google Shape;200;p17"/>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Critique de l’Existant</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04" name="Shape 204"/>
        <p:cNvGrpSpPr/>
        <p:nvPr/>
      </p:nvGrpSpPr>
      <p:grpSpPr>
        <a:xfrm>
          <a:off x="0" y="0"/>
          <a:ext cx="0" cy="0"/>
          <a:chOff x="0" y="0"/>
          <a:chExt cx="0" cy="0"/>
        </a:xfrm>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206" name="Google Shape;206;p18" descr="image.png"/>
          <p:cNvPicPr preferRelativeResize="0"/>
          <p:nvPr/>
        </p:nvPicPr>
        <p:blipFill rotWithShape="1">
          <a:blip r:embed="rId2"/>
          <a:srcRect/>
          <a:stretch>
            <a:fillRect/>
          </a:stretch>
        </p:blipFill>
        <p:spPr>
          <a:xfrm>
            <a:off x="571500" y="2463165"/>
            <a:ext cx="3492500" cy="3288030"/>
          </a:xfrm>
          <a:prstGeom prst="rect">
            <a:avLst/>
          </a:prstGeom>
          <a:noFill/>
          <a:ln>
            <a:noFill/>
          </a:ln>
        </p:spPr>
      </p:pic>
      <p:pic>
        <p:nvPicPr>
          <p:cNvPr id="207" name="Google Shape;207;p18" descr="image.png"/>
          <p:cNvPicPr preferRelativeResize="0"/>
          <p:nvPr/>
        </p:nvPicPr>
        <p:blipFill rotWithShape="1">
          <a:blip r:embed="rId3"/>
          <a:srcRect/>
          <a:stretch>
            <a:fillRect/>
          </a:stretch>
        </p:blipFill>
        <p:spPr>
          <a:xfrm>
            <a:off x="4349750" y="2463165"/>
            <a:ext cx="3492500" cy="3288030"/>
          </a:xfrm>
          <a:prstGeom prst="rect">
            <a:avLst/>
          </a:prstGeom>
          <a:noFill/>
          <a:ln>
            <a:noFill/>
          </a:ln>
        </p:spPr>
      </p:pic>
      <p:pic>
        <p:nvPicPr>
          <p:cNvPr id="208" name="Google Shape;208;p18" descr="image.png"/>
          <p:cNvPicPr preferRelativeResize="0"/>
          <p:nvPr/>
        </p:nvPicPr>
        <p:blipFill rotWithShape="1">
          <a:blip r:embed="rId4"/>
          <a:srcRect/>
          <a:stretch>
            <a:fillRect/>
          </a:stretch>
        </p:blipFill>
        <p:spPr>
          <a:xfrm>
            <a:off x="8128000" y="2463165"/>
            <a:ext cx="3492500" cy="3288030"/>
          </a:xfrm>
          <a:prstGeom prst="rect">
            <a:avLst/>
          </a:prstGeom>
          <a:noFill/>
          <a:ln>
            <a:noFill/>
          </a:ln>
        </p:spPr>
      </p:pic>
      <p:pic>
        <p:nvPicPr>
          <p:cNvPr id="209" name="Google Shape;209;p18" descr="image.png"/>
          <p:cNvPicPr preferRelativeResize="0"/>
          <p:nvPr/>
        </p:nvPicPr>
        <p:blipFill rotWithShape="1">
          <a:blip r:embed="rId5"/>
          <a:srcRect/>
          <a:stretch>
            <a:fillRect/>
          </a:stretch>
        </p:blipFill>
        <p:spPr>
          <a:xfrm>
            <a:off x="571500" y="6134100"/>
            <a:ext cx="11049000" cy="295275"/>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11" name="Google Shape;211;p18"/>
          <p:cNvSpPr txBox="1"/>
          <p:nvPr/>
        </p:nvSpPr>
        <p:spPr>
          <a:xfrm>
            <a:off x="9944100" y="471487"/>
            <a:ext cx="1676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OBJECTIFS STRATÉGIQUES</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2" name="Google Shape;212;p18"/>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3" name="Google Shape;213;p18"/>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06</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14" name="Google Shape;214;p18"/>
          <p:cNvSpPr txBox="1"/>
          <p:nvPr/>
        </p:nvSpPr>
        <p:spPr>
          <a:xfrm>
            <a:off x="794225" y="3358455"/>
            <a:ext cx="3047099" cy="230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Centralisation </a:t>
            </a:r>
            <a:r>
              <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les données</a:t>
            </a:r>
            <a:endPar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15" name="Google Shape;215;p18"/>
          <p:cNvSpPr txBox="1"/>
          <p:nvPr/>
        </p:nvSpPr>
        <p:spPr>
          <a:xfrm>
            <a:off x="866775" y="3758565"/>
            <a:ext cx="2901950" cy="1787525"/>
          </a:xfrm>
          <a:prstGeom prst="rect">
            <a:avLst/>
          </a:prstGeom>
          <a:noFill/>
          <a:ln>
            <a:noFill/>
          </a:ln>
        </p:spPr>
        <p:txBody>
          <a:bodyPr spcFirstLastPara="1" wrap="square" lIns="0" tIns="0" rIns="0" bIns="0" anchor="t" anchorCtr="0">
            <a:noAutofit/>
          </a:bodyPr>
          <a:lstStyle/>
          <a:p>
            <a:pPr marL="0" marR="0" lvl="0" indent="0" algn="just" rtl="0">
              <a:lnSpc>
                <a:spcPct val="150000"/>
              </a:lnSpc>
              <a:spcBef>
                <a:spcPts val="0"/>
              </a:spcBef>
              <a:spcAft>
                <a:spcPts val="0"/>
              </a:spcAft>
              <a:buNone/>
            </a:pP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Déploiement d’un référentiel de stockage unique pour toutes les données de biens, d'unités de logement et d'historiques locatifs afin de supprimer définitivement les doublons.</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6" name="Google Shape;216;p18"/>
          <p:cNvSpPr txBox="1"/>
          <p:nvPr/>
        </p:nvSpPr>
        <p:spPr>
          <a:xfrm>
            <a:off x="4572524" y="3358455"/>
            <a:ext cx="3047099" cy="571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Automatisation des Échéances</a:t>
            </a:r>
            <a:endParaRPr 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17" name="Google Shape;217;p18"/>
          <p:cNvSpPr txBox="1"/>
          <p:nvPr/>
        </p:nvSpPr>
        <p:spPr>
          <a:xfrm>
            <a:off x="4645025" y="3860165"/>
            <a:ext cx="2901950" cy="1569085"/>
          </a:xfrm>
          <a:prstGeom prst="rect">
            <a:avLst/>
          </a:prstGeom>
          <a:noFill/>
          <a:ln>
            <a:noFill/>
          </a:ln>
        </p:spPr>
        <p:txBody>
          <a:bodyPr spcFirstLastPara="1" wrap="square" lIns="0" tIns="0" rIns="0" bIns="0" anchor="t" anchorCtr="0">
            <a:noAutofit/>
          </a:bodyPr>
          <a:lstStyle/>
          <a:p>
            <a:pPr marL="0" marR="0" lvl="0" indent="0" algn="just" rtl="0">
              <a:lnSpc>
                <a:spcPct val="150000"/>
              </a:lnSpc>
              <a:spcBef>
                <a:spcPts val="0"/>
              </a:spcBef>
              <a:spcAft>
                <a:spcPts val="0"/>
              </a:spcAft>
              <a:buNone/>
            </a:pP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Mise en place d'un algorithme de planification (Scheduler) générant et distribuant automatiquement les avis d'échéances aux locataires à chaque début de cycle.</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8" name="Google Shape;218;p18"/>
          <p:cNvSpPr txBox="1"/>
          <p:nvPr/>
        </p:nvSpPr>
        <p:spPr>
          <a:xfrm>
            <a:off x="8350824" y="3358455"/>
            <a:ext cx="3047099" cy="230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Moyens de paiement locaux</a:t>
            </a:r>
            <a:endPar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19" name="Google Shape;219;p18"/>
          <p:cNvSpPr txBox="1"/>
          <p:nvPr/>
        </p:nvSpPr>
        <p:spPr>
          <a:xfrm>
            <a:off x="8423374" y="3758505"/>
            <a:ext cx="2901999" cy="1615440"/>
          </a:xfrm>
          <a:prstGeom prst="rect">
            <a:avLst/>
          </a:prstGeom>
          <a:noFill/>
          <a:ln>
            <a:noFill/>
          </a:ln>
        </p:spPr>
        <p:txBody>
          <a:bodyPr spcFirstLastPara="1" wrap="square" lIns="0" tIns="0" rIns="0" bIns="0" anchor="t" anchorCtr="0">
            <a:spAutoFit/>
          </a:bodyPr>
          <a:lstStyle/>
          <a:p>
            <a:pPr marL="0" marR="0" lvl="0" indent="0" algn="just" rtl="0">
              <a:lnSpc>
                <a:spcPct val="150000"/>
              </a:lnSpc>
              <a:spcBef>
                <a:spcPts val="0"/>
              </a:spcBef>
              <a:spcAft>
                <a:spcPts val="0"/>
              </a:spcAft>
              <a:buNone/>
            </a:pP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Connexion à FedaPay pour garantir un recouvrement instantané par Mobile Money (T-Money &amp; Flooz), réduisant les délais et renforçant la transparence.</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220" name="Google Shape;220;p18" descr="image.png"/>
          <p:cNvPicPr preferRelativeResize="0"/>
          <p:nvPr/>
        </p:nvPicPr>
        <p:blipFill rotWithShape="1">
          <a:blip r:embed="rId6"/>
          <a:srcRect/>
          <a:stretch>
            <a:fillRect/>
          </a:stretch>
        </p:blipFill>
        <p:spPr>
          <a:xfrm>
            <a:off x="2151012" y="2796480"/>
            <a:ext cx="333375" cy="381000"/>
          </a:xfrm>
          <a:prstGeom prst="rect">
            <a:avLst/>
          </a:prstGeom>
          <a:noFill/>
          <a:ln>
            <a:noFill/>
          </a:ln>
        </p:spPr>
      </p:pic>
      <p:pic>
        <p:nvPicPr>
          <p:cNvPr id="221" name="Google Shape;221;p18" descr="image.png"/>
          <p:cNvPicPr preferRelativeResize="0"/>
          <p:nvPr/>
        </p:nvPicPr>
        <p:blipFill rotWithShape="1">
          <a:blip r:embed="rId7"/>
          <a:srcRect/>
          <a:stretch>
            <a:fillRect/>
          </a:stretch>
        </p:blipFill>
        <p:spPr>
          <a:xfrm>
            <a:off x="5857875" y="2796480"/>
            <a:ext cx="476250" cy="381000"/>
          </a:xfrm>
          <a:prstGeom prst="rect">
            <a:avLst/>
          </a:prstGeom>
          <a:noFill/>
          <a:ln>
            <a:noFill/>
          </a:ln>
        </p:spPr>
      </p:pic>
      <p:pic>
        <p:nvPicPr>
          <p:cNvPr id="222" name="Google Shape;222;p18" descr="image.png"/>
          <p:cNvPicPr preferRelativeResize="0"/>
          <p:nvPr/>
        </p:nvPicPr>
        <p:blipFill rotWithShape="1">
          <a:blip r:embed="rId8"/>
          <a:srcRect/>
          <a:stretch>
            <a:fillRect/>
          </a:stretch>
        </p:blipFill>
        <p:spPr>
          <a:xfrm>
            <a:off x="9731424" y="2796480"/>
            <a:ext cx="285750" cy="381000"/>
          </a:xfrm>
          <a:prstGeom prst="rect">
            <a:avLst/>
          </a:prstGeom>
          <a:noFill/>
          <a:ln>
            <a:noFill/>
          </a:ln>
        </p:spPr>
      </p:pic>
      <p:sp>
        <p:nvSpPr>
          <p:cNvPr id="223" name="Google Shape;223;p18"/>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Objectifs Majeurs du Projet</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Titre 6"/>
          <p:cNvSpPr/>
          <p:nvPr>
            <p:ph type="title"/>
          </p:nvPr>
        </p:nvSpPr>
        <p:spPr>
          <a:xfrm>
            <a:off x="1747520" y="2536825"/>
            <a:ext cx="9244330" cy="1722755"/>
          </a:xfrm>
          <a:ln>
            <a:solidFill>
              <a:schemeClr val="accent1"/>
            </a:solidFill>
          </a:ln>
          <a:effectLst>
            <a:reflection blurRad="6350" stA="50000" endA="300" endPos="55500" dist="50800" dir="5400000" sy="-100000" algn="bl" rotWithShape="0"/>
          </a:effectLst>
        </p:spPr>
        <p:txBody>
          <a:bodyPr>
            <a:normAutofit/>
          </a:bodyPr>
          <a:p>
            <a:r>
              <a:rPr lang="fr-FR" altLang="en-US" sz="4800" b="1" cap="all">
                <a:solidFill>
                  <a:schemeClr val="tx1"/>
                </a:solidFill>
                <a:uFillTx/>
                <a:latin typeface="Poppins" panose="00000500000000000000" charset="0"/>
                <a:cs typeface="Poppins" panose="00000500000000000000" charset="0"/>
              </a:rPr>
              <a:t>Conception &amp; Réalisation</a:t>
            </a:r>
            <a:endParaRPr lang="fr-FR" altLang="en-US" sz="4800" b="1" cap="all">
              <a:solidFill>
                <a:schemeClr val="tx1"/>
              </a:solidFill>
              <a:uFillTx/>
              <a:latin typeface="Poppins" panose="00000500000000000000" charset="0"/>
              <a:cs typeface="Poppins" panose="00000500000000000000"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9910" y="1142683"/>
            <a:ext cx="8229600" cy="1143000"/>
          </a:xfrm>
        </p:spPr>
        <p:txBody>
          <a:bodyPr/>
          <a:p>
            <a:r>
              <a:rPr lang="fr-FR" altLang="en-US" cap="all">
                <a:solidFill>
                  <a:schemeClr val="tx1"/>
                </a:solidFill>
                <a:uFillTx/>
                <a:latin typeface="Times New Roman" panose="02020603050405020304" charset="0"/>
                <a:cs typeface="Times New Roman" panose="02020603050405020304" charset="0"/>
              </a:rPr>
              <a:t>MéTHODOLOGIE AGILE</a:t>
            </a:r>
            <a:endParaRPr lang="fr-FR" altLang="en-US" cap="all">
              <a:solidFill>
                <a:schemeClr val="tx1"/>
              </a:solidFill>
              <a:uFillTx/>
              <a:latin typeface="Times New Roman" panose="02020603050405020304" charset="0"/>
              <a:cs typeface="Times New Roman" panose="02020603050405020304" charset="0"/>
            </a:endParaRPr>
          </a:p>
        </p:txBody>
      </p:sp>
      <p:pic>
        <p:nvPicPr>
          <p:cNvPr id="9" name="Espace réservé du contenu 8" descr="Une image contenant texte, cercle, capture d’écran, football&#10;&#10;Le contenu généré par l’IA peut être incorrect."/>
          <p:cNvPicPr>
            <a:picLocks noGrp="1" noChangeAspect="1"/>
          </p:cNvPicPr>
          <p:nvPr>
            <p:ph idx="1"/>
          </p:nvPr>
        </p:nvPicPr>
        <p:blipFill>
          <a:blip r:embed="rId2"/>
          <a:stretch>
            <a:fillRect/>
          </a:stretch>
        </p:blipFill>
        <p:spPr>
          <a:xfrm>
            <a:off x="2346960" y="2153920"/>
            <a:ext cx="7498080" cy="3925570"/>
          </a:xfrm>
          <a:prstGeom prst="rect">
            <a:avLst/>
          </a:prstGeom>
        </p:spPr>
      </p:pic>
      <p:sp>
        <p:nvSpPr>
          <p:cNvPr id="4" name="Zone de texte 3"/>
          <p:cNvSpPr txBox="1"/>
          <p:nvPr/>
        </p:nvSpPr>
        <p:spPr>
          <a:xfrm>
            <a:off x="702945" y="6417945"/>
            <a:ext cx="2795270" cy="272415"/>
          </a:xfrm>
          <a:prstGeom prst="rect">
            <a:avLst/>
          </a:prstGeom>
          <a:noFill/>
        </p:spPr>
        <p:txBody>
          <a:bodyPr wrap="square" rtlCol="0">
            <a:noAutofit/>
          </a:bodyPr>
          <a:p>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a:p>
            <a:endParaRPr lang="en-US" alt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209" name="Google Shape;209;p18" descr="image.png"/>
          <p:cNvPicPr preferRelativeResize="0"/>
          <p:nvPr/>
        </p:nvPicPr>
        <p:blipFill rotWithShape="1">
          <a:blip r:embed="rId3"/>
          <a:srcRect/>
          <a:stretch>
            <a:fillRect/>
          </a:stretch>
        </p:blipFill>
        <p:spPr>
          <a:xfrm>
            <a:off x="571500" y="6134100"/>
            <a:ext cx="11049000" cy="556260"/>
          </a:xfrm>
          <a:prstGeom prst="rect">
            <a:avLst/>
          </a:prstGeom>
          <a:noFill/>
          <a:ln>
            <a:noFill/>
          </a:ln>
        </p:spPr>
      </p:pic>
      <p:sp>
        <p:nvSpPr>
          <p:cNvPr id="213" name="Google Shape;213;p18"/>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a:t>
            </a: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8</a:t>
            </a:r>
            <a:endPar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317" name="Google Shape;317;p23"/>
          <p:cNvSpPr txBox="1"/>
          <p:nvPr/>
        </p:nvSpPr>
        <p:spPr>
          <a:xfrm>
            <a:off x="10034587" y="471487"/>
            <a:ext cx="1585912"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MÉTHODOLOGIE PROJET</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313" name="Shape 313"/>
        <p:cNvGrpSpPr/>
        <p:nvPr/>
      </p:nvGrpSpPr>
      <p:grpSpPr>
        <a:xfrm>
          <a:off x="0" y="0"/>
          <a:ext cx="0" cy="0"/>
          <a:chOff x="0" y="0"/>
          <a:chExt cx="0" cy="0"/>
        </a:xfrm>
      </p:grpSpPr>
      <p:pic>
        <p:nvPicPr>
          <p:cNvPr id="314" name="Google Shape;314;p23"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315" name="Google Shape;315;p23"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316" name="Google Shape;316;p23"/>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317" name="Google Shape;317;p23"/>
          <p:cNvSpPr txBox="1"/>
          <p:nvPr/>
        </p:nvSpPr>
        <p:spPr>
          <a:xfrm>
            <a:off x="10034587" y="471487"/>
            <a:ext cx="1585912"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MÉTHODOLOGIE PROJET</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18" name="Google Shape;318;p23"/>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19" name="Google Shape;319;p23"/>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09</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320" name="Google Shape;320;p23"/>
          <p:cNvSpPr/>
          <p:nvPr/>
        </p:nvSpPr>
        <p:spPr>
          <a:xfrm>
            <a:off x="571500" y="4001392"/>
            <a:ext cx="11049000" cy="3810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1" name="Google Shape;321;p23"/>
          <p:cNvSpPr/>
          <p:nvPr/>
        </p:nvSpPr>
        <p:spPr>
          <a:xfrm>
            <a:off x="1451520" y="3906142"/>
            <a:ext cx="228600" cy="228600"/>
          </a:xfrm>
          <a:prstGeom prst="roundRect">
            <a:avLst>
              <a:gd name="adj" fmla="val 50000"/>
            </a:avLst>
          </a:prstGeom>
          <a:solidFill>
            <a:srgbClr val="FFFFFF"/>
          </a:solidFill>
          <a:ln w="38100" cap="flat" cmpd="sng">
            <a:solidFill>
              <a:srgbClr val="F59E0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2" name="Google Shape;322;p23"/>
          <p:cNvSpPr/>
          <p:nvPr/>
        </p:nvSpPr>
        <p:spPr>
          <a:xfrm>
            <a:off x="3716535" y="3906142"/>
            <a:ext cx="228600" cy="228600"/>
          </a:xfrm>
          <a:prstGeom prst="roundRect">
            <a:avLst>
              <a:gd name="adj" fmla="val 50000"/>
            </a:avLst>
          </a:prstGeom>
          <a:solidFill>
            <a:srgbClr val="FFFFFF"/>
          </a:solidFill>
          <a:ln w="38100" cap="flat" cmpd="sng">
            <a:solidFill>
              <a:srgbClr val="3B82F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3" name="Google Shape;323;p23"/>
          <p:cNvSpPr/>
          <p:nvPr/>
        </p:nvSpPr>
        <p:spPr>
          <a:xfrm>
            <a:off x="5981551" y="3906142"/>
            <a:ext cx="228600" cy="228600"/>
          </a:xfrm>
          <a:prstGeom prst="roundRect">
            <a:avLst>
              <a:gd name="adj" fmla="val 50000"/>
            </a:avLst>
          </a:prstGeom>
          <a:solidFill>
            <a:srgbClr val="FFFFFF"/>
          </a:solidFill>
          <a:ln w="38100" cap="flat" cmpd="sng">
            <a:solidFill>
              <a:srgbClr val="F59E0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4" name="Google Shape;324;p23"/>
          <p:cNvSpPr/>
          <p:nvPr/>
        </p:nvSpPr>
        <p:spPr>
          <a:xfrm>
            <a:off x="8246566" y="3906142"/>
            <a:ext cx="228600" cy="228600"/>
          </a:xfrm>
          <a:prstGeom prst="roundRect">
            <a:avLst>
              <a:gd name="adj" fmla="val 50000"/>
            </a:avLst>
          </a:prstGeom>
          <a:solidFill>
            <a:srgbClr val="FFFFFF"/>
          </a:solidFill>
          <a:ln w="38100" cap="flat" cmpd="sng">
            <a:solidFill>
              <a:srgbClr val="3B82F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5" name="Google Shape;325;p23"/>
          <p:cNvSpPr/>
          <p:nvPr/>
        </p:nvSpPr>
        <p:spPr>
          <a:xfrm>
            <a:off x="10511581" y="3906142"/>
            <a:ext cx="228600" cy="228600"/>
          </a:xfrm>
          <a:prstGeom prst="roundRect">
            <a:avLst>
              <a:gd name="adj" fmla="val 50000"/>
            </a:avLst>
          </a:prstGeom>
          <a:solidFill>
            <a:srgbClr val="FFFFFF"/>
          </a:solidFill>
          <a:ln w="38100" cap="flat" cmpd="sng">
            <a:solidFill>
              <a:srgbClr val="F59E0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6" name="Google Shape;326;p23"/>
          <p:cNvSpPr txBox="1"/>
          <p:nvPr/>
        </p:nvSpPr>
        <p:spPr>
          <a:xfrm>
            <a:off x="521780" y="4258567"/>
            <a:ext cx="2088229"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rPr>
              <a:t>Fév - Mars</a:t>
            </a:r>
            <a:endPar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327" name="Google Shape;327;p23"/>
          <p:cNvSpPr txBox="1"/>
          <p:nvPr/>
        </p:nvSpPr>
        <p:spPr>
          <a:xfrm>
            <a:off x="571500" y="4544317"/>
            <a:ext cx="1988790" cy="817245"/>
          </a:xfrm>
          <a:prstGeom prst="rect">
            <a:avLst/>
          </a:prstGeom>
          <a:noFill/>
          <a:ln>
            <a:noFill/>
          </a:ln>
        </p:spPr>
        <p:txBody>
          <a:bodyPr spcFirstLastPara="1" wrap="square" lIns="0" tIns="0" rIns="0" bIns="0" anchor="t" anchorCtr="0">
            <a:spAutoFit/>
          </a:bodyPr>
          <a:lstStyle/>
          <a:p>
            <a:pPr marL="0" marR="0" lvl="0" indent="0" algn="ctr" rtl="0">
              <a:lnSpc>
                <a:spcPct val="76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Étude Préalable</a:t>
            </a:r>
            <a:br>
              <a:rPr lang="en-US" b="0" i="0" u="none" strike="noStrike" cap="none">
                <a:solidFill>
                  <a:schemeClr val="dk1"/>
                </a:solidFill>
                <a:latin typeface="Calibri" panose="020F0502020204030204"/>
                <a:ea typeface="Calibri" panose="020F0502020204030204"/>
                <a:cs typeface="Calibri" panose="020F0502020204030204"/>
                <a:sym typeface="Calibri" panose="020F0502020204030204"/>
              </a:rPr>
            </a:b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Analyse de la problématique, critique de l’existant, rédaction du cahier des charges.</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28" name="Google Shape;328;p23"/>
          <p:cNvSpPr txBox="1"/>
          <p:nvPr/>
        </p:nvSpPr>
        <p:spPr>
          <a:xfrm>
            <a:off x="2736630" y="2592804"/>
            <a:ext cx="2088229"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Mars - Avril</a:t>
            </a:r>
            <a:endParaRPr lang="en-US" sz="12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329" name="Google Shape;329;p23"/>
          <p:cNvSpPr txBox="1"/>
          <p:nvPr/>
        </p:nvSpPr>
        <p:spPr>
          <a:xfrm>
            <a:off x="2736820" y="2877919"/>
            <a:ext cx="1988790" cy="980440"/>
          </a:xfrm>
          <a:prstGeom prst="rect">
            <a:avLst/>
          </a:prstGeom>
          <a:noFill/>
          <a:ln>
            <a:noFill/>
          </a:ln>
        </p:spPr>
        <p:txBody>
          <a:bodyPr spcFirstLastPara="1" wrap="square" lIns="0" tIns="0" rIns="0" bIns="0" anchor="t" anchorCtr="0">
            <a:spAutoFit/>
          </a:bodyPr>
          <a:lstStyle/>
          <a:p>
            <a:pPr marL="0" marR="0" lvl="0" indent="0" algn="ctr" rtl="0">
              <a:lnSpc>
                <a:spcPct val="76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Conception &amp; UML</a:t>
            </a:r>
            <a:br>
              <a:rPr lang="en-US" b="0" i="0" u="none" strike="noStrike" cap="none">
                <a:solidFill>
                  <a:schemeClr val="dk1"/>
                </a:solidFill>
                <a:latin typeface="Calibri" panose="020F0502020204030204"/>
                <a:ea typeface="Calibri" panose="020F0502020204030204"/>
                <a:cs typeface="Calibri" panose="020F0502020204030204"/>
                <a:sym typeface="Calibri" panose="020F0502020204030204"/>
              </a:rPr>
            </a:b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Création des diagrammes de cas d'utilisation, séquence, classe et base de données PostgreSQL.</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30" name="Google Shape;330;p23"/>
          <p:cNvSpPr txBox="1"/>
          <p:nvPr/>
        </p:nvSpPr>
        <p:spPr>
          <a:xfrm>
            <a:off x="5051810" y="4258567"/>
            <a:ext cx="2088229"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rPr>
              <a:t>Avril - Mai</a:t>
            </a:r>
            <a:endPar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331" name="Google Shape;331;p23"/>
          <p:cNvSpPr txBox="1"/>
          <p:nvPr/>
        </p:nvSpPr>
        <p:spPr>
          <a:xfrm>
            <a:off x="5101530" y="4544317"/>
            <a:ext cx="1988790" cy="817245"/>
          </a:xfrm>
          <a:prstGeom prst="rect">
            <a:avLst/>
          </a:prstGeom>
          <a:noFill/>
          <a:ln>
            <a:noFill/>
          </a:ln>
        </p:spPr>
        <p:txBody>
          <a:bodyPr spcFirstLastPara="1" wrap="square" lIns="0" tIns="0" rIns="0" bIns="0" anchor="t" anchorCtr="0">
            <a:spAutoFit/>
          </a:bodyPr>
          <a:lstStyle/>
          <a:p>
            <a:pPr marL="0" marR="0" lvl="0" indent="0" algn="ctr" rtl="0">
              <a:lnSpc>
                <a:spcPct val="76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Dév Backend</a:t>
            </a:r>
            <a:br>
              <a:rPr lang="en-US" b="0" i="0" u="none" strike="noStrike" cap="none">
                <a:solidFill>
                  <a:schemeClr val="dk1"/>
                </a:solidFill>
                <a:latin typeface="Calibri" panose="020F0502020204030204"/>
                <a:ea typeface="Calibri" panose="020F0502020204030204"/>
                <a:cs typeface="Calibri" panose="020F0502020204030204"/>
                <a:sym typeface="Calibri" panose="020F0502020204030204"/>
              </a:rPr>
            </a:b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Implémentation de l'API REST Spring Boot, sécurité JWT, services d'isolation logique.</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32" name="Google Shape;332;p23"/>
          <p:cNvSpPr txBox="1"/>
          <p:nvPr/>
        </p:nvSpPr>
        <p:spPr>
          <a:xfrm>
            <a:off x="7316825" y="2803624"/>
            <a:ext cx="2088229"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Mai - Juin</a:t>
            </a:r>
            <a:endParaRPr lang="en-US" sz="12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333" name="Google Shape;333;p23"/>
          <p:cNvSpPr txBox="1"/>
          <p:nvPr/>
        </p:nvSpPr>
        <p:spPr>
          <a:xfrm>
            <a:off x="7366545" y="3089374"/>
            <a:ext cx="1988790" cy="817245"/>
          </a:xfrm>
          <a:prstGeom prst="rect">
            <a:avLst/>
          </a:prstGeom>
          <a:noFill/>
          <a:ln>
            <a:noFill/>
          </a:ln>
        </p:spPr>
        <p:txBody>
          <a:bodyPr spcFirstLastPara="1" wrap="square" lIns="0" tIns="0" rIns="0" bIns="0" anchor="t" anchorCtr="0">
            <a:spAutoFit/>
          </a:bodyPr>
          <a:lstStyle/>
          <a:p>
            <a:pPr marL="0" marR="0" lvl="0" indent="0" algn="ctr" rtl="0">
              <a:lnSpc>
                <a:spcPct val="76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Frontend (Web &amp; Mobile)</a:t>
            </a:r>
            <a:br>
              <a:rPr lang="en-US" b="0" i="0" u="none" strike="noStrike" cap="none">
                <a:solidFill>
                  <a:schemeClr val="dk1"/>
                </a:solidFill>
                <a:latin typeface="Calibri" panose="020F0502020204030204"/>
                <a:ea typeface="Calibri" panose="020F0502020204030204"/>
                <a:cs typeface="Calibri" panose="020F0502020204030204"/>
                <a:sym typeface="Calibri" panose="020F0502020204030204"/>
              </a:rPr>
            </a:b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Création de l'interface d'administration Angular et de l'espace mobile locataire Ionic.</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34" name="Google Shape;334;p23"/>
          <p:cNvSpPr txBox="1"/>
          <p:nvPr/>
        </p:nvSpPr>
        <p:spPr>
          <a:xfrm>
            <a:off x="9581841" y="4258567"/>
            <a:ext cx="2088229"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rPr>
              <a:t>Juin - Juillet</a:t>
            </a:r>
            <a:endPar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335" name="Google Shape;335;p23"/>
          <p:cNvSpPr txBox="1"/>
          <p:nvPr/>
        </p:nvSpPr>
        <p:spPr>
          <a:xfrm>
            <a:off x="9631560" y="4544317"/>
            <a:ext cx="1988790" cy="653415"/>
          </a:xfrm>
          <a:prstGeom prst="rect">
            <a:avLst/>
          </a:prstGeom>
          <a:noFill/>
          <a:ln>
            <a:noFill/>
          </a:ln>
        </p:spPr>
        <p:txBody>
          <a:bodyPr spcFirstLastPara="1" wrap="square" lIns="0" tIns="0" rIns="0" bIns="0" anchor="t" anchorCtr="0">
            <a:spAutoFit/>
          </a:bodyPr>
          <a:lstStyle/>
          <a:p>
            <a:pPr marL="0" marR="0" lvl="0" indent="0" algn="ctr" rtl="0">
              <a:lnSpc>
                <a:spcPct val="76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Intégration &amp; Livraison</a:t>
            </a:r>
            <a:br>
              <a:rPr lang="en-US" b="0" i="0" u="none" strike="noStrike" cap="none">
                <a:solidFill>
                  <a:schemeClr val="dk1"/>
                </a:solidFill>
                <a:latin typeface="Calibri" panose="020F0502020204030204"/>
                <a:ea typeface="Calibri" panose="020F0502020204030204"/>
                <a:cs typeface="Calibri" panose="020F0502020204030204"/>
                <a:sym typeface="Calibri" panose="020F0502020204030204"/>
              </a:rPr>
            </a:b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Connexion, validation de la Sandbox, rédaction de la thèse et guides.</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36" name="Google Shape;336;p23"/>
          <p:cNvSpPr txBox="1"/>
          <p:nvPr/>
        </p:nvSpPr>
        <p:spPr>
          <a:xfrm>
            <a:off x="571500" y="1019175"/>
            <a:ext cx="11601450" cy="4978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Planning de Réalisation du Projet </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70" name="Shape 270"/>
        <p:cNvGrpSpPr/>
        <p:nvPr/>
      </p:nvGrpSpPr>
      <p:grpSpPr>
        <a:xfrm>
          <a:off x="0" y="0"/>
          <a:ext cx="0" cy="0"/>
          <a:chOff x="0" y="0"/>
          <a:chExt cx="0" cy="0"/>
        </a:xfrm>
      </p:grpSpPr>
      <p:pic>
        <p:nvPicPr>
          <p:cNvPr id="271" name="Google Shape;271;p21"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272" name="Google Shape;272;p21"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273" name="Google Shape;273;p21"/>
          <p:cNvSpPr txBox="1"/>
          <p:nvPr/>
        </p:nvSpPr>
        <p:spPr>
          <a:xfrm>
            <a:off x="59944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74" name="Google Shape;274;p21"/>
          <p:cNvSpPr txBox="1"/>
          <p:nvPr/>
        </p:nvSpPr>
        <p:spPr>
          <a:xfrm>
            <a:off x="9910762" y="471487"/>
            <a:ext cx="170973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CONCEPTION DU SYSTÈME</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75" name="Google Shape;275;p21"/>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a:t>
            </a: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77" name="Google Shape;277;p21"/>
          <p:cNvSpPr/>
          <p:nvPr/>
        </p:nvSpPr>
        <p:spPr>
          <a:xfrm>
            <a:off x="571500" y="2625030"/>
            <a:ext cx="5405437" cy="1000125"/>
          </a:xfrm>
          <a:prstGeom prst="roundRect">
            <a:avLst>
              <a:gd name="adj" fmla="val 7619"/>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78" name="Google Shape;278;p21"/>
          <p:cNvSpPr txBox="1"/>
          <p:nvPr/>
        </p:nvSpPr>
        <p:spPr>
          <a:xfrm>
            <a:off x="1095375" y="2815530"/>
            <a:ext cx="4691062" cy="619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Diagramme de Cas d'Utilisation</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79" name="Google Shape;279;p21"/>
          <p:cNvSpPr/>
          <p:nvPr/>
        </p:nvSpPr>
        <p:spPr>
          <a:xfrm>
            <a:off x="6215062" y="2625030"/>
            <a:ext cx="5405437" cy="1000125"/>
          </a:xfrm>
          <a:prstGeom prst="roundRect">
            <a:avLst>
              <a:gd name="adj" fmla="val 7619"/>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0" name="Google Shape;280;p21"/>
          <p:cNvSpPr txBox="1"/>
          <p:nvPr/>
        </p:nvSpPr>
        <p:spPr>
          <a:xfrm>
            <a:off x="6738937" y="2815530"/>
            <a:ext cx="4691062" cy="619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Diagramme d'Activités &amp; Séquences</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81" name="Google Shape;281;p21"/>
          <p:cNvSpPr/>
          <p:nvPr/>
        </p:nvSpPr>
        <p:spPr>
          <a:xfrm>
            <a:off x="571500" y="3863280"/>
            <a:ext cx="5405437" cy="1171575"/>
          </a:xfrm>
          <a:prstGeom prst="roundRect">
            <a:avLst>
              <a:gd name="adj" fmla="val 6504"/>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2" name="Google Shape;282;p21"/>
          <p:cNvSpPr txBox="1"/>
          <p:nvPr/>
        </p:nvSpPr>
        <p:spPr>
          <a:xfrm>
            <a:off x="1095375" y="4053780"/>
            <a:ext cx="4691062" cy="790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Modèle Entité-Relationnel (ERD)</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83" name="Google Shape;283;p21"/>
          <p:cNvSpPr/>
          <p:nvPr/>
        </p:nvSpPr>
        <p:spPr>
          <a:xfrm>
            <a:off x="6215062" y="3863280"/>
            <a:ext cx="5405437" cy="1171575"/>
          </a:xfrm>
          <a:prstGeom prst="roundRect">
            <a:avLst>
              <a:gd name="adj" fmla="val 6504"/>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4" name="Google Shape;284;p21"/>
          <p:cNvSpPr txBox="1"/>
          <p:nvPr/>
        </p:nvSpPr>
        <p:spPr>
          <a:xfrm>
            <a:off x="6738937" y="4053780"/>
            <a:ext cx="4691062" cy="790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Isolation Logique Multi-Tenant</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85" name="Google Shape;285;p21"/>
          <p:cNvSpPr/>
          <p:nvPr/>
        </p:nvSpPr>
        <p:spPr>
          <a:xfrm>
            <a:off x="571500" y="36156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6" name="Google Shape;286;p21"/>
          <p:cNvSpPr txBox="1"/>
          <p:nvPr/>
        </p:nvSpPr>
        <p:spPr>
          <a:xfrm>
            <a:off x="1104900" y="308223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Définition des limites fonctionnelles du système (Administration complète pour le propriétaire ; consultation et paiement pour le locataire).</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87" name="Google Shape;287;p21"/>
          <p:cNvSpPr/>
          <p:nvPr/>
        </p:nvSpPr>
        <p:spPr>
          <a:xfrm>
            <a:off x="6215062" y="36156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8" name="Google Shape;288;p21"/>
          <p:cNvSpPr txBox="1"/>
          <p:nvPr/>
        </p:nvSpPr>
        <p:spPr>
          <a:xfrm>
            <a:off x="6748462" y="308223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Formalisation des processus métiers dynamiques, en particulier l'interaction asynchrone lors de la génération automatique d'échéances.</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89" name="Google Shape;289;p21"/>
          <p:cNvSpPr/>
          <p:nvPr/>
        </p:nvSpPr>
        <p:spPr>
          <a:xfrm>
            <a:off x="571500" y="50253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90" name="Google Shape;290;p21"/>
          <p:cNvSpPr txBox="1"/>
          <p:nvPr/>
        </p:nvSpPr>
        <p:spPr>
          <a:xfrm>
            <a:off x="1104900" y="432048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Tables hautement indexées sur PostgreSQL pour accélérer les requêtes SQL complexes, gérant la relation Biens -&gt; Unités -&gt; Contrats -&gt; Échéances.</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91" name="Google Shape;291;p21"/>
          <p:cNvSpPr/>
          <p:nvPr/>
        </p:nvSpPr>
        <p:spPr>
          <a:xfrm>
            <a:off x="6215062" y="50253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92" name="Google Shape;292;p21"/>
          <p:cNvSpPr txBox="1"/>
          <p:nvPr/>
        </p:nvSpPr>
        <p:spPr>
          <a:xfrm>
            <a:off x="6748462" y="432048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Filtre injecté dynamiquement dans toutes les requêtes SQL, empêchant formellement un propriétaire d'accéder aux données d'un autre bailleur.</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293" name="Google Shape;293;p21" descr="image.png"/>
          <p:cNvPicPr preferRelativeResize="0"/>
          <p:nvPr/>
        </p:nvPicPr>
        <p:blipFill rotWithShape="1">
          <a:blip r:embed="rId3"/>
          <a:srcRect/>
          <a:stretch>
            <a:fillRect/>
          </a:stretch>
        </p:blipFill>
        <p:spPr>
          <a:xfrm>
            <a:off x="771525" y="2839342"/>
            <a:ext cx="219075" cy="200025"/>
          </a:xfrm>
          <a:prstGeom prst="rect">
            <a:avLst/>
          </a:prstGeom>
          <a:noFill/>
          <a:ln>
            <a:noFill/>
          </a:ln>
        </p:spPr>
      </p:pic>
      <p:pic>
        <p:nvPicPr>
          <p:cNvPr id="294" name="Google Shape;294;p21" descr="image.png"/>
          <p:cNvPicPr preferRelativeResize="0"/>
          <p:nvPr/>
        </p:nvPicPr>
        <p:blipFill rotWithShape="1">
          <a:blip r:embed="rId4"/>
          <a:srcRect/>
          <a:stretch>
            <a:fillRect/>
          </a:stretch>
        </p:blipFill>
        <p:spPr>
          <a:xfrm>
            <a:off x="6415087" y="2839342"/>
            <a:ext cx="238125" cy="200025"/>
          </a:xfrm>
          <a:prstGeom prst="rect">
            <a:avLst/>
          </a:prstGeom>
          <a:noFill/>
          <a:ln>
            <a:noFill/>
          </a:ln>
        </p:spPr>
      </p:pic>
      <p:pic>
        <p:nvPicPr>
          <p:cNvPr id="295" name="Google Shape;295;p21" descr="image.png"/>
          <p:cNvPicPr preferRelativeResize="0"/>
          <p:nvPr/>
        </p:nvPicPr>
        <p:blipFill rotWithShape="1">
          <a:blip r:embed="rId5"/>
          <a:srcRect/>
          <a:stretch>
            <a:fillRect/>
          </a:stretch>
        </p:blipFill>
        <p:spPr>
          <a:xfrm>
            <a:off x="771525" y="4077592"/>
            <a:ext cx="171450" cy="200025"/>
          </a:xfrm>
          <a:prstGeom prst="rect">
            <a:avLst/>
          </a:prstGeom>
          <a:noFill/>
          <a:ln>
            <a:noFill/>
          </a:ln>
        </p:spPr>
      </p:pic>
      <p:pic>
        <p:nvPicPr>
          <p:cNvPr id="296" name="Google Shape;296;p21" descr="image.png"/>
          <p:cNvPicPr preferRelativeResize="0"/>
          <p:nvPr/>
        </p:nvPicPr>
        <p:blipFill rotWithShape="1">
          <a:blip r:embed="rId6"/>
          <a:srcRect/>
          <a:stretch>
            <a:fillRect/>
          </a:stretch>
        </p:blipFill>
        <p:spPr>
          <a:xfrm>
            <a:off x="6415087" y="4077592"/>
            <a:ext cx="171450" cy="200025"/>
          </a:xfrm>
          <a:prstGeom prst="rect">
            <a:avLst/>
          </a:prstGeom>
          <a:noFill/>
          <a:ln>
            <a:noFill/>
          </a:ln>
        </p:spPr>
      </p:pic>
      <p:sp>
        <p:nvSpPr>
          <p:cNvPr id="297" name="Google Shape;297;p21"/>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Spécifications &amp; Modélisation UML 2.x</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3600" cap="all">
                <a:solidFill>
                  <a:schemeClr val="tx1"/>
                </a:solidFill>
                <a:uFillTx/>
                <a:latin typeface="Times New Roman" panose="02020603050405020304" charset="0"/>
                <a:cs typeface="Times New Roman" panose="02020603050405020304" charset="0"/>
              </a:rPr>
              <a:t>Diagramme de contexte</a:t>
            </a:r>
            <a:endParaRPr lang="fr-FR" altLang="en-US" sz="3600" cap="all">
              <a:solidFill>
                <a:schemeClr val="tx1"/>
              </a:solidFill>
              <a:uFillTx/>
              <a:latin typeface="Times New Roman" panose="02020603050405020304" charset="0"/>
              <a:cs typeface="Times New Roman" panose="02020603050405020304" charset="0"/>
            </a:endParaRPr>
          </a:p>
        </p:txBody>
      </p:sp>
      <p:pic>
        <p:nvPicPr>
          <p:cNvPr id="3" name="Image 2" descr="Contexte.drawio"/>
          <p:cNvPicPr>
            <a:picLocks noChangeAspect="1"/>
          </p:cNvPicPr>
          <p:nvPr/>
        </p:nvPicPr>
        <p:blipFill>
          <a:blip r:embed="rId2"/>
          <a:stretch>
            <a:fillRect/>
          </a:stretch>
        </p:blipFill>
        <p:spPr>
          <a:xfrm>
            <a:off x="2954655" y="1022350"/>
            <a:ext cx="6100445" cy="5202555"/>
          </a:xfrm>
          <a:prstGeom prst="rect">
            <a:avLst/>
          </a:prstGeom>
        </p:spPr>
      </p:pic>
      <p:pic>
        <p:nvPicPr>
          <p:cNvPr id="272" name="Google Shape;272;p21" descr="image.png"/>
          <p:cNvPicPr preferRelativeResize="0"/>
          <p:nvPr/>
        </p:nvPicPr>
        <p:blipFill rotWithShape="1">
          <a:blip r:embed="rId3"/>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11</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2800" cap="all">
                <a:solidFill>
                  <a:schemeClr val="tx1"/>
                </a:solidFill>
                <a:uFillTx/>
                <a:latin typeface="Times New Roman" panose="02020603050405020304" charset="0"/>
                <a:cs typeface="Times New Roman" panose="02020603050405020304" charset="0"/>
              </a:rPr>
              <a:t>Diagramme de Package</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12</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5" name="Image 4" descr="package.drawio"/>
          <p:cNvPicPr>
            <a:picLocks noChangeAspect="1"/>
          </p:cNvPicPr>
          <p:nvPr/>
        </p:nvPicPr>
        <p:blipFill>
          <a:blip r:embed="rId3"/>
          <a:stretch>
            <a:fillRect/>
          </a:stretch>
        </p:blipFill>
        <p:spPr>
          <a:xfrm>
            <a:off x="1945640" y="869950"/>
            <a:ext cx="8300085" cy="539623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2800" cap="all">
                <a:solidFill>
                  <a:schemeClr val="tx1"/>
                </a:solidFill>
                <a:uFillTx/>
                <a:latin typeface="Times New Roman" panose="02020603050405020304" charset="0"/>
                <a:cs typeface="Times New Roman" panose="02020603050405020304" charset="0"/>
              </a:rPr>
              <a:t>Diagramme de cas d’utilisation</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13</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5" name="Image 4" descr="use case"/>
          <p:cNvPicPr>
            <a:picLocks noChangeAspect="1"/>
          </p:cNvPicPr>
          <p:nvPr/>
        </p:nvPicPr>
        <p:blipFill>
          <a:blip r:embed="rId3"/>
          <a:stretch>
            <a:fillRect/>
          </a:stretch>
        </p:blipFill>
        <p:spPr>
          <a:xfrm>
            <a:off x="2734310" y="942975"/>
            <a:ext cx="7040245" cy="562927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noAutofit/>
          </a:bodyPr>
          <a:p>
            <a:r>
              <a:rPr lang="fr-FR" altLang="en-US" sz="2500" cap="all">
                <a:solidFill>
                  <a:schemeClr val="tx1"/>
                </a:solidFill>
                <a:uFillTx/>
                <a:latin typeface="Times New Roman" panose="02020603050405020304" charset="0"/>
                <a:cs typeface="Times New Roman" panose="02020603050405020304" charset="0"/>
              </a:rPr>
              <a:t>Diagramme d’activité : création d’un bail</a:t>
            </a:r>
            <a:endParaRPr lang="fr-FR" altLang="en-US" sz="25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14</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6" name="Image 5" descr="diagrame-Activité - Création Contrat de Bail_1.drawio"/>
          <p:cNvPicPr>
            <a:picLocks noChangeAspect="1"/>
          </p:cNvPicPr>
          <p:nvPr/>
        </p:nvPicPr>
        <p:blipFill>
          <a:blip r:embed="rId3"/>
          <a:stretch>
            <a:fillRect/>
          </a:stretch>
        </p:blipFill>
        <p:spPr>
          <a:xfrm>
            <a:off x="2486025" y="966470"/>
            <a:ext cx="7843520" cy="589153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normAutofit fontScale="90000"/>
          </a:bodyPr>
          <a:p>
            <a:r>
              <a:rPr lang="fr-FR" altLang="en-US" sz="2800" cap="all">
                <a:solidFill>
                  <a:schemeClr val="tx1"/>
                </a:solidFill>
                <a:uFillTx/>
                <a:latin typeface="Times New Roman" panose="02020603050405020304" charset="0"/>
                <a:cs typeface="Times New Roman" panose="02020603050405020304" charset="0"/>
              </a:rPr>
              <a:t>Diagramme de séquence : Paiement MOBILE</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50112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15</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3" name="Image 2" descr="sequence paiement mobile"/>
          <p:cNvPicPr>
            <a:picLocks noChangeAspect="1"/>
          </p:cNvPicPr>
          <p:nvPr/>
        </p:nvPicPr>
        <p:blipFill>
          <a:blip r:embed="rId3"/>
          <a:stretch>
            <a:fillRect/>
          </a:stretch>
        </p:blipFill>
        <p:spPr>
          <a:xfrm>
            <a:off x="320040" y="878205"/>
            <a:ext cx="11551285" cy="548576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3200" cap="all">
                <a:solidFill>
                  <a:schemeClr val="tx1"/>
                </a:solidFill>
                <a:uFillTx/>
                <a:latin typeface="Times New Roman" panose="02020603050405020304" charset="0"/>
                <a:cs typeface="Times New Roman" panose="02020603050405020304" charset="0"/>
              </a:rPr>
              <a:t>Diagramme de classe</a:t>
            </a:r>
            <a:endParaRPr lang="fr-FR" altLang="en-US" sz="32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16</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3" name="Image 2" descr="classe.drawio"/>
          <p:cNvPicPr>
            <a:picLocks noChangeAspect="1"/>
          </p:cNvPicPr>
          <p:nvPr/>
        </p:nvPicPr>
        <p:blipFill>
          <a:blip r:embed="rId3"/>
          <a:stretch>
            <a:fillRect/>
          </a:stretch>
        </p:blipFill>
        <p:spPr>
          <a:xfrm>
            <a:off x="1299210" y="762635"/>
            <a:ext cx="9816465" cy="623125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2800" cap="all">
                <a:solidFill>
                  <a:schemeClr val="tx1"/>
                </a:solidFill>
                <a:uFillTx/>
                <a:latin typeface="Times New Roman" panose="02020603050405020304" charset="0"/>
                <a:cs typeface="Times New Roman" panose="02020603050405020304" charset="0"/>
              </a:rPr>
              <a:t>Architecture logicielle du système</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17</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6" name="Zone de texte 5"/>
          <p:cNvSpPr txBox="1"/>
          <p:nvPr/>
        </p:nvSpPr>
        <p:spPr>
          <a:xfrm>
            <a:off x="410210" y="1113155"/>
            <a:ext cx="5318760" cy="5125085"/>
          </a:xfrm>
          <a:prstGeom prst="rect">
            <a:avLst/>
          </a:prstGeom>
          <a:noFill/>
        </p:spPr>
        <p:txBody>
          <a:bodyPr wrap="square" rtlCol="0">
            <a:noAutofit/>
          </a:bodyPr>
          <a:p>
            <a:endParaRPr lang="fr-FR" altLang="en-US"/>
          </a:p>
        </p:txBody>
      </p:sp>
      <p:pic>
        <p:nvPicPr>
          <p:cNvPr id="9" name="Image 8" descr="rental_architecture _logicielle.drawio_pptx"/>
          <p:cNvPicPr>
            <a:picLocks noChangeAspect="1"/>
          </p:cNvPicPr>
          <p:nvPr/>
        </p:nvPicPr>
        <p:blipFill>
          <a:blip r:embed="rId3"/>
          <a:stretch>
            <a:fillRect/>
          </a:stretch>
        </p:blipFill>
        <p:spPr>
          <a:xfrm>
            <a:off x="1814195" y="1046480"/>
            <a:ext cx="9015095" cy="529336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normAutofit fontScale="90000"/>
          </a:bodyPr>
          <a:p>
            <a:r>
              <a:rPr lang="fr-FR" altLang="en-US" sz="3200" cap="all">
                <a:solidFill>
                  <a:schemeClr val="tx1"/>
                </a:solidFill>
                <a:uFillTx/>
                <a:latin typeface="Times New Roman" panose="02020603050405020304" charset="0"/>
                <a:cs typeface="Times New Roman" panose="02020603050405020304" charset="0"/>
              </a:rPr>
              <a:t>Architecture matérielle du système</a:t>
            </a:r>
            <a:endParaRPr lang="fr-FR" altLang="en-US" sz="32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18</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6" name="Zone de texte 5"/>
          <p:cNvSpPr txBox="1"/>
          <p:nvPr/>
        </p:nvSpPr>
        <p:spPr>
          <a:xfrm>
            <a:off x="410210" y="1113155"/>
            <a:ext cx="5318760" cy="5125085"/>
          </a:xfrm>
          <a:prstGeom prst="rect">
            <a:avLst/>
          </a:prstGeom>
          <a:noFill/>
        </p:spPr>
        <p:txBody>
          <a:bodyPr wrap="square" rtlCol="0">
            <a:noAutofit/>
          </a:bodyPr>
          <a:p>
            <a:endParaRPr lang="fr-FR" altLang="en-US"/>
          </a:p>
        </p:txBody>
      </p:sp>
      <p:pic>
        <p:nvPicPr>
          <p:cNvPr id="8" name="Image 7" descr="rental_architecture_materielle.drawio_pptx"/>
          <p:cNvPicPr>
            <a:picLocks noChangeAspect="1"/>
          </p:cNvPicPr>
          <p:nvPr/>
        </p:nvPicPr>
        <p:blipFill>
          <a:blip r:embed="rId3"/>
          <a:stretch>
            <a:fillRect/>
          </a:stretch>
        </p:blipFill>
        <p:spPr>
          <a:xfrm>
            <a:off x="1913890" y="892810"/>
            <a:ext cx="8510905" cy="5879465"/>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51" name="Shape 251"/>
        <p:cNvGrpSpPr/>
        <p:nvPr/>
      </p:nvGrpSpPr>
      <p:grpSpPr>
        <a:xfrm>
          <a:off x="0" y="0"/>
          <a:ext cx="0" cy="0"/>
          <a:chOff x="0" y="0"/>
          <a:chExt cx="0" cy="0"/>
        </a:xfrm>
      </p:grpSpPr>
      <p:pic>
        <p:nvPicPr>
          <p:cNvPr id="253" name="Google Shape;253;p20" descr="image.png"/>
          <p:cNvPicPr preferRelativeResize="0"/>
          <p:nvPr/>
        </p:nvPicPr>
        <p:blipFill rotWithShape="1">
          <a:blip r:embed="rId1"/>
          <a:srcRect/>
          <a:stretch>
            <a:fillRect/>
          </a:stretch>
        </p:blipFill>
        <p:spPr>
          <a:xfrm>
            <a:off x="950595" y="2065020"/>
            <a:ext cx="2781300" cy="1528445"/>
          </a:xfrm>
          <a:prstGeom prst="rect">
            <a:avLst/>
          </a:prstGeom>
          <a:noFill/>
          <a:ln>
            <a:noFill/>
          </a:ln>
        </p:spPr>
      </p:pic>
      <p:pic>
        <p:nvPicPr>
          <p:cNvPr id="255" name="Google Shape;255;p20"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256" name="Google Shape;256;p20"/>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58" name="Google Shape;258;p20"/>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59" name="Google Shape;259;p20"/>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19</a:t>
            </a:r>
            <a:endPar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60" name="Google Shape;260;p20"/>
          <p:cNvSpPr txBox="1"/>
          <p:nvPr/>
        </p:nvSpPr>
        <p:spPr>
          <a:xfrm>
            <a:off x="1229360" y="231195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 Backend API Robuste</a:t>
            </a:r>
            <a:endParaRPr 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66" name="Google Shape;266;p20"/>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Choix Techniques &amp; Technologie</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17" name="Image 16" descr="spring-boot-logo"/>
          <p:cNvPicPr>
            <a:picLocks noChangeAspect="1"/>
          </p:cNvPicPr>
          <p:nvPr/>
        </p:nvPicPr>
        <p:blipFill>
          <a:blip r:embed="rId3"/>
          <a:stretch>
            <a:fillRect/>
          </a:stretch>
        </p:blipFill>
        <p:spPr>
          <a:xfrm>
            <a:off x="1590675" y="2717800"/>
            <a:ext cx="1555115" cy="816610"/>
          </a:xfrm>
          <a:prstGeom prst="rect">
            <a:avLst/>
          </a:prstGeom>
        </p:spPr>
      </p:pic>
      <p:pic>
        <p:nvPicPr>
          <p:cNvPr id="2" name="Google Shape;253;p20" descr="image.png"/>
          <p:cNvPicPr preferRelativeResize="0"/>
          <p:nvPr/>
        </p:nvPicPr>
        <p:blipFill rotWithShape="1">
          <a:blip r:embed="rId1"/>
          <a:srcRect/>
          <a:stretch>
            <a:fillRect/>
          </a:stretch>
        </p:blipFill>
        <p:spPr>
          <a:xfrm>
            <a:off x="4705350" y="2065020"/>
            <a:ext cx="2781300" cy="1528445"/>
          </a:xfrm>
          <a:prstGeom prst="rect">
            <a:avLst/>
          </a:prstGeom>
          <a:noFill/>
          <a:ln>
            <a:noFill/>
          </a:ln>
        </p:spPr>
      </p:pic>
      <p:sp>
        <p:nvSpPr>
          <p:cNvPr id="3" name="Google Shape;260;p20"/>
          <p:cNvSpPr txBox="1"/>
          <p:nvPr/>
        </p:nvSpPr>
        <p:spPr>
          <a:xfrm>
            <a:off x="4705350" y="231195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 </a:t>
            </a: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Framework web (Angular)</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4" name="Google Shape;253;p20" descr="image.png"/>
          <p:cNvPicPr preferRelativeResize="0"/>
          <p:nvPr/>
        </p:nvPicPr>
        <p:blipFill rotWithShape="1">
          <a:blip r:embed="rId1"/>
          <a:srcRect/>
          <a:stretch>
            <a:fillRect/>
          </a:stretch>
        </p:blipFill>
        <p:spPr>
          <a:xfrm>
            <a:off x="8540750" y="2065020"/>
            <a:ext cx="2781300" cy="1528445"/>
          </a:xfrm>
          <a:prstGeom prst="rect">
            <a:avLst/>
          </a:prstGeom>
          <a:noFill/>
          <a:ln>
            <a:noFill/>
          </a:ln>
        </p:spPr>
      </p:pic>
      <p:sp>
        <p:nvSpPr>
          <p:cNvPr id="5" name="Google Shape;260;p20"/>
          <p:cNvSpPr txBox="1"/>
          <p:nvPr/>
        </p:nvSpPr>
        <p:spPr>
          <a:xfrm>
            <a:off x="8714105" y="231195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Framework mobile(Ionic)</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6" name="Image 5" descr="idBXx3ksX4_logos"/>
          <p:cNvPicPr>
            <a:picLocks noChangeAspect="1"/>
          </p:cNvPicPr>
          <p:nvPr/>
        </p:nvPicPr>
        <p:blipFill>
          <a:blip r:embed="rId4"/>
          <a:stretch>
            <a:fillRect/>
          </a:stretch>
        </p:blipFill>
        <p:spPr>
          <a:xfrm>
            <a:off x="5633720" y="2557780"/>
            <a:ext cx="924560" cy="924560"/>
          </a:xfrm>
          <a:prstGeom prst="rect">
            <a:avLst/>
          </a:prstGeom>
        </p:spPr>
      </p:pic>
      <p:pic>
        <p:nvPicPr>
          <p:cNvPr id="7" name="Image 6" descr="Ionic Icon"/>
          <p:cNvPicPr>
            <a:picLocks noChangeAspect="1"/>
          </p:cNvPicPr>
          <p:nvPr/>
        </p:nvPicPr>
        <p:blipFill>
          <a:blip r:embed="rId5"/>
          <a:stretch>
            <a:fillRect/>
          </a:stretch>
        </p:blipFill>
        <p:spPr>
          <a:xfrm>
            <a:off x="9554845" y="2654935"/>
            <a:ext cx="827405" cy="827405"/>
          </a:xfrm>
          <a:prstGeom prst="rect">
            <a:avLst/>
          </a:prstGeom>
        </p:spPr>
      </p:pic>
      <p:pic>
        <p:nvPicPr>
          <p:cNvPr id="8" name="Google Shape;253;p20" descr="image.png"/>
          <p:cNvPicPr preferRelativeResize="0"/>
          <p:nvPr/>
        </p:nvPicPr>
        <p:blipFill rotWithShape="1">
          <a:blip r:embed="rId1"/>
          <a:srcRect/>
          <a:stretch>
            <a:fillRect/>
          </a:stretch>
        </p:blipFill>
        <p:spPr>
          <a:xfrm>
            <a:off x="950595" y="4227830"/>
            <a:ext cx="2781300" cy="1528445"/>
          </a:xfrm>
          <a:prstGeom prst="rect">
            <a:avLst/>
          </a:prstGeom>
          <a:noFill/>
          <a:ln>
            <a:noFill/>
          </a:ln>
        </p:spPr>
      </p:pic>
      <p:sp>
        <p:nvSpPr>
          <p:cNvPr id="9" name="Google Shape;260;p20"/>
          <p:cNvSpPr txBox="1"/>
          <p:nvPr/>
        </p:nvSpPr>
        <p:spPr>
          <a:xfrm>
            <a:off x="1832610" y="447476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PostgreSQL</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10" name="Google Shape;253;p20" descr="image.png"/>
          <p:cNvPicPr preferRelativeResize="0"/>
          <p:nvPr/>
        </p:nvPicPr>
        <p:blipFill rotWithShape="1">
          <a:blip r:embed="rId1"/>
          <a:srcRect/>
          <a:stretch>
            <a:fillRect/>
          </a:stretch>
        </p:blipFill>
        <p:spPr>
          <a:xfrm>
            <a:off x="4705350" y="4227830"/>
            <a:ext cx="2781300" cy="1528445"/>
          </a:xfrm>
          <a:prstGeom prst="rect">
            <a:avLst/>
          </a:prstGeom>
          <a:noFill/>
          <a:ln>
            <a:noFill/>
          </a:ln>
        </p:spPr>
      </p:pic>
      <p:sp>
        <p:nvSpPr>
          <p:cNvPr id="11" name="Google Shape;260;p20"/>
          <p:cNvSpPr txBox="1"/>
          <p:nvPr/>
        </p:nvSpPr>
        <p:spPr>
          <a:xfrm>
            <a:off x="5506085" y="447476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DrawIo</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12" name="Google Shape;253;p20" descr="image.png"/>
          <p:cNvPicPr preferRelativeResize="0"/>
          <p:nvPr/>
        </p:nvPicPr>
        <p:blipFill rotWithShape="1">
          <a:blip r:embed="rId1"/>
          <a:srcRect/>
          <a:stretch>
            <a:fillRect/>
          </a:stretch>
        </p:blipFill>
        <p:spPr>
          <a:xfrm>
            <a:off x="8460105" y="4227830"/>
            <a:ext cx="2781300" cy="1528445"/>
          </a:xfrm>
          <a:prstGeom prst="rect">
            <a:avLst/>
          </a:prstGeom>
          <a:noFill/>
          <a:ln>
            <a:noFill/>
          </a:ln>
        </p:spPr>
      </p:pic>
      <p:sp>
        <p:nvSpPr>
          <p:cNvPr id="13" name="Google Shape;260;p20"/>
          <p:cNvSpPr txBox="1"/>
          <p:nvPr/>
        </p:nvSpPr>
        <p:spPr>
          <a:xfrm>
            <a:off x="9554845" y="4474845"/>
            <a:ext cx="969645" cy="2451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Langage </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14" name="Image 13" descr="postgre"/>
          <p:cNvPicPr>
            <a:picLocks noChangeAspect="1"/>
          </p:cNvPicPr>
          <p:nvPr/>
        </p:nvPicPr>
        <p:blipFill>
          <a:blip r:embed="rId6"/>
          <a:srcRect b="22334"/>
          <a:stretch>
            <a:fillRect/>
          </a:stretch>
        </p:blipFill>
        <p:spPr>
          <a:xfrm>
            <a:off x="1832610" y="4821555"/>
            <a:ext cx="1071880" cy="832485"/>
          </a:xfrm>
          <a:prstGeom prst="rect">
            <a:avLst/>
          </a:prstGeom>
        </p:spPr>
      </p:pic>
      <p:pic>
        <p:nvPicPr>
          <p:cNvPr id="15" name="Image 14" descr="Diagrams.net_Logo.svg"/>
          <p:cNvPicPr>
            <a:picLocks noChangeAspect="1"/>
          </p:cNvPicPr>
          <p:nvPr/>
        </p:nvPicPr>
        <p:blipFill>
          <a:blip r:embed="rId7"/>
          <a:stretch>
            <a:fillRect/>
          </a:stretch>
        </p:blipFill>
        <p:spPr>
          <a:xfrm>
            <a:off x="5506085" y="4821555"/>
            <a:ext cx="860425" cy="860425"/>
          </a:xfrm>
          <a:prstGeom prst="rect">
            <a:avLst/>
          </a:prstGeom>
        </p:spPr>
      </p:pic>
      <p:pic>
        <p:nvPicPr>
          <p:cNvPr id="16" name="Espace réservé du contenu 7" descr="Une image contenant Police, Graphique, logo, conception&#10;&#10;Le contenu généré par l’IA peut être incorrect."/>
          <p:cNvPicPr>
            <a:picLocks noGrp="1" noChangeAspect="1"/>
          </p:cNvPicPr>
          <p:nvPr/>
        </p:nvPicPr>
        <p:blipFill>
          <a:blip r:embed="rId8"/>
          <a:stretch>
            <a:fillRect/>
          </a:stretch>
        </p:blipFill>
        <p:spPr>
          <a:xfrm>
            <a:off x="9287510" y="4773930"/>
            <a:ext cx="1439545" cy="89535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67" name="Shape 167"/>
        <p:cNvGrpSpPr/>
        <p:nvPr/>
      </p:nvGrpSpPr>
      <p:grpSpPr>
        <a:xfrm>
          <a:off x="0" y="0"/>
          <a:ext cx="0" cy="0"/>
          <a:chOff x="0" y="0"/>
          <a:chExt cx="0" cy="0"/>
        </a:xfrm>
      </p:grpSpPr>
      <p:pic>
        <p:nvPicPr>
          <p:cNvPr id="168" name="Google Shape;168;p17"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69" name="Google Shape;169;p17" descr="image.png"/>
          <p:cNvPicPr preferRelativeResize="0"/>
          <p:nvPr/>
        </p:nvPicPr>
        <p:blipFill rotWithShape="1">
          <a:blip r:embed="rId2"/>
          <a:srcRect/>
          <a:stretch>
            <a:fillRect/>
          </a:stretch>
        </p:blipFill>
        <p:spPr>
          <a:xfrm>
            <a:off x="571500" y="2129730"/>
            <a:ext cx="11049000" cy="3400425"/>
          </a:xfrm>
          <a:prstGeom prst="rect">
            <a:avLst/>
          </a:prstGeom>
          <a:noFill/>
          <a:ln>
            <a:noFill/>
          </a:ln>
        </p:spPr>
      </p:pic>
      <p:pic>
        <p:nvPicPr>
          <p:cNvPr id="170" name="Google Shape;170;p17" descr="image.png"/>
          <p:cNvPicPr preferRelativeResize="0"/>
          <p:nvPr/>
        </p:nvPicPr>
        <p:blipFill rotWithShape="1">
          <a:blip r:embed="rId3"/>
          <a:srcRect/>
          <a:stretch>
            <a:fillRect/>
          </a:stretch>
        </p:blipFill>
        <p:spPr>
          <a:xfrm>
            <a:off x="571500" y="6134100"/>
            <a:ext cx="11049000" cy="295275"/>
          </a:xfrm>
          <a:prstGeom prst="rect">
            <a:avLst/>
          </a:prstGeom>
          <a:noFill/>
          <a:ln>
            <a:noFill/>
          </a:ln>
        </p:spPr>
      </p:pic>
      <p:sp>
        <p:nvSpPr>
          <p:cNvPr id="171" name="Google Shape;171;p17"/>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72" name="Google Shape;172;p17"/>
          <p:cNvSpPr txBox="1"/>
          <p:nvPr/>
        </p:nvSpPr>
        <p:spPr>
          <a:xfrm>
            <a:off x="10082212" y="471487"/>
            <a:ext cx="153828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ANALYSE COMPARATIVE</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73" name="Google Shape;173;p17"/>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74" name="Google Shape;174;p17"/>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20</a:t>
            </a:r>
            <a:endPar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graphicFrame>
        <p:nvGraphicFramePr>
          <p:cNvPr id="175" name="Google Shape;175;p17"/>
          <p:cNvGraphicFramePr/>
          <p:nvPr>
            <p:custDataLst>
              <p:tags r:id="rId4"/>
            </p:custDataLst>
          </p:nvPr>
        </p:nvGraphicFramePr>
        <p:xfrm>
          <a:off x="581025" y="2139315"/>
          <a:ext cx="11040110" cy="3246120"/>
        </p:xfrm>
        <a:graphic>
          <a:graphicData uri="http://schemas.openxmlformats.org/drawingml/2006/table">
            <a:tbl>
              <a:tblPr firstRow="1" bandRow="1">
                <a:noFill/>
                <a:tableStyleId>{5DAD3497-3041-4D27-8FF0-422A7831B682}</a:tableStyleId>
              </a:tblPr>
              <a:tblGrid>
                <a:gridCol w="4110990"/>
                <a:gridCol w="6929120"/>
              </a:tblGrid>
              <a:tr h="835660">
                <a:tc>
                  <a:txBody>
                    <a:bodyPr/>
                    <a:lstStyle/>
                    <a:p>
                      <a:pPr marL="0" marR="0" lvl="0" indent="0" algn="l" rtl="0">
                        <a:spcBef>
                          <a:spcPts val="0"/>
                        </a:spcBef>
                        <a:spcAft>
                          <a:spcPts val="0"/>
                        </a:spcAft>
                        <a:buNone/>
                      </a:pPr>
                      <a:r>
                        <a:rPr lang="fr-FR" altLang="en-US" sz="1800" b="1" i="0" u="none" strike="noStrike" cap="none">
                          <a:solidFill>
                            <a:srgbClr val="1E293B"/>
                          </a:solidFill>
                          <a:latin typeface="Lato" panose="020F0502020204030203"/>
                          <a:ea typeface="Lato" panose="020F0502020204030203"/>
                          <a:cs typeface="Lato" panose="020F0502020204030203"/>
                          <a:sym typeface="Lato" panose="020F0502020204030203"/>
                        </a:rPr>
                        <a:t>Matériel</a:t>
                      </a:r>
                      <a:endParaRPr lang="fr-FR" alt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fr-FR" altLang="en-US" sz="1800" b="1" i="0" u="none" strike="noStrike" cap="none">
                          <a:solidFill>
                            <a:srgbClr val="1E293B"/>
                          </a:solidFill>
                          <a:latin typeface="Lato" panose="020F0502020204030203"/>
                          <a:ea typeface="Lato" panose="020F0502020204030203"/>
                          <a:cs typeface="Lato" panose="020F0502020204030203"/>
                          <a:sym typeface="Lato" panose="020F0502020204030203"/>
                        </a:rPr>
                        <a:t>Caractéristiques</a:t>
                      </a:r>
                      <a:endParaRPr lang="fr-FR" alt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r>
              <a:tr h="1140460">
                <a:tc>
                  <a:txBody>
                    <a:bodyPr/>
                    <a:lstStyle/>
                    <a:p>
                      <a:pPr marL="0" marR="0" lvl="0" indent="0" algn="l" rtl="0">
                        <a:spcBef>
                          <a:spcPts val="0"/>
                        </a:spcBef>
                        <a:spcAft>
                          <a:spcPts val="0"/>
                        </a:spcAft>
                        <a:buFont typeface="Arial" panose="020B0604020202020204" pitchFamily="34" charset="0"/>
                        <a:buNone/>
                      </a:pPr>
                      <a:r>
                        <a:rPr lang="fr-FR" altLang="en-US" sz="1800" b="1" i="0" u="none" strike="noStrike" cap="none">
                          <a:solidFill>
                            <a:srgbClr val="475569"/>
                          </a:solidFill>
                          <a:latin typeface="Lato" panose="020F0502020204030203"/>
                          <a:ea typeface="Lato" panose="020F0502020204030203"/>
                          <a:cs typeface="Lato" panose="020F0502020204030203"/>
                          <a:sym typeface="Lato" panose="020F0502020204030203"/>
                        </a:rPr>
                        <a:t>Ordinateur (destiné au Bailleur)</a:t>
                      </a:r>
                      <a:endParaRPr lang="fr-FR" altLang="en-US" sz="18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285750" marR="0" lvl="0" indent="-285750" algn="l" rtl="0">
                        <a:spcBef>
                          <a:spcPts val="0"/>
                        </a:spcBef>
                        <a:spcAft>
                          <a:spcPts val="0"/>
                        </a:spcAft>
                        <a:buFont typeface="Arial" panose="020B0604020202020204" pitchFamily="34" charset="0"/>
                        <a:buChar char="•"/>
                      </a:pPr>
                      <a:r>
                        <a:rPr lang="en-US" altLang="en-US"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é</a:t>
                      </a:r>
                      <a:r>
                        <a:rPr lang="en-US" altLang="fr-FR"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quip</a:t>
                      </a:r>
                      <a:r>
                        <a:rPr lang="en-US" altLang="en-US"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é </a:t>
                      </a:r>
                      <a:r>
                        <a:rPr lang="en-US" altLang="fr-FR"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d'un navigateur internet moderne</a:t>
                      </a:r>
                      <a:r>
                        <a:rPr lang="fr-FR" altLang="en-US"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 </a:t>
                      </a:r>
                      <a:r>
                        <a:rPr lang="en-US" altLang="fr-FR"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rPr>
                        <a:t>(Chrome, Firefox, Edge).</a:t>
                      </a:r>
                      <a:endParaRPr lang="en-US" altLang="fr-FR" sz="1800" b="1" i="0" u="none" strike="noStrike" cap="none">
                        <a:solidFill>
                          <a:srgbClr val="475569"/>
                        </a:solidFill>
                        <a:latin typeface="Lato" panose="020F0502020204030203" charset="0"/>
                        <a:ea typeface="Lato" panose="020F0502020204030203"/>
                        <a:cs typeface="Lato" panose="020F0502020204030203" charset="0"/>
                        <a:sym typeface="Lato" panose="020F0502020204030203"/>
                      </a:endParaRPr>
                    </a:p>
                    <a:p>
                      <a:pPr marL="285750" lvl="0" indent="-285750" algn="l">
                        <a:lnSpc>
                          <a:spcPct val="100000"/>
                        </a:lnSpc>
                        <a:spcBef>
                          <a:spcPts val="0"/>
                        </a:spcBef>
                        <a:spcAft>
                          <a:spcPts val="0"/>
                        </a:spcAft>
                        <a:buSzTx/>
                        <a:buFont typeface="Arial" panose="020B0604020202020204" pitchFamily="34" charset="0"/>
                        <a:buChar char="•"/>
                      </a:pPr>
                      <a:r>
                        <a:rPr lang="fr-FR" altLang="en-US" sz="1800" b="1">
                          <a:solidFill>
                            <a:srgbClr val="475569"/>
                          </a:solidFill>
                          <a:latin typeface="Lato" panose="020F0502020204030203"/>
                          <a:ea typeface="Lato" panose="020F0502020204030203"/>
                          <a:cs typeface="Lato" panose="020F0502020204030203"/>
                          <a:sym typeface="+mn-ea"/>
                        </a:rPr>
                        <a:t>Mémoire RAM installée : 8,00 Go </a:t>
                      </a:r>
                      <a:endParaRPr lang="fr-FR" altLang="en-US" sz="1800" b="1">
                        <a:solidFill>
                          <a:srgbClr val="475569"/>
                        </a:solidFill>
                        <a:latin typeface="Lato" panose="020F0502020204030203"/>
                        <a:ea typeface="Lato" panose="020F0502020204030203"/>
                        <a:cs typeface="Lato" panose="020F0502020204030203"/>
                      </a:endParaRPr>
                    </a:p>
                    <a:p>
                      <a:pPr marL="285750" lvl="0" indent="-285750" algn="l">
                        <a:lnSpc>
                          <a:spcPct val="100000"/>
                        </a:lnSpc>
                        <a:spcBef>
                          <a:spcPts val="0"/>
                        </a:spcBef>
                        <a:spcAft>
                          <a:spcPts val="0"/>
                        </a:spcAft>
                        <a:buSzTx/>
                        <a:buFont typeface="Arial" panose="020B0604020202020204" pitchFamily="34" charset="0"/>
                        <a:buChar char="•"/>
                      </a:pPr>
                      <a:r>
                        <a:rPr lang="fr-FR" altLang="en-US" sz="1800" b="1">
                          <a:solidFill>
                            <a:srgbClr val="475569"/>
                          </a:solidFill>
                          <a:latin typeface="Lato" panose="020F0502020204030203"/>
                          <a:ea typeface="Lato" panose="020F0502020204030203"/>
                          <a:cs typeface="Lato" panose="020F0502020204030203"/>
                          <a:sym typeface="+mn-ea"/>
                        </a:rPr>
                        <a:t>Disque dur SSD : 1 To</a:t>
                      </a:r>
                      <a:endParaRPr lang="fr-FR" altLang="en-US" sz="1800" b="1" i="0" u="none" strike="noStrike">
                        <a:solidFill>
                          <a:srgbClr val="475569"/>
                        </a:solidFill>
                        <a:latin typeface="Lato" panose="020F0502020204030203"/>
                        <a:ea typeface="Lato" panose="020F0502020204030203"/>
                        <a:cs typeface="Lato" panose="020F0502020204030203"/>
                      </a:endParaRPr>
                    </a:p>
                    <a:p>
                      <a:pPr marL="285750" lvl="0" indent="-285750" algn="l">
                        <a:lnSpc>
                          <a:spcPct val="100000"/>
                        </a:lnSpc>
                        <a:spcBef>
                          <a:spcPts val="0"/>
                        </a:spcBef>
                        <a:spcAft>
                          <a:spcPts val="0"/>
                        </a:spcAft>
                        <a:buSzTx/>
                        <a:buFont typeface="Arial" panose="020B0604020202020204" pitchFamily="34" charset="0"/>
                        <a:buChar char="•"/>
                      </a:pPr>
                      <a:r>
                        <a:rPr lang="fr-FR" altLang="en-US" sz="1800" b="1">
                          <a:solidFill>
                            <a:srgbClr val="475569"/>
                          </a:solidFill>
                          <a:latin typeface="Lato" panose="020F0502020204030203"/>
                          <a:ea typeface="Lato" panose="020F0502020204030203"/>
                          <a:cs typeface="Lato" panose="020F0502020204030203"/>
                          <a:sym typeface="+mn-ea"/>
                        </a:rPr>
                        <a:t>Type du système : Système d’exploitation 64 bits, processeur x64 </a:t>
                      </a:r>
                      <a:endParaRPr lang="fr-FR" altLang="en-US" sz="1800" b="1">
                        <a:solidFill>
                          <a:srgbClr val="475569"/>
                        </a:solidFill>
                        <a:latin typeface="Lato" panose="020F0502020204030203"/>
                        <a:ea typeface="Lato" panose="020F0502020204030203"/>
                        <a:cs typeface="Lato" panose="020F0502020204030203"/>
                      </a:endParaRPr>
                    </a:p>
                    <a:p>
                      <a:pPr marL="285750" lvl="0" indent="-285750" algn="l">
                        <a:lnSpc>
                          <a:spcPct val="100000"/>
                        </a:lnSpc>
                        <a:spcBef>
                          <a:spcPts val="0"/>
                        </a:spcBef>
                        <a:spcAft>
                          <a:spcPts val="0"/>
                        </a:spcAft>
                        <a:buSzTx/>
                        <a:buFont typeface="Arial" panose="020B0604020202020204" pitchFamily="34" charset="0"/>
                        <a:buChar char="•"/>
                      </a:pPr>
                      <a:r>
                        <a:rPr lang="fr-FR" altLang="en-US" sz="1800" b="1">
                          <a:solidFill>
                            <a:srgbClr val="475569"/>
                          </a:solidFill>
                          <a:latin typeface="Lato" panose="020F0502020204030203"/>
                          <a:ea typeface="Lato" panose="020F0502020204030203"/>
                          <a:cs typeface="Lato" panose="020F0502020204030203"/>
                          <a:sym typeface="+mn-ea"/>
                        </a:rPr>
                        <a:t>Système d’exploitation : Windows 11 ou 10</a:t>
                      </a:r>
                      <a:endParaRPr lang="fr-FR" altLang="en-US" sz="1800" b="1" i="0" u="none" strike="noStrike" cap="none">
                        <a:solidFill>
                          <a:srgbClr val="475569"/>
                        </a:solidFill>
                        <a:latin typeface="Lato" panose="020F0502020204030203"/>
                        <a:ea typeface="Lato" panose="020F0502020204030203"/>
                        <a:cs typeface="Lato" panose="020F0502020204030203"/>
                        <a:sym typeface="+mn-ea"/>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1140460">
                <a:tc>
                  <a:txBody>
                    <a:bodyPr/>
                    <a:lstStyle/>
                    <a:p>
                      <a:pPr marL="0" marR="0" lvl="0" indent="0" algn="l" rtl="0">
                        <a:spcBef>
                          <a:spcPts val="0"/>
                        </a:spcBef>
                        <a:spcAft>
                          <a:spcPts val="0"/>
                        </a:spcAft>
                        <a:buNone/>
                      </a:pPr>
                      <a:r>
                        <a:rPr lang="fr-FR" altLang="en-US" sz="1800" b="1" i="0" u="none" strike="noStrike" cap="none">
                          <a:solidFill>
                            <a:srgbClr val="475569"/>
                          </a:solidFill>
                          <a:latin typeface="Lato" panose="020F0502020204030203"/>
                          <a:ea typeface="Lato" panose="020F0502020204030203"/>
                          <a:cs typeface="Lato" panose="020F0502020204030203"/>
                          <a:sym typeface="Lato" panose="020F0502020204030203"/>
                        </a:rPr>
                        <a:t>Smartphone</a:t>
                      </a:r>
                      <a:r>
                        <a:rPr lang="en-US" sz="1800" b="1" i="0" u="none" strike="noStrike" cap="none">
                          <a:solidFill>
                            <a:srgbClr val="475569"/>
                          </a:solidFill>
                          <a:latin typeface="Lato" panose="020F0502020204030203"/>
                          <a:ea typeface="Lato" panose="020F0502020204030203"/>
                          <a:cs typeface="Lato" panose="020F0502020204030203"/>
                          <a:sym typeface="Lato" panose="020F0502020204030203"/>
                        </a:rPr>
                        <a:t>(</a:t>
                      </a:r>
                      <a:r>
                        <a:rPr lang="fr-FR" altLang="en-US" sz="1800" b="1" i="0" u="none" strike="noStrike" cap="none">
                          <a:solidFill>
                            <a:srgbClr val="475569"/>
                          </a:solidFill>
                          <a:latin typeface="Lato" panose="020F0502020204030203"/>
                          <a:ea typeface="Lato" panose="020F0502020204030203"/>
                          <a:cs typeface="Lato" panose="020F0502020204030203"/>
                          <a:sym typeface="Lato" panose="020F0502020204030203"/>
                        </a:rPr>
                        <a:t>Locataire</a:t>
                      </a:r>
                      <a:r>
                        <a:rPr lang="en-US" sz="1800" b="1" i="0" u="none" strike="noStrike" cap="none">
                          <a:solidFill>
                            <a:srgbClr val="475569"/>
                          </a:solidFill>
                          <a:latin typeface="Lato" panose="020F0502020204030203"/>
                          <a:ea typeface="Lato" panose="020F0502020204030203"/>
                          <a:cs typeface="Lato" panose="020F0502020204030203"/>
                          <a:sym typeface="Lato" panose="020F0502020204030203"/>
                        </a:rPr>
                        <a:t>)</a:t>
                      </a:r>
                      <a:endParaRPr lang="en-US" sz="18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Smartphone </a:t>
                      </a:r>
                      <a:r>
                        <a:rPr lang="en-US" altLang="en-US" sz="1800" b="0" i="0" u="none" strike="noStrike" cap="none">
                          <a:solidFill>
                            <a:srgbClr val="475569"/>
                          </a:solidFill>
                          <a:latin typeface="Lato" panose="020F0502020204030203"/>
                          <a:ea typeface="Lato" panose="020F0502020204030203"/>
                          <a:cs typeface="Lato" panose="020F0502020204030203"/>
                          <a:sym typeface="Lato" panose="020F0502020204030203"/>
                        </a:rPr>
                        <a:t>é</a:t>
                      </a: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quip</a:t>
                      </a:r>
                      <a:r>
                        <a:rPr lang="en-US" altLang="en-US" sz="1800" b="0" i="0" u="none" strike="noStrike" cap="none">
                          <a:solidFill>
                            <a:srgbClr val="475569"/>
                          </a:solidFill>
                          <a:latin typeface="Lato" panose="020F0502020204030203"/>
                          <a:ea typeface="Lato" panose="020F0502020204030203"/>
                          <a:cs typeface="Lato" panose="020F0502020204030203"/>
                          <a:sym typeface="Lato" panose="020F0502020204030203"/>
                        </a:rPr>
                        <a:t>é </a:t>
                      </a: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du syst</a:t>
                      </a:r>
                      <a:r>
                        <a:rPr lang="en-US" altLang="en-US" sz="1800" b="0" i="0" u="none" strike="noStrike" cap="none">
                          <a:solidFill>
                            <a:srgbClr val="475569"/>
                          </a:solidFill>
                          <a:latin typeface="Lato" panose="020F0502020204030203"/>
                          <a:ea typeface="Lato" panose="020F0502020204030203"/>
                          <a:cs typeface="Lato" panose="020F0502020204030203"/>
                          <a:sym typeface="Lato" panose="020F0502020204030203"/>
                        </a:rPr>
                        <a:t>è</a:t>
                      </a: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me Android version 8.0 (Oreo) ou</a:t>
                      </a:r>
                      <a:endPar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endParaRPr>
                    </a:p>
                    <a:p>
                      <a:pPr marL="0" marR="0" lvl="0" indent="0" algn="l" rtl="0">
                        <a:spcBef>
                          <a:spcPts val="0"/>
                        </a:spcBef>
                        <a:spcAft>
                          <a:spcPts val="0"/>
                        </a:spcAft>
                        <a:buNone/>
                      </a:pP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sup</a:t>
                      </a:r>
                      <a:r>
                        <a:rPr lang="en-US" altLang="en-US" sz="1800" b="0" i="0" u="none" strike="noStrike" cap="none">
                          <a:solidFill>
                            <a:srgbClr val="475569"/>
                          </a:solidFill>
                          <a:latin typeface="Lato" panose="020F0502020204030203"/>
                          <a:ea typeface="Lato" panose="020F0502020204030203"/>
                          <a:cs typeface="Lato" panose="020F0502020204030203"/>
                          <a:sym typeface="Lato" panose="020F0502020204030203"/>
                        </a:rPr>
                        <a:t>é</a:t>
                      </a:r>
                      <a:r>
                        <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rPr>
                        <a:t>rieure.</a:t>
                      </a:r>
                      <a:endParaRPr lang="en-US" altLang="fr-FR" sz="18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bl>
          </a:graphicData>
        </a:graphic>
      </p:graphicFrame>
      <p:sp>
        <p:nvSpPr>
          <p:cNvPr id="176" name="Google Shape;176;p17"/>
          <p:cNvSpPr/>
          <p:nvPr/>
        </p:nvSpPr>
        <p:spPr>
          <a:xfrm>
            <a:off x="581025" y="2796480"/>
            <a:ext cx="2086867"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7" name="Google Shape;177;p17"/>
          <p:cNvSpPr/>
          <p:nvPr/>
        </p:nvSpPr>
        <p:spPr>
          <a:xfrm>
            <a:off x="2667892" y="2796480"/>
            <a:ext cx="3516957"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8" name="Google Shape;178;p17"/>
          <p:cNvSpPr/>
          <p:nvPr/>
        </p:nvSpPr>
        <p:spPr>
          <a:xfrm>
            <a:off x="6184850" y="2796480"/>
            <a:ext cx="3557438"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9" name="Google Shape;179;p17"/>
          <p:cNvSpPr/>
          <p:nvPr/>
        </p:nvSpPr>
        <p:spPr>
          <a:xfrm>
            <a:off x="9742289" y="2796480"/>
            <a:ext cx="1868685"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00" name="Google Shape;200;p17"/>
          <p:cNvSpPr txBox="1"/>
          <p:nvPr/>
        </p:nvSpPr>
        <p:spPr>
          <a:xfrm>
            <a:off x="571500" y="1019175"/>
            <a:ext cx="11601450" cy="4978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fr-FR" altLang="en-US" sz="2700" b="1">
                <a:solidFill>
                  <a:srgbClr val="1E293B"/>
                </a:solidFill>
                <a:latin typeface="Poppins" panose="00000500000000000000"/>
                <a:ea typeface="Poppins" panose="00000500000000000000"/>
                <a:cs typeface="Poppins" panose="00000500000000000000"/>
                <a:sym typeface="Poppins" panose="00000500000000000000"/>
              </a:rPr>
              <a:t>Matériel de base</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51" name="Shape 251"/>
        <p:cNvGrpSpPr/>
        <p:nvPr/>
      </p:nvGrpSpPr>
      <p:grpSpPr>
        <a:xfrm>
          <a:off x="0" y="0"/>
          <a:ext cx="0" cy="0"/>
          <a:chOff x="0" y="0"/>
          <a:chExt cx="0" cy="0"/>
        </a:xfrm>
      </p:grpSpPr>
      <p:pic>
        <p:nvPicPr>
          <p:cNvPr id="255" name="Google Shape;255;p20" descr="image.png"/>
          <p:cNvPicPr preferRelativeResize="0"/>
          <p:nvPr/>
        </p:nvPicPr>
        <p:blipFill rotWithShape="1">
          <a:blip r:embed="rId1"/>
          <a:srcRect/>
          <a:stretch>
            <a:fillRect/>
          </a:stretch>
        </p:blipFill>
        <p:spPr>
          <a:xfrm>
            <a:off x="571500" y="6134100"/>
            <a:ext cx="11049000" cy="295275"/>
          </a:xfrm>
          <a:prstGeom prst="rect">
            <a:avLst/>
          </a:prstGeom>
          <a:noFill/>
          <a:ln>
            <a:noFill/>
          </a:ln>
        </p:spPr>
      </p:pic>
      <p:sp>
        <p:nvSpPr>
          <p:cNvPr id="256" name="Google Shape;256;p20"/>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58" name="Google Shape;258;p20"/>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59" name="Google Shape;259;p20"/>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21</a:t>
            </a:r>
            <a:endPar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66" name="Google Shape;266;p20"/>
          <p:cNvSpPr txBox="1"/>
          <p:nvPr/>
        </p:nvSpPr>
        <p:spPr>
          <a:xfrm>
            <a:off x="571500" y="1019175"/>
            <a:ext cx="11601450" cy="4978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fr-FR" alt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Scénario</a:t>
            </a:r>
            <a:endParaRPr lang="fr-FR" alt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17" name="Image 16"/>
          <p:cNvPicPr>
            <a:picLocks noChangeAspect="1"/>
          </p:cNvPicPr>
          <p:nvPr/>
        </p:nvPicPr>
        <p:blipFill>
          <a:blip r:embed="rId2"/>
          <a:stretch>
            <a:fillRect/>
          </a:stretch>
        </p:blipFill>
        <p:spPr>
          <a:xfrm>
            <a:off x="126365" y="2137410"/>
            <a:ext cx="11939270" cy="249999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301" name="Shape 301"/>
        <p:cNvGrpSpPr/>
        <p:nvPr/>
      </p:nvGrpSpPr>
      <p:grpSpPr>
        <a:xfrm>
          <a:off x="0" y="0"/>
          <a:ext cx="0" cy="0"/>
          <a:chOff x="0" y="0"/>
          <a:chExt cx="0" cy="0"/>
        </a:xfrm>
      </p:grpSpPr>
      <p:pic>
        <p:nvPicPr>
          <p:cNvPr id="302" name="Google Shape;302;p22"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304" name="Google Shape;304;p22"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305" name="Google Shape;305;p22"/>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306" name="Google Shape;306;p22"/>
          <p:cNvSpPr txBox="1"/>
          <p:nvPr/>
        </p:nvSpPr>
        <p:spPr>
          <a:xfrm>
            <a:off x="9505950" y="471487"/>
            <a:ext cx="211455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ASPECTS FINANCIERS DU PROJET</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07" name="Google Shape;307;p22"/>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08" name="Google Shape;308;p22"/>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22</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309" name="Google Shape;309;p22"/>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Évaluation Financière (CAPEX &amp; OPEX)</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2" name="Image 1"/>
          <p:cNvPicPr>
            <a:picLocks noChangeAspect="1"/>
          </p:cNvPicPr>
          <p:nvPr/>
        </p:nvPicPr>
        <p:blipFill>
          <a:blip r:embed="rId3"/>
          <a:stretch>
            <a:fillRect/>
          </a:stretch>
        </p:blipFill>
        <p:spPr>
          <a:xfrm>
            <a:off x="217170" y="1689100"/>
            <a:ext cx="11757025" cy="418655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Titre 6"/>
          <p:cNvSpPr/>
          <p:nvPr>
            <p:ph type="title"/>
          </p:nvPr>
        </p:nvSpPr>
        <p:spPr>
          <a:xfrm>
            <a:off x="1747520" y="2536825"/>
            <a:ext cx="9244330" cy="1722755"/>
          </a:xfrm>
          <a:ln>
            <a:solidFill>
              <a:schemeClr val="accent1"/>
            </a:solidFill>
          </a:ln>
          <a:effectLst>
            <a:reflection blurRad="6350" stA="50000" endA="300" endPos="55500" dist="50800" dir="5400000" sy="-100000" algn="bl" rotWithShape="0"/>
          </a:effectLst>
        </p:spPr>
        <p:txBody>
          <a:bodyPr>
            <a:normAutofit/>
          </a:bodyPr>
          <a:p>
            <a:r>
              <a:rPr lang="fr-FR" altLang="en-US" sz="4800" b="1" cap="all">
                <a:solidFill>
                  <a:schemeClr val="tx1"/>
                </a:solidFill>
                <a:uFillTx/>
                <a:latin typeface="Poppins" panose="00000500000000000000" charset="0"/>
                <a:cs typeface="Poppins" panose="00000500000000000000" charset="0"/>
              </a:rPr>
              <a:t>Démonstration</a:t>
            </a:r>
            <a:endParaRPr lang="fr-FR" altLang="en-US" sz="4800" b="1" cap="all">
              <a:solidFill>
                <a:schemeClr val="tx1"/>
              </a:solidFill>
              <a:uFillTx/>
              <a:latin typeface="Poppins" panose="00000500000000000000" charset="0"/>
              <a:cs typeface="Poppins" panose="00000500000000000000"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Titre 6"/>
          <p:cNvSpPr/>
          <p:nvPr>
            <p:ph type="title"/>
          </p:nvPr>
        </p:nvSpPr>
        <p:spPr>
          <a:xfrm>
            <a:off x="1747520" y="2536825"/>
            <a:ext cx="9650095" cy="1722755"/>
          </a:xfrm>
          <a:ln>
            <a:solidFill>
              <a:schemeClr val="accent1"/>
            </a:solidFill>
          </a:ln>
          <a:effectLst>
            <a:reflection blurRad="6350" stA="50000" endA="300" endPos="55500" dist="50800" dir="5400000" sy="-100000" algn="bl" rotWithShape="0"/>
          </a:effectLst>
        </p:spPr>
        <p:txBody>
          <a:bodyPr>
            <a:normAutofit/>
          </a:bodyPr>
          <a:p>
            <a:r>
              <a:rPr lang="fr-FR" altLang="en-US" sz="4800" b="1" cap="all">
                <a:solidFill>
                  <a:schemeClr val="tx1"/>
                </a:solidFill>
                <a:uFillTx/>
                <a:latin typeface="Poppins" panose="00000500000000000000" charset="0"/>
                <a:cs typeface="Poppins" panose="00000500000000000000" charset="0"/>
              </a:rPr>
              <a:t>Conclusion &amp; perspecti</a:t>
            </a:r>
            <a:r>
              <a:rPr lang="fr-FR" altLang="en-US" sz="4800" b="1" cap="all">
                <a:solidFill>
                  <a:schemeClr val="tx1"/>
                </a:solidFill>
                <a:uFillTx/>
                <a:latin typeface="Poppins" panose="00000500000000000000" charset="0"/>
                <a:cs typeface="Poppins" panose="00000500000000000000" charset="0"/>
              </a:rPr>
              <a:t>ves</a:t>
            </a:r>
            <a:endParaRPr lang="fr-FR" altLang="en-US" sz="4800" b="1" cap="all">
              <a:solidFill>
                <a:schemeClr val="tx1"/>
              </a:solidFill>
              <a:uFillTx/>
              <a:latin typeface="Poppins" panose="00000500000000000000" charset="0"/>
              <a:cs typeface="Poppins" panose="00000500000000000000"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488440" y="2058035"/>
            <a:ext cx="9215120" cy="2302510"/>
          </a:xfrm>
          <a:ln>
            <a:solidFill>
              <a:schemeClr val="bg2"/>
            </a:solidFill>
          </a:ln>
        </p:spPr>
        <p:txBody>
          <a:bodyPr/>
          <a:p>
            <a:pPr algn="just"/>
            <a:r>
              <a:rPr lang="en-US" altLang="fr-FR" sz="2400">
                <a:latin typeface="Times New Roman" panose="02020603050405020304" charset="0"/>
                <a:cs typeface="Times New Roman" panose="02020603050405020304" charset="0"/>
              </a:rPr>
              <a:t>Ce projet apporte une r</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ponse concr</a:t>
            </a:r>
            <a:r>
              <a:rPr lang="en-US" altLang="en-US" sz="2400">
                <a:latin typeface="Times New Roman" panose="02020603050405020304" charset="0"/>
                <a:cs typeface="Times New Roman" panose="02020603050405020304" charset="0"/>
              </a:rPr>
              <a:t>è</a:t>
            </a:r>
            <a:r>
              <a:rPr lang="en-US" altLang="fr-FR" sz="2400">
                <a:latin typeface="Times New Roman" panose="02020603050405020304" charset="0"/>
                <a:cs typeface="Times New Roman" panose="02020603050405020304" charset="0"/>
              </a:rPr>
              <a:t>te aux limites de la gestion artisanale en automatisant tout le cycle m</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tier (de l'enregistrement du logement au paiement par Mobile Money via FedaPay). Port</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e par une architecture robuste (Spring Boot, Angular, Ionic), la plateforme s</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curise les baux à long terme et </a:t>
            </a:r>
            <a:r>
              <a:rPr lang="fr-FR" altLang="en-US" sz="2400">
                <a:latin typeface="Times New Roman" panose="02020603050405020304" charset="0"/>
                <a:cs typeface="Times New Roman" panose="02020603050405020304" charset="0"/>
              </a:rPr>
              <a:t>garde une traçabilité de toutes les transactions.</a:t>
            </a:r>
            <a:endParaRPr lang="fr-FR" altLang="en-US" sz="2400">
              <a:latin typeface="Times New Roman" panose="02020603050405020304" charset="0"/>
              <a:cs typeface="Times New Roman" panose="02020603050405020304" charset="0"/>
            </a:endParaRPr>
          </a:p>
        </p:txBody>
      </p:sp>
      <p:sp>
        <p:nvSpPr>
          <p:cNvPr id="4" name="Zone de texte 3"/>
          <p:cNvSpPr txBox="1"/>
          <p:nvPr/>
        </p:nvSpPr>
        <p:spPr>
          <a:xfrm>
            <a:off x="1113155" y="1172210"/>
            <a:ext cx="3810000" cy="706755"/>
          </a:xfrm>
          <a:prstGeom prst="rect">
            <a:avLst/>
          </a:prstGeom>
          <a:noFill/>
        </p:spPr>
        <p:txBody>
          <a:bodyPr wrap="square" rtlCol="0">
            <a:spAutoFit/>
          </a:bodyPr>
          <a:p>
            <a:r>
              <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rPr>
              <a:t>Conclusion</a:t>
            </a:r>
            <a:endPar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304" name="Google Shape;304;p22"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3" name="Zone de texte 2"/>
          <p:cNvSpPr txBox="1"/>
          <p:nvPr/>
        </p:nvSpPr>
        <p:spPr>
          <a:xfrm>
            <a:off x="585470" y="6323330"/>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308" name="Google Shape;308;p22"/>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25</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961390" y="2058035"/>
            <a:ext cx="9742170" cy="2302510"/>
          </a:xfrm>
          <a:ln>
            <a:solidFill>
              <a:schemeClr val="bg2"/>
            </a:solidFill>
          </a:ln>
        </p:spPr>
        <p:txBody>
          <a:bodyPr/>
          <a:p>
            <a:pPr algn="just"/>
            <a:r>
              <a:rPr lang="fr-FR" altLang="en-US" sz="2000">
                <a:latin typeface="Times New Roman" panose="02020603050405020304" charset="0"/>
                <a:cs typeface="Times New Roman" panose="02020603050405020304" charset="0"/>
              </a:rPr>
              <a:t>       </a:t>
            </a:r>
            <a:r>
              <a:rPr lang="en-US" altLang="fr-FR" sz="2000">
                <a:latin typeface="Times New Roman" panose="02020603050405020304" charset="0"/>
                <a:cs typeface="Times New Roman" panose="02020603050405020304" charset="0"/>
              </a:rPr>
              <a:t>Documents : G</a:t>
            </a:r>
            <a:r>
              <a:rPr lang="en-US" altLang="en-US" sz="2000">
                <a:latin typeface="Times New Roman" panose="02020603050405020304" charset="0"/>
                <a:cs typeface="Times New Roman" panose="02020603050405020304" charset="0"/>
              </a:rPr>
              <a:t>é</a:t>
            </a:r>
            <a:r>
              <a:rPr lang="en-US" altLang="fr-FR" sz="2000">
                <a:latin typeface="Times New Roman" panose="02020603050405020304" charset="0"/>
                <a:cs typeface="Times New Roman" panose="02020603050405020304" charset="0"/>
              </a:rPr>
              <a:t>n</a:t>
            </a:r>
            <a:r>
              <a:rPr lang="en-US" altLang="en-US" sz="2000">
                <a:latin typeface="Times New Roman" panose="02020603050405020304" charset="0"/>
                <a:cs typeface="Times New Roman" panose="02020603050405020304" charset="0"/>
              </a:rPr>
              <a:t>é</a:t>
            </a:r>
            <a:r>
              <a:rPr lang="en-US" altLang="fr-FR" sz="2000">
                <a:latin typeface="Times New Roman" panose="02020603050405020304" charset="0"/>
                <a:cs typeface="Times New Roman" panose="02020603050405020304" charset="0"/>
              </a:rPr>
              <a:t>ration et signature </a:t>
            </a:r>
            <a:r>
              <a:rPr lang="en-US" altLang="en-US" sz="2000">
                <a:latin typeface="Times New Roman" panose="02020603050405020304" charset="0"/>
                <a:cs typeface="Times New Roman" panose="02020603050405020304" charset="0"/>
              </a:rPr>
              <a:t>é</a:t>
            </a:r>
            <a:r>
              <a:rPr lang="en-US" altLang="fr-FR" sz="2000">
                <a:latin typeface="Times New Roman" panose="02020603050405020304" charset="0"/>
                <a:cs typeface="Times New Roman" panose="02020603050405020304" charset="0"/>
              </a:rPr>
              <a:t>lectronique automatique des contrats de bail.</a:t>
            </a:r>
            <a:br>
              <a:rPr lang="en-US" altLang="fr-FR" sz="2000">
                <a:latin typeface="Times New Roman" panose="02020603050405020304" charset="0"/>
                <a:cs typeface="Times New Roman" panose="02020603050405020304" charset="0"/>
              </a:rPr>
            </a:br>
            <a:br>
              <a:rPr lang="en-US" altLang="fr-FR" sz="2000">
                <a:latin typeface="Times New Roman" panose="02020603050405020304" charset="0"/>
                <a:cs typeface="Times New Roman" panose="02020603050405020304" charset="0"/>
              </a:rPr>
            </a:br>
            <a:r>
              <a:rPr lang="fr-FR" altLang="en-US" sz="2000">
                <a:latin typeface="Times New Roman" panose="02020603050405020304" charset="0"/>
                <a:cs typeface="Times New Roman" panose="02020603050405020304" charset="0"/>
              </a:rPr>
              <a:t>       Génération d’un rapport financier annuel</a:t>
            </a:r>
            <a:endParaRPr lang="fr-FR" altLang="en-US" sz="2000">
              <a:latin typeface="Times New Roman" panose="02020603050405020304" charset="0"/>
              <a:cs typeface="Times New Roman" panose="02020603050405020304" charset="0"/>
            </a:endParaRPr>
          </a:p>
        </p:txBody>
      </p:sp>
      <p:sp>
        <p:nvSpPr>
          <p:cNvPr id="4" name="Zone de texte 3"/>
          <p:cNvSpPr txBox="1"/>
          <p:nvPr/>
        </p:nvSpPr>
        <p:spPr>
          <a:xfrm>
            <a:off x="1113155" y="1172210"/>
            <a:ext cx="3810000" cy="706755"/>
          </a:xfrm>
          <a:prstGeom prst="rect">
            <a:avLst/>
          </a:prstGeom>
          <a:noFill/>
        </p:spPr>
        <p:txBody>
          <a:bodyPr wrap="square" rtlCol="0">
            <a:spAutoFit/>
          </a:bodyPr>
          <a:p>
            <a:r>
              <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rPr>
              <a:t>Perspectives</a:t>
            </a:r>
            <a:endPar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5" name="Image 4" descr="正方形"/>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1113155" y="2743200"/>
            <a:ext cx="205740" cy="205740"/>
          </a:xfrm>
          <a:prstGeom prst="rect">
            <a:avLst/>
          </a:prstGeom>
        </p:spPr>
      </p:pic>
      <p:pic>
        <p:nvPicPr>
          <p:cNvPr id="6" name="Image 5" descr="正方形"/>
          <p:cNvPicPr>
            <a:picLocks noChangeAspect="1"/>
          </p:cNvPicPr>
          <p:nvPr>
            <p:custDataLst>
              <p:tags r:id="rId5"/>
            </p:custDataLst>
          </p:nvPr>
        </p:nvPicPr>
        <p:blipFill>
          <a:blip r:embed="rId3">
            <a:extLst>
              <a:ext uri="{96DAC541-7B7A-43D3-8B79-37D633B846F1}">
                <asvg:svgBlip xmlns:asvg="http://schemas.microsoft.com/office/drawing/2016/SVG/main" r:embed="rId4"/>
              </a:ext>
            </a:extLst>
          </a:blip>
          <a:stretch>
            <a:fillRect/>
          </a:stretch>
        </p:blipFill>
        <p:spPr>
          <a:xfrm>
            <a:off x="1113155" y="3429000"/>
            <a:ext cx="205740" cy="205740"/>
          </a:xfrm>
          <a:prstGeom prst="rect">
            <a:avLst/>
          </a:prstGeom>
        </p:spPr>
      </p:pic>
      <p:pic>
        <p:nvPicPr>
          <p:cNvPr id="304" name="Google Shape;304;p22" descr="image.png"/>
          <p:cNvPicPr preferRelativeResize="0"/>
          <p:nvPr/>
        </p:nvPicPr>
        <p:blipFill rotWithShape="1">
          <a:blip r:embed="rId6"/>
          <a:srcRect/>
          <a:stretch>
            <a:fillRect/>
          </a:stretch>
        </p:blipFill>
        <p:spPr>
          <a:xfrm>
            <a:off x="571500" y="6134100"/>
            <a:ext cx="11049000" cy="295275"/>
          </a:xfrm>
          <a:prstGeom prst="rect">
            <a:avLst/>
          </a:prstGeom>
          <a:noFill/>
          <a:ln>
            <a:noFill/>
          </a:ln>
        </p:spPr>
      </p:pic>
      <p:sp>
        <p:nvSpPr>
          <p:cNvPr id="3" name="Zone de texte 2"/>
          <p:cNvSpPr txBox="1"/>
          <p:nvPr/>
        </p:nvSpPr>
        <p:spPr>
          <a:xfrm>
            <a:off x="585470" y="6323330"/>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308" name="Google Shape;308;p22"/>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26</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340" name="Shape 340"/>
        <p:cNvGrpSpPr/>
        <p:nvPr/>
      </p:nvGrpSpPr>
      <p:grpSpPr>
        <a:xfrm>
          <a:off x="0" y="0"/>
          <a:ext cx="0" cy="0"/>
          <a:chOff x="0" y="0"/>
          <a:chExt cx="0" cy="0"/>
        </a:xfrm>
      </p:grpSpPr>
      <p:pic>
        <p:nvPicPr>
          <p:cNvPr id="341" name="Google Shape;341;p24"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344" name="Google Shape;344;p24"/>
          <p:cNvSpPr/>
          <p:nvPr/>
        </p:nvSpPr>
        <p:spPr>
          <a:xfrm>
            <a:off x="5715000" y="1938337"/>
            <a:ext cx="762000" cy="38100"/>
          </a:xfrm>
          <a:prstGeom prst="rect">
            <a:avLst/>
          </a:prstGeom>
          <a:solidFill>
            <a:srgbClr val="3B82F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45" name="Google Shape;345;p24"/>
          <p:cNvSpPr txBox="1"/>
          <p:nvPr/>
        </p:nvSpPr>
        <p:spPr>
          <a:xfrm>
            <a:off x="1695450" y="2823527"/>
            <a:ext cx="8801100" cy="738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8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Merci pour votre Attention !</a:t>
            </a:r>
            <a:endParaRPr lang="en-US" sz="48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pic>
        <p:nvPicPr>
          <p:cNvPr id="2" name="Image 1" descr="WPS Photos(1)"/>
          <p:cNvPicPr>
            <a:picLocks noChangeAspect="1"/>
          </p:cNvPicPr>
          <p:nvPr/>
        </p:nvPicPr>
        <p:blipFill>
          <a:blip r:embed="rId2"/>
          <a:stretch>
            <a:fillRect/>
          </a:stretch>
        </p:blipFill>
        <p:spPr>
          <a:xfrm>
            <a:off x="8359775" y="0"/>
            <a:ext cx="3832225" cy="1472565"/>
          </a:xfrm>
          <a:prstGeom prst="rect">
            <a:avLst/>
          </a:prstGeom>
        </p:spPr>
      </p:pic>
    </p:spTree>
  </p:cSld>
  <p:clrMapOvr>
    <a:masterClrMapping/>
  </p:clrMapOvr>
</p:sld>
</file>

<file path=ppt/tags/tag1.xml><?xml version="1.0" encoding="utf-8"?>
<p:tagLst xmlns:p="http://schemas.openxmlformats.org/presentationml/2006/main">
  <p:tag name="KSO_WM_BEAUTIFY_FLAG" val="#fgm#"/>
  <p:tag name="KSO_WM_FIGMA_FLAG" val="#fgm#"/>
  <p:tag name="KSO_WM_UNIT_INDEX" val="1"/>
  <p:tag name="KSO_WM_UNIT_TYPE" val="a"/>
  <p:tag name="KSO_WM_LAYOUT_CHECK_HASH" val="fccd111189b7d2a890802631ca6427411a773ef2"/>
  <p:tag name="KSO_WM_NEWLAYOUT_GROUP_ID" val="layout_34"/>
  <p:tag name="KSO_WM_NEWLAYOUT_ID" val="slide_4ae229a2f1c7f65e"/>
</p:tagLst>
</file>

<file path=ppt/tags/tag2.xml><?xml version="1.0" encoding="utf-8"?>
<p:tagLst xmlns:p="http://schemas.openxmlformats.org/presentationml/2006/main">
  <p:tag name="KSO_WM_BEAUTIFY_FLAG" val="#fgm#"/>
  <p:tag name="KSO_WM_DIAGRAM_GROUP_CODE" val="1"/>
  <p:tag name="KSO_WM_FIGMA_FLAG" val="#fgm#"/>
  <p:tag name="KSO_WM_UNIT_INDEX" val="1_1_1"/>
  <p:tag name="KSO_WM_UNIT_TYPE" val="l_h_d"/>
</p:tagLst>
</file>

<file path=ppt/tags/tag3.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4.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5.xml><?xml version="1.0" encoding="utf-8"?>
<p:tagLst xmlns:p="http://schemas.openxmlformats.org/presentationml/2006/main">
  <p:tag name="KSO_WM_BEAUTIFY_FLAG" val="#fgm#"/>
  <p:tag name="KSO_WM_DIAGRAM_GROUP_CODE" val="1"/>
  <p:tag name="KSO_WM_FIGMA_FLAG" val="#fgm#"/>
  <p:tag name="KSO_WM_UNIT_INDEX" val="1_2_1"/>
  <p:tag name="KSO_WM_UNIT_TYPE" val="l_h_d"/>
</p:tagLst>
</file>

<file path=ppt/tags/tag6.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7.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8.xml><?xml version="1.0" encoding="utf-8"?>
<p:tagLst xmlns:p="http://schemas.openxmlformats.org/presentationml/2006/main">
  <p:tag name="KSO_WM_BEAUTIFY_FLAG" val="#fgm#"/>
  <p:tag name="KSO_WM_DIAGRAM_GROUP_CODE" val="1"/>
  <p:tag name="KSO_WM_FIGMA_FLAG" val="#fgm#"/>
  <p:tag name="KSO_WM_UNIT_INDEX" val="1_3_1"/>
  <p:tag name="KSO_WM_UNIT_TYPE" val="l_h_d"/>
</p:tagLst>
</file>

<file path=ppt/tags/tag9.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10.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11.xml><?xml version="1.0" encoding="utf-8"?>
<p:tagLst xmlns:p="http://schemas.openxmlformats.org/presentationml/2006/main">
  <p:tag name="KSO_WM_BEAUTIFY_FLAG" val="#fgm#"/>
  <p:tag name="KSO_WM_DIAGRAM_GROUP_CODE" val="1"/>
  <p:tag name="KSO_WM_FIGMA_FLAG" val="#fgm#"/>
  <p:tag name="KSO_WM_UNIT_INDEX" val="1_4_1"/>
  <p:tag name="KSO_WM_UNIT_TYPE" val="l_h_d"/>
</p:tagLst>
</file>

<file path=ppt/tags/tag12.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Lst>
</file>

<file path=ppt/tags/tag13.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Lst>
</file>

<file path=ppt/tags/tag14.xml><?xml version="1.0" encoding="utf-8"?>
<p:tagLst xmlns:p="http://schemas.openxmlformats.org/presentationml/2006/main">
  <p:tag name="TABLE_ENDDRAG_ORIGIN_RECT" val="869*269"/>
  <p:tag name="TABLE_ENDDRAG_RECT" val="45*168*869*269"/>
</p:tagLst>
</file>

<file path=ppt/tags/tag15.xml><?xml version="1.0" encoding="utf-8"?>
<p:tagLst xmlns:p="http://schemas.openxmlformats.org/presentationml/2006/main">
  <p:tag name="KSO_DOCER_RESOURCE_TRACE_INFO" val="{&quot;id&quot;:&quot;50059433&quot;,&quot;origin&quot;:0,&quot;type&quot;:&quot;icons&quot;,&quot;user&quot;:&quot;20358827511810&quot;}"/>
</p:tagLst>
</file>

<file path=ppt/tags/tag16.xml><?xml version="1.0" encoding="utf-8"?>
<p:tagLst xmlns:p="http://schemas.openxmlformats.org/presentationml/2006/main">
  <p:tag name="KSO_DOCER_RESOURCE_TRACE_INFO" val="{&quot;id&quot;:&quot;50059433&quot;,&quot;origin&quot;:0,&quot;type&quot;:&quot;icons&quot;,&quot;user&quot;:&quot;20358827511810&quot;}"/>
</p:tagLst>
</file>

<file path=ppt/tags/tag17.xml><?xml version="1.0" encoding="utf-8"?>
<p:tagLst xmlns:p="http://schemas.openxmlformats.org/presentationml/2006/main">
  <p:tag name="resource_record_key" val="{&quot;10&quot;:[50059433]}"/>
</p:tagLst>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7480</Words>
  <Application>WPS Presentation</Application>
  <PresentationFormat/>
  <Paragraphs>381</Paragraphs>
  <Slides>27</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27</vt:i4>
      </vt:variant>
    </vt:vector>
  </HeadingPairs>
  <TitlesOfParts>
    <vt:vector size="42" baseType="lpstr">
      <vt:lpstr>Arial</vt:lpstr>
      <vt:lpstr>SimSun</vt:lpstr>
      <vt:lpstr>Wingdings</vt:lpstr>
      <vt:lpstr>Arial</vt:lpstr>
      <vt:lpstr>Calibri</vt:lpstr>
      <vt:lpstr>Times New Roman</vt:lpstr>
      <vt:lpstr>Lato</vt:lpstr>
      <vt:lpstr>Poppins</vt:lpstr>
      <vt:lpstr>Lato Light</vt:lpstr>
      <vt:lpstr>Poppins SemiBold</vt:lpstr>
      <vt:lpstr>Poppins</vt:lpstr>
      <vt:lpstr>Microsoft YaHei</vt:lpstr>
      <vt:lpstr>Arial Unicode MS</vt:lpstr>
      <vt:lpstr>Lato</vt:lpstr>
      <vt:lpstr>Office Theme</vt:lpstr>
      <vt:lpstr>PowerPoint 演示文稿</vt:lpstr>
      <vt:lpstr>PowerPoint 演示文稿</vt:lpstr>
      <vt:lpstr>PowerPoint 演示文稿</vt:lpstr>
      <vt:lpstr>PowerPoint 演示文稿</vt:lpstr>
      <vt:lpstr>PowerPoint 演示文稿</vt:lpstr>
      <vt:lpstr>PowerPoint 演示文稿</vt:lpstr>
      <vt:lpstr>Conception &amp; Réalisation</vt:lpstr>
      <vt:lpstr>MéTHODOLOGIE AGILE</vt:lpstr>
      <vt:lpstr>PowerPoint 演示文稿</vt:lpstr>
      <vt:lpstr>PowerPoint 演示文稿</vt:lpstr>
      <vt:lpstr>Diagramme de contexte</vt:lpstr>
      <vt:lpstr>Diagramme de Package</vt:lpstr>
      <vt:lpstr>Diagramme de cas d’utilisation</vt:lpstr>
      <vt:lpstr>Diagramme d’activité : création d’un bail</vt:lpstr>
      <vt:lpstr>Diagramme de séquence : Paiement MOBILE</vt:lpstr>
      <vt:lpstr>Diagramme de classe</vt:lpstr>
      <vt:lpstr>Architecture logicielle du système</vt:lpstr>
      <vt:lpstr>Architecture matérielle du système</vt:lpstr>
      <vt:lpstr>PowerPoint 演示文稿</vt:lpstr>
      <vt:lpstr>PowerPoint 演示文稿</vt:lpstr>
      <vt:lpstr>PowerPoint 演示文稿</vt:lpstr>
      <vt:lpstr>PowerPoint 演示文稿</vt:lpstr>
      <vt:lpstr>Démonstration</vt:lpstr>
      <vt:lpstr>Conclusion &amp; perspectives</vt:lpstr>
      <vt:lpstr>Ce projet apporte une réponse concrète aux limites de la gestion artisanale en automatisant tout le cycle métier (de l'enregistrement du logement au paiement par Mobile Money via FedaPay). Portée par une architecture robuste (Spring Boot, Angular, Ionic), la plateforme sécurise les baux à long terme et garde une traçabilité de toutes les transactions.</vt:lpstr>
      <vt:lpstr>       Documents : Génération et signature électronique automatique des contrats de bail.         Génération d’un rapport financier annuel</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Xavier GBANDI</cp:lastModifiedBy>
  <cp:revision>15</cp:revision>
  <dcterms:created xsi:type="dcterms:W3CDTF">2026-07-17T19:21:00Z</dcterms:created>
  <dcterms:modified xsi:type="dcterms:W3CDTF">2026-07-22T14:37:16Z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1036-12.1.0.27458</vt:lpwstr>
  </property>
  <property fmtid="{D5CDD505-2E9C-101B-9397-08002B2CF9AE}" pid="3" name="ICV">
    <vt:lpwstr>DA5AD8D80E2F47F58CD50CA50F7FB14F_12</vt:lpwstr>
  </property>
</Properties>
</file>