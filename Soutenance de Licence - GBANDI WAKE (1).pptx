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23.fntdata" ContentType="application/x-fontdata"/>
  <Override PartName="/ppt/fonts/font24.fntdata" ContentType="application/x-fontdata"/>
  <Override PartName="/ppt/fonts/font25.fntdata" ContentType="application/x-fontdata"/>
  <Override PartName="/ppt/fonts/font26.fntdata" ContentType="application/x-fontdata"/>
  <Override PartName="/ppt/fonts/font27.fntdata" ContentType="application/x-fontdata"/>
  <Override PartName="/ppt/fonts/font28.fntdata" ContentType="application/x-fontdata"/>
  <Override PartName="/ppt/fonts/font29.fntdata" ContentType="application/x-fontdata"/>
  <Override PartName="/ppt/fonts/font3.fntdata" ContentType="application/x-fontdata"/>
  <Override PartName="/ppt/fonts/font30.fntdata" ContentType="application/x-fontdata"/>
  <Override PartName="/ppt/fonts/font31.fntdata" ContentType="application/x-fontdata"/>
  <Override PartName="/ppt/fonts/font32.fntdata" ContentType="application/x-fontdata"/>
  <Override PartName="/ppt/fonts/font33.fntdata" ContentType="application/x-fontdata"/>
  <Override PartName="/ppt/fonts/font34.fntdata" ContentType="application/x-fontdata"/>
  <Override PartName="/ppt/fonts/font35.fntdata" ContentType="application/x-fontdata"/>
  <Override PartName="/ppt/fonts/font36.fntdata" ContentType="application/x-fontdata"/>
  <Override PartName="/ppt/fonts/font37.fntdata" ContentType="application/x-fontdata"/>
  <Override PartName="/ppt/fonts/font38.fntdata" ContentType="application/x-fontdata"/>
  <Override PartName="/ppt/fonts/font39.fntdata" ContentType="application/x-fontdata"/>
  <Override PartName="/ppt/fonts/font4.fntdata" ContentType="application/x-fontdata"/>
  <Override PartName="/ppt/fonts/font40.fntdata" ContentType="application/x-fontdata"/>
  <Override PartName="/ppt/fonts/font41.fntdata" ContentType="application/x-fontdata"/>
  <Override PartName="/ppt/fonts/font42.fntdata" ContentType="application/x-fontdata"/>
  <Override PartName="/ppt/fonts/font43.fntdata" ContentType="application/x-fontdata"/>
  <Override PartName="/ppt/fonts/font44.fntdata" ContentType="application/x-fontdata"/>
  <Override PartName="/ppt/fonts/font45.fntdata" ContentType="application/x-fontdata"/>
  <Override PartName="/ppt/fonts/font46.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media/image5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87" r:id="rId8"/>
    <p:sldId id="288" r:id="rId9"/>
    <p:sldId id="289" r:id="rId10"/>
    <p:sldId id="260" r:id="rId11"/>
    <p:sldId id="261" r:id="rId12"/>
    <p:sldId id="270" r:id="rId13"/>
    <p:sldId id="271" r:id="rId14"/>
    <p:sldId id="290" r:id="rId15"/>
    <p:sldId id="266" r:id="rId16"/>
    <p:sldId id="264" r:id="rId17"/>
    <p:sldId id="273" r:id="rId18"/>
    <p:sldId id="274" r:id="rId19"/>
    <p:sldId id="275" r:id="rId20"/>
    <p:sldId id="276" r:id="rId21"/>
    <p:sldId id="277" r:id="rId22"/>
    <p:sldId id="278" r:id="rId23"/>
    <p:sldId id="279" r:id="rId24"/>
    <p:sldId id="280" r:id="rId25"/>
    <p:sldId id="263" r:id="rId26"/>
    <p:sldId id="286" r:id="rId27"/>
    <p:sldId id="265" r:id="rId28"/>
    <p:sldId id="281" r:id="rId29"/>
    <p:sldId id="283" r:id="rId30"/>
    <p:sldId id="284" r:id="rId31"/>
    <p:sldId id="285" r:id="rId32"/>
    <p:sldId id="267" r:id="rId33"/>
  </p:sldIdLst>
  <p:sldSz cx="12192000" cy="6858000"/>
  <p:notesSz cx="6858000" cy="9144000"/>
  <p:embeddedFontLst>
    <p:embeddedFont>
      <p:font typeface="Calibri" panose="020F0502020204030204"/>
      <p:regular r:id="rId37"/>
      <p:bold r:id="rId38"/>
      <p:italic r:id="rId39"/>
      <p:boldItalic r:id="rId40"/>
    </p:embeddedFont>
    <p:embeddedFont>
      <p:font typeface="Lato" panose="020F0502020204030203"/>
      <p:regular r:id="rId41"/>
    </p:embeddedFont>
    <p:embeddedFont>
      <p:font typeface="Poppins" panose="00000500000000000000"/>
      <p:regular r:id="rId42"/>
      <p:bold r:id="rId43"/>
      <p:italic r:id="rId44"/>
      <p:boldItalic r:id="rId45"/>
    </p:embeddedFont>
    <p:embeddedFont>
      <p:font typeface="Lato Light" panose="020F0502020204030203"/>
      <p:regular r:id="rId46"/>
      <p:bold r:id="rId47"/>
      <p:italic r:id="rId48"/>
      <p:boldItalic r:id="rId49"/>
    </p:embeddedFont>
    <p:embeddedFont>
      <p:font typeface="Poppins SemiBold" panose="00000500000000000000"/>
      <p:regular r:id="rId50"/>
      <p:bold r:id="rId51"/>
      <p:italic r:id="rId52"/>
      <p:boldItalic r:id="rId53"/>
    </p:embeddedFont>
    <p:embeddedFont>
      <p:font typeface="Calibri" panose="020F0502020204030204" pitchFamily="34" charset="0"/>
      <p:regular r:id="rId54"/>
      <p:bold r:id="rId55"/>
      <p:italic r:id="rId56"/>
      <p:boldItalic r:id="rId57"/>
    </p:embeddedFont>
    <p:embeddedFont>
      <p:font typeface="Calibri" panose="020F0502020204030204" pitchFamily="34" charset="-122"/>
      <p:regular r:id="rId58"/>
      <p:bold r:id="rId59"/>
      <p:italic r:id="rId60"/>
      <p:boldItalic r:id="rId61"/>
    </p:embeddedFont>
    <p:embeddedFont>
      <p:font typeface="Calibri" panose="020F0502020204030204" pitchFamily="34" charset="-120"/>
      <p:regular r:id="rId62"/>
      <p:bold r:id="rId63"/>
      <p:italic r:id="rId64"/>
      <p:boldItalic r:id="rId65"/>
    </p:embeddedFont>
    <p:embeddedFont>
      <p:font typeface="Cambria" panose="02040503050406030204" pitchFamily="34" charset="0"/>
      <p:regular r:id="rId66"/>
      <p:bold r:id="rId67"/>
      <p:italic r:id="rId68"/>
      <p:boldItalic r:id="rId69"/>
    </p:embeddedFont>
    <p:embeddedFont>
      <p:font typeface="Cambria" panose="02040503050406030204" pitchFamily="34" charset="-122"/>
      <p:regular r:id="rId70"/>
      <p:bold r:id="rId71"/>
      <p:italic r:id="rId72"/>
      <p:boldItalic r:id="rId73"/>
    </p:embeddedFont>
    <p:embeddedFont>
      <p:font typeface="Cambria" panose="02040503050406030204" pitchFamily="34" charset="-120"/>
      <p:regular r:id="rId74"/>
      <p:bold r:id="rId75"/>
      <p:italic r:id="rId76"/>
      <p:boldItalic r:id="rId77"/>
    </p:embeddedFont>
    <p:embeddedFont>
      <p:font typeface="Poppins" panose="00000500000000000000" charset="0"/>
      <p:regular r:id="rId78"/>
      <p:bold r:id="rId79"/>
      <p:italic r:id="rId80"/>
      <p:boldItalic r:id="rId81"/>
    </p:embeddedFont>
    <p:embeddedFont>
      <p:font typeface="Lato" panose="020F0502020204030203" charset="0"/>
      <p:regular r:id="rId82"/>
    </p:embeddedFont>
  </p:embeddedFontLst>
  <p:custDataLst>
    <p:tags r:id="rId83"/>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60" userDrawn="1">
          <p15:clr>
            <a:srgbClr val="000000"/>
          </p15:clr>
        </p15:guide>
        <p15:guide id="2" pos="2937" userDrawn="1">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D3497-3041-4D27-8FF0-422A7831B682}" styleName="Table_0">
    <a:wholeTbl>
      <a:tcTxStyle>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Style>
        <a:tcBdr/>
        <a:fill>
          <a:solidFill>
            <a:srgbClr val="CFD7E7"/>
          </a:solidFill>
        </a:fill>
      </a:tcStyle>
    </a:band1H>
    <a:band2H>
      <a:tcStyle>
        <a:tcBdr/>
      </a:tcStyle>
    </a:band2H>
    <a:band1V>
      <a:tcStyle>
        <a:tcBdr/>
        <a:fill>
          <a:solidFill>
            <a:srgbClr val="CFD7E7"/>
          </a:solidFill>
        </a:fill>
      </a:tcStyle>
    </a:band1V>
    <a:band2V>
      <a:tcStyle>
        <a:tcBdr/>
      </a:tcStyle>
    </a:band2V>
    <a:lastCol>
      <a:tcTxStyle b="on">
        <a:font>
          <a:latin typeface="Calibri"/>
          <a:ea typeface="Calibri"/>
          <a:cs typeface="Calibri"/>
        </a:font>
        <a:schemeClr val="lt1"/>
      </a:tcTxStyle>
      <a:tcStyle>
        <a:tcBdr/>
        <a:fill>
          <a:solidFill>
            <a:schemeClr val="accent1"/>
          </a:solidFill>
        </a:fill>
      </a:tcStyle>
    </a:lastCol>
    <a:firstCol>
      <a:tcTxStyle b="on">
        <a:font>
          <a:latin typeface="Calibri"/>
          <a:ea typeface="Calibri"/>
          <a:cs typeface="Calibri"/>
        </a:font>
        <a:schemeClr val="lt1"/>
      </a:tcTxStyle>
      <a:tcStyle>
        <a:tcBdr/>
        <a:fill>
          <a:solidFill>
            <a:schemeClr val="accent1"/>
          </a:solidFill>
        </a:fill>
      </a:tcStyle>
    </a:firstCol>
    <a:lastRow>
      <a:tcTxStyle b="on">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60"/>
        <p:guide pos="2937"/>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3" Type="http://schemas.openxmlformats.org/officeDocument/2006/relationships/tags" Target="tags/tag17.xml"/><Relationship Id="rId82" Type="http://schemas.openxmlformats.org/officeDocument/2006/relationships/font" Target="fonts/font46.fntdata"/><Relationship Id="rId81" Type="http://schemas.openxmlformats.org/officeDocument/2006/relationships/font" Target="fonts/font45.fntdata"/><Relationship Id="rId80" Type="http://schemas.openxmlformats.org/officeDocument/2006/relationships/font" Target="fonts/font44.fntdata"/><Relationship Id="rId8" Type="http://schemas.openxmlformats.org/officeDocument/2006/relationships/slide" Target="slides/slide5.xml"/><Relationship Id="rId79" Type="http://schemas.openxmlformats.org/officeDocument/2006/relationships/font" Target="fonts/font43.fntdata"/><Relationship Id="rId78" Type="http://schemas.openxmlformats.org/officeDocument/2006/relationships/font" Target="fonts/font42.fntdata"/><Relationship Id="rId77" Type="http://schemas.openxmlformats.org/officeDocument/2006/relationships/font" Target="fonts/font41.fntdata"/><Relationship Id="rId76" Type="http://schemas.openxmlformats.org/officeDocument/2006/relationships/font" Target="fonts/font40.fntdata"/><Relationship Id="rId75" Type="http://schemas.openxmlformats.org/officeDocument/2006/relationships/font" Target="fonts/font39.fntdata"/><Relationship Id="rId74" Type="http://schemas.openxmlformats.org/officeDocument/2006/relationships/font" Target="fonts/font38.fntdata"/><Relationship Id="rId73" Type="http://schemas.openxmlformats.org/officeDocument/2006/relationships/font" Target="fonts/font37.fntdata"/><Relationship Id="rId72" Type="http://schemas.openxmlformats.org/officeDocument/2006/relationships/font" Target="fonts/font36.fntdata"/><Relationship Id="rId71" Type="http://schemas.openxmlformats.org/officeDocument/2006/relationships/font" Target="fonts/font35.fntdata"/><Relationship Id="rId70" Type="http://schemas.openxmlformats.org/officeDocument/2006/relationships/font" Target="fonts/font34.fntdata"/><Relationship Id="rId7" Type="http://schemas.openxmlformats.org/officeDocument/2006/relationships/slide" Target="slides/slide4.xml"/><Relationship Id="rId69" Type="http://schemas.openxmlformats.org/officeDocument/2006/relationships/font" Target="fonts/font33.fntdata"/><Relationship Id="rId68" Type="http://schemas.openxmlformats.org/officeDocument/2006/relationships/font" Target="fonts/font32.fntdata"/><Relationship Id="rId67" Type="http://schemas.openxmlformats.org/officeDocument/2006/relationships/font" Target="fonts/font31.fntdata"/><Relationship Id="rId66" Type="http://schemas.openxmlformats.org/officeDocument/2006/relationships/font" Target="fonts/font30.fntdata"/><Relationship Id="rId65" Type="http://schemas.openxmlformats.org/officeDocument/2006/relationships/font" Target="fonts/font29.fntdata"/><Relationship Id="rId64" Type="http://schemas.openxmlformats.org/officeDocument/2006/relationships/font" Target="fonts/font28.fntdata"/><Relationship Id="rId63" Type="http://schemas.openxmlformats.org/officeDocument/2006/relationships/font" Target="fonts/font27.fntdata"/><Relationship Id="rId62" Type="http://schemas.openxmlformats.org/officeDocument/2006/relationships/font" Target="fonts/font26.fntdata"/><Relationship Id="rId61" Type="http://schemas.openxmlformats.org/officeDocument/2006/relationships/font" Target="fonts/font25.fntdata"/><Relationship Id="rId60" Type="http://schemas.openxmlformats.org/officeDocument/2006/relationships/font" Target="fonts/font24.fntdata"/><Relationship Id="rId6" Type="http://schemas.openxmlformats.org/officeDocument/2006/relationships/slide" Target="slides/slide3.xml"/><Relationship Id="rId59" Type="http://schemas.openxmlformats.org/officeDocument/2006/relationships/font" Target="fonts/font23.fntdata"/><Relationship Id="rId58" Type="http://schemas.openxmlformats.org/officeDocument/2006/relationships/font" Target="fonts/font22.fntdata"/><Relationship Id="rId57" Type="http://schemas.openxmlformats.org/officeDocument/2006/relationships/font" Target="fonts/font21.fntdata"/><Relationship Id="rId56" Type="http://schemas.openxmlformats.org/officeDocument/2006/relationships/font" Target="fonts/font20.fntdata"/><Relationship Id="rId55" Type="http://schemas.openxmlformats.org/officeDocument/2006/relationships/font" Target="fonts/font19.fntdata"/><Relationship Id="rId54" Type="http://schemas.openxmlformats.org/officeDocument/2006/relationships/font" Target="fonts/font18.fntdata"/><Relationship Id="rId53" Type="http://schemas.openxmlformats.org/officeDocument/2006/relationships/font" Target="fonts/font17.fntdata"/><Relationship Id="rId52" Type="http://schemas.openxmlformats.org/officeDocument/2006/relationships/font" Target="fonts/font16.fntdata"/><Relationship Id="rId51" Type="http://schemas.openxmlformats.org/officeDocument/2006/relationships/font" Target="fonts/font15.fntdata"/><Relationship Id="rId50" Type="http://schemas.openxmlformats.org/officeDocument/2006/relationships/font" Target="fonts/font14.fntdata"/><Relationship Id="rId5" Type="http://schemas.openxmlformats.org/officeDocument/2006/relationships/slide" Target="slides/slide2.xml"/><Relationship Id="rId49" Type="http://schemas.openxmlformats.org/officeDocument/2006/relationships/font" Target="fonts/font13.fntdata"/><Relationship Id="rId48" Type="http://schemas.openxmlformats.org/officeDocument/2006/relationships/font" Target="fonts/font12.fntdata"/><Relationship Id="rId47" Type="http://schemas.openxmlformats.org/officeDocument/2006/relationships/font" Target="fonts/font11.fntdata"/><Relationship Id="rId46" Type="http://schemas.openxmlformats.org/officeDocument/2006/relationships/font" Target="fonts/font10.fntdata"/><Relationship Id="rId45" Type="http://schemas.openxmlformats.org/officeDocument/2006/relationships/font" Target="fonts/font9.fntdata"/><Relationship Id="rId44" Type="http://schemas.openxmlformats.org/officeDocument/2006/relationships/font" Target="fonts/font8.fntdata"/><Relationship Id="rId43" Type="http://schemas.openxmlformats.org/officeDocument/2006/relationships/font" Target="fonts/font7.fntdata"/><Relationship Id="rId42" Type="http://schemas.openxmlformats.org/officeDocument/2006/relationships/font" Target="fonts/font6.fntdata"/><Relationship Id="rId41" Type="http://schemas.openxmlformats.org/officeDocument/2006/relationships/font" Target="fonts/font5.fntdata"/><Relationship Id="rId40" Type="http://schemas.openxmlformats.org/officeDocument/2006/relationships/font" Target="fonts/font4.fntdata"/><Relationship Id="rId4" Type="http://schemas.openxmlformats.org/officeDocument/2006/relationships/notesMaster" Target="notesMasters/notesMaster1.xml"/><Relationship Id="rId39" Type="http://schemas.openxmlformats.org/officeDocument/2006/relationships/font" Target="fonts/font3.fntdata"/><Relationship Id="rId38" Type="http://schemas.openxmlformats.org/officeDocument/2006/relationships/font" Target="fonts/font2.fntdata"/><Relationship Id="rId37" Type="http://schemas.openxmlformats.org/officeDocument/2006/relationships/font" Target="fonts/font1.fntdata"/><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p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0" name="Google Shape;100;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6" name="Google Shape;126;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3" name="Google Shape;20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1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12" name="Google Shape;312;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7" name="Shape 267"/>
        <p:cNvGrpSpPr/>
        <p:nvPr/>
      </p:nvGrpSpPr>
      <p:grpSpPr>
        <a:xfrm>
          <a:off x="0" y="0"/>
          <a:ext cx="0" cy="0"/>
          <a:chOff x="0" y="0"/>
          <a:chExt cx="0" cy="0"/>
        </a:xfrm>
      </p:grpSpPr>
      <p:sp>
        <p:nvSpPr>
          <p:cNvPr id="268" name="Google Shape;268;p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69" name="Google Shape;269;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8" name="Shape 298"/>
        <p:cNvGrpSpPr/>
        <p:nvPr/>
      </p:nvGrpSpPr>
      <p:grpSpPr>
        <a:xfrm>
          <a:off x="0" y="0"/>
          <a:ext cx="0" cy="0"/>
          <a:chOff x="0" y="0"/>
          <a:chExt cx="0" cy="0"/>
        </a:xfrm>
      </p:grpSpPr>
      <p:sp>
        <p:nvSpPr>
          <p:cNvPr id="299" name="Google Shape;299;p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0" name="Google Shape;30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1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39" name="Google Shape;339;p1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1" name="Shape 11"/>
        <p:cNvGrpSpPr/>
        <p:nvPr/>
      </p:nvGrpSpPr>
      <p:grpSpPr>
        <a:xfrm>
          <a:off x="0" y="0"/>
          <a:ext cx="0" cy="0"/>
          <a:chOff x="0" y="0"/>
          <a:chExt cx="0" cy="0"/>
        </a:xfrm>
      </p:grpSpPr>
      <p:sp>
        <p:nvSpPr>
          <p:cNvPr id="12" name="Google Shape;12;p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4"/>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panose="020F0502020204030204"/>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6"/>
          <p:cNvSpPr txBox="1"/>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6"/>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panose="020F0502020204030204"/>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7"/>
          <p:cNvSpPr txBox="1"/>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7"/>
          <p:cNvSpPr txBox="1"/>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7"/>
          <p:cNvSpPr txBox="1"/>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7"/>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57" name="Google Shape;57;p9"/>
          <p:cNvSpPr txBox="1"/>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58" name="Google Shape;58;p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type="pic" idx="2"/>
          </p:nvPr>
        </p:nvSpPr>
        <p:spPr>
          <a:xfrm>
            <a:off x="1792288" y="612775"/>
            <a:ext cx="5486400" cy="4114800"/>
          </a:xfrm>
          <a:prstGeom prst="rect">
            <a:avLst/>
          </a:prstGeom>
          <a:noFill/>
          <a:ln>
            <a:noFill/>
          </a:ln>
        </p:spPr>
      </p:sp>
      <p:sp>
        <p:nvSpPr>
          <p:cNvPr id="64" name="Google Shape;64;p10"/>
          <p:cNvSpPr txBox="1"/>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5" name="Google Shape;65;p10"/>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1" name="Google Shape;71;p1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7" name="Google Shape;77;p1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re et texte">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fr-FR" smtClean="0"/>
              <a:t>Cliquez pour modifier le style du titre du masque</a:t>
            </a:r>
            <a:endParaRPr lang="fr-FR"/>
          </a:p>
        </p:txBody>
      </p:sp>
      <p:sp>
        <p:nvSpPr>
          <p:cNvPr id="3" name="Espace réservé du texte 2"/>
          <p:cNvSpPr>
            <a:spLocks noGrp="1"/>
          </p:cNvSpPr>
          <p:nvPr>
            <p:ph type="body" idx="1" hasCustomPrompt="1"/>
          </p:nvPr>
        </p:nvSpPr>
        <p:spPr/>
        <p:txBody>
          <a:bodyPr/>
          <a:lstStyle/>
          <a:p>
            <a:pPr lvl="0"/>
            <a:r>
              <a:rPr lang="fr-FR" smtClean="0"/>
              <a:t>Cliquez pour modifier les styles du texte du masque</a:t>
            </a:r>
            <a:endParaRPr lang="fr-FR" smtClean="0"/>
          </a:p>
          <a:p>
            <a:pPr lvl="1"/>
            <a:r>
              <a:rPr lang="fr-FR" smtClean="0"/>
              <a:t>Deuxième niveau</a:t>
            </a:r>
            <a:endParaRPr lang="fr-FR" smtClean="0"/>
          </a:p>
          <a:p>
            <a:pPr lvl="2"/>
            <a:r>
              <a:rPr lang="fr-FR" smtClean="0"/>
              <a:t>Troisième niveau</a:t>
            </a:r>
            <a:endParaRPr lang="fr-FR" smtClean="0"/>
          </a:p>
          <a:p>
            <a:pPr lvl="3"/>
            <a:r>
              <a:rPr lang="fr-FR" smtClean="0"/>
              <a:t>Quatrième niveau</a:t>
            </a:r>
            <a:endParaRPr lang="fr-FR" smtClean="0"/>
          </a:p>
          <a:p>
            <a:pPr lvl="4"/>
            <a:r>
              <a:rPr lang="fr-FR" smtClean="0"/>
              <a:t>Cinquième niveau</a:t>
            </a:r>
            <a:endParaRPr lang="fr-FR"/>
          </a:p>
        </p:txBody>
      </p:sp>
      <p:sp>
        <p:nvSpPr>
          <p:cNvPr id="4" name="Espace réservé de la date 3"/>
          <p:cNvSpPr>
            <a:spLocks noGrp="1"/>
          </p:cNvSpPr>
          <p:nvPr>
            <p:ph type="dt" sz="half" idx="10"/>
          </p:nvPr>
        </p:nvSpPr>
        <p:spPr/>
        <p:txBody>
          <a:bodyPr/>
          <a:lstStyle/>
          <a:p/>
        </p:txBody>
      </p:sp>
      <p:sp>
        <p:nvSpPr>
          <p:cNvPr id="5" name="Espace réservé du pied de page 4"/>
          <p:cNvSpPr>
            <a:spLocks noGrp="1"/>
          </p:cNvSpPr>
          <p:nvPr>
            <p:ph type="ftr" sz="quarter" idx="11"/>
          </p:nvPr>
        </p:nvSpPr>
        <p:spPr/>
        <p:txBody>
          <a:bodyPr/>
          <a:lstStyle/>
          <a:p/>
        </p:txBody>
      </p:sp>
      <p:sp>
        <p:nvSpPr>
          <p:cNvPr id="6" name="Espace réservé du numéro de diapositive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_Slide-34_35">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6" name="Title 5"/>
          <p:cNvSpPr>
            <a:spLocks noGrp="1"/>
          </p:cNvSpPr>
          <p:nvPr>
            <p:ph type="ctrTitle" idx="16385" hasCustomPrompt="1"/>
            <p:custDataLst>
              <p:tags r:id="rId2"/>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pPr lvl="0"/>
            <a:r>
              <a:rPr lang="zh-CN" altLang="en-US"/>
              <a:t>Your slide title here</a:t>
            </a:r>
            <a:endParaRPr lang="zh-CN" altLang="en-US"/>
          </a:p>
        </p:txBody>
      </p:sp>
      <p:sp>
        <p:nvSpPr>
          <p:cNvPr id="7" name="Picture Placeholder 6"/>
          <p:cNvSpPr>
            <a:spLocks noGrp="1"/>
          </p:cNvSpPr>
          <p:nvPr>
            <p:ph type="pic" idx="16394" hasCustomPrompt="1"/>
            <p:custDataLst>
              <p:tags r:id="rId3"/>
            </p:custDataLst>
          </p:nvPr>
        </p:nvSpPr>
        <p:spPr>
          <a:xfrm>
            <a:off x="609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8" name="Text Placeholder 7"/>
          <p:cNvSpPr>
            <a:spLocks noGrp="1"/>
          </p:cNvSpPr>
          <p:nvPr>
            <p:ph type="body" idx="16386" hasCustomPrompt="1"/>
            <p:custDataLst>
              <p:tags r:id="rId4"/>
            </p:custDataLst>
          </p:nvPr>
        </p:nvSpPr>
        <p:spPr>
          <a:xfrm>
            <a:off x="1778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9" name="Text Placeholder 8"/>
          <p:cNvSpPr>
            <a:spLocks noGrp="1"/>
          </p:cNvSpPr>
          <p:nvPr>
            <p:ph type="body" idx="16387" hasCustomPrompt="1"/>
            <p:custDataLst>
              <p:tags r:id="rId5"/>
            </p:custDataLst>
          </p:nvPr>
        </p:nvSpPr>
        <p:spPr>
          <a:xfrm>
            <a:off x="1778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0" name="Picture Placeholder 9"/>
          <p:cNvSpPr>
            <a:spLocks noGrp="1"/>
          </p:cNvSpPr>
          <p:nvPr>
            <p:ph type="pic" idx="16395" hasCustomPrompt="1"/>
            <p:custDataLst>
              <p:tags r:id="rId6"/>
            </p:custDataLst>
          </p:nvPr>
        </p:nvSpPr>
        <p:spPr>
          <a:xfrm>
            <a:off x="6324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1" name="Text Placeholder 10"/>
          <p:cNvSpPr>
            <a:spLocks noGrp="1"/>
          </p:cNvSpPr>
          <p:nvPr>
            <p:ph type="body" idx="16388" hasCustomPrompt="1"/>
            <p:custDataLst>
              <p:tags r:id="rId7"/>
            </p:custDataLst>
          </p:nvPr>
        </p:nvSpPr>
        <p:spPr>
          <a:xfrm>
            <a:off x="7493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2" name="Text Placeholder 11"/>
          <p:cNvSpPr>
            <a:spLocks noGrp="1"/>
          </p:cNvSpPr>
          <p:nvPr>
            <p:ph type="body" idx="16389" hasCustomPrompt="1"/>
            <p:custDataLst>
              <p:tags r:id="rId8"/>
            </p:custDataLst>
          </p:nvPr>
        </p:nvSpPr>
        <p:spPr>
          <a:xfrm>
            <a:off x="7493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3" name="Picture Placeholder 12"/>
          <p:cNvSpPr>
            <a:spLocks noGrp="1"/>
          </p:cNvSpPr>
          <p:nvPr>
            <p:ph type="pic" idx="16396" hasCustomPrompt="1"/>
            <p:custDataLst>
              <p:tags r:id="rId9"/>
            </p:custDataLst>
          </p:nvPr>
        </p:nvSpPr>
        <p:spPr>
          <a:xfrm>
            <a:off x="609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Text Placeholder 13"/>
          <p:cNvSpPr>
            <a:spLocks noGrp="1"/>
          </p:cNvSpPr>
          <p:nvPr>
            <p:ph type="body" idx="16390" hasCustomPrompt="1"/>
            <p:custDataLst>
              <p:tags r:id="rId10"/>
            </p:custDataLst>
          </p:nvPr>
        </p:nvSpPr>
        <p:spPr>
          <a:xfrm>
            <a:off x="1778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5" name="Text Placeholder 14"/>
          <p:cNvSpPr>
            <a:spLocks noGrp="1"/>
          </p:cNvSpPr>
          <p:nvPr>
            <p:ph type="body" idx="16391" hasCustomPrompt="1"/>
            <p:custDataLst>
              <p:tags r:id="rId11"/>
            </p:custDataLst>
          </p:nvPr>
        </p:nvSpPr>
        <p:spPr>
          <a:xfrm>
            <a:off x="1778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6" name="Picture Placeholder 15"/>
          <p:cNvSpPr>
            <a:spLocks noGrp="1"/>
          </p:cNvSpPr>
          <p:nvPr>
            <p:ph type="pic" idx="16397" hasCustomPrompt="1"/>
            <p:custDataLst>
              <p:tags r:id="rId12"/>
            </p:custDataLst>
          </p:nvPr>
        </p:nvSpPr>
        <p:spPr>
          <a:xfrm>
            <a:off x="6324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7" name="Text Placeholder 16"/>
          <p:cNvSpPr>
            <a:spLocks noGrp="1"/>
          </p:cNvSpPr>
          <p:nvPr>
            <p:ph type="body" idx="16392" hasCustomPrompt="1"/>
            <p:custDataLst>
              <p:tags r:id="rId13"/>
            </p:custDataLst>
          </p:nvPr>
        </p:nvSpPr>
        <p:spPr>
          <a:xfrm>
            <a:off x="7493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8" name="Text Placeholder 17"/>
          <p:cNvSpPr>
            <a:spLocks noGrp="1"/>
          </p:cNvSpPr>
          <p:nvPr>
            <p:ph type="body" idx="16393" hasCustomPrompt="1"/>
            <p:custDataLst>
              <p:tags r:id="rId14"/>
            </p:custDataLst>
          </p:nvPr>
        </p:nvSpPr>
        <p:spPr>
          <a:xfrm>
            <a:off x="7493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604020202020204"/>
              <a:buChar char="•"/>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406400" algn="l" rtl="0">
              <a:spcBef>
                <a:spcPts val="56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81000" algn="l" rtl="0">
              <a:spcBef>
                <a:spcPts val="48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7" Type="http://schemas.openxmlformats.org/officeDocument/2006/relationships/notesSlide" Target="../notesSlides/notesSlide2.xml"/><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10.png"/><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6" Type="http://schemas.openxmlformats.org/officeDocument/2006/relationships/notesSlide" Target="../notesSlides/notesSlide6.xml"/><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0.png"/><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7.xml"/><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21.png"/><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7.png"/><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0.png"/><Relationship Id="rId4" Type="http://schemas.openxmlformats.org/officeDocument/2006/relationships/image" Target="../media/image24.png"/><Relationship Id="rId3" Type="http://schemas.openxmlformats.org/officeDocument/2006/relationships/image" Target="../media/image23.png"/><Relationship Id="rId2" Type="http://schemas.openxmlformats.org/officeDocument/2006/relationships/image" Target="../media/image22.png"/><Relationship Id="rId10" Type="http://schemas.openxmlformats.org/officeDocument/2006/relationships/notesSlide" Target="../notesSlides/notesSlide9.xml"/><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png"/><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28.png"/><Relationship Id="rId2" Type="http://schemas.openxmlformats.org/officeDocument/2006/relationships/image" Target="../media/image10.png"/><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29.png"/><Relationship Id="rId1" Type="http://schemas.openxmlformats.org/officeDocument/2006/relationships/image" Target="../media/image10.pn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1.xml"/><Relationship Id="rId7"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3" Type="http://schemas.openxmlformats.org/officeDocument/2006/relationships/image" Target="../media/image30.png"/><Relationship Id="rId2" Type="http://schemas.openxmlformats.org/officeDocument/2006/relationships/image" Target="../media/image10.png"/><Relationship Id="rId1" Type="http://schemas.openxmlformats.org/officeDocument/2006/relationships/image" Target="../media/image9.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4.png"/><Relationship Id="rId2" Type="http://schemas.openxmlformats.org/officeDocument/2006/relationships/image" Target="../media/image10.png"/><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5.png"/><Relationship Id="rId2" Type="http://schemas.openxmlformats.org/officeDocument/2006/relationships/image" Target="../media/image10.png"/><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6.png"/><Relationship Id="rId2" Type="http://schemas.openxmlformats.org/officeDocument/2006/relationships/image" Target="../media/image10.png"/><Relationship Id="rId1" Type="http://schemas.openxmlformats.org/officeDocument/2006/relationships/image" Target="../media/image9.pn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7.png"/><Relationship Id="rId2" Type="http://schemas.openxmlformats.org/officeDocument/2006/relationships/image" Target="../media/image10.png"/><Relationship Id="rId1" Type="http://schemas.openxmlformats.org/officeDocument/2006/relationships/image" Target="../media/image9.png"/></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8.png"/><Relationship Id="rId2" Type="http://schemas.openxmlformats.org/officeDocument/2006/relationships/image" Target="../media/image10.png"/><Relationship Id="rId1" Type="http://schemas.openxmlformats.org/officeDocument/2006/relationships/image" Target="../media/image9.pn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9.png"/><Relationship Id="rId2" Type="http://schemas.openxmlformats.org/officeDocument/2006/relationships/image" Target="../media/image10.png"/><Relationship Id="rId1" Type="http://schemas.openxmlformats.org/officeDocument/2006/relationships/image" Target="../media/image9.png"/></Relationships>
</file>

<file path=ppt/slides/_rels/slide21.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0.png"/><Relationship Id="rId2" Type="http://schemas.openxmlformats.org/officeDocument/2006/relationships/image" Target="../media/image10.png"/><Relationship Id="rId1" Type="http://schemas.openxmlformats.org/officeDocument/2006/relationships/image" Target="../media/image9.png"/></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41.png"/><Relationship Id="rId2" Type="http://schemas.openxmlformats.org/officeDocument/2006/relationships/image" Target="../media/image10.png"/><Relationship Id="rId1" Type="http://schemas.openxmlformats.org/officeDocument/2006/relationships/image" Target="../media/image9.png"/></Relationships>
</file>

<file path=ppt/slides/_rels/slide23.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48.png"/><Relationship Id="rId7" Type="http://schemas.openxmlformats.org/officeDocument/2006/relationships/image" Target="../media/image47.png"/><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jpeg"/><Relationship Id="rId3" Type="http://schemas.openxmlformats.org/officeDocument/2006/relationships/image" Target="../media/image43.png"/><Relationship Id="rId2" Type="http://schemas.openxmlformats.org/officeDocument/2006/relationships/image" Target="../media/image10.png"/><Relationship Id="rId10" Type="http://schemas.openxmlformats.org/officeDocument/2006/relationships/notesSlide" Target="../notesSlides/notesSlide12.xml"/><Relationship Id="rId1" Type="http://schemas.openxmlformats.org/officeDocument/2006/relationships/image" Target="../media/image42.png"/></Relationships>
</file>

<file path=ppt/slides/_rels/slide24.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xml"/><Relationship Id="rId4" Type="http://schemas.openxmlformats.org/officeDocument/2006/relationships/tags" Target="../tags/tag14.xml"/><Relationship Id="rId3" Type="http://schemas.openxmlformats.org/officeDocument/2006/relationships/image" Target="../media/image10.png"/><Relationship Id="rId2" Type="http://schemas.openxmlformats.org/officeDocument/2006/relationships/image" Target="../media/image21.png"/><Relationship Id="rId1" Type="http://schemas.openxmlformats.org/officeDocument/2006/relationships/image" Target="../media/image9.png"/></Relationships>
</file>

<file path=ppt/slides/_rels/slide25.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xml"/><Relationship Id="rId3" Type="http://schemas.openxmlformats.org/officeDocument/2006/relationships/image" Target="../media/image49.png"/><Relationship Id="rId2" Type="http://schemas.openxmlformats.org/officeDocument/2006/relationships/image" Target="../media/image10.png"/><Relationship Id="rId1" Type="http://schemas.openxmlformats.org/officeDocument/2006/relationships/image" Target="../media/image9.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png"/><Relationship Id="rId1" Type="http://schemas.openxmlformats.org/officeDocument/2006/relationships/image" Target="../media/image9.png"/></Relationships>
</file>

<file path=ppt/slides/_rels/slide2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tags" Target="../tags/tag16.xml"/><Relationship Id="rId4" Type="http://schemas.openxmlformats.org/officeDocument/2006/relationships/image" Target="../media/image51.svg"/><Relationship Id="rId3" Type="http://schemas.openxmlformats.org/officeDocument/2006/relationships/image" Target="../media/image50.png"/><Relationship Id="rId2" Type="http://schemas.openxmlformats.org/officeDocument/2006/relationships/tags" Target="../tags/tag15.xml"/><Relationship Id="rId1" Type="http://schemas.openxmlformats.org/officeDocument/2006/relationships/image" Target="../media/image9.png"/></Relationships>
</file>

<file path=ppt/slides/_rels/slide30.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83" name="Shape 83"/>
        <p:cNvGrpSpPr/>
        <p:nvPr/>
      </p:nvGrpSpPr>
      <p:grpSpPr>
        <a:xfrm>
          <a:off x="0" y="0"/>
          <a:ext cx="0" cy="0"/>
          <a:chOff x="0" y="0"/>
          <a:chExt cx="0" cy="0"/>
        </a:xfrm>
      </p:grpSpPr>
      <p:pic>
        <p:nvPicPr>
          <p:cNvPr id="84" name="Google Shape;84;p13"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2"/>
          <a:srcRect/>
          <a:stretch>
            <a:fillRect/>
          </a:stretch>
        </p:blipFill>
        <p:spPr>
          <a:xfrm>
            <a:off x="713740" y="4981575"/>
            <a:ext cx="10621010" cy="1416685"/>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2165985" y="5326380"/>
            <a:ext cx="3417570" cy="873125"/>
          </a:xfrm>
          <a:prstGeom prst="rect">
            <a:avLst/>
          </a:prstGeom>
          <a:noFill/>
          <a:ln>
            <a:noFill/>
          </a:ln>
        </p:spPr>
      </p:pic>
      <p:pic>
        <p:nvPicPr>
          <p:cNvPr id="87" name="Google Shape;87;p13" descr="image.png"/>
          <p:cNvPicPr preferRelativeResize="0"/>
          <p:nvPr/>
        </p:nvPicPr>
        <p:blipFill rotWithShape="1">
          <a:blip r:embed="rId3"/>
          <a:srcRect/>
          <a:stretch>
            <a:fillRect/>
          </a:stretch>
        </p:blipFill>
        <p:spPr>
          <a:xfrm>
            <a:off x="7259955" y="5261610"/>
            <a:ext cx="3273425" cy="1121410"/>
          </a:xfrm>
          <a:prstGeom prst="rect">
            <a:avLst/>
          </a:prstGeom>
          <a:noFill/>
          <a:ln>
            <a:noFill/>
          </a:ln>
        </p:spPr>
      </p:pic>
      <p:sp>
        <p:nvSpPr>
          <p:cNvPr id="89" name="Google Shape;89;p13"/>
          <p:cNvSpPr txBox="1"/>
          <p:nvPr/>
        </p:nvSpPr>
        <p:spPr>
          <a:xfrm>
            <a:off x="2025015" y="714375"/>
            <a:ext cx="7778115" cy="10255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SOUTENANCE DE </a:t>
            </a: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MEMOIRE</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a:p>
            <a:pPr marL="0" marR="0" lvl="0" indent="0" algn="ctr" rtl="0">
              <a:spcBef>
                <a:spcPts val="0"/>
              </a:spcBef>
              <a:spcAft>
                <a:spcPts val="0"/>
              </a:spcAft>
              <a:buNone/>
            </a:pP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LICENCE GENIE LOGICIEL</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0" name="Google Shape;90;p13"/>
          <p:cNvSpPr txBox="1"/>
          <p:nvPr/>
        </p:nvSpPr>
        <p:spPr>
          <a:xfrm>
            <a:off x="1095375" y="2133600"/>
            <a:ext cx="9504045" cy="1483995"/>
          </a:xfrm>
          <a:prstGeom prst="rect">
            <a:avLst/>
          </a:prstGeom>
          <a:noFill/>
          <a:ln>
            <a:noFill/>
          </a:ln>
        </p:spPr>
        <p:txBody>
          <a:bodyPr spcFirstLastPara="1" wrap="square" lIns="0" tIns="0" rIns="0" bIns="0" anchor="t" anchorCtr="0">
            <a:noAutofit/>
          </a:bodyPr>
          <a:lstStyle/>
          <a:p>
            <a:pPr marL="0" marR="0" lvl="0" indent="0" algn="ctr" rtl="0">
              <a:lnSpc>
                <a:spcPct val="125000"/>
              </a:lnSpc>
              <a:spcBef>
                <a:spcPts val="0"/>
              </a:spcBef>
              <a:spcAft>
                <a:spcPts val="0"/>
              </a:spcAft>
              <a:buNone/>
            </a:pPr>
            <a:r>
              <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rPr>
              <a:t>Plateforme Web &amp; Mobile de Gestion des Biens Immobiliers Résidentiels</a:t>
            </a:r>
            <a:endPar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91" name="Google Shape;91;p13"/>
          <p:cNvSpPr txBox="1"/>
          <p:nvPr/>
        </p:nvSpPr>
        <p:spPr>
          <a:xfrm>
            <a:off x="1085850" y="3617595"/>
            <a:ext cx="9363075" cy="60896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rPr>
              <a:t>Cours Communes &amp; Appartements de séjour (Airbnb) au Togo</a:t>
            </a:r>
            <a:endPar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endParaRPr>
          </a:p>
        </p:txBody>
      </p:sp>
      <p:sp>
        <p:nvSpPr>
          <p:cNvPr id="92" name="Google Shape;92;p13"/>
          <p:cNvSpPr txBox="1"/>
          <p:nvPr/>
        </p:nvSpPr>
        <p:spPr>
          <a:xfrm>
            <a:off x="2394585" y="546925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PRÉSENTÉ PAR</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3" name="Google Shape;93;p13"/>
          <p:cNvSpPr txBox="1"/>
          <p:nvPr/>
        </p:nvSpPr>
        <p:spPr>
          <a:xfrm>
            <a:off x="2394585" y="5707380"/>
            <a:ext cx="2819400" cy="3073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GBANDI WAKE</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4" name="Google Shape;94;p13"/>
          <p:cNvSpPr txBox="1"/>
          <p:nvPr/>
        </p:nvSpPr>
        <p:spPr>
          <a:xfrm>
            <a:off x="7488555" y="540448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SOUS LA DIRECTION DE</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5" name="Google Shape;95;p13"/>
          <p:cNvSpPr txBox="1"/>
          <p:nvPr/>
        </p:nvSpPr>
        <p:spPr>
          <a:xfrm>
            <a:off x="7488555" y="5642610"/>
            <a:ext cx="2819400" cy="61531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M. SHABAN Abdoulatif </a:t>
            </a:r>
            <a:br>
              <a:rPr lang="en-US" sz="2000" b="0" i="0" u="none" strike="noStrike" cap="none">
                <a:solidFill>
                  <a:schemeClr val="dk1"/>
                </a:solidFill>
                <a:latin typeface="Times New Roman" panose="02020603050405020304" charset="0"/>
                <a:ea typeface="Calibri" panose="020F0502020204030204"/>
                <a:cs typeface="Times New Roman" panose="02020603050405020304" charset="0"/>
                <a:sym typeface="Calibri" panose="020F0502020204030204"/>
              </a:rPr>
            </a:b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Ingénieur Logiciel</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2" name="Image 1" descr="WPS Photos(1)"/>
          <p:cNvPicPr>
            <a:picLocks noChangeAspect="1"/>
          </p:cNvPicPr>
          <p:nvPr/>
        </p:nvPicPr>
        <p:blipFill>
          <a:blip r:embed="rId4"/>
          <a:stretch>
            <a:fillRect/>
          </a:stretch>
        </p:blipFill>
        <p:spPr>
          <a:xfrm>
            <a:off x="9487535" y="0"/>
            <a:ext cx="2704465" cy="10388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01" name="Shape 101"/>
        <p:cNvGrpSpPr/>
        <p:nvPr/>
      </p:nvGrpSpPr>
      <p:grpSpPr>
        <a:xfrm>
          <a:off x="0" y="0"/>
          <a:ext cx="0" cy="0"/>
          <a:chOff x="0" y="0"/>
          <a:chExt cx="0" cy="0"/>
        </a:xfrm>
      </p:grpSpPr>
      <p:pic>
        <p:nvPicPr>
          <p:cNvPr id="102" name="Google Shape;102;p14"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03" name="Google Shape;103;p14" descr="image.png"/>
          <p:cNvPicPr preferRelativeResize="0"/>
          <p:nvPr/>
        </p:nvPicPr>
        <p:blipFill rotWithShape="1">
          <a:blip r:embed="rId2"/>
          <a:srcRect/>
          <a:stretch>
            <a:fillRect/>
          </a:stretch>
        </p:blipFill>
        <p:spPr>
          <a:xfrm>
            <a:off x="1809750" y="3248025"/>
            <a:ext cx="2730400" cy="1114425"/>
          </a:xfrm>
          <a:prstGeom prst="rect">
            <a:avLst/>
          </a:prstGeom>
          <a:noFill/>
          <a:ln>
            <a:noFill/>
          </a:ln>
        </p:spPr>
      </p:pic>
      <p:pic>
        <p:nvPicPr>
          <p:cNvPr id="104" name="Google Shape;104;p14" descr="image.png"/>
          <p:cNvPicPr preferRelativeResize="0"/>
          <p:nvPr/>
        </p:nvPicPr>
        <p:blipFill rotWithShape="1">
          <a:blip r:embed="rId3"/>
          <a:srcRect/>
          <a:stretch>
            <a:fillRect/>
          </a:stretch>
        </p:blipFill>
        <p:spPr>
          <a:xfrm>
            <a:off x="4730650" y="3248025"/>
            <a:ext cx="2730549" cy="1114425"/>
          </a:xfrm>
          <a:prstGeom prst="rect">
            <a:avLst/>
          </a:prstGeom>
          <a:noFill/>
          <a:ln>
            <a:noFill/>
          </a:ln>
        </p:spPr>
      </p:pic>
      <p:pic>
        <p:nvPicPr>
          <p:cNvPr id="105" name="Google Shape;105;p14" descr="image.png"/>
          <p:cNvPicPr preferRelativeResize="0"/>
          <p:nvPr/>
        </p:nvPicPr>
        <p:blipFill rotWithShape="1">
          <a:blip r:embed="rId2"/>
          <a:srcRect/>
          <a:stretch>
            <a:fillRect/>
          </a:stretch>
        </p:blipFill>
        <p:spPr>
          <a:xfrm>
            <a:off x="7651700" y="3248025"/>
            <a:ext cx="2730400" cy="1114425"/>
          </a:xfrm>
          <a:prstGeom prst="rect">
            <a:avLst/>
          </a:prstGeom>
          <a:noFill/>
          <a:ln>
            <a:noFill/>
          </a:ln>
        </p:spPr>
      </p:pic>
      <p:pic>
        <p:nvPicPr>
          <p:cNvPr id="106" name="Google Shape;106;p14" descr="image.png"/>
          <p:cNvPicPr preferRelativeResize="0"/>
          <p:nvPr/>
        </p:nvPicPr>
        <p:blipFill rotWithShape="1">
          <a:blip r:embed="rId4"/>
          <a:srcRect/>
          <a:stretch>
            <a:fillRect/>
          </a:stretch>
        </p:blipFill>
        <p:spPr>
          <a:xfrm>
            <a:off x="1809750" y="4552950"/>
            <a:ext cx="2730400" cy="942975"/>
          </a:xfrm>
          <a:prstGeom prst="rect">
            <a:avLst/>
          </a:prstGeom>
          <a:noFill/>
          <a:ln>
            <a:noFill/>
          </a:ln>
        </p:spPr>
      </p:pic>
      <p:pic>
        <p:nvPicPr>
          <p:cNvPr id="107" name="Google Shape;107;p14" descr="image.png"/>
          <p:cNvPicPr preferRelativeResize="0"/>
          <p:nvPr/>
        </p:nvPicPr>
        <p:blipFill rotWithShape="1">
          <a:blip r:embed="rId5"/>
          <a:srcRect/>
          <a:stretch>
            <a:fillRect/>
          </a:stretch>
        </p:blipFill>
        <p:spPr>
          <a:xfrm>
            <a:off x="4730650" y="4552950"/>
            <a:ext cx="2730549" cy="942975"/>
          </a:xfrm>
          <a:prstGeom prst="rect">
            <a:avLst/>
          </a:prstGeom>
          <a:noFill/>
          <a:ln>
            <a:noFill/>
          </a:ln>
        </p:spPr>
      </p:pic>
      <p:pic>
        <p:nvPicPr>
          <p:cNvPr id="108" name="Google Shape;108;p14" descr="image.png"/>
          <p:cNvPicPr preferRelativeResize="0"/>
          <p:nvPr/>
        </p:nvPicPr>
        <p:blipFill rotWithShape="1">
          <a:blip r:embed="rId4"/>
          <a:srcRect/>
          <a:stretch>
            <a:fillRect/>
          </a:stretch>
        </p:blipFill>
        <p:spPr>
          <a:xfrm>
            <a:off x="7651700" y="4552950"/>
            <a:ext cx="2730400" cy="942975"/>
          </a:xfrm>
          <a:prstGeom prst="rect">
            <a:avLst/>
          </a:prstGeom>
          <a:noFill/>
          <a:ln>
            <a:noFill/>
          </a:ln>
        </p:spPr>
      </p:pic>
      <p:sp>
        <p:nvSpPr>
          <p:cNvPr id="109" name="Google Shape;109;p14"/>
          <p:cNvSpPr/>
          <p:nvPr/>
        </p:nvSpPr>
        <p:spPr>
          <a:xfrm>
            <a:off x="5715000" y="1362075"/>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0" name="Google Shape;110;p14"/>
          <p:cNvSpPr txBox="1"/>
          <p:nvPr/>
        </p:nvSpPr>
        <p:spPr>
          <a:xfrm>
            <a:off x="3395662" y="1638300"/>
            <a:ext cx="5400675" cy="6769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Sommaire Général</a:t>
            </a:r>
            <a:endPar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11" name="Google Shape;111;p14"/>
          <p:cNvSpPr txBox="1"/>
          <p:nvPr/>
        </p:nvSpPr>
        <p:spPr>
          <a:xfrm>
            <a:off x="3271837" y="2590800"/>
            <a:ext cx="5648325" cy="3073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rPr>
              <a:t>Déroulement de la présentation </a:t>
            </a:r>
            <a:endPar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2" name="Google Shape;112;p14"/>
          <p:cNvSpPr txBox="1"/>
          <p:nvPr/>
        </p:nvSpPr>
        <p:spPr>
          <a:xfrm>
            <a:off x="3022600" y="3448050"/>
            <a:ext cx="69977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01</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3" name="Google Shape;113;p14"/>
          <p:cNvSpPr txBox="1"/>
          <p:nvPr/>
        </p:nvSpPr>
        <p:spPr>
          <a:xfrm>
            <a:off x="2009775" y="3819525"/>
            <a:ext cx="2331085" cy="36385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Introduction &amp; </a:t>
            </a:r>
            <a:r>
              <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Contexte</a:t>
            </a:r>
            <a:endPar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4" name="Google Shape;114;p14"/>
          <p:cNvSpPr txBox="1"/>
          <p:nvPr/>
        </p:nvSpPr>
        <p:spPr>
          <a:xfrm>
            <a:off x="5943600" y="3448050"/>
            <a:ext cx="533400" cy="20891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02</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5" name="Google Shape;115;p14"/>
          <p:cNvSpPr txBox="1"/>
          <p:nvPr/>
        </p:nvSpPr>
        <p:spPr>
          <a:xfrm>
            <a:off x="4930775" y="3819525"/>
            <a:ext cx="2330450" cy="3886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Problématique</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6" name="Google Shape;116;p14"/>
          <p:cNvSpPr txBox="1"/>
          <p:nvPr/>
        </p:nvSpPr>
        <p:spPr>
          <a:xfrm>
            <a:off x="8864600" y="3448050"/>
            <a:ext cx="52578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7" name="Google Shape;117;p14"/>
          <p:cNvSpPr txBox="1"/>
          <p:nvPr/>
        </p:nvSpPr>
        <p:spPr>
          <a:xfrm>
            <a:off x="7851775" y="3819525"/>
            <a:ext cx="2330450" cy="5429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Critique de l’Existant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8" name="Google Shape;118;p14"/>
          <p:cNvSpPr txBox="1"/>
          <p:nvPr/>
        </p:nvSpPr>
        <p:spPr>
          <a:xfrm>
            <a:off x="3022600" y="4752975"/>
            <a:ext cx="527050" cy="3079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04</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9" name="Google Shape;119;p14"/>
          <p:cNvSpPr txBox="1"/>
          <p:nvPr/>
        </p:nvSpPr>
        <p:spPr>
          <a:xfrm>
            <a:off x="200977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Objectifs du projet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0" name="Google Shape;120;p14"/>
          <p:cNvSpPr txBox="1"/>
          <p:nvPr/>
        </p:nvSpPr>
        <p:spPr>
          <a:xfrm>
            <a:off x="5943600" y="4752975"/>
            <a:ext cx="502285" cy="2921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21" name="Google Shape;121;p14"/>
          <p:cNvSpPr txBox="1"/>
          <p:nvPr/>
        </p:nvSpPr>
        <p:spPr>
          <a:xfrm>
            <a:off x="4930675" y="5124450"/>
            <a:ext cx="23304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Conception</a:t>
            </a:r>
            <a:r>
              <a:rPr 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 &amp; </a:t>
            </a: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Réalisation</a:t>
            </a:r>
            <a:endPar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2" name="Google Shape;122;p14"/>
          <p:cNvSpPr txBox="1"/>
          <p:nvPr/>
        </p:nvSpPr>
        <p:spPr>
          <a:xfrm>
            <a:off x="8864600" y="475297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06</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23" name="Google Shape;123;p14"/>
          <p:cNvSpPr txBox="1"/>
          <p:nvPr/>
        </p:nvSpPr>
        <p:spPr>
          <a:xfrm>
            <a:off x="785172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Démonstration</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4" name="Google Shape;108;p14" descr="image.png"/>
          <p:cNvPicPr preferRelativeResize="0"/>
          <p:nvPr/>
        </p:nvPicPr>
        <p:blipFill rotWithShape="1">
          <a:blip r:embed="rId4"/>
          <a:srcRect/>
          <a:stretch>
            <a:fillRect/>
          </a:stretch>
        </p:blipFill>
        <p:spPr>
          <a:xfrm>
            <a:off x="4730700" y="5704840"/>
            <a:ext cx="2730400" cy="942975"/>
          </a:xfrm>
          <a:prstGeom prst="rect">
            <a:avLst/>
          </a:prstGeom>
          <a:noFill/>
          <a:ln>
            <a:noFill/>
          </a:ln>
        </p:spPr>
      </p:pic>
      <p:sp>
        <p:nvSpPr>
          <p:cNvPr id="2" name="Google Shape;122;p14"/>
          <p:cNvSpPr txBox="1"/>
          <p:nvPr/>
        </p:nvSpPr>
        <p:spPr>
          <a:xfrm>
            <a:off x="5974080" y="590486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a:t>
            </a:r>
            <a:r>
              <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rPr>
              <a:t>7</a:t>
            </a:r>
            <a:endPar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3" name="Google Shape;123;p14"/>
          <p:cNvSpPr txBox="1"/>
          <p:nvPr/>
        </p:nvSpPr>
        <p:spPr>
          <a:xfrm>
            <a:off x="4930725" y="6276340"/>
            <a:ext cx="2330350"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Conclusion &amp; Perspectives</a:t>
            </a:r>
            <a:endPar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27" name="Shape 127"/>
        <p:cNvGrpSpPr/>
        <p:nvPr/>
      </p:nvGrpSpPr>
      <p:grpSpPr>
        <a:xfrm>
          <a:off x="0" y="0"/>
          <a:ext cx="0" cy="0"/>
          <a:chOff x="0" y="0"/>
          <a:chExt cx="0" cy="0"/>
        </a:xfrm>
      </p:grpSpPr>
      <p:pic>
        <p:nvPicPr>
          <p:cNvPr id="128" name="Google Shape;128;p15"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31" name="Google Shape;131;p15"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132" name="Google Shape;132;p15"/>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33" name="Google Shape;133;p15"/>
          <p:cNvSpPr txBox="1"/>
          <p:nvPr/>
        </p:nvSpPr>
        <p:spPr>
          <a:xfrm>
            <a:off x="9491662" y="471487"/>
            <a:ext cx="21288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CONTEXTE IMMOBILIER AU TOGO</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4" name="Google Shape;134;p15"/>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5" name="Google Shape;135;p15"/>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42" name="Google Shape;142;p15"/>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Introduction &amp; Contexte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6" name="Picture 13" descr="image.png"/>
          <p:cNvPicPr>
            <a:picLocks noChangeAspect="1"/>
          </p:cNvPicPr>
          <p:nvPr/>
        </p:nvPicPr>
        <p:blipFill>
          <a:blip r:embed="rId3"/>
          <a:stretch>
            <a:fillRect/>
          </a:stretch>
        </p:blipFill>
        <p:spPr>
          <a:xfrm>
            <a:off x="6233477" y="1654810"/>
            <a:ext cx="5338762" cy="3600450"/>
          </a:xfrm>
          <a:prstGeom prst="rect">
            <a:avLst/>
          </a:prstGeom>
        </p:spPr>
      </p:pic>
      <p:sp>
        <p:nvSpPr>
          <p:cNvPr id="2" name="TextBox 14"/>
          <p:cNvSpPr txBox="1"/>
          <p:nvPr/>
        </p:nvSpPr>
        <p:spPr>
          <a:xfrm>
            <a:off x="695325" y="2379980"/>
            <a:ext cx="5014912" cy="778510"/>
          </a:xfrm>
          <a:prstGeom prst="rect">
            <a:avLst/>
          </a:prstGeom>
          <a:noFill/>
        </p:spPr>
        <p:txBody>
          <a:bodyPr wrap="square" lIns="0" tIns="0" rIns="0" bIns="0" anchor="t">
            <a:spAutoFit/>
          </a:bodyPr>
          <a:lstStyle/>
          <a:p>
            <a:pPr algn="just">
              <a:lnSpc>
                <a:spcPts val="2025"/>
              </a:lnSpc>
            </a:pPr>
            <a:r>
              <a:rPr sz="2000" b="1" i="0" u="none">
                <a:solidFill>
                  <a:srgbClr val="334155"/>
                </a:solidFill>
                <a:latin typeface="Lato" panose="020F0502020204030203"/>
              </a:rPr>
              <a:t>Essor Urbain à Lomé</a:t>
            </a:r>
            <a:r>
              <a:rPr sz="1600" b="1" i="0" u="none">
                <a:solidFill>
                  <a:srgbClr val="334155"/>
                </a:solidFill>
                <a:latin typeface="Lato" panose="020F0502020204030203"/>
              </a:rPr>
              <a:t> :</a:t>
            </a:r>
            <a:r>
              <a:rPr sz="1600" b="0" i="0" u="none">
                <a:solidFill>
                  <a:srgbClr val="334155"/>
                </a:solidFill>
                <a:latin typeface="Lato" panose="020F0502020204030203"/>
              </a:rPr>
              <a:t> Forte dynamique démographique </a:t>
            </a:r>
            <a:r>
              <a:rPr lang="fr-FR" sz="1600" b="0" i="0" u="none">
                <a:solidFill>
                  <a:srgbClr val="334155"/>
                </a:solidFill>
                <a:latin typeface="Lato" panose="020F0502020204030203"/>
              </a:rPr>
              <a:t>caractérisée par </a:t>
            </a:r>
            <a:r>
              <a:rPr sz="1600" b="0" i="0" u="none">
                <a:solidFill>
                  <a:srgbClr val="334155"/>
                </a:solidFill>
                <a:latin typeface="Lato" panose="020F0502020204030203"/>
              </a:rPr>
              <a:t>la multiplication</a:t>
            </a:r>
            <a:r>
              <a:rPr lang="fr-FR" sz="1600" b="0" i="0" u="none">
                <a:solidFill>
                  <a:srgbClr val="334155"/>
                </a:solidFill>
                <a:latin typeface="Lato" panose="020F0502020204030203"/>
              </a:rPr>
              <a:t> d’immeubles et</a:t>
            </a:r>
            <a:r>
              <a:rPr sz="1600" b="0" i="0" u="none">
                <a:solidFill>
                  <a:srgbClr val="334155"/>
                </a:solidFill>
                <a:latin typeface="Lato" panose="020F0502020204030203"/>
              </a:rPr>
              <a:t> </a:t>
            </a:r>
            <a:r>
              <a:rPr lang="fr-FR" sz="1600" b="0" i="0" u="none">
                <a:solidFill>
                  <a:srgbClr val="334155"/>
                </a:solidFill>
                <a:latin typeface="Lato" panose="020F0502020204030203"/>
              </a:rPr>
              <a:t>des cours communes</a:t>
            </a:r>
            <a:r>
              <a:rPr sz="1600" b="0" i="0" u="none">
                <a:solidFill>
                  <a:srgbClr val="334155"/>
                </a:solidFill>
                <a:latin typeface="Lato" panose="020F0502020204030203"/>
              </a:rPr>
              <a:t>.</a:t>
            </a:r>
            <a:endParaRPr sz="1600" b="0" i="0" u="none">
              <a:solidFill>
                <a:srgbClr val="334155"/>
              </a:solidFill>
              <a:latin typeface="Lato" panose="020F0502020204030203"/>
            </a:endParaRPr>
          </a:p>
        </p:txBody>
      </p:sp>
      <p:sp>
        <p:nvSpPr>
          <p:cNvPr id="3" name="TextBox 15"/>
          <p:cNvSpPr txBox="1"/>
          <p:nvPr/>
        </p:nvSpPr>
        <p:spPr>
          <a:xfrm>
            <a:off x="695325" y="3303905"/>
            <a:ext cx="5014912" cy="778510"/>
          </a:xfrm>
          <a:prstGeom prst="rect">
            <a:avLst/>
          </a:prstGeom>
          <a:noFill/>
        </p:spPr>
        <p:txBody>
          <a:bodyPr wrap="square" lIns="0" tIns="0" rIns="0" bIns="0" anchor="t">
            <a:spAutoFit/>
          </a:bodyPr>
          <a:lstStyle/>
          <a:p>
            <a:pPr algn="just">
              <a:lnSpc>
                <a:spcPts val="2025"/>
              </a:lnSpc>
            </a:pPr>
            <a:r>
              <a:rPr sz="2000" b="1" i="0" u="none">
                <a:solidFill>
                  <a:srgbClr val="334155"/>
                </a:solidFill>
                <a:latin typeface="Lato" panose="020F0502020204030203"/>
              </a:rPr>
              <a:t>Décalage Technologique</a:t>
            </a:r>
            <a:r>
              <a:rPr sz="1600" b="1" i="0" u="none">
                <a:solidFill>
                  <a:srgbClr val="334155"/>
                </a:solidFill>
                <a:latin typeface="Lato" panose="020F0502020204030203"/>
              </a:rPr>
              <a:t> :</a:t>
            </a:r>
            <a:r>
              <a:rPr sz="1600" b="0" i="0" u="none">
                <a:solidFill>
                  <a:srgbClr val="334155"/>
                </a:solidFill>
                <a:latin typeface="Lato" panose="020F0502020204030203"/>
              </a:rPr>
              <a:t> Prédominance </a:t>
            </a:r>
            <a:r>
              <a:rPr lang="fr-FR" sz="1600" b="0" i="0" u="none">
                <a:solidFill>
                  <a:srgbClr val="334155"/>
                </a:solidFill>
                <a:latin typeface="Lato" panose="020F0502020204030203"/>
              </a:rPr>
              <a:t>de l’utilisation des </a:t>
            </a:r>
            <a:r>
              <a:rPr sz="1600" b="0" i="0" u="none">
                <a:solidFill>
                  <a:srgbClr val="334155"/>
                </a:solidFill>
                <a:latin typeface="Lato" panose="020F0502020204030203"/>
              </a:rPr>
              <a:t>registres </a:t>
            </a:r>
            <a:r>
              <a:rPr lang="fr-FR" sz="1600" b="0" i="0" u="none">
                <a:solidFill>
                  <a:srgbClr val="334155"/>
                </a:solidFill>
                <a:latin typeface="Lato" panose="020F0502020204030203"/>
              </a:rPr>
              <a:t>papiers </a:t>
            </a:r>
            <a:r>
              <a:rPr sz="1600" b="0" i="0" u="none">
                <a:solidFill>
                  <a:srgbClr val="334155"/>
                </a:solidFill>
                <a:latin typeface="Lato" panose="020F0502020204030203"/>
              </a:rPr>
              <a:t>malgré la digitalisation croissante de la société.</a:t>
            </a:r>
            <a:endParaRPr sz="1600" b="0" i="0" u="none">
              <a:solidFill>
                <a:srgbClr val="334155"/>
              </a:solidFill>
              <a:latin typeface="Lato" panose="020F0502020204030203"/>
            </a:endParaRPr>
          </a:p>
        </p:txBody>
      </p:sp>
      <p:sp>
        <p:nvSpPr>
          <p:cNvPr id="4" name="TextBox 16"/>
          <p:cNvSpPr txBox="1"/>
          <p:nvPr/>
        </p:nvSpPr>
        <p:spPr>
          <a:xfrm>
            <a:off x="695325" y="4227830"/>
            <a:ext cx="5014912" cy="259080"/>
          </a:xfrm>
          <a:prstGeom prst="rect">
            <a:avLst/>
          </a:prstGeom>
          <a:noFill/>
        </p:spPr>
        <p:txBody>
          <a:bodyPr wrap="square" lIns="0" tIns="0" rIns="0" bIns="0" anchor="t">
            <a:spAutoFit/>
          </a:bodyPr>
          <a:lstStyle/>
          <a:p>
            <a:pPr algn="just">
              <a:lnSpc>
                <a:spcPts val="2025"/>
              </a:lnSpc>
            </a:pPr>
            <a:r>
              <a:rPr lang="fr-FR" sz="2000" b="1" i="0" u="none">
                <a:solidFill>
                  <a:srgbClr val="334155"/>
                </a:solidFill>
                <a:latin typeface="Lato" panose="020F0502020204030203"/>
              </a:rPr>
              <a:t>Adhésion massive au </a:t>
            </a:r>
            <a:r>
              <a:rPr sz="2000" b="1" i="0" u="none">
                <a:solidFill>
                  <a:srgbClr val="334155"/>
                </a:solidFill>
                <a:latin typeface="Lato" panose="020F0502020204030203"/>
              </a:rPr>
              <a:t>Mobile Money</a:t>
            </a:r>
            <a:r>
              <a:rPr sz="1600" b="1" i="0" u="none">
                <a:solidFill>
                  <a:srgbClr val="334155"/>
                </a:solidFill>
                <a:latin typeface="Lato" panose="020F0502020204030203"/>
              </a:rPr>
              <a:t> </a:t>
            </a:r>
            <a:r>
              <a:rPr sz="1600" b="0" i="0" u="none">
                <a:solidFill>
                  <a:srgbClr val="334155"/>
                </a:solidFill>
                <a:latin typeface="Lato" panose="020F0502020204030203"/>
              </a:rPr>
              <a:t>.</a:t>
            </a:r>
            <a:endParaRPr sz="1600" b="0" i="0" u="none">
              <a:solidFill>
                <a:srgbClr val="334155"/>
              </a:solidFill>
              <a:latin typeface="Lato" panose="020F0502020204030203"/>
            </a:endParaRPr>
          </a:p>
        </p:txBody>
      </p:sp>
      <p:pic>
        <p:nvPicPr>
          <p:cNvPr id="5" name="Picture 23" descr="image.png"/>
          <p:cNvPicPr>
            <a:picLocks noChangeAspect="1"/>
          </p:cNvPicPr>
          <p:nvPr/>
        </p:nvPicPr>
        <p:blipFill>
          <a:blip r:embed="rId4"/>
          <a:stretch>
            <a:fillRect/>
          </a:stretch>
        </p:blipFill>
        <p:spPr>
          <a:xfrm>
            <a:off x="352425" y="2403792"/>
            <a:ext cx="238125" cy="200025"/>
          </a:xfrm>
          <a:prstGeom prst="rect">
            <a:avLst/>
          </a:prstGeom>
        </p:spPr>
      </p:pic>
      <p:pic>
        <p:nvPicPr>
          <p:cNvPr id="25" name="Picture 24" descr="image.png"/>
          <p:cNvPicPr>
            <a:picLocks noChangeAspect="1"/>
          </p:cNvPicPr>
          <p:nvPr/>
        </p:nvPicPr>
        <p:blipFill>
          <a:blip r:embed="rId5"/>
          <a:stretch>
            <a:fillRect/>
          </a:stretch>
        </p:blipFill>
        <p:spPr>
          <a:xfrm>
            <a:off x="352425" y="3327717"/>
            <a:ext cx="190500" cy="200025"/>
          </a:xfrm>
          <a:prstGeom prst="rect">
            <a:avLst/>
          </a:prstGeom>
        </p:spPr>
      </p:pic>
      <p:pic>
        <p:nvPicPr>
          <p:cNvPr id="26" name="Picture 25" descr="image.png"/>
          <p:cNvPicPr>
            <a:picLocks noChangeAspect="1"/>
          </p:cNvPicPr>
          <p:nvPr/>
        </p:nvPicPr>
        <p:blipFill>
          <a:blip r:embed="rId6"/>
          <a:stretch>
            <a:fillRect/>
          </a:stretch>
        </p:blipFill>
        <p:spPr>
          <a:xfrm>
            <a:off x="352425" y="4251642"/>
            <a:ext cx="123825" cy="2000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9" name="Google Shape;149;p16"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51" name="Google Shape;151;p16"/>
          <p:cNvSpPr txBox="1"/>
          <p:nvPr/>
        </p:nvSpPr>
        <p:spPr>
          <a:xfrm>
            <a:off x="9948862" y="471487"/>
            <a:ext cx="16716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LES LIMITATIONS MÉTIERS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2" name="Google Shape;152;p16"/>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3" name="Google Shape;153;p16"/>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2611120" y="2414905"/>
            <a:ext cx="7337425" cy="1399540"/>
          </a:xfrm>
          <a:prstGeom prst="rect">
            <a:avLst/>
          </a:prstGeom>
          <a:noFill/>
          <a:ln>
            <a:solidFill>
              <a:schemeClr val="tx1"/>
            </a:solidFill>
          </a:ln>
        </p:spPr>
        <p:txBody>
          <a:bodyPr wrap="square" rtlCol="0" anchor="t">
            <a:noAutofit/>
          </a:bodyPr>
          <a:p>
            <a:pPr marL="0" indent="0" algn="ctr">
              <a:lnSpc>
                <a:spcPct val="105000"/>
              </a:lnSpc>
              <a:buNone/>
            </a:pPr>
            <a:r>
              <a:rPr lang="en-US" sz="6600" b="1">
                <a:solidFill>
                  <a:srgbClr val="1E293B"/>
                </a:solidFill>
                <a:latin typeface="Poppins" panose="00000500000000000000"/>
                <a:ea typeface="Poppins" panose="00000500000000000000"/>
                <a:cs typeface="Poppins" panose="00000500000000000000"/>
                <a:sym typeface="Poppins" panose="00000500000000000000"/>
              </a:rPr>
              <a:t>Pro</a:t>
            </a:r>
            <a:r>
              <a:rPr lang="fr-FR" altLang="en-US" sz="6600" b="1">
                <a:solidFill>
                  <a:srgbClr val="1E293B"/>
                </a:solidFill>
                <a:latin typeface="Poppins" panose="00000500000000000000"/>
                <a:ea typeface="Poppins" panose="00000500000000000000"/>
                <a:cs typeface="Poppins" panose="00000500000000000000"/>
                <a:sym typeface="Poppins" panose="00000500000000000000"/>
              </a:rPr>
              <a:t>blématique</a:t>
            </a:r>
            <a:endParaRPr lang="fr-FR" altLang="en-US" sz="6600" b="1" dirty="0">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9" name="Google Shape;149;p16"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52" name="Google Shape;152;p16"/>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3" name="Google Shape;153;p16"/>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1" name="Shape 0"/>
          <p:cNvSpPr/>
          <p:nvPr/>
        </p:nvSpPr>
        <p:spPr>
          <a:xfrm>
            <a:off x="571500" y="1266190"/>
            <a:ext cx="3291840" cy="384048"/>
          </a:xfrm>
          <a:prstGeom prst="roundRect">
            <a:avLst>
              <a:gd name="adj" fmla="val 50000"/>
            </a:avLst>
          </a:prstGeom>
          <a:solidFill>
            <a:schemeClr val="bg2">
              <a:lumMod val="60000"/>
              <a:lumOff val="40000"/>
            </a:schemeClr>
          </a:solidFill>
        </p:spPr>
      </p:sp>
      <p:sp>
        <p:nvSpPr>
          <p:cNvPr id="22" name="Text 1"/>
          <p:cNvSpPr/>
          <p:nvPr/>
        </p:nvSpPr>
        <p:spPr>
          <a:xfrm>
            <a:off x="571500" y="1266190"/>
            <a:ext cx="3291840" cy="384048"/>
          </a:xfrm>
          <a:prstGeom prst="rect">
            <a:avLst/>
          </a:prstGeom>
          <a:noFill/>
        </p:spPr>
        <p:txBody>
          <a:bodyPr wrap="square" rtlCol="0" anchor="ctr"/>
          <a:lstStyle/>
          <a:p>
            <a:pPr marL="0" indent="0" algn="ctr">
              <a:buNone/>
            </a:pPr>
            <a:r>
              <a:rPr lang="en-US" sz="12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ARCHIVAGE PAPIER</a:t>
            </a:r>
            <a:endParaRPr lang="en-US" sz="1200" dirty="0"/>
          </a:p>
        </p:txBody>
      </p:sp>
      <p:sp>
        <p:nvSpPr>
          <p:cNvPr id="23" name="Text 2"/>
          <p:cNvSpPr/>
          <p:nvPr/>
        </p:nvSpPr>
        <p:spPr>
          <a:xfrm>
            <a:off x="571500" y="1860550"/>
            <a:ext cx="6766560" cy="1005840"/>
          </a:xfrm>
          <a:prstGeom prst="rect">
            <a:avLst/>
          </a:prstGeom>
          <a:noFill/>
        </p:spPr>
        <p:txBody>
          <a:bodyPr wrap="square" rtlCol="0" anchor="ctr"/>
          <a:lstStyle/>
          <a:p>
            <a:pPr marL="0" indent="0">
              <a:lnSpc>
                <a:spcPct val="105000"/>
              </a:lnSpc>
              <a:buNone/>
            </a:pPr>
            <a:r>
              <a:rPr lang="en-US" sz="3000" b="1" dirty="0">
                <a:solidFill>
                  <a:srgbClr val="1B2A4A"/>
                </a:solidFill>
                <a:latin typeface="Cambria" panose="02040503050406030204" pitchFamily="34" charset="0"/>
                <a:ea typeface="Cambria" panose="02040503050406030204" pitchFamily="34" charset="-122"/>
                <a:cs typeface="Cambria" panose="02040503050406030204" pitchFamily="34" charset="-120"/>
              </a:rPr>
              <a:t>Pertes d'informations </a:t>
            </a:r>
            <a:endParaRPr lang="en-US" sz="3000" dirty="0"/>
          </a:p>
        </p:txBody>
      </p:sp>
      <p:sp>
        <p:nvSpPr>
          <p:cNvPr id="24" name="Text 3"/>
          <p:cNvSpPr/>
          <p:nvPr/>
        </p:nvSpPr>
        <p:spPr>
          <a:xfrm>
            <a:off x="571500" y="3003550"/>
            <a:ext cx="6309360" cy="1188720"/>
          </a:xfrm>
          <a:prstGeom prst="rect">
            <a:avLst/>
          </a:prstGeom>
          <a:noFill/>
        </p:spPr>
        <p:txBody>
          <a:bodyPr wrap="square" rtlCol="0" anchor="ctr"/>
          <a:lstStyle/>
          <a:p>
            <a:pPr marL="0" indent="0">
              <a:lnSpc>
                <a:spcPct val="135000"/>
              </a:lnSpc>
              <a:buNone/>
            </a:pPr>
            <a:r>
              <a:rPr 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L'archivage sur carnets papier ou registres physiques expose à d'importants risques d'altération et de destruction accidentelle.</a:t>
            </a:r>
            <a:endParaRPr 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endParaRPr>
          </a:p>
        </p:txBody>
      </p:sp>
      <p:sp>
        <p:nvSpPr>
          <p:cNvPr id="25" name="Shape 4"/>
          <p:cNvSpPr/>
          <p:nvPr/>
        </p:nvSpPr>
        <p:spPr>
          <a:xfrm>
            <a:off x="571500" y="4512310"/>
            <a:ext cx="6309360" cy="1417320"/>
          </a:xfrm>
          <a:prstGeom prst="roundRect">
            <a:avLst>
              <a:gd name="adj" fmla="val 5161"/>
            </a:avLst>
          </a:prstGeom>
          <a:solidFill>
            <a:srgbClr val="F2F4F8"/>
          </a:solidFill>
        </p:spPr>
      </p:sp>
      <p:sp>
        <p:nvSpPr>
          <p:cNvPr id="26" name="Text 5"/>
          <p:cNvSpPr/>
          <p:nvPr/>
        </p:nvSpPr>
        <p:spPr>
          <a:xfrm>
            <a:off x="845820" y="4695190"/>
            <a:ext cx="2743200" cy="274320"/>
          </a:xfrm>
          <a:prstGeom prst="rect">
            <a:avLst/>
          </a:prstGeom>
          <a:noFill/>
        </p:spPr>
        <p:txBody>
          <a:bodyPr wrap="square" rtlCol="0" anchor="ctr"/>
          <a:lstStyle/>
          <a:p>
            <a:pPr marL="0" indent="0">
              <a:buNone/>
            </a:pPr>
            <a:r>
              <a:rPr lang="en-US" sz="1800" b="1" kern="0" spc="150" dirty="0">
                <a:solidFill>
                  <a:srgbClr val="C1443B"/>
                </a:solidFill>
                <a:latin typeface="Calibri" panose="020F0502020204030204" pitchFamily="34" charset="0"/>
                <a:ea typeface="Calibri" panose="020F0502020204030204" pitchFamily="34" charset="-122"/>
                <a:cs typeface="Calibri" panose="020F0502020204030204" pitchFamily="34" charset="-120"/>
              </a:rPr>
              <a:t>RISQUE</a:t>
            </a:r>
            <a:endParaRPr lang="en-US" sz="1800" b="1" kern="0" spc="150" dirty="0">
              <a:solidFill>
                <a:srgbClr val="C1443B"/>
              </a:solidFill>
              <a:latin typeface="Calibri" panose="020F0502020204030204" pitchFamily="34" charset="0"/>
              <a:ea typeface="Calibri" panose="020F0502020204030204" pitchFamily="34" charset="-122"/>
              <a:cs typeface="Calibri" panose="020F0502020204030204" pitchFamily="34" charset="-120"/>
            </a:endParaRPr>
          </a:p>
        </p:txBody>
      </p:sp>
      <p:sp>
        <p:nvSpPr>
          <p:cNvPr id="27" name="Text 6"/>
          <p:cNvSpPr/>
          <p:nvPr/>
        </p:nvSpPr>
        <p:spPr>
          <a:xfrm>
            <a:off x="845820" y="4969510"/>
            <a:ext cx="5760720" cy="868680"/>
          </a:xfrm>
          <a:prstGeom prst="rect">
            <a:avLst/>
          </a:prstGeom>
          <a:noFill/>
        </p:spPr>
        <p:txBody>
          <a:bodyPr wrap="square" rtlCol="0" anchor="ctr"/>
          <a:lstStyle/>
          <a:p>
            <a:pPr marL="0" indent="0">
              <a:lnSpc>
                <a:spcPct val="125000"/>
              </a:lnSpc>
              <a:buNone/>
            </a:pPr>
            <a:r>
              <a:rPr 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Perte définitive et irréversible des données de l'activité aucune sauvegarde, aucune traçabilité.</a:t>
            </a:r>
            <a:endParaRPr 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endParaRPr>
          </a:p>
        </p:txBody>
      </p:sp>
      <p:sp>
        <p:nvSpPr>
          <p:cNvPr id="28" name="Shape 7"/>
          <p:cNvSpPr/>
          <p:nvPr/>
        </p:nvSpPr>
        <p:spPr>
          <a:xfrm>
            <a:off x="7703820" y="2180590"/>
            <a:ext cx="3108960" cy="1965960"/>
          </a:xfrm>
          <a:prstGeom prst="roundRect">
            <a:avLst>
              <a:gd name="adj" fmla="val 2791"/>
            </a:avLst>
          </a:prstGeom>
          <a:solidFill>
            <a:srgbClr val="F2F4F8"/>
          </a:solidFill>
          <a:ln w="9525">
            <a:solidFill>
              <a:srgbClr val="C3CADA"/>
            </a:solidFill>
            <a:prstDash val="solid"/>
          </a:ln>
        </p:spPr>
      </p:sp>
      <p:sp>
        <p:nvSpPr>
          <p:cNvPr id="29" name="Shape 8"/>
          <p:cNvSpPr/>
          <p:nvPr/>
        </p:nvSpPr>
        <p:spPr>
          <a:xfrm>
            <a:off x="7904988" y="2436622"/>
            <a:ext cx="3108960" cy="1965960"/>
          </a:xfrm>
          <a:prstGeom prst="roundRect">
            <a:avLst>
              <a:gd name="adj" fmla="val 2791"/>
            </a:avLst>
          </a:prstGeom>
          <a:solidFill>
            <a:srgbClr val="E3E7EF"/>
          </a:solidFill>
          <a:ln w="9525">
            <a:solidFill>
              <a:srgbClr val="C3CADA"/>
            </a:solidFill>
            <a:prstDash val="solid"/>
          </a:ln>
        </p:spPr>
      </p:sp>
      <p:sp>
        <p:nvSpPr>
          <p:cNvPr id="30" name="Shape 9"/>
          <p:cNvSpPr/>
          <p:nvPr/>
        </p:nvSpPr>
        <p:spPr>
          <a:xfrm>
            <a:off x="8106156" y="2692654"/>
            <a:ext cx="3108960" cy="1965960"/>
          </a:xfrm>
          <a:prstGeom prst="roundRect">
            <a:avLst>
              <a:gd name="adj" fmla="val 2791"/>
            </a:avLst>
          </a:prstGeom>
          <a:solidFill>
            <a:srgbClr val="D5DAE6"/>
          </a:solidFill>
          <a:ln w="9525">
            <a:solidFill>
              <a:srgbClr val="C3CADA"/>
            </a:solidFill>
            <a:prstDash val="solid"/>
          </a:ln>
          <a:effectLst>
            <a:outerShdw blurRad="76200" dist="38100" dir="5400000" algn="bl" rotWithShape="0">
              <a:srgbClr val="666677">
                <a:alpha val="25000"/>
              </a:srgbClr>
            </a:outerShdw>
          </a:effectLst>
        </p:spPr>
      </p:sp>
      <p:sp>
        <p:nvSpPr>
          <p:cNvPr id="31" name="Shape 10"/>
          <p:cNvSpPr/>
          <p:nvPr/>
        </p:nvSpPr>
        <p:spPr>
          <a:xfrm>
            <a:off x="8023860" y="2564638"/>
            <a:ext cx="2468880" cy="0"/>
          </a:xfrm>
          <a:prstGeom prst="line">
            <a:avLst/>
          </a:prstGeom>
          <a:noFill/>
          <a:ln w="12700">
            <a:solidFill>
              <a:srgbClr val="AEB7C7"/>
            </a:solidFill>
            <a:prstDash val="solid"/>
          </a:ln>
        </p:spPr>
      </p:sp>
      <p:sp>
        <p:nvSpPr>
          <p:cNvPr id="32" name="Shape 11"/>
          <p:cNvSpPr/>
          <p:nvPr/>
        </p:nvSpPr>
        <p:spPr>
          <a:xfrm>
            <a:off x="8023860" y="2857246"/>
            <a:ext cx="2468880" cy="0"/>
          </a:xfrm>
          <a:prstGeom prst="line">
            <a:avLst/>
          </a:prstGeom>
          <a:noFill/>
          <a:ln w="12700">
            <a:solidFill>
              <a:srgbClr val="AEB7C7"/>
            </a:solidFill>
            <a:prstDash val="solid"/>
          </a:ln>
        </p:spPr>
      </p:sp>
      <p:sp>
        <p:nvSpPr>
          <p:cNvPr id="33" name="Shape 12"/>
          <p:cNvSpPr/>
          <p:nvPr/>
        </p:nvSpPr>
        <p:spPr>
          <a:xfrm>
            <a:off x="8023860" y="3149854"/>
            <a:ext cx="2468880" cy="0"/>
          </a:xfrm>
          <a:prstGeom prst="line">
            <a:avLst/>
          </a:prstGeom>
          <a:noFill/>
          <a:ln w="12700">
            <a:solidFill>
              <a:srgbClr val="AEB7C7"/>
            </a:solidFill>
            <a:prstDash val="solid"/>
          </a:ln>
        </p:spPr>
      </p:sp>
      <p:sp>
        <p:nvSpPr>
          <p:cNvPr id="34" name="Shape 13"/>
          <p:cNvSpPr/>
          <p:nvPr/>
        </p:nvSpPr>
        <p:spPr>
          <a:xfrm>
            <a:off x="8023860" y="3442462"/>
            <a:ext cx="2468880" cy="0"/>
          </a:xfrm>
          <a:prstGeom prst="line">
            <a:avLst/>
          </a:prstGeom>
          <a:noFill/>
          <a:ln w="12700">
            <a:solidFill>
              <a:srgbClr val="AEB7C7"/>
            </a:solidFill>
            <a:prstDash val="solid"/>
          </a:ln>
        </p:spPr>
      </p:sp>
      <p:sp>
        <p:nvSpPr>
          <p:cNvPr id="35" name="Shape 14"/>
          <p:cNvSpPr/>
          <p:nvPr/>
        </p:nvSpPr>
        <p:spPr>
          <a:xfrm>
            <a:off x="8023860" y="3735070"/>
            <a:ext cx="2468880" cy="0"/>
          </a:xfrm>
          <a:prstGeom prst="line">
            <a:avLst/>
          </a:prstGeom>
          <a:noFill/>
          <a:ln w="12700">
            <a:solidFill>
              <a:srgbClr val="AEB7C7"/>
            </a:solidFill>
            <a:prstDash val="solid"/>
          </a:ln>
        </p:spPr>
      </p:sp>
      <p:sp>
        <p:nvSpPr>
          <p:cNvPr id="36" name="Shape 15"/>
          <p:cNvSpPr/>
          <p:nvPr/>
        </p:nvSpPr>
        <p:spPr>
          <a:xfrm rot="-1080000" flipV="1">
            <a:off x="7566660" y="3597910"/>
            <a:ext cx="3657600" cy="822960"/>
          </a:xfrm>
          <a:prstGeom prst="line">
            <a:avLst/>
          </a:prstGeom>
          <a:noFill/>
          <a:ln w="28575">
            <a:solidFill>
              <a:srgbClr val="C1443B"/>
            </a:solidFill>
            <a:prstDash val="solid"/>
          </a:ln>
        </p:spPr>
      </p:sp>
      <p:sp>
        <p:nvSpPr>
          <p:cNvPr id="37" name="Shape 16"/>
          <p:cNvSpPr/>
          <p:nvPr/>
        </p:nvSpPr>
        <p:spPr>
          <a:xfrm>
            <a:off x="10035540" y="1860550"/>
            <a:ext cx="960120" cy="960120"/>
          </a:xfrm>
          <a:prstGeom prst="ellipse">
            <a:avLst/>
          </a:prstGeom>
          <a:solidFill>
            <a:schemeClr val="bg1"/>
          </a:solidFill>
        </p:spPr>
      </p:sp>
      <p:pic>
        <p:nvPicPr>
          <p:cNvPr id="38" name="Image 0" descr="icon-file-warning.png"/>
          <p:cNvPicPr>
            <a:picLocks noChangeAspect="1"/>
          </p:cNvPicPr>
          <p:nvPr/>
        </p:nvPicPr>
        <p:blipFill>
          <a:blip r:embed="rId3"/>
          <a:stretch>
            <a:fillRect/>
          </a:stretch>
        </p:blipFill>
        <p:spPr>
          <a:xfrm>
            <a:off x="10251567" y="2076577"/>
            <a:ext cx="528066" cy="52806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9" name="Google Shape;149;p16"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52" name="Google Shape;152;p16"/>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3" name="Google Shape;153;p16"/>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2" name="Text 1"/>
          <p:cNvSpPr/>
          <p:nvPr/>
        </p:nvSpPr>
        <p:spPr>
          <a:xfrm>
            <a:off x="571500" y="1266190"/>
            <a:ext cx="3291840" cy="384048"/>
          </a:xfrm>
          <a:prstGeom prst="rect">
            <a:avLst/>
          </a:prstGeom>
          <a:noFill/>
        </p:spPr>
        <p:txBody>
          <a:bodyPr wrap="square" rtlCol="0" anchor="ctr"/>
          <a:lstStyle/>
          <a:p>
            <a:pPr marL="0" indent="0" algn="ctr">
              <a:buNone/>
            </a:pPr>
            <a:r>
              <a:rPr lang="en-US" sz="12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ARCHIVAGE PAPIER</a:t>
            </a:r>
            <a:endParaRPr lang="en-US" sz="1200" dirty="0"/>
          </a:p>
        </p:txBody>
      </p:sp>
      <p:sp>
        <p:nvSpPr>
          <p:cNvPr id="2" name="Shape 0"/>
          <p:cNvSpPr/>
          <p:nvPr/>
        </p:nvSpPr>
        <p:spPr>
          <a:xfrm>
            <a:off x="640080" y="1120140"/>
            <a:ext cx="3291840" cy="384048"/>
          </a:xfrm>
          <a:prstGeom prst="roundRect">
            <a:avLst>
              <a:gd name="adj" fmla="val 50000"/>
            </a:avLst>
          </a:prstGeom>
          <a:solidFill>
            <a:schemeClr val="bg2">
              <a:lumMod val="60000"/>
              <a:lumOff val="40000"/>
            </a:schemeClr>
          </a:solidFill>
        </p:spPr>
      </p:sp>
      <p:sp>
        <p:nvSpPr>
          <p:cNvPr id="3" name="Text 1"/>
          <p:cNvSpPr/>
          <p:nvPr/>
        </p:nvSpPr>
        <p:spPr>
          <a:xfrm>
            <a:off x="640080" y="1120140"/>
            <a:ext cx="3291840" cy="384048"/>
          </a:xfrm>
          <a:prstGeom prst="rect">
            <a:avLst/>
          </a:prstGeom>
          <a:noFill/>
        </p:spPr>
        <p:txBody>
          <a:bodyPr wrap="square" rtlCol="0" anchor="ctr"/>
          <a:lstStyle/>
          <a:p>
            <a:pPr marL="0" indent="0" algn="ctr">
              <a:buNone/>
            </a:pPr>
            <a:r>
              <a:rPr lang="en-US" sz="12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TRÉSORERIE</a:t>
            </a:r>
            <a:endParaRPr lang="en-US" sz="1200" dirty="0"/>
          </a:p>
        </p:txBody>
      </p:sp>
      <p:sp>
        <p:nvSpPr>
          <p:cNvPr id="4" name="Text 2"/>
          <p:cNvSpPr/>
          <p:nvPr/>
        </p:nvSpPr>
        <p:spPr>
          <a:xfrm>
            <a:off x="640080" y="1714500"/>
            <a:ext cx="6766560" cy="751205"/>
          </a:xfrm>
          <a:prstGeom prst="rect">
            <a:avLst/>
          </a:prstGeom>
          <a:noFill/>
        </p:spPr>
        <p:txBody>
          <a:bodyPr wrap="square" rtlCol="0" anchor="ctr"/>
          <a:lstStyle/>
          <a:p>
            <a:pPr marL="0" indent="0">
              <a:lnSpc>
                <a:spcPct val="105000"/>
              </a:lnSpc>
              <a:buNone/>
            </a:pPr>
            <a:r>
              <a:rPr lang="en-US" sz="3000" b="1" dirty="0">
                <a:solidFill>
                  <a:srgbClr val="1B2A4A"/>
                </a:solidFill>
                <a:latin typeface="Cambria" panose="02040503050406030204" pitchFamily="34" charset="0"/>
                <a:ea typeface="Cambria" panose="02040503050406030204" pitchFamily="34" charset="-122"/>
                <a:cs typeface="Cambria" panose="02040503050406030204" pitchFamily="34" charset="-120"/>
              </a:rPr>
              <a:t>R</a:t>
            </a:r>
            <a:r>
              <a:rPr lang="fr-FR" altLang="en-US" sz="3000" b="1" dirty="0">
                <a:solidFill>
                  <a:srgbClr val="1B2A4A"/>
                </a:solidFill>
                <a:latin typeface="Cambria" panose="02040503050406030204" pitchFamily="34" charset="0"/>
                <a:ea typeface="Cambria" panose="02040503050406030204" pitchFamily="34" charset="-122"/>
                <a:cs typeface="Cambria" panose="02040503050406030204" pitchFamily="34" charset="-120"/>
              </a:rPr>
              <a:t>ecouvrement de loyer</a:t>
            </a:r>
            <a:r>
              <a:rPr lang="en-US" sz="3000" b="1" dirty="0">
                <a:solidFill>
                  <a:srgbClr val="1B2A4A"/>
                </a:solidFill>
                <a:latin typeface="Cambria" panose="02040503050406030204" pitchFamily="34" charset="0"/>
                <a:ea typeface="Cambria" panose="02040503050406030204" pitchFamily="34" charset="-122"/>
                <a:cs typeface="Cambria" panose="02040503050406030204" pitchFamily="34" charset="-120"/>
              </a:rPr>
              <a:t> </a:t>
            </a:r>
            <a:endParaRPr lang="en-US" sz="3000" dirty="0"/>
          </a:p>
        </p:txBody>
      </p:sp>
      <p:sp>
        <p:nvSpPr>
          <p:cNvPr id="5" name="Text 3"/>
          <p:cNvSpPr/>
          <p:nvPr/>
        </p:nvSpPr>
        <p:spPr>
          <a:xfrm>
            <a:off x="640080" y="2523490"/>
            <a:ext cx="6309360" cy="1704975"/>
          </a:xfrm>
          <a:prstGeom prst="rect">
            <a:avLst/>
          </a:prstGeom>
          <a:noFill/>
        </p:spPr>
        <p:txBody>
          <a:bodyPr wrap="square" rtlCol="0" anchor="ctr"/>
          <a:lstStyle/>
          <a:p>
            <a:pPr marL="0" indent="0">
              <a:lnSpc>
                <a:spcPct val="135000"/>
              </a:lnSpc>
              <a:buNone/>
            </a:pPr>
            <a:r>
              <a:rPr lang="en-US" altLang="fr-FR"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La persistance du r</a:t>
            </a:r>
            <a:r>
              <a:rPr lang="en-US" alt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è</a:t>
            </a:r>
            <a:r>
              <a:rPr lang="en-US" altLang="fr-FR"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glement des loyers de main à main (informel), alors m</a:t>
            </a:r>
            <a:r>
              <a:rPr lang="en-US" alt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ê</a:t>
            </a:r>
            <a:r>
              <a:rPr lang="en-US" altLang="fr-FR"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me qu'il existe une forte adh</a:t>
            </a:r>
            <a:r>
              <a:rPr lang="en-US" alt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é</a:t>
            </a:r>
            <a:r>
              <a:rPr lang="en-US" altLang="fr-FR"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sion des populations aux solutions de Mobile Money</a:t>
            </a:r>
            <a:r>
              <a:rPr 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a:t>
            </a:r>
            <a:endParaRPr 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endParaRPr>
          </a:p>
        </p:txBody>
      </p:sp>
      <p:sp>
        <p:nvSpPr>
          <p:cNvPr id="6" name="Shape 4"/>
          <p:cNvSpPr/>
          <p:nvPr/>
        </p:nvSpPr>
        <p:spPr>
          <a:xfrm>
            <a:off x="640080" y="4716780"/>
            <a:ext cx="6309360" cy="1417320"/>
          </a:xfrm>
          <a:prstGeom prst="roundRect">
            <a:avLst>
              <a:gd name="adj" fmla="val 5161"/>
            </a:avLst>
          </a:prstGeom>
          <a:solidFill>
            <a:srgbClr val="F2F4F8"/>
          </a:solidFill>
        </p:spPr>
      </p:sp>
      <p:sp>
        <p:nvSpPr>
          <p:cNvPr id="7" name="Text 5"/>
          <p:cNvSpPr/>
          <p:nvPr/>
        </p:nvSpPr>
        <p:spPr>
          <a:xfrm>
            <a:off x="914400" y="4464050"/>
            <a:ext cx="2743200" cy="274320"/>
          </a:xfrm>
          <a:prstGeom prst="rect">
            <a:avLst/>
          </a:prstGeom>
          <a:noFill/>
        </p:spPr>
        <p:txBody>
          <a:bodyPr wrap="square" rtlCol="0" anchor="ctr"/>
          <a:lstStyle/>
          <a:p>
            <a:pPr marL="0" indent="0">
              <a:buNone/>
            </a:pPr>
            <a:r>
              <a:rPr lang="en-US" sz="1800" b="1" kern="0" spc="150" dirty="0">
                <a:solidFill>
                  <a:srgbClr val="C1443B"/>
                </a:solidFill>
                <a:latin typeface="Calibri" panose="020F0502020204030204" pitchFamily="34" charset="0"/>
                <a:ea typeface="Calibri" panose="020F0502020204030204" pitchFamily="34" charset="-122"/>
                <a:cs typeface="Calibri" panose="020F0502020204030204" pitchFamily="34" charset="-120"/>
              </a:rPr>
              <a:t>IMPACT</a:t>
            </a:r>
            <a:endParaRPr lang="en-US" sz="1800" b="1" kern="0" spc="150" dirty="0">
              <a:solidFill>
                <a:srgbClr val="C1443B"/>
              </a:solidFill>
              <a:latin typeface="Calibri" panose="020F0502020204030204" pitchFamily="34" charset="0"/>
              <a:ea typeface="Calibri" panose="020F0502020204030204" pitchFamily="34" charset="-122"/>
              <a:cs typeface="Calibri" panose="020F0502020204030204" pitchFamily="34" charset="-120"/>
            </a:endParaRPr>
          </a:p>
        </p:txBody>
      </p:sp>
      <p:sp>
        <p:nvSpPr>
          <p:cNvPr id="8" name="Text 6"/>
          <p:cNvSpPr/>
          <p:nvPr/>
        </p:nvSpPr>
        <p:spPr>
          <a:xfrm>
            <a:off x="914400" y="4823460"/>
            <a:ext cx="5760720" cy="1174115"/>
          </a:xfrm>
          <a:prstGeom prst="rect">
            <a:avLst/>
          </a:prstGeom>
          <a:noFill/>
        </p:spPr>
        <p:txBody>
          <a:bodyPr wrap="square" rtlCol="0" anchor="ctr"/>
          <a:lstStyle/>
          <a:p>
            <a:pPr marL="0" indent="0">
              <a:lnSpc>
                <a:spcPct val="125000"/>
              </a:lnSpc>
              <a:buNone/>
            </a:pPr>
            <a:r>
              <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Risques financiers et administratifs : Absence de preuves num</a:t>
            </a:r>
            <a:r>
              <a:rPr lang="en-US" alt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é</a:t>
            </a:r>
            <a:r>
              <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riques instantan</a:t>
            </a:r>
            <a:r>
              <a:rPr lang="en-US" alt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é</a:t>
            </a:r>
            <a:r>
              <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es</a:t>
            </a:r>
            <a:r>
              <a:rPr lang="fr-FR" alt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 </a:t>
            </a:r>
            <a:r>
              <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et vuln</a:t>
            </a:r>
            <a:r>
              <a:rPr lang="en-US" alt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é</a:t>
            </a:r>
            <a:r>
              <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rabilit</a:t>
            </a:r>
            <a:r>
              <a:rPr lang="en-US" alt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é </a:t>
            </a:r>
            <a:r>
              <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face aux impay</a:t>
            </a:r>
            <a:r>
              <a:rPr lang="en-US" altLang="en-US"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é</a:t>
            </a:r>
            <a:r>
              <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rPr>
              <a:t>s</a:t>
            </a:r>
            <a:endParaRPr lang="en-US" altLang="fr-FR" sz="2000" dirty="0">
              <a:solidFill>
                <a:srgbClr val="1B2A4A"/>
              </a:solidFill>
              <a:latin typeface="Calibri" panose="020F0502020204030204" pitchFamily="34" charset="0"/>
              <a:ea typeface="Calibri" panose="020F0502020204030204" pitchFamily="34" charset="-122"/>
              <a:cs typeface="Calibri" panose="020F0502020204030204" pitchFamily="34" charset="-120"/>
            </a:endParaRPr>
          </a:p>
        </p:txBody>
      </p:sp>
      <p:sp>
        <p:nvSpPr>
          <p:cNvPr id="9" name="Shape 7"/>
          <p:cNvSpPr/>
          <p:nvPr/>
        </p:nvSpPr>
        <p:spPr>
          <a:xfrm>
            <a:off x="7635240" y="2125980"/>
            <a:ext cx="0" cy="2331720"/>
          </a:xfrm>
          <a:prstGeom prst="line">
            <a:avLst/>
          </a:prstGeom>
          <a:noFill/>
          <a:ln w="12700">
            <a:solidFill>
              <a:srgbClr val="C3CADA"/>
            </a:solidFill>
            <a:prstDash val="solid"/>
          </a:ln>
        </p:spPr>
      </p:sp>
      <p:sp>
        <p:nvSpPr>
          <p:cNvPr id="10" name="Shape 8"/>
          <p:cNvSpPr/>
          <p:nvPr/>
        </p:nvSpPr>
        <p:spPr>
          <a:xfrm>
            <a:off x="7635240" y="4457700"/>
            <a:ext cx="3749040" cy="0"/>
          </a:xfrm>
          <a:prstGeom prst="line">
            <a:avLst/>
          </a:prstGeom>
          <a:noFill/>
          <a:ln w="12700">
            <a:solidFill>
              <a:srgbClr val="C3CADA"/>
            </a:solidFill>
            <a:prstDash val="solid"/>
          </a:ln>
        </p:spPr>
      </p:sp>
      <p:sp>
        <p:nvSpPr>
          <p:cNvPr id="11" name="Shape 9"/>
          <p:cNvSpPr/>
          <p:nvPr/>
        </p:nvSpPr>
        <p:spPr>
          <a:xfrm>
            <a:off x="7863840" y="2475738"/>
            <a:ext cx="457200" cy="1981962"/>
          </a:xfrm>
          <a:prstGeom prst="roundRect">
            <a:avLst>
              <a:gd name="adj" fmla="val 6000"/>
            </a:avLst>
          </a:prstGeom>
          <a:solidFill>
            <a:srgbClr val="3E5273"/>
          </a:solidFill>
        </p:spPr>
      </p:sp>
      <p:sp>
        <p:nvSpPr>
          <p:cNvPr id="12" name="Shape 10"/>
          <p:cNvSpPr/>
          <p:nvPr/>
        </p:nvSpPr>
        <p:spPr>
          <a:xfrm>
            <a:off x="8577072" y="2825496"/>
            <a:ext cx="457200" cy="1632204"/>
          </a:xfrm>
          <a:prstGeom prst="roundRect">
            <a:avLst>
              <a:gd name="adj" fmla="val 6000"/>
            </a:avLst>
          </a:prstGeom>
          <a:solidFill>
            <a:srgbClr val="3E5273"/>
          </a:solidFill>
        </p:spPr>
      </p:sp>
      <p:sp>
        <p:nvSpPr>
          <p:cNvPr id="13" name="Shape 11"/>
          <p:cNvSpPr/>
          <p:nvPr/>
        </p:nvSpPr>
        <p:spPr>
          <a:xfrm>
            <a:off x="9290304" y="3175254"/>
            <a:ext cx="457200" cy="1282446"/>
          </a:xfrm>
          <a:prstGeom prst="roundRect">
            <a:avLst>
              <a:gd name="adj" fmla="val 6000"/>
            </a:avLst>
          </a:prstGeom>
          <a:solidFill>
            <a:srgbClr val="3E5273"/>
          </a:solidFill>
        </p:spPr>
      </p:sp>
      <p:sp>
        <p:nvSpPr>
          <p:cNvPr id="14" name="Shape 12"/>
          <p:cNvSpPr/>
          <p:nvPr/>
        </p:nvSpPr>
        <p:spPr>
          <a:xfrm>
            <a:off x="10003536" y="3478378"/>
            <a:ext cx="457200" cy="979322"/>
          </a:xfrm>
          <a:prstGeom prst="roundRect">
            <a:avLst>
              <a:gd name="adj" fmla="val 6000"/>
            </a:avLst>
          </a:prstGeom>
          <a:solidFill>
            <a:srgbClr val="C1443B"/>
          </a:solidFill>
        </p:spPr>
      </p:sp>
      <p:sp>
        <p:nvSpPr>
          <p:cNvPr id="15" name="Shape 13"/>
          <p:cNvSpPr/>
          <p:nvPr/>
        </p:nvSpPr>
        <p:spPr>
          <a:xfrm>
            <a:off x="10716768" y="3758184"/>
            <a:ext cx="457200" cy="699516"/>
          </a:xfrm>
          <a:prstGeom prst="roundRect">
            <a:avLst>
              <a:gd name="adj" fmla="val 6000"/>
            </a:avLst>
          </a:prstGeom>
          <a:solidFill>
            <a:srgbClr val="C1443B"/>
          </a:solidFill>
        </p:spPr>
      </p:sp>
      <p:sp>
        <p:nvSpPr>
          <p:cNvPr id="17" name="Shape 15"/>
          <p:cNvSpPr/>
          <p:nvPr/>
        </p:nvSpPr>
        <p:spPr>
          <a:xfrm>
            <a:off x="10469880" y="1623060"/>
            <a:ext cx="914400" cy="914400"/>
          </a:xfrm>
          <a:prstGeom prst="ellipse">
            <a:avLst/>
          </a:prstGeom>
          <a:solidFill>
            <a:schemeClr val="bg1"/>
          </a:solidFill>
        </p:spPr>
      </p:sp>
      <p:pic>
        <p:nvPicPr>
          <p:cNvPr id="18" name="Image 0" descr="icon-clock.png"/>
          <p:cNvPicPr>
            <a:picLocks noChangeAspect="1"/>
          </p:cNvPicPr>
          <p:nvPr/>
        </p:nvPicPr>
        <p:blipFill>
          <a:blip r:embed="rId3"/>
          <a:stretch>
            <a:fillRect/>
          </a:stretch>
        </p:blipFill>
        <p:spPr>
          <a:xfrm>
            <a:off x="10675620" y="1828800"/>
            <a:ext cx="502920" cy="502920"/>
          </a:xfrm>
          <a:prstGeom prst="rect">
            <a:avLst/>
          </a:prstGeom>
        </p:spPr>
      </p:pic>
      <p:sp>
        <p:nvSpPr>
          <p:cNvPr id="19" name="Shape 16"/>
          <p:cNvSpPr/>
          <p:nvPr/>
        </p:nvSpPr>
        <p:spPr>
          <a:xfrm>
            <a:off x="7498080" y="1623060"/>
            <a:ext cx="914400" cy="914400"/>
          </a:xfrm>
          <a:prstGeom prst="ellipse">
            <a:avLst/>
          </a:prstGeom>
          <a:solidFill>
            <a:srgbClr val="F2F4F8"/>
          </a:solidFill>
        </p:spPr>
      </p:sp>
      <p:pic>
        <p:nvPicPr>
          <p:cNvPr id="20" name="Image 1" descr="icon-receipt.png"/>
          <p:cNvPicPr>
            <a:picLocks noChangeAspect="1"/>
          </p:cNvPicPr>
          <p:nvPr/>
        </p:nvPicPr>
        <p:blipFill>
          <a:blip r:embed="rId4"/>
          <a:stretch>
            <a:fillRect/>
          </a:stretch>
        </p:blipFill>
        <p:spPr>
          <a:xfrm>
            <a:off x="7703820" y="1828800"/>
            <a:ext cx="502920" cy="5029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9" name="Google Shape;149;p16"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52" name="Google Shape;152;p16"/>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3" name="Google Shape;153;p16"/>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 name="Shape 0"/>
          <p:cNvSpPr/>
          <p:nvPr/>
        </p:nvSpPr>
        <p:spPr>
          <a:xfrm>
            <a:off x="640080" y="1120140"/>
            <a:ext cx="3291840" cy="384048"/>
          </a:xfrm>
          <a:prstGeom prst="roundRect">
            <a:avLst>
              <a:gd name="adj" fmla="val 50000"/>
            </a:avLst>
          </a:prstGeom>
          <a:solidFill>
            <a:srgbClr val="D9A441"/>
          </a:solidFill>
        </p:spPr>
      </p:sp>
      <p:sp>
        <p:nvSpPr>
          <p:cNvPr id="3" name="Text 1"/>
          <p:cNvSpPr/>
          <p:nvPr/>
        </p:nvSpPr>
        <p:spPr>
          <a:xfrm>
            <a:off x="640080" y="1120140"/>
            <a:ext cx="3291840" cy="384048"/>
          </a:xfrm>
          <a:prstGeom prst="rect">
            <a:avLst/>
          </a:prstGeom>
          <a:solidFill>
            <a:schemeClr val="bg2">
              <a:lumMod val="60000"/>
              <a:lumOff val="40000"/>
            </a:schemeClr>
          </a:solidFill>
        </p:spPr>
        <p:txBody>
          <a:bodyPr wrap="square" rtlCol="0" anchor="ctr"/>
          <a:lstStyle/>
          <a:p>
            <a:pPr marL="0" indent="0" algn="ctr">
              <a:buNone/>
            </a:pPr>
            <a:r>
              <a:rPr lang="en-US" sz="12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COMMUNICATION</a:t>
            </a:r>
            <a:endParaRPr lang="en-US" sz="1200" dirty="0"/>
          </a:p>
        </p:txBody>
      </p:sp>
      <p:sp>
        <p:nvSpPr>
          <p:cNvPr id="4" name="Text 2"/>
          <p:cNvSpPr/>
          <p:nvPr/>
        </p:nvSpPr>
        <p:spPr>
          <a:xfrm>
            <a:off x="640080" y="1714500"/>
            <a:ext cx="6766560" cy="1005840"/>
          </a:xfrm>
          <a:prstGeom prst="rect">
            <a:avLst/>
          </a:prstGeom>
          <a:noFill/>
        </p:spPr>
        <p:txBody>
          <a:bodyPr wrap="square" rtlCol="0" anchor="ctr"/>
          <a:lstStyle/>
          <a:p>
            <a:pPr marL="0" indent="0">
              <a:lnSpc>
                <a:spcPct val="105000"/>
              </a:lnSpc>
              <a:buNone/>
            </a:pPr>
            <a:r>
              <a:rPr lang="en-US" sz="3000" b="1" dirty="0">
                <a:solidFill>
                  <a:srgbClr val="1B2A4A"/>
                </a:solidFill>
                <a:latin typeface="Cambria" panose="02040503050406030204" pitchFamily="34" charset="0"/>
                <a:ea typeface="Cambria" panose="02040503050406030204" pitchFamily="34" charset="-122"/>
                <a:cs typeface="Cambria" panose="02040503050406030204" pitchFamily="34" charset="-120"/>
              </a:rPr>
              <a:t>Absence de canal partagé</a:t>
            </a:r>
            <a:endParaRPr lang="en-US" sz="3000" dirty="0"/>
          </a:p>
        </p:txBody>
      </p:sp>
      <p:sp>
        <p:nvSpPr>
          <p:cNvPr id="5" name="Text 3"/>
          <p:cNvSpPr/>
          <p:nvPr/>
        </p:nvSpPr>
        <p:spPr>
          <a:xfrm>
            <a:off x="640080" y="2721610"/>
            <a:ext cx="6309360" cy="1188720"/>
          </a:xfrm>
          <a:prstGeom prst="rect">
            <a:avLst/>
          </a:prstGeom>
          <a:noFill/>
        </p:spPr>
        <p:txBody>
          <a:bodyPr wrap="square" rtlCol="0" anchor="ctr"/>
          <a:lstStyle/>
          <a:p>
            <a:pPr marL="0" indent="0">
              <a:lnSpc>
                <a:spcPct val="135000"/>
              </a:lnSpc>
              <a:buNone/>
            </a:pPr>
            <a:r>
              <a:rPr 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Sans passerelle transparente</a:t>
            </a:r>
            <a:r>
              <a:rPr lang="fr-FR" alt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 entre bailleur et locataire</a:t>
            </a:r>
            <a:r>
              <a:rPr 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 l</a:t>
            </a:r>
            <a:r>
              <a:rPr lang="fr-FR" alt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a confiance s’amenuise </a:t>
            </a:r>
            <a:r>
              <a:rPr 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rPr>
              <a:t>des deux côtés.</a:t>
            </a:r>
            <a:endParaRPr lang="en-US" altLang="en-US" sz="2000" dirty="0">
              <a:solidFill>
                <a:srgbClr val="5B6472"/>
              </a:solidFill>
              <a:latin typeface="Calibri" panose="020F0502020204030204" pitchFamily="34" charset="0"/>
              <a:ea typeface="Calibri" panose="020F0502020204030204" pitchFamily="34" charset="-122"/>
              <a:cs typeface="Calibri" panose="020F0502020204030204" pitchFamily="34" charset="-120"/>
            </a:endParaRPr>
          </a:p>
        </p:txBody>
      </p:sp>
      <p:sp>
        <p:nvSpPr>
          <p:cNvPr id="6" name="Shape 4"/>
          <p:cNvSpPr/>
          <p:nvPr/>
        </p:nvSpPr>
        <p:spPr>
          <a:xfrm>
            <a:off x="640080" y="4366260"/>
            <a:ext cx="6309360" cy="1417320"/>
          </a:xfrm>
          <a:prstGeom prst="roundRect">
            <a:avLst>
              <a:gd name="adj" fmla="val 5161"/>
            </a:avLst>
          </a:prstGeom>
          <a:solidFill>
            <a:srgbClr val="F2F4F8"/>
          </a:solidFill>
        </p:spPr>
      </p:sp>
      <p:sp>
        <p:nvSpPr>
          <p:cNvPr id="7" name="Text 5"/>
          <p:cNvSpPr/>
          <p:nvPr/>
        </p:nvSpPr>
        <p:spPr>
          <a:xfrm>
            <a:off x="914400" y="4549140"/>
            <a:ext cx="3200400" cy="274320"/>
          </a:xfrm>
          <a:prstGeom prst="rect">
            <a:avLst/>
          </a:prstGeom>
          <a:noFill/>
        </p:spPr>
        <p:txBody>
          <a:bodyPr wrap="square" rtlCol="0" anchor="ctr"/>
          <a:lstStyle/>
          <a:p>
            <a:pPr marL="0" indent="0">
              <a:buNone/>
            </a:pPr>
            <a:r>
              <a:rPr lang="en-US" sz="1600" b="1" kern="0" spc="150" dirty="0">
                <a:solidFill>
                  <a:schemeClr val="accent2"/>
                </a:solidFill>
                <a:latin typeface="Calibri" panose="020F0502020204030204" pitchFamily="34" charset="0"/>
                <a:ea typeface="Calibri" panose="020F0502020204030204" pitchFamily="34" charset="-122"/>
                <a:cs typeface="Calibri" panose="020F0502020204030204" pitchFamily="34" charset="-120"/>
              </a:rPr>
              <a:t>CONSÉQUENCE</a:t>
            </a:r>
            <a:endParaRPr lang="en-US" sz="1600" b="1" kern="0" spc="150" dirty="0">
              <a:solidFill>
                <a:schemeClr val="accent2"/>
              </a:solidFill>
              <a:latin typeface="Calibri" panose="020F0502020204030204" pitchFamily="34" charset="0"/>
              <a:ea typeface="Calibri" panose="020F0502020204030204" pitchFamily="34" charset="-122"/>
              <a:cs typeface="Calibri" panose="020F0502020204030204" pitchFamily="34" charset="-120"/>
            </a:endParaRPr>
          </a:p>
        </p:txBody>
      </p:sp>
      <p:sp>
        <p:nvSpPr>
          <p:cNvPr id="8" name="Text 6"/>
          <p:cNvSpPr/>
          <p:nvPr/>
        </p:nvSpPr>
        <p:spPr>
          <a:xfrm>
            <a:off x="914400" y="4823460"/>
            <a:ext cx="5760720" cy="868680"/>
          </a:xfrm>
          <a:prstGeom prst="rect">
            <a:avLst/>
          </a:prstGeom>
          <a:noFill/>
        </p:spPr>
        <p:txBody>
          <a:bodyPr wrap="square" rtlCol="0" anchor="ctr"/>
          <a:lstStyle/>
          <a:p>
            <a:pPr marL="0" indent="0">
              <a:lnSpc>
                <a:spcPct val="125000"/>
              </a:lnSpc>
              <a:buNone/>
            </a:pPr>
            <a:r>
              <a:rPr lang="en-US" sz="1800" dirty="0">
                <a:solidFill>
                  <a:srgbClr val="1B2A4A"/>
                </a:solidFill>
                <a:latin typeface="Calibri" panose="020F0502020204030204" pitchFamily="34" charset="0"/>
                <a:ea typeface="Calibri" panose="020F0502020204030204" pitchFamily="34" charset="-122"/>
                <a:cs typeface="Calibri" panose="020F0502020204030204" pitchFamily="34" charset="-120"/>
              </a:rPr>
              <a:t>Frustration réciproque : ni visibilité partagée, ni preuve de paiement immédiate entre les parties</a:t>
            </a:r>
            <a:r>
              <a:rPr lang="fr-FR" altLang="en-US" sz="1800" dirty="0">
                <a:solidFill>
                  <a:srgbClr val="1B2A4A"/>
                </a:solidFill>
                <a:latin typeface="Calibri" panose="020F0502020204030204" pitchFamily="34" charset="0"/>
                <a:ea typeface="Calibri" panose="020F0502020204030204" pitchFamily="34" charset="-122"/>
                <a:cs typeface="Calibri" panose="020F0502020204030204" pitchFamily="34" charset="-120"/>
              </a:rPr>
              <a:t>, aucune tracabilité</a:t>
            </a:r>
            <a:r>
              <a:rPr lang="en-US" sz="1800" dirty="0">
                <a:solidFill>
                  <a:srgbClr val="1B2A4A"/>
                </a:solidFill>
                <a:latin typeface="Calibri" panose="020F0502020204030204" pitchFamily="34" charset="0"/>
                <a:ea typeface="Calibri" panose="020F0502020204030204" pitchFamily="34" charset="-122"/>
                <a:cs typeface="Calibri" panose="020F0502020204030204" pitchFamily="34" charset="-120"/>
              </a:rPr>
              <a:t>.</a:t>
            </a:r>
            <a:endParaRPr lang="en-US" sz="1800" dirty="0">
              <a:solidFill>
                <a:srgbClr val="1B2A4A"/>
              </a:solidFill>
              <a:latin typeface="Calibri" panose="020F0502020204030204" pitchFamily="34" charset="0"/>
              <a:ea typeface="Calibri" panose="020F0502020204030204" pitchFamily="34" charset="-122"/>
              <a:cs typeface="Calibri" panose="020F0502020204030204" pitchFamily="34" charset="-120"/>
            </a:endParaRPr>
          </a:p>
        </p:txBody>
      </p:sp>
      <p:sp>
        <p:nvSpPr>
          <p:cNvPr id="9" name="Shape 7"/>
          <p:cNvSpPr/>
          <p:nvPr/>
        </p:nvSpPr>
        <p:spPr>
          <a:xfrm>
            <a:off x="7292340" y="2560320"/>
            <a:ext cx="1051560" cy="1051560"/>
          </a:xfrm>
          <a:prstGeom prst="ellipse">
            <a:avLst/>
          </a:prstGeom>
          <a:solidFill>
            <a:srgbClr val="F2F4F8"/>
          </a:solidFill>
        </p:spPr>
      </p:sp>
      <p:pic>
        <p:nvPicPr>
          <p:cNvPr id="10" name="Image 0" descr="icon-building.png"/>
          <p:cNvPicPr>
            <a:picLocks noChangeAspect="1"/>
          </p:cNvPicPr>
          <p:nvPr/>
        </p:nvPicPr>
        <p:blipFill>
          <a:blip r:embed="rId3"/>
          <a:stretch>
            <a:fillRect/>
          </a:stretch>
        </p:blipFill>
        <p:spPr>
          <a:xfrm>
            <a:off x="7555230" y="2823210"/>
            <a:ext cx="525780" cy="525780"/>
          </a:xfrm>
          <a:prstGeom prst="rect">
            <a:avLst/>
          </a:prstGeom>
        </p:spPr>
      </p:pic>
      <p:sp>
        <p:nvSpPr>
          <p:cNvPr id="11" name="Shape 8"/>
          <p:cNvSpPr/>
          <p:nvPr/>
        </p:nvSpPr>
        <p:spPr>
          <a:xfrm>
            <a:off x="9852660" y="2560320"/>
            <a:ext cx="1051560" cy="1051560"/>
          </a:xfrm>
          <a:prstGeom prst="ellipse">
            <a:avLst/>
          </a:prstGeom>
          <a:solidFill>
            <a:srgbClr val="F2F4F8"/>
          </a:solidFill>
        </p:spPr>
      </p:sp>
      <p:pic>
        <p:nvPicPr>
          <p:cNvPr id="12" name="Image 1" descr="icon-users.png"/>
          <p:cNvPicPr>
            <a:picLocks noChangeAspect="1"/>
          </p:cNvPicPr>
          <p:nvPr/>
        </p:nvPicPr>
        <p:blipFill>
          <a:blip r:embed="rId4"/>
          <a:stretch>
            <a:fillRect/>
          </a:stretch>
        </p:blipFill>
        <p:spPr>
          <a:xfrm>
            <a:off x="10115550" y="2823210"/>
            <a:ext cx="525780" cy="525780"/>
          </a:xfrm>
          <a:prstGeom prst="rect">
            <a:avLst/>
          </a:prstGeom>
        </p:spPr>
      </p:pic>
      <p:sp>
        <p:nvSpPr>
          <p:cNvPr id="13" name="Text 9"/>
          <p:cNvSpPr/>
          <p:nvPr/>
        </p:nvSpPr>
        <p:spPr>
          <a:xfrm>
            <a:off x="6766560" y="3685032"/>
            <a:ext cx="2103120" cy="274320"/>
          </a:xfrm>
          <a:prstGeom prst="rect">
            <a:avLst/>
          </a:prstGeom>
          <a:noFill/>
        </p:spPr>
        <p:txBody>
          <a:bodyPr wrap="square" rtlCol="0" anchor="ctr"/>
          <a:lstStyle/>
          <a:p>
            <a:pPr marL="0" indent="0" algn="ctr">
              <a:buNone/>
            </a:pPr>
            <a:r>
              <a:rPr lang="fr-FR" altLang="en-US" sz="1150" dirty="0"/>
              <a:t>Bailleur</a:t>
            </a:r>
            <a:endParaRPr lang="fr-FR" altLang="en-US" sz="1150" dirty="0"/>
          </a:p>
        </p:txBody>
      </p:sp>
      <p:sp>
        <p:nvSpPr>
          <p:cNvPr id="14" name="Text 10"/>
          <p:cNvSpPr/>
          <p:nvPr/>
        </p:nvSpPr>
        <p:spPr>
          <a:xfrm>
            <a:off x="9221724" y="3685032"/>
            <a:ext cx="2313432" cy="274320"/>
          </a:xfrm>
          <a:prstGeom prst="rect">
            <a:avLst/>
          </a:prstGeom>
          <a:noFill/>
        </p:spPr>
        <p:txBody>
          <a:bodyPr wrap="square" rtlCol="0" anchor="ctr"/>
          <a:lstStyle/>
          <a:p>
            <a:pPr marL="0" indent="0" algn="ctr">
              <a:buNone/>
            </a:pPr>
            <a:r>
              <a:rPr lang="fr-FR" altLang="en-US" sz="1150" dirty="0"/>
              <a:t>Locataire</a:t>
            </a:r>
            <a:endParaRPr lang="fr-FR" altLang="en-US" sz="1150" dirty="0"/>
          </a:p>
        </p:txBody>
      </p:sp>
      <p:sp>
        <p:nvSpPr>
          <p:cNvPr id="15" name="Shape 11"/>
          <p:cNvSpPr/>
          <p:nvPr/>
        </p:nvSpPr>
        <p:spPr>
          <a:xfrm>
            <a:off x="8435340" y="3086100"/>
            <a:ext cx="777240" cy="0"/>
          </a:xfrm>
          <a:prstGeom prst="line">
            <a:avLst/>
          </a:prstGeom>
          <a:noFill/>
          <a:ln w="25400">
            <a:solidFill>
              <a:srgbClr val="C1443B"/>
            </a:solidFill>
            <a:prstDash val="dash"/>
          </a:ln>
        </p:spPr>
      </p:sp>
      <p:sp>
        <p:nvSpPr>
          <p:cNvPr id="16" name="Shape 12"/>
          <p:cNvSpPr/>
          <p:nvPr/>
        </p:nvSpPr>
        <p:spPr>
          <a:xfrm>
            <a:off x="8983980" y="3086100"/>
            <a:ext cx="777240" cy="0"/>
          </a:xfrm>
          <a:prstGeom prst="line">
            <a:avLst/>
          </a:prstGeom>
          <a:noFill/>
          <a:ln w="25400">
            <a:solidFill>
              <a:srgbClr val="C1443B"/>
            </a:solidFill>
            <a:prstDash val="dash"/>
          </a:ln>
        </p:spPr>
      </p:sp>
      <p:sp>
        <p:nvSpPr>
          <p:cNvPr id="17" name="Shape 13"/>
          <p:cNvSpPr/>
          <p:nvPr/>
        </p:nvSpPr>
        <p:spPr>
          <a:xfrm>
            <a:off x="8732520" y="2720340"/>
            <a:ext cx="731520" cy="731520"/>
          </a:xfrm>
          <a:prstGeom prst="ellipse">
            <a:avLst/>
          </a:prstGeom>
          <a:solidFill>
            <a:srgbClr val="FFFFFF"/>
          </a:solidFill>
        </p:spPr>
      </p:sp>
      <p:pic>
        <p:nvPicPr>
          <p:cNvPr id="18" name="Image 2" descr="icon-link-off.png"/>
          <p:cNvPicPr>
            <a:picLocks noChangeAspect="1"/>
          </p:cNvPicPr>
          <p:nvPr/>
        </p:nvPicPr>
        <p:blipFill>
          <a:blip r:embed="rId5"/>
          <a:stretch>
            <a:fillRect/>
          </a:stretch>
        </p:blipFill>
        <p:spPr>
          <a:xfrm>
            <a:off x="8823960" y="2811780"/>
            <a:ext cx="54864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2"/>
          <a:srcRect/>
          <a:stretch>
            <a:fillRect/>
          </a:stretch>
        </p:blipFill>
        <p:spPr>
          <a:xfrm>
            <a:off x="571500" y="2129730"/>
            <a:ext cx="11049000" cy="3400425"/>
          </a:xfrm>
          <a:prstGeom prst="rect">
            <a:avLst/>
          </a:prstGeom>
          <a:noFill/>
          <a:ln>
            <a:noFill/>
          </a:ln>
        </p:spPr>
      </p:pic>
      <p:pic>
        <p:nvPicPr>
          <p:cNvPr id="170" name="Google Shape;170;p17"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72" name="Google Shape;172;p17"/>
          <p:cNvSpPr txBox="1"/>
          <p:nvPr/>
        </p:nvSpPr>
        <p:spPr>
          <a:xfrm>
            <a:off x="10082212" y="471487"/>
            <a:ext cx="153828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ANALYSE COMPARATIVE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3" name="Google Shape;173;p17"/>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4" name="Google Shape;174;p17"/>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graphicFrame>
        <p:nvGraphicFramePr>
          <p:cNvPr id="175" name="Google Shape;175;p17"/>
          <p:cNvGraphicFramePr/>
          <p:nvPr/>
        </p:nvGraphicFramePr>
        <p:xfrm>
          <a:off x="581025" y="2139315"/>
          <a:ext cx="11029950" cy="3426460"/>
        </p:xfrm>
        <a:graphic>
          <a:graphicData uri="http://schemas.openxmlformats.org/drawingml/2006/table">
            <a:tbl>
              <a:tblPr firstRow="1" bandRow="1">
                <a:noFill/>
                <a:tableStyleId>{5DAD3497-3041-4D27-8FF0-422A7831B682}</a:tableStyleId>
              </a:tblPr>
              <a:tblGrid>
                <a:gridCol w="2086610"/>
                <a:gridCol w="3517265"/>
                <a:gridCol w="3557270"/>
                <a:gridCol w="1868805"/>
              </a:tblGrid>
              <a:tr h="856615">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Solutions existantes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Avantages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Limites de l'outil</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Adaptabilité locale (Togo)</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Registres &amp; Reçus Papier</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Facilité d'usage instantanée, coût d'acquisition nul</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Risque majeur de </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perte</a:t>
                      </a: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aucune traçabilité, fastidieux</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Non-efficace</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Tableurs (Excel/WhatsApp)</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Semi-numérisé, modification libre, graphique de base</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Saisie manuelle sujette aux erreurs, absence de relance auto</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obligé de faire une personalisation</a:t>
                      </a:r>
                      <a:endPar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F59E0B"/>
                          </a:solidFill>
                          <a:latin typeface="Lato" panose="020F0502020204030203"/>
                          <a:ea typeface="Lato" panose="020F0502020204030203"/>
                          <a:cs typeface="Lato" panose="020F0502020204030203"/>
                          <a:sym typeface="Lato" panose="020F0502020204030203"/>
                        </a:rPr>
                        <a:t> Partielle</a:t>
                      </a:r>
                      <a:endParaRPr lang="en-US" sz="1600" b="1" i="0" u="none" strike="noStrike" cap="none">
                        <a:solidFill>
                          <a:srgbClr val="F59E0B"/>
                        </a:solidFill>
                        <a:latin typeface="Lato" panose="020F0502020204030203"/>
                        <a:ea typeface="Lato" panose="020F0502020204030203"/>
                        <a:cs typeface="Lato" panose="020F0502020204030203"/>
                        <a:sym typeface="Lato" panose="020F0502020204030203"/>
                      </a:endParaRPr>
                    </a:p>
                  </a:txBody>
                  <a:tcPr marL="2667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Logiciels SaaS Étrangers</a:t>
                      </a:r>
                      <a:r>
                        <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rPr>
                        <a:t> (GererSeul)</a:t>
                      </a:r>
                      <a:endPar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Automatisation totale de l'édition de baux, quittances PDF</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Modèle juridique européen, absence de passerelles locales</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Non-adapté</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76" name="Google Shape;176;p17"/>
          <p:cNvSpPr/>
          <p:nvPr/>
        </p:nvSpPr>
        <p:spPr>
          <a:xfrm>
            <a:off x="581025" y="2796480"/>
            <a:ext cx="208686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7" name="Google Shape;177;p17"/>
          <p:cNvSpPr/>
          <p:nvPr/>
        </p:nvSpPr>
        <p:spPr>
          <a:xfrm>
            <a:off x="2667892" y="2796480"/>
            <a:ext cx="351695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8" name="Google Shape;178;p17"/>
          <p:cNvSpPr/>
          <p:nvPr/>
        </p:nvSpPr>
        <p:spPr>
          <a:xfrm>
            <a:off x="6184850" y="2796480"/>
            <a:ext cx="355743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9" name="Google Shape;179;p17"/>
          <p:cNvSpPr/>
          <p:nvPr/>
        </p:nvSpPr>
        <p:spPr>
          <a:xfrm>
            <a:off x="9742289" y="2796480"/>
            <a:ext cx="186868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7"/>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Critique de l’Existant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04" name="Shape 204"/>
        <p:cNvGrpSpPr/>
        <p:nvPr/>
      </p:nvGrpSpPr>
      <p:grpSpPr>
        <a:xfrm>
          <a:off x="0" y="0"/>
          <a:ext cx="0" cy="0"/>
          <a:chOff x="0" y="0"/>
          <a:chExt cx="0" cy="0"/>
        </a:xfrm>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06" name="Google Shape;206;p18" descr="image.png"/>
          <p:cNvPicPr preferRelativeResize="0"/>
          <p:nvPr/>
        </p:nvPicPr>
        <p:blipFill rotWithShape="1">
          <a:blip r:embed="rId2"/>
          <a:srcRect/>
          <a:stretch>
            <a:fillRect/>
          </a:stretch>
        </p:blipFill>
        <p:spPr>
          <a:xfrm>
            <a:off x="571500" y="2463165"/>
            <a:ext cx="3492500" cy="3288030"/>
          </a:xfrm>
          <a:prstGeom prst="rect">
            <a:avLst/>
          </a:prstGeom>
          <a:noFill/>
          <a:ln>
            <a:noFill/>
          </a:ln>
        </p:spPr>
      </p:pic>
      <p:pic>
        <p:nvPicPr>
          <p:cNvPr id="207" name="Google Shape;207;p18" descr="image.png"/>
          <p:cNvPicPr preferRelativeResize="0"/>
          <p:nvPr/>
        </p:nvPicPr>
        <p:blipFill rotWithShape="1">
          <a:blip r:embed="rId3"/>
          <a:srcRect/>
          <a:stretch>
            <a:fillRect/>
          </a:stretch>
        </p:blipFill>
        <p:spPr>
          <a:xfrm>
            <a:off x="4349750" y="2463165"/>
            <a:ext cx="3492500" cy="3288030"/>
          </a:xfrm>
          <a:prstGeom prst="rect">
            <a:avLst/>
          </a:prstGeom>
          <a:noFill/>
          <a:ln>
            <a:noFill/>
          </a:ln>
        </p:spPr>
      </p:pic>
      <p:pic>
        <p:nvPicPr>
          <p:cNvPr id="208" name="Google Shape;208;p18" descr="image.png"/>
          <p:cNvPicPr preferRelativeResize="0"/>
          <p:nvPr/>
        </p:nvPicPr>
        <p:blipFill rotWithShape="1">
          <a:blip r:embed="rId4"/>
          <a:srcRect/>
          <a:stretch>
            <a:fillRect/>
          </a:stretch>
        </p:blipFill>
        <p:spPr>
          <a:xfrm>
            <a:off x="8128000" y="2463165"/>
            <a:ext cx="3492500" cy="3288030"/>
          </a:xfrm>
          <a:prstGeom prst="rect">
            <a:avLst/>
          </a:prstGeom>
          <a:noFill/>
          <a:ln>
            <a:noFill/>
          </a:ln>
        </p:spPr>
      </p:pic>
      <p:pic>
        <p:nvPicPr>
          <p:cNvPr id="209" name="Google Shape;209;p18" descr="image.png"/>
          <p:cNvPicPr preferRelativeResize="0"/>
          <p:nvPr/>
        </p:nvPicPr>
        <p:blipFill rotWithShape="1">
          <a:blip r:embed="rId5"/>
          <a:srcRect/>
          <a:stretch>
            <a:fillRect/>
          </a:stretch>
        </p:blipFill>
        <p:spPr>
          <a:xfrm>
            <a:off x="571500" y="6134100"/>
            <a:ext cx="11049000" cy="295275"/>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11" name="Google Shape;211;p18"/>
          <p:cNvSpPr txBox="1"/>
          <p:nvPr/>
        </p:nvSpPr>
        <p:spPr>
          <a:xfrm>
            <a:off x="9944100" y="471487"/>
            <a:ext cx="1676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OBJECTIFS STRATÉGIQUES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2" name="Google Shape;212;p18"/>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3" name="Google Shape;213;p18"/>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14" name="Google Shape;214;p18"/>
          <p:cNvSpPr txBox="1"/>
          <p:nvPr/>
        </p:nvSpPr>
        <p:spPr>
          <a:xfrm>
            <a:off x="794225"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Centralisation </a:t>
            </a: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les données</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5" name="Google Shape;215;p18"/>
          <p:cNvSpPr txBox="1"/>
          <p:nvPr/>
        </p:nvSpPr>
        <p:spPr>
          <a:xfrm>
            <a:off x="866775" y="3758565"/>
            <a:ext cx="2901950" cy="178752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Déploiement d’un référentiel de stockage unique pour toutes les données de biens, d'unités de logement et d'historiques locatifs afin de supprimer définitivement les doublons.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6" name="Google Shape;216;p18"/>
          <p:cNvSpPr txBox="1"/>
          <p:nvPr/>
        </p:nvSpPr>
        <p:spPr>
          <a:xfrm>
            <a:off x="4572524" y="3358455"/>
            <a:ext cx="3047099" cy="571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Automatisation des Échéances</a:t>
            </a:r>
            <a:endPar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7" name="Google Shape;217;p18"/>
          <p:cNvSpPr txBox="1"/>
          <p:nvPr/>
        </p:nvSpPr>
        <p:spPr>
          <a:xfrm>
            <a:off x="4645025" y="3860165"/>
            <a:ext cx="2901950" cy="156908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Mise en place d'un algorithme de planification (Scheduler) générant et distribuant automatiquement les avis d'échéances aux locataires à chaque début de cycle.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8" name="Google Shape;218;p18"/>
          <p:cNvSpPr txBox="1"/>
          <p:nvPr/>
        </p:nvSpPr>
        <p:spPr>
          <a:xfrm>
            <a:off x="8350824"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Moyens de paiement locaux</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9" name="Google Shape;219;p18"/>
          <p:cNvSpPr txBox="1"/>
          <p:nvPr/>
        </p:nvSpPr>
        <p:spPr>
          <a:xfrm>
            <a:off x="8423374" y="3758505"/>
            <a:ext cx="2901999" cy="1615440"/>
          </a:xfrm>
          <a:prstGeom prst="rect">
            <a:avLst/>
          </a:prstGeom>
          <a:noFill/>
          <a:ln>
            <a:noFill/>
          </a:ln>
        </p:spPr>
        <p:txBody>
          <a:bodyPr spcFirstLastPara="1" wrap="square" lIns="0" tIns="0" rIns="0" bIns="0" anchor="t" anchorCtr="0">
            <a:sp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Connexion à FedaPay pour garantir un recouvrement instantané par Mobile Money (T-Money &amp; Flooz), réduisant les délais et renforçant la transparence.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20" name="Google Shape;220;p18" descr="image.png"/>
          <p:cNvPicPr preferRelativeResize="0"/>
          <p:nvPr/>
        </p:nvPicPr>
        <p:blipFill rotWithShape="1">
          <a:blip r:embed="rId6"/>
          <a:srcRect/>
          <a:stretch>
            <a:fillRect/>
          </a:stretch>
        </p:blipFill>
        <p:spPr>
          <a:xfrm>
            <a:off x="2151012" y="2796480"/>
            <a:ext cx="333375" cy="381000"/>
          </a:xfrm>
          <a:prstGeom prst="rect">
            <a:avLst/>
          </a:prstGeom>
          <a:noFill/>
          <a:ln>
            <a:noFill/>
          </a:ln>
        </p:spPr>
      </p:pic>
      <p:pic>
        <p:nvPicPr>
          <p:cNvPr id="221" name="Google Shape;221;p18" descr="image.png"/>
          <p:cNvPicPr preferRelativeResize="0"/>
          <p:nvPr/>
        </p:nvPicPr>
        <p:blipFill rotWithShape="1">
          <a:blip r:embed="rId7"/>
          <a:srcRect/>
          <a:stretch>
            <a:fillRect/>
          </a:stretch>
        </p:blipFill>
        <p:spPr>
          <a:xfrm>
            <a:off x="5857875" y="2796480"/>
            <a:ext cx="476250" cy="381000"/>
          </a:xfrm>
          <a:prstGeom prst="rect">
            <a:avLst/>
          </a:prstGeom>
          <a:noFill/>
          <a:ln>
            <a:noFill/>
          </a:ln>
        </p:spPr>
      </p:pic>
      <p:pic>
        <p:nvPicPr>
          <p:cNvPr id="222" name="Google Shape;222;p18" descr="image.png"/>
          <p:cNvPicPr preferRelativeResize="0"/>
          <p:nvPr/>
        </p:nvPicPr>
        <p:blipFill rotWithShape="1">
          <a:blip r:embed="rId8"/>
          <a:srcRect/>
          <a:stretch>
            <a:fillRect/>
          </a:stretch>
        </p:blipFill>
        <p:spPr>
          <a:xfrm>
            <a:off x="9731424" y="2796480"/>
            <a:ext cx="285750" cy="381000"/>
          </a:xfrm>
          <a:prstGeom prst="rect">
            <a:avLst/>
          </a:prstGeom>
          <a:noFill/>
          <a:ln>
            <a:noFill/>
          </a:ln>
        </p:spPr>
      </p:pic>
      <p:sp>
        <p:nvSpPr>
          <p:cNvPr id="223" name="Google Shape;223;p18"/>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Objectifs Majeurs du Projet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203325" y="2536825"/>
            <a:ext cx="1012825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Conception &amp; RéaliSAtion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2789555" y="2805430"/>
            <a:ext cx="6188075" cy="1143000"/>
          </a:xfrm>
          <a:ln>
            <a:solidFill>
              <a:schemeClr val="tx1"/>
            </a:solidFill>
          </a:ln>
        </p:spPr>
        <p:txBody>
          <a:bodyPr/>
          <a:p>
            <a:r>
              <a:rPr lang="fr-FR" altLang="en-US" cap="all">
                <a:solidFill>
                  <a:schemeClr val="tx1"/>
                </a:solidFill>
                <a:uFillTx/>
                <a:latin typeface="Times New Roman" panose="02020603050405020304" charset="0"/>
                <a:cs typeface="Times New Roman" panose="02020603050405020304" charset="0"/>
              </a:rPr>
              <a:t>MéTHODOLOGIE</a:t>
            </a:r>
            <a:endParaRPr lang="fr-FR" altLang="en-US" cap="all">
              <a:solidFill>
                <a:schemeClr val="tx1"/>
              </a:solidFill>
              <a:uFillTx/>
              <a:latin typeface="Times New Roman" panose="02020603050405020304" charset="0"/>
              <a:cs typeface="Times New Roman" panose="02020603050405020304" charset="0"/>
            </a:endParaRPr>
          </a:p>
        </p:txBody>
      </p:sp>
      <p:sp>
        <p:nvSpPr>
          <p:cNvPr id="4" name="Zone de texte 3"/>
          <p:cNvSpPr txBox="1"/>
          <p:nvPr/>
        </p:nvSpPr>
        <p:spPr>
          <a:xfrm>
            <a:off x="702945" y="6417945"/>
            <a:ext cx="2795270" cy="272415"/>
          </a:xfrm>
          <a:prstGeom prst="rect">
            <a:avLst/>
          </a:prstGeom>
          <a:noFill/>
        </p:spPr>
        <p:txBody>
          <a:bodyPr wrap="square" rtlCol="0">
            <a:noAutofit/>
          </a:bodyPr>
          <a:p>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a:p>
            <a:endParaRPr lang="en-US" alt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09" name="Google Shape;209;p18" descr="image.png"/>
          <p:cNvPicPr preferRelativeResize="0"/>
          <p:nvPr/>
        </p:nvPicPr>
        <p:blipFill rotWithShape="1">
          <a:blip r:embed="rId2"/>
          <a:srcRect/>
          <a:stretch>
            <a:fillRect/>
          </a:stretch>
        </p:blipFill>
        <p:spPr>
          <a:xfrm>
            <a:off x="571500" y="6134100"/>
            <a:ext cx="11049000" cy="556260"/>
          </a:xfrm>
          <a:prstGeom prst="rect">
            <a:avLst/>
          </a:prstGeom>
          <a:noFill/>
          <a:ln>
            <a:noFill/>
          </a:ln>
        </p:spPr>
      </p:pic>
      <p:sp>
        <p:nvSpPr>
          <p:cNvPr id="213" name="Google Shape;213;p18"/>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8</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4" name="Zone de texte 3"/>
          <p:cNvSpPr txBox="1"/>
          <p:nvPr/>
        </p:nvSpPr>
        <p:spPr>
          <a:xfrm>
            <a:off x="702945" y="6417945"/>
            <a:ext cx="2795270" cy="272415"/>
          </a:xfrm>
          <a:prstGeom prst="rect">
            <a:avLst/>
          </a:prstGeom>
          <a:noFill/>
        </p:spPr>
        <p:txBody>
          <a:bodyPr wrap="square" rtlCol="0">
            <a:noAutofit/>
          </a:bodyPr>
          <a:p>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a:p>
            <a:endParaRPr lang="en-US" alt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09" name="Google Shape;209;p18" descr="image.png"/>
          <p:cNvPicPr preferRelativeResize="0"/>
          <p:nvPr/>
        </p:nvPicPr>
        <p:blipFill rotWithShape="1">
          <a:blip r:embed="rId2"/>
          <a:srcRect/>
          <a:stretch>
            <a:fillRect/>
          </a:stretch>
        </p:blipFill>
        <p:spPr>
          <a:xfrm>
            <a:off x="571500" y="6134100"/>
            <a:ext cx="11049000" cy="556260"/>
          </a:xfrm>
          <a:prstGeom prst="rect">
            <a:avLst/>
          </a:prstGeom>
          <a:noFill/>
          <a:ln>
            <a:noFill/>
          </a:ln>
        </p:spPr>
      </p:pic>
      <p:sp>
        <p:nvSpPr>
          <p:cNvPr id="213" name="Google Shape;213;p18"/>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8</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agile_cycle"/>
          <p:cNvPicPr>
            <a:picLocks noChangeAspect="1"/>
          </p:cNvPicPr>
          <p:nvPr/>
        </p:nvPicPr>
        <p:blipFill>
          <a:blip r:embed="rId3"/>
          <a:stretch>
            <a:fillRect/>
          </a:stretch>
        </p:blipFill>
        <p:spPr>
          <a:xfrm>
            <a:off x="0" y="635"/>
            <a:ext cx="1219263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13" name="Shape 313"/>
        <p:cNvGrpSpPr/>
        <p:nvPr/>
      </p:nvGrpSpPr>
      <p:grpSpPr>
        <a:xfrm>
          <a:off x="0" y="0"/>
          <a:ext cx="0" cy="0"/>
          <a:chOff x="0" y="0"/>
          <a:chExt cx="0" cy="0"/>
        </a:xfrm>
      </p:grpSpPr>
      <p:pic>
        <p:nvPicPr>
          <p:cNvPr id="315" name="Google Shape;315;p23" descr="image.png"/>
          <p:cNvPicPr preferRelativeResize="0"/>
          <p:nvPr/>
        </p:nvPicPr>
        <p:blipFill rotWithShape="1">
          <a:blip r:embed="rId1"/>
          <a:srcRect/>
          <a:stretch>
            <a:fillRect/>
          </a:stretch>
        </p:blipFill>
        <p:spPr>
          <a:xfrm>
            <a:off x="571500" y="6134100"/>
            <a:ext cx="11049000" cy="295275"/>
          </a:xfrm>
          <a:prstGeom prst="rect">
            <a:avLst/>
          </a:prstGeom>
          <a:noFill/>
          <a:ln>
            <a:noFill/>
          </a:ln>
        </p:spPr>
      </p:pic>
      <p:sp>
        <p:nvSpPr>
          <p:cNvPr id="316" name="Google Shape;316;p23"/>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8" name="Google Shape;318;p23"/>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9" name="Google Shape;319;p23"/>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09</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36" name="Google Shape;336;p23"/>
          <p:cNvSpPr txBox="1"/>
          <p:nvPr/>
        </p:nvSpPr>
        <p:spPr>
          <a:xfrm>
            <a:off x="590550" y="640080"/>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Planning de Réalisation du Projet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2" name="Image 1"/>
          <p:cNvPicPr>
            <a:picLocks noChangeAspect="1"/>
          </p:cNvPicPr>
          <p:nvPr/>
        </p:nvPicPr>
        <p:blipFill>
          <a:blip r:embed="rId2"/>
          <a:stretch>
            <a:fillRect/>
          </a:stretch>
        </p:blipFill>
        <p:spPr>
          <a:xfrm>
            <a:off x="571500" y="1137920"/>
            <a:ext cx="11049000" cy="550100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70" name="Shape 270"/>
        <p:cNvGrpSpPr/>
        <p:nvPr/>
      </p:nvGrpSpPr>
      <p:grpSpPr>
        <a:xfrm>
          <a:off x="0" y="0"/>
          <a:ext cx="0" cy="0"/>
          <a:chOff x="0" y="0"/>
          <a:chExt cx="0" cy="0"/>
        </a:xfrm>
      </p:grpSpPr>
      <p:pic>
        <p:nvPicPr>
          <p:cNvPr id="271" name="Google Shape;271;p21"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72" name="Google Shape;272;p21"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73" name="Google Shape;273;p21"/>
          <p:cNvSpPr txBox="1"/>
          <p:nvPr/>
        </p:nvSpPr>
        <p:spPr>
          <a:xfrm>
            <a:off x="59944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74" name="Google Shape;274;p21"/>
          <p:cNvSpPr txBox="1"/>
          <p:nvPr/>
        </p:nvSpPr>
        <p:spPr>
          <a:xfrm>
            <a:off x="9910762" y="471487"/>
            <a:ext cx="17097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CONCEPTION DU SYSTÈME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5" name="Google Shape;275;p21"/>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a:t>
            </a: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77" name="Google Shape;277;p21"/>
          <p:cNvSpPr/>
          <p:nvPr/>
        </p:nvSpPr>
        <p:spPr>
          <a:xfrm>
            <a:off x="571500"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78" name="Google Shape;278;p21"/>
          <p:cNvSpPr txBox="1"/>
          <p:nvPr/>
        </p:nvSpPr>
        <p:spPr>
          <a:xfrm>
            <a:off x="1095375"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de Cas d'Utilisation</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79" name="Google Shape;279;p21"/>
          <p:cNvSpPr/>
          <p:nvPr/>
        </p:nvSpPr>
        <p:spPr>
          <a:xfrm>
            <a:off x="6215062"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0" name="Google Shape;280;p21"/>
          <p:cNvSpPr txBox="1"/>
          <p:nvPr/>
        </p:nvSpPr>
        <p:spPr>
          <a:xfrm>
            <a:off x="6738937"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d'Activités &amp; Séquences</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1" name="Google Shape;281;p21"/>
          <p:cNvSpPr/>
          <p:nvPr/>
        </p:nvSpPr>
        <p:spPr>
          <a:xfrm>
            <a:off x="571500"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2" name="Google Shape;282;p21"/>
          <p:cNvSpPr txBox="1"/>
          <p:nvPr/>
        </p:nvSpPr>
        <p:spPr>
          <a:xfrm>
            <a:off x="1095375"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Modèle Entité-Relationnel (ERD)</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3" name="Google Shape;283;p21"/>
          <p:cNvSpPr/>
          <p:nvPr/>
        </p:nvSpPr>
        <p:spPr>
          <a:xfrm>
            <a:off x="6215062"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4" name="Google Shape;284;p21"/>
          <p:cNvSpPr txBox="1"/>
          <p:nvPr/>
        </p:nvSpPr>
        <p:spPr>
          <a:xfrm>
            <a:off x="6738937"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Isolation Logique Multi-Tenant</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5" name="Google Shape;285;p21"/>
          <p:cNvSpPr/>
          <p:nvPr/>
        </p:nvSpPr>
        <p:spPr>
          <a:xfrm>
            <a:off x="571500"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6" name="Google Shape;286;p21"/>
          <p:cNvSpPr txBox="1"/>
          <p:nvPr/>
        </p:nvSpPr>
        <p:spPr>
          <a:xfrm>
            <a:off x="1104900"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Définition des limites fonctionnelles du système (Administration complète pour le propriétaire ; consultation et paiement pour le locataire).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7" name="Google Shape;287;p21"/>
          <p:cNvSpPr/>
          <p:nvPr/>
        </p:nvSpPr>
        <p:spPr>
          <a:xfrm>
            <a:off x="6215062"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8" name="Google Shape;288;p21"/>
          <p:cNvSpPr txBox="1"/>
          <p:nvPr/>
        </p:nvSpPr>
        <p:spPr>
          <a:xfrm>
            <a:off x="6748462"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Formalisation des processus métiers dynamiques, en particulier l'interaction asynchrone lors de la génération automatique d'échéances.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9" name="Google Shape;289;p21"/>
          <p:cNvSpPr/>
          <p:nvPr/>
        </p:nvSpPr>
        <p:spPr>
          <a:xfrm>
            <a:off x="571500"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0" name="Google Shape;290;p21"/>
          <p:cNvSpPr txBox="1"/>
          <p:nvPr/>
        </p:nvSpPr>
        <p:spPr>
          <a:xfrm>
            <a:off x="1104900"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Tables hautement indexées sur PostgreSQL pour accélérer les requêtes SQL complexes, gérant la relation Biens -&gt; Unités -&gt; Contrats -&gt; 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91" name="Google Shape;291;p21"/>
          <p:cNvSpPr/>
          <p:nvPr/>
        </p:nvSpPr>
        <p:spPr>
          <a:xfrm>
            <a:off x="6215062"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2" name="Google Shape;292;p21"/>
          <p:cNvSpPr txBox="1"/>
          <p:nvPr/>
        </p:nvSpPr>
        <p:spPr>
          <a:xfrm>
            <a:off x="6748462"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Filtre injecté dynamiquement dans toutes les requêtes SQL, empêchant formellement un propriétaire d'accéder aux données d'un autre bailleur.</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93" name="Google Shape;293;p21" descr="image.png"/>
          <p:cNvPicPr preferRelativeResize="0"/>
          <p:nvPr/>
        </p:nvPicPr>
        <p:blipFill rotWithShape="1">
          <a:blip r:embed="rId3"/>
          <a:srcRect/>
          <a:stretch>
            <a:fillRect/>
          </a:stretch>
        </p:blipFill>
        <p:spPr>
          <a:xfrm>
            <a:off x="771525" y="2839342"/>
            <a:ext cx="219075" cy="200025"/>
          </a:xfrm>
          <a:prstGeom prst="rect">
            <a:avLst/>
          </a:prstGeom>
          <a:noFill/>
          <a:ln>
            <a:noFill/>
          </a:ln>
        </p:spPr>
      </p:pic>
      <p:pic>
        <p:nvPicPr>
          <p:cNvPr id="294" name="Google Shape;294;p21" descr="image.png"/>
          <p:cNvPicPr preferRelativeResize="0"/>
          <p:nvPr/>
        </p:nvPicPr>
        <p:blipFill rotWithShape="1">
          <a:blip r:embed="rId4"/>
          <a:srcRect/>
          <a:stretch>
            <a:fillRect/>
          </a:stretch>
        </p:blipFill>
        <p:spPr>
          <a:xfrm>
            <a:off x="6415087" y="2839342"/>
            <a:ext cx="238125" cy="200025"/>
          </a:xfrm>
          <a:prstGeom prst="rect">
            <a:avLst/>
          </a:prstGeom>
          <a:noFill/>
          <a:ln>
            <a:noFill/>
          </a:ln>
        </p:spPr>
      </p:pic>
      <p:pic>
        <p:nvPicPr>
          <p:cNvPr id="295" name="Google Shape;295;p21" descr="image.png"/>
          <p:cNvPicPr preferRelativeResize="0"/>
          <p:nvPr/>
        </p:nvPicPr>
        <p:blipFill rotWithShape="1">
          <a:blip r:embed="rId5"/>
          <a:srcRect/>
          <a:stretch>
            <a:fillRect/>
          </a:stretch>
        </p:blipFill>
        <p:spPr>
          <a:xfrm>
            <a:off x="771525" y="4077592"/>
            <a:ext cx="171450" cy="200025"/>
          </a:xfrm>
          <a:prstGeom prst="rect">
            <a:avLst/>
          </a:prstGeom>
          <a:noFill/>
          <a:ln>
            <a:noFill/>
          </a:ln>
        </p:spPr>
      </p:pic>
      <p:pic>
        <p:nvPicPr>
          <p:cNvPr id="296" name="Google Shape;296;p21" descr="image.png"/>
          <p:cNvPicPr preferRelativeResize="0"/>
          <p:nvPr/>
        </p:nvPicPr>
        <p:blipFill rotWithShape="1">
          <a:blip r:embed="rId6"/>
          <a:srcRect/>
          <a:stretch>
            <a:fillRect/>
          </a:stretch>
        </p:blipFill>
        <p:spPr>
          <a:xfrm>
            <a:off x="6415087" y="4077592"/>
            <a:ext cx="171450" cy="200025"/>
          </a:xfrm>
          <a:prstGeom prst="rect">
            <a:avLst/>
          </a:prstGeom>
          <a:noFill/>
          <a:ln>
            <a:noFill/>
          </a:ln>
        </p:spPr>
      </p:pic>
      <p:sp>
        <p:nvSpPr>
          <p:cNvPr id="297" name="Google Shape;297;p21"/>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Modélisation UML 2.x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600" cap="all">
                <a:solidFill>
                  <a:schemeClr val="tx1"/>
                </a:solidFill>
                <a:uFillTx/>
                <a:latin typeface="Times New Roman" panose="02020603050405020304" charset="0"/>
                <a:cs typeface="Times New Roman" panose="02020603050405020304" charset="0"/>
              </a:rPr>
              <a:t>Diagramme de contexte</a:t>
            </a:r>
            <a:endParaRPr lang="fr-FR" altLang="en-US" sz="36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11</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Contexte.drawio"/>
          <p:cNvPicPr>
            <a:picLocks noChangeAspect="1"/>
          </p:cNvPicPr>
          <p:nvPr/>
        </p:nvPicPr>
        <p:blipFill>
          <a:blip r:embed="rId3"/>
          <a:stretch>
            <a:fillRect/>
          </a:stretch>
        </p:blipFill>
        <p:spPr>
          <a:xfrm>
            <a:off x="1604645" y="1200785"/>
            <a:ext cx="8262620" cy="445643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Package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12</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package.drawio1"/>
          <p:cNvPicPr>
            <a:picLocks noChangeAspect="1"/>
          </p:cNvPicPr>
          <p:nvPr/>
        </p:nvPicPr>
        <p:blipFill>
          <a:blip r:embed="rId3"/>
          <a:stretch>
            <a:fillRect/>
          </a:stretch>
        </p:blipFill>
        <p:spPr>
          <a:xfrm>
            <a:off x="404495" y="763270"/>
            <a:ext cx="10949940" cy="60947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cas d’utilisation</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use case"/>
          <p:cNvPicPr>
            <a:picLocks noChangeAspect="1"/>
          </p:cNvPicPr>
          <p:nvPr/>
        </p:nvPicPr>
        <p:blipFill>
          <a:blip r:embed="rId3"/>
          <a:stretch>
            <a:fillRect/>
          </a:stretch>
        </p:blipFill>
        <p:spPr>
          <a:xfrm>
            <a:off x="2734310" y="942975"/>
            <a:ext cx="7040245" cy="562927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Autofit/>
          </a:bodyPr>
          <a:p>
            <a:r>
              <a:rPr lang="fr-FR" altLang="en-US" sz="2500" cap="all">
                <a:solidFill>
                  <a:schemeClr val="tx1"/>
                </a:solidFill>
                <a:uFillTx/>
                <a:latin typeface="Times New Roman" panose="02020603050405020304" charset="0"/>
                <a:cs typeface="Times New Roman" panose="02020603050405020304" charset="0"/>
              </a:rPr>
              <a:t>Diagramme d’activité : création d’un bail</a:t>
            </a:r>
            <a:endParaRPr lang="fr-FR" altLang="en-US" sz="25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6" name="Image 5" descr="diagrame-Activité - Création Contrat de Bail_1.drawio"/>
          <p:cNvPicPr>
            <a:picLocks noChangeAspect="1"/>
          </p:cNvPicPr>
          <p:nvPr/>
        </p:nvPicPr>
        <p:blipFill>
          <a:blip r:embed="rId3"/>
          <a:stretch>
            <a:fillRect/>
          </a:stretch>
        </p:blipFill>
        <p:spPr>
          <a:xfrm>
            <a:off x="2332990" y="966470"/>
            <a:ext cx="7996555" cy="600646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2800" cap="all">
                <a:solidFill>
                  <a:schemeClr val="tx1"/>
                </a:solidFill>
                <a:uFillTx/>
                <a:latin typeface="Times New Roman" panose="02020603050405020304" charset="0"/>
                <a:cs typeface="Times New Roman" panose="02020603050405020304" charset="0"/>
              </a:rPr>
              <a:t>Diagramme de séquence : Paiement MOBILE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50112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sequence paiement mobile"/>
          <p:cNvPicPr>
            <a:picLocks noChangeAspect="1"/>
          </p:cNvPicPr>
          <p:nvPr/>
        </p:nvPicPr>
        <p:blipFill>
          <a:blip r:embed="rId3"/>
          <a:stretch>
            <a:fillRect/>
          </a:stretch>
        </p:blipFill>
        <p:spPr>
          <a:xfrm>
            <a:off x="320040" y="878205"/>
            <a:ext cx="11551285" cy="548576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200" cap="all">
                <a:solidFill>
                  <a:schemeClr val="tx1"/>
                </a:solidFill>
                <a:uFillTx/>
                <a:latin typeface="Times New Roman" panose="02020603050405020304" charset="0"/>
                <a:cs typeface="Times New Roman" panose="02020603050405020304" charset="0"/>
              </a:rPr>
              <a:t>Diagramme de classe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classe.drawio"/>
          <p:cNvPicPr>
            <a:picLocks noChangeAspect="1"/>
          </p:cNvPicPr>
          <p:nvPr/>
        </p:nvPicPr>
        <p:blipFill>
          <a:blip r:embed="rId3"/>
          <a:stretch>
            <a:fillRect/>
          </a:stretch>
        </p:blipFill>
        <p:spPr>
          <a:xfrm>
            <a:off x="1299210" y="762635"/>
            <a:ext cx="9816465" cy="623125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Architecture logicielle du système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17</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9" name="Image 8" descr="rental_architecture _logicielle.drawio_pptx"/>
          <p:cNvPicPr>
            <a:picLocks noChangeAspect="1"/>
          </p:cNvPicPr>
          <p:nvPr/>
        </p:nvPicPr>
        <p:blipFill>
          <a:blip r:embed="rId3"/>
          <a:stretch>
            <a:fillRect/>
          </a:stretch>
        </p:blipFill>
        <p:spPr>
          <a:xfrm>
            <a:off x="1814195" y="1046480"/>
            <a:ext cx="9015095" cy="529336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3200" cap="all">
                <a:solidFill>
                  <a:schemeClr val="tx1"/>
                </a:solidFill>
                <a:uFillTx/>
                <a:latin typeface="Times New Roman" panose="02020603050405020304" charset="0"/>
                <a:cs typeface="Times New Roman" panose="02020603050405020304" charset="0"/>
              </a:rPr>
              <a:t>Architecture matérielle du système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18</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8" name="Image 7" descr="rental_architecture_materielle.drawio_pptx"/>
          <p:cNvPicPr>
            <a:picLocks noChangeAspect="1"/>
          </p:cNvPicPr>
          <p:nvPr/>
        </p:nvPicPr>
        <p:blipFill>
          <a:blip r:embed="rId3"/>
          <a:stretch>
            <a:fillRect/>
          </a:stretch>
        </p:blipFill>
        <p:spPr>
          <a:xfrm>
            <a:off x="1913890" y="892810"/>
            <a:ext cx="8510905" cy="587946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253" name="Google Shape;253;p20" descr="image.png"/>
          <p:cNvPicPr preferRelativeResize="0"/>
          <p:nvPr/>
        </p:nvPicPr>
        <p:blipFill rotWithShape="1">
          <a:blip r:embed="rId1"/>
          <a:srcRect/>
          <a:stretch>
            <a:fillRect/>
          </a:stretch>
        </p:blipFill>
        <p:spPr>
          <a:xfrm>
            <a:off x="950595" y="2065020"/>
            <a:ext cx="2781300" cy="1528445"/>
          </a:xfrm>
          <a:prstGeom prst="rect">
            <a:avLst/>
          </a:prstGeom>
          <a:noFill/>
          <a:ln>
            <a:noFill/>
          </a:ln>
        </p:spPr>
      </p:pic>
      <p:pic>
        <p:nvPicPr>
          <p:cNvPr id="255" name="Google Shape;255;p20"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56"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58" name="Google Shape;258;p20"/>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59" name="Google Shape;259;p20"/>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19</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60" name="Google Shape;260;p20"/>
          <p:cNvSpPr txBox="1"/>
          <p:nvPr/>
        </p:nvSpPr>
        <p:spPr>
          <a:xfrm>
            <a:off x="122936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Backend API Robuste</a:t>
            </a:r>
            <a:endPar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66" name="Google Shape;266;p20"/>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Choix Techniques &amp; Technologie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7" name="Image 16" descr="spring-boot-logo"/>
          <p:cNvPicPr>
            <a:picLocks noChangeAspect="1"/>
          </p:cNvPicPr>
          <p:nvPr/>
        </p:nvPicPr>
        <p:blipFill>
          <a:blip r:embed="rId3"/>
          <a:stretch>
            <a:fillRect/>
          </a:stretch>
        </p:blipFill>
        <p:spPr>
          <a:xfrm>
            <a:off x="1590675" y="2717800"/>
            <a:ext cx="1555115" cy="816610"/>
          </a:xfrm>
          <a:prstGeom prst="rect">
            <a:avLst/>
          </a:prstGeom>
        </p:spPr>
      </p:pic>
      <p:pic>
        <p:nvPicPr>
          <p:cNvPr id="2" name="Google Shape;253;p20" descr="image.png"/>
          <p:cNvPicPr preferRelativeResize="0"/>
          <p:nvPr/>
        </p:nvPicPr>
        <p:blipFill rotWithShape="1">
          <a:blip r:embed="rId1"/>
          <a:srcRect/>
          <a:stretch>
            <a:fillRect/>
          </a:stretch>
        </p:blipFill>
        <p:spPr>
          <a:xfrm>
            <a:off x="4705350" y="2065020"/>
            <a:ext cx="2781300" cy="1528445"/>
          </a:xfrm>
          <a:prstGeom prst="rect">
            <a:avLst/>
          </a:prstGeom>
          <a:noFill/>
          <a:ln>
            <a:noFill/>
          </a:ln>
        </p:spPr>
      </p:pic>
      <p:sp>
        <p:nvSpPr>
          <p:cNvPr id="3" name="Google Shape;260;p20"/>
          <p:cNvSpPr txBox="1"/>
          <p:nvPr/>
        </p:nvSpPr>
        <p:spPr>
          <a:xfrm>
            <a:off x="470535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a:t>
            </a: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web (Angular)</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4" name="Google Shape;253;p20" descr="image.png"/>
          <p:cNvPicPr preferRelativeResize="0"/>
          <p:nvPr/>
        </p:nvPicPr>
        <p:blipFill rotWithShape="1">
          <a:blip r:embed="rId1"/>
          <a:srcRect/>
          <a:stretch>
            <a:fillRect/>
          </a:stretch>
        </p:blipFill>
        <p:spPr>
          <a:xfrm>
            <a:off x="8540750" y="2065020"/>
            <a:ext cx="2781300" cy="1528445"/>
          </a:xfrm>
          <a:prstGeom prst="rect">
            <a:avLst/>
          </a:prstGeom>
          <a:noFill/>
          <a:ln>
            <a:noFill/>
          </a:ln>
        </p:spPr>
      </p:pic>
      <p:sp>
        <p:nvSpPr>
          <p:cNvPr id="5" name="Google Shape;260;p20"/>
          <p:cNvSpPr txBox="1"/>
          <p:nvPr/>
        </p:nvSpPr>
        <p:spPr>
          <a:xfrm>
            <a:off x="8714105"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mobile(Ionic)</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6" name="Image 5" descr="idBXx3ksX4_logos"/>
          <p:cNvPicPr>
            <a:picLocks noChangeAspect="1"/>
          </p:cNvPicPr>
          <p:nvPr/>
        </p:nvPicPr>
        <p:blipFill>
          <a:blip r:embed="rId4"/>
          <a:stretch>
            <a:fillRect/>
          </a:stretch>
        </p:blipFill>
        <p:spPr>
          <a:xfrm>
            <a:off x="5633720" y="2557780"/>
            <a:ext cx="924560" cy="924560"/>
          </a:xfrm>
          <a:prstGeom prst="rect">
            <a:avLst/>
          </a:prstGeom>
        </p:spPr>
      </p:pic>
      <p:pic>
        <p:nvPicPr>
          <p:cNvPr id="7" name="Image 6" descr="Ionic Icon"/>
          <p:cNvPicPr>
            <a:picLocks noChangeAspect="1"/>
          </p:cNvPicPr>
          <p:nvPr/>
        </p:nvPicPr>
        <p:blipFill>
          <a:blip r:embed="rId5"/>
          <a:stretch>
            <a:fillRect/>
          </a:stretch>
        </p:blipFill>
        <p:spPr>
          <a:xfrm>
            <a:off x="9554845" y="2654935"/>
            <a:ext cx="827405" cy="827405"/>
          </a:xfrm>
          <a:prstGeom prst="rect">
            <a:avLst/>
          </a:prstGeom>
        </p:spPr>
      </p:pic>
      <p:pic>
        <p:nvPicPr>
          <p:cNvPr id="8" name="Google Shape;253;p20" descr="image.png"/>
          <p:cNvPicPr preferRelativeResize="0"/>
          <p:nvPr/>
        </p:nvPicPr>
        <p:blipFill rotWithShape="1">
          <a:blip r:embed="rId1"/>
          <a:srcRect/>
          <a:stretch>
            <a:fillRect/>
          </a:stretch>
        </p:blipFill>
        <p:spPr>
          <a:xfrm>
            <a:off x="950595" y="4227830"/>
            <a:ext cx="2781300" cy="1528445"/>
          </a:xfrm>
          <a:prstGeom prst="rect">
            <a:avLst/>
          </a:prstGeom>
          <a:noFill/>
          <a:ln>
            <a:noFill/>
          </a:ln>
        </p:spPr>
      </p:pic>
      <p:sp>
        <p:nvSpPr>
          <p:cNvPr id="9" name="Google Shape;260;p20"/>
          <p:cNvSpPr txBox="1"/>
          <p:nvPr/>
        </p:nvSpPr>
        <p:spPr>
          <a:xfrm>
            <a:off x="1832610"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PostgreSQL</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0" name="Google Shape;253;p20" descr="image.png"/>
          <p:cNvPicPr preferRelativeResize="0"/>
          <p:nvPr/>
        </p:nvPicPr>
        <p:blipFill rotWithShape="1">
          <a:blip r:embed="rId1"/>
          <a:srcRect/>
          <a:stretch>
            <a:fillRect/>
          </a:stretch>
        </p:blipFill>
        <p:spPr>
          <a:xfrm>
            <a:off x="4705350" y="4227830"/>
            <a:ext cx="2781300" cy="1528445"/>
          </a:xfrm>
          <a:prstGeom prst="rect">
            <a:avLst/>
          </a:prstGeom>
          <a:noFill/>
          <a:ln>
            <a:noFill/>
          </a:ln>
        </p:spPr>
      </p:pic>
      <p:sp>
        <p:nvSpPr>
          <p:cNvPr id="11" name="Google Shape;260;p20"/>
          <p:cNvSpPr txBox="1"/>
          <p:nvPr/>
        </p:nvSpPr>
        <p:spPr>
          <a:xfrm>
            <a:off x="5506085"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DrawIo</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2" name="Google Shape;253;p20" descr="image.png"/>
          <p:cNvPicPr preferRelativeResize="0"/>
          <p:nvPr/>
        </p:nvPicPr>
        <p:blipFill rotWithShape="1">
          <a:blip r:embed="rId1"/>
          <a:srcRect/>
          <a:stretch>
            <a:fillRect/>
          </a:stretch>
        </p:blipFill>
        <p:spPr>
          <a:xfrm>
            <a:off x="8460105" y="4227830"/>
            <a:ext cx="2781300" cy="1528445"/>
          </a:xfrm>
          <a:prstGeom prst="rect">
            <a:avLst/>
          </a:prstGeom>
          <a:noFill/>
          <a:ln>
            <a:noFill/>
          </a:ln>
        </p:spPr>
      </p:pic>
      <p:sp>
        <p:nvSpPr>
          <p:cNvPr id="13" name="Google Shape;260;p20"/>
          <p:cNvSpPr txBox="1"/>
          <p:nvPr/>
        </p:nvSpPr>
        <p:spPr>
          <a:xfrm>
            <a:off x="9554845" y="4474845"/>
            <a:ext cx="969645" cy="2451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Langage </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4" name="Image 13" descr="postgre"/>
          <p:cNvPicPr>
            <a:picLocks noChangeAspect="1"/>
          </p:cNvPicPr>
          <p:nvPr/>
        </p:nvPicPr>
        <p:blipFill>
          <a:blip r:embed="rId6"/>
          <a:srcRect b="22334"/>
          <a:stretch>
            <a:fillRect/>
          </a:stretch>
        </p:blipFill>
        <p:spPr>
          <a:xfrm>
            <a:off x="1832610" y="4821555"/>
            <a:ext cx="1071880" cy="832485"/>
          </a:xfrm>
          <a:prstGeom prst="rect">
            <a:avLst/>
          </a:prstGeom>
        </p:spPr>
      </p:pic>
      <p:pic>
        <p:nvPicPr>
          <p:cNvPr id="15" name="Image 14" descr="Diagrams.net_Logo.svg"/>
          <p:cNvPicPr>
            <a:picLocks noChangeAspect="1"/>
          </p:cNvPicPr>
          <p:nvPr/>
        </p:nvPicPr>
        <p:blipFill>
          <a:blip r:embed="rId7"/>
          <a:stretch>
            <a:fillRect/>
          </a:stretch>
        </p:blipFill>
        <p:spPr>
          <a:xfrm>
            <a:off x="5506085" y="4821555"/>
            <a:ext cx="860425" cy="860425"/>
          </a:xfrm>
          <a:prstGeom prst="rect">
            <a:avLst/>
          </a:prstGeom>
        </p:spPr>
      </p:pic>
      <p:pic>
        <p:nvPicPr>
          <p:cNvPr id="16" name="Espace réservé du contenu 7" descr="Une image contenant Police, Graphique, logo, conception&#10;&#10;Le contenu généré par l’IA peut être incorrect."/>
          <p:cNvPicPr>
            <a:picLocks noGrp="1" noChangeAspect="1"/>
          </p:cNvPicPr>
          <p:nvPr/>
        </p:nvPicPr>
        <p:blipFill>
          <a:blip r:embed="rId8"/>
          <a:stretch>
            <a:fillRect/>
          </a:stretch>
        </p:blipFill>
        <p:spPr>
          <a:xfrm>
            <a:off x="9287510" y="4773930"/>
            <a:ext cx="1439545" cy="8953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2"/>
          <a:srcRect/>
          <a:stretch>
            <a:fillRect/>
          </a:stretch>
        </p:blipFill>
        <p:spPr>
          <a:xfrm>
            <a:off x="571500" y="2129730"/>
            <a:ext cx="11049000" cy="3400425"/>
          </a:xfrm>
          <a:prstGeom prst="rect">
            <a:avLst/>
          </a:prstGeom>
          <a:noFill/>
          <a:ln>
            <a:noFill/>
          </a:ln>
        </p:spPr>
      </p:pic>
      <p:pic>
        <p:nvPicPr>
          <p:cNvPr id="170" name="Google Shape;170;p17"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72" name="Google Shape;172;p17"/>
          <p:cNvSpPr txBox="1"/>
          <p:nvPr/>
        </p:nvSpPr>
        <p:spPr>
          <a:xfrm>
            <a:off x="10082212" y="471487"/>
            <a:ext cx="153828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ANALYSE COMPARATIVE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3" name="Google Shape;173;p17"/>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4" name="Google Shape;174;p17"/>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20</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graphicFrame>
        <p:nvGraphicFramePr>
          <p:cNvPr id="175" name="Google Shape;175;p17"/>
          <p:cNvGraphicFramePr/>
          <p:nvPr>
            <p:custDataLst>
              <p:tags r:id="rId4"/>
            </p:custDataLst>
          </p:nvPr>
        </p:nvGraphicFramePr>
        <p:xfrm>
          <a:off x="581025" y="2139315"/>
          <a:ext cx="11040110" cy="3246120"/>
        </p:xfrm>
        <a:graphic>
          <a:graphicData uri="http://schemas.openxmlformats.org/drawingml/2006/table">
            <a:tbl>
              <a:tblPr firstRow="1" bandRow="1">
                <a:noFill/>
                <a:tableStyleId>{5DAD3497-3041-4D27-8FF0-422A7831B682}</a:tableStyleId>
              </a:tblPr>
              <a:tblGrid>
                <a:gridCol w="4110990"/>
                <a:gridCol w="6929120"/>
              </a:tblGrid>
              <a:tr h="835660">
                <a:tc>
                  <a:txBody>
                    <a:bodyPr/>
                    <a:lstStyle/>
                    <a:p>
                      <a:pPr marL="0" marR="0" lvl="0" indent="0" algn="l" rtl="0">
                        <a:spcBef>
                          <a:spcPts val="0"/>
                        </a:spcBef>
                        <a:spcAft>
                          <a:spcPts val="0"/>
                        </a:spcAft>
                        <a:buNone/>
                      </a:pPr>
                      <a:r>
                        <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rPr>
                        <a:t>Matériel</a:t>
                      </a:r>
                      <a:endPar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rPr>
                        <a:t>Caractéristiques</a:t>
                      </a:r>
                      <a:endPar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1140460">
                <a:tc>
                  <a:txBody>
                    <a:bodyPr/>
                    <a:lstStyle/>
                    <a:p>
                      <a:pPr marL="0" marR="0" lvl="0" indent="0" algn="l" rtl="0">
                        <a:spcBef>
                          <a:spcPts val="0"/>
                        </a:spcBef>
                        <a:spcAft>
                          <a:spcPts val="0"/>
                        </a:spcAft>
                        <a:buFont typeface="Arial" panose="020B0604020202020204" pitchFamily="34" charset="0"/>
                        <a:buNone/>
                      </a:pP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Ordinateur (destiné au Bailleur)</a:t>
                      </a:r>
                      <a:endPar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285750" marR="0" lvl="0" indent="-285750" algn="l" rtl="0">
                        <a:spcBef>
                          <a:spcPts val="0"/>
                        </a:spcBef>
                        <a:spcAft>
                          <a:spcPts val="0"/>
                        </a:spcAft>
                        <a:buFont typeface="Arial" panose="020B0604020202020204" pitchFamily="34" charset="0"/>
                        <a:buChar char="•"/>
                      </a:pPr>
                      <a:r>
                        <a:rPr lang="en-US"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é</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quip</a:t>
                      </a:r>
                      <a:r>
                        <a:rPr lang="en-US"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é </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d'un navigateur internet moderne</a:t>
                      </a:r>
                      <a:r>
                        <a:rPr lang="fr-FR"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 </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(Chrome, Firefox, Edge).</a:t>
                      </a:r>
                      <a:endPar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Mémoire RAM installée : 8,00 Go </a:t>
                      </a:r>
                      <a:endParaRPr lang="fr-FR" altLang="en-US" sz="1800" b="1">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Disque dur SSD : 1 To</a:t>
                      </a:r>
                      <a:endParaRPr lang="fr-FR" altLang="en-US" sz="1800" b="1" i="0" u="none" strike="noStrike">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Type du système : Système d’exploitation 64 bits, processeur x64 </a:t>
                      </a:r>
                      <a:endParaRPr lang="fr-FR" altLang="en-US" sz="1800" b="1">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Système d’exploitation : Windows 11 ou 10</a:t>
                      </a:r>
                      <a:endParaRPr lang="fr-FR" altLang="en-US" sz="1800" b="1" i="0" u="none" strike="noStrike" cap="none">
                        <a:solidFill>
                          <a:srgbClr val="475569"/>
                        </a:solidFill>
                        <a:latin typeface="Lato" panose="020F0502020204030203"/>
                        <a:ea typeface="Lato" panose="020F0502020204030203"/>
                        <a:cs typeface="Lato" panose="020F0502020204030203"/>
                        <a:sym typeface="+mn-ea"/>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1140460">
                <a:tc>
                  <a:txBody>
                    <a:bodyPr/>
                    <a:lstStyle/>
                    <a:p>
                      <a:pPr marL="0" marR="0" lvl="0" indent="0" algn="l" rtl="0">
                        <a:spcBef>
                          <a:spcPts val="0"/>
                        </a:spcBef>
                        <a:spcAft>
                          <a:spcPts val="0"/>
                        </a:spcAft>
                        <a:buNone/>
                      </a:pP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Smartphone</a:t>
                      </a:r>
                      <a:r>
                        <a:rPr lang="en-US" sz="1800" b="1" i="0" u="none" strike="noStrike" cap="none">
                          <a:solidFill>
                            <a:srgbClr val="475569"/>
                          </a:solidFill>
                          <a:latin typeface="Lato" panose="020F0502020204030203"/>
                          <a:ea typeface="Lato" panose="020F0502020204030203"/>
                          <a:cs typeface="Lato" panose="020F0502020204030203"/>
                          <a:sym typeface="Lato" panose="020F0502020204030203"/>
                        </a:rPr>
                        <a:t>(</a:t>
                      </a: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Locataire</a:t>
                      </a:r>
                      <a:r>
                        <a:rPr lang="en-US" sz="1800" b="1" i="0" u="none" strike="noStrike" cap="none">
                          <a:solidFill>
                            <a:srgbClr val="475569"/>
                          </a:solidFill>
                          <a:latin typeface="Lato" panose="020F0502020204030203"/>
                          <a:ea typeface="Lato" panose="020F0502020204030203"/>
                          <a:cs typeface="Lato" panose="020F0502020204030203"/>
                          <a:sym typeface="Lato" panose="020F0502020204030203"/>
                        </a:rPr>
                        <a:t>)</a:t>
                      </a:r>
                      <a:endParaRPr lang="en-US" sz="18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Smartphone </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quip</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 </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du syst</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è</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me Android version 8.0 (Oreo) ou</a:t>
                      </a:r>
                      <a:endPar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sup</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rieure.</a:t>
                      </a:r>
                      <a:endPar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76" name="Google Shape;176;p17"/>
          <p:cNvSpPr/>
          <p:nvPr/>
        </p:nvSpPr>
        <p:spPr>
          <a:xfrm>
            <a:off x="581025" y="2796480"/>
            <a:ext cx="208686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7" name="Google Shape;177;p17"/>
          <p:cNvSpPr/>
          <p:nvPr/>
        </p:nvSpPr>
        <p:spPr>
          <a:xfrm>
            <a:off x="2667892" y="2796480"/>
            <a:ext cx="351695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8" name="Google Shape;178;p17"/>
          <p:cNvSpPr/>
          <p:nvPr/>
        </p:nvSpPr>
        <p:spPr>
          <a:xfrm>
            <a:off x="6184850" y="2796480"/>
            <a:ext cx="355743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9" name="Google Shape;179;p17"/>
          <p:cNvSpPr/>
          <p:nvPr/>
        </p:nvSpPr>
        <p:spPr>
          <a:xfrm>
            <a:off x="9742289" y="2796480"/>
            <a:ext cx="186868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7"/>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fr-FR" altLang="en-US" sz="2700" b="1">
                <a:solidFill>
                  <a:srgbClr val="1E293B"/>
                </a:solidFill>
                <a:latin typeface="Poppins" panose="00000500000000000000"/>
                <a:ea typeface="Poppins" panose="00000500000000000000"/>
                <a:cs typeface="Poppins" panose="00000500000000000000"/>
                <a:sym typeface="Poppins" panose="00000500000000000000"/>
              </a:rPr>
              <a:t>Matériel de base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01" name="Shape 301"/>
        <p:cNvGrpSpPr/>
        <p:nvPr/>
      </p:nvGrpSpPr>
      <p:grpSpPr>
        <a:xfrm>
          <a:off x="0" y="0"/>
          <a:ext cx="0" cy="0"/>
          <a:chOff x="0" y="0"/>
          <a:chExt cx="0" cy="0"/>
        </a:xfrm>
      </p:grpSpPr>
      <p:pic>
        <p:nvPicPr>
          <p:cNvPr id="302" name="Google Shape;302;p22"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304" name="Google Shape;304;p22"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05" name="Google Shape;305;p22"/>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06" name="Google Shape;306;p22"/>
          <p:cNvSpPr txBox="1"/>
          <p:nvPr/>
        </p:nvSpPr>
        <p:spPr>
          <a:xfrm>
            <a:off x="9505950" y="471487"/>
            <a:ext cx="211455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ASPECTS FINANCIERS DU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7" name="Google Shape;307;p22"/>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22</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09" name="Google Shape;309;p22"/>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Évaluation Financière (CAPEX &amp; OPEX)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2" name="Image 1"/>
          <p:cNvPicPr>
            <a:picLocks noChangeAspect="1"/>
          </p:cNvPicPr>
          <p:nvPr/>
        </p:nvPicPr>
        <p:blipFill>
          <a:blip r:embed="rId3"/>
          <a:stretch>
            <a:fillRect/>
          </a:stretch>
        </p:blipFill>
        <p:spPr>
          <a:xfrm>
            <a:off x="217170" y="1689100"/>
            <a:ext cx="11757025" cy="418655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Démonstration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650095"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ConcluSIon &amp; perSpectiV</a:t>
            </a:r>
            <a:r>
              <a:rPr lang="fr-FR" altLang="en-US" sz="4800" b="1" cap="all">
                <a:solidFill>
                  <a:schemeClr val="tx1"/>
                </a:solidFill>
                <a:uFillTx/>
                <a:latin typeface="Poppins" panose="00000500000000000000" charset="0"/>
                <a:cs typeface="Poppins" panose="00000500000000000000" charset="0"/>
              </a:rPr>
              <a:t>es</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488440" y="2058035"/>
            <a:ext cx="9215120" cy="2302510"/>
          </a:xfrm>
          <a:ln>
            <a:solidFill>
              <a:schemeClr val="bg2"/>
            </a:solidFill>
          </a:ln>
        </p:spPr>
        <p:txBody>
          <a:bodyPr/>
          <a:p>
            <a:pPr algn="just"/>
            <a:r>
              <a:rPr lang="en-US" altLang="fr-FR" sz="2400">
                <a:latin typeface="Times New Roman" panose="02020603050405020304" charset="0"/>
                <a:cs typeface="Times New Roman" panose="02020603050405020304" charset="0"/>
              </a:rPr>
              <a:t>Ce projet apporte une r</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ponse concr</a:t>
            </a:r>
            <a:r>
              <a:rPr lang="en-US" altLang="en-US" sz="2400">
                <a:latin typeface="Times New Roman" panose="02020603050405020304" charset="0"/>
                <a:cs typeface="Times New Roman" panose="02020603050405020304" charset="0"/>
              </a:rPr>
              <a:t>è</a:t>
            </a:r>
            <a:r>
              <a:rPr lang="en-US" altLang="fr-FR" sz="2400">
                <a:latin typeface="Times New Roman" panose="02020603050405020304" charset="0"/>
                <a:cs typeface="Times New Roman" panose="02020603050405020304" charset="0"/>
              </a:rPr>
              <a:t>te aux limites de la gestion artisanale en automatisant tout le cycle m</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tier (de l'enregistrement du logement au paiement par Mobile Money via FedaPay). Port</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e par une architecture robuste (Spring Boot, Angular, Ionic), la plateforme s</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curise les baux à long terme et </a:t>
            </a:r>
            <a:r>
              <a:rPr lang="fr-FR" altLang="en-US" sz="2400">
                <a:latin typeface="Times New Roman" panose="02020603050405020304" charset="0"/>
                <a:cs typeface="Times New Roman" panose="02020603050405020304" charset="0"/>
              </a:rPr>
              <a:t>garde une traçabilité de toutes les transactions.</a:t>
            </a:r>
            <a:endParaRPr lang="fr-FR" altLang="en-US" sz="24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Conclusion</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304" name="Google Shape;304;p22"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 name="Zone de texte 2"/>
          <p:cNvSpPr txBox="1"/>
          <p:nvPr/>
        </p:nvSpPr>
        <p:spPr>
          <a:xfrm>
            <a:off x="585470" y="6323330"/>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961390" y="2058035"/>
            <a:ext cx="9742170" cy="2302510"/>
          </a:xfrm>
          <a:ln>
            <a:solidFill>
              <a:schemeClr val="bg2"/>
            </a:solidFill>
          </a:ln>
        </p:spPr>
        <p:txBody>
          <a:bodyPr/>
          <a:p>
            <a:pPr algn="just"/>
            <a:r>
              <a:rPr lang="fr-FR" altLang="en-US" sz="2000">
                <a:latin typeface="Times New Roman" panose="02020603050405020304" charset="0"/>
                <a:cs typeface="Times New Roman" panose="02020603050405020304" charset="0"/>
              </a:rPr>
              <a:t>       </a:t>
            </a:r>
            <a:r>
              <a:rPr lang="en-US" altLang="fr-FR" sz="2000">
                <a:latin typeface="Times New Roman" panose="02020603050405020304" charset="0"/>
                <a:cs typeface="Times New Roman" panose="02020603050405020304" charset="0"/>
              </a:rPr>
              <a:t>Documents : G</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n</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ration et signature </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lectronique automatique des contrats de bail.</a:t>
            </a:r>
            <a:br>
              <a:rPr lang="en-US" altLang="fr-FR" sz="2000">
                <a:latin typeface="Times New Roman" panose="02020603050405020304" charset="0"/>
                <a:cs typeface="Times New Roman" panose="02020603050405020304" charset="0"/>
              </a:rPr>
            </a:br>
            <a:br>
              <a:rPr lang="en-US" altLang="fr-FR" sz="2000">
                <a:latin typeface="Times New Roman" panose="02020603050405020304" charset="0"/>
                <a:cs typeface="Times New Roman" panose="02020603050405020304" charset="0"/>
              </a:rPr>
            </a:br>
            <a:r>
              <a:rPr lang="fr-FR" altLang="en-US" sz="2000">
                <a:latin typeface="Times New Roman" panose="02020603050405020304" charset="0"/>
                <a:cs typeface="Times New Roman" panose="02020603050405020304" charset="0"/>
              </a:rPr>
              <a:t>       Génération d’un rapport financier annuel</a:t>
            </a:r>
            <a:endParaRPr lang="fr-FR" altLang="en-US" sz="20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Perspectives</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5" name="Image 4" descr="正方形"/>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113155" y="2743200"/>
            <a:ext cx="205740" cy="205740"/>
          </a:xfrm>
          <a:prstGeom prst="rect">
            <a:avLst/>
          </a:prstGeom>
        </p:spPr>
      </p:pic>
      <p:pic>
        <p:nvPicPr>
          <p:cNvPr id="6" name="Image 5" descr="正方形"/>
          <p:cNvPicPr>
            <a:picLocks noChangeAspect="1"/>
          </p:cNvPicPr>
          <p:nvPr>
            <p:custDataLst>
              <p:tags r:id="rId5"/>
            </p:custDataLst>
          </p:nvPr>
        </p:nvPicPr>
        <p:blipFill>
          <a:blip r:embed="rId3">
            <a:extLst>
              <a:ext uri="{96DAC541-7B7A-43D3-8B79-37D633B846F1}">
                <asvg:svgBlip xmlns:asvg="http://schemas.microsoft.com/office/drawing/2016/SVG/main" r:embed="rId4"/>
              </a:ext>
            </a:extLst>
          </a:blip>
          <a:stretch>
            <a:fillRect/>
          </a:stretch>
        </p:blipFill>
        <p:spPr>
          <a:xfrm>
            <a:off x="1113155" y="3429000"/>
            <a:ext cx="205740" cy="205740"/>
          </a:xfrm>
          <a:prstGeom prst="rect">
            <a:avLst/>
          </a:prstGeom>
        </p:spPr>
      </p:pic>
      <p:pic>
        <p:nvPicPr>
          <p:cNvPr id="304" name="Google Shape;304;p22" descr="image.png"/>
          <p:cNvPicPr preferRelativeResize="0"/>
          <p:nvPr/>
        </p:nvPicPr>
        <p:blipFill rotWithShape="1">
          <a:blip r:embed="rId6"/>
          <a:srcRect/>
          <a:stretch>
            <a:fillRect/>
          </a:stretch>
        </p:blipFill>
        <p:spPr>
          <a:xfrm>
            <a:off x="571500" y="6134100"/>
            <a:ext cx="11049000" cy="295275"/>
          </a:xfrm>
          <a:prstGeom prst="rect">
            <a:avLst/>
          </a:prstGeom>
          <a:noFill/>
          <a:ln>
            <a:noFill/>
          </a:ln>
        </p:spPr>
      </p:pic>
      <p:sp>
        <p:nvSpPr>
          <p:cNvPr id="3" name="Zone de texte 2"/>
          <p:cNvSpPr txBox="1"/>
          <p:nvPr/>
        </p:nvSpPr>
        <p:spPr>
          <a:xfrm>
            <a:off x="585470" y="6323330"/>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340" name="Shape 340"/>
        <p:cNvGrpSpPr/>
        <p:nvPr/>
      </p:nvGrpSpPr>
      <p:grpSpPr>
        <a:xfrm>
          <a:off x="0" y="0"/>
          <a:ext cx="0" cy="0"/>
          <a:chOff x="0" y="0"/>
          <a:chExt cx="0" cy="0"/>
        </a:xfrm>
      </p:grpSpPr>
      <p:pic>
        <p:nvPicPr>
          <p:cNvPr id="341" name="Google Shape;341;p24"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344" name="Google Shape;344;p24"/>
          <p:cNvSpPr/>
          <p:nvPr/>
        </p:nvSpPr>
        <p:spPr>
          <a:xfrm>
            <a:off x="5715000" y="1938337"/>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45" name="Google Shape;345;p24"/>
          <p:cNvSpPr txBox="1"/>
          <p:nvPr/>
        </p:nvSpPr>
        <p:spPr>
          <a:xfrm>
            <a:off x="1695450" y="2823527"/>
            <a:ext cx="8801100" cy="738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Merci pour votre Attention !</a:t>
            </a:r>
            <a:endPar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pic>
        <p:nvPicPr>
          <p:cNvPr id="2" name="Image 1" descr="WPS Photos(1)"/>
          <p:cNvPicPr>
            <a:picLocks noChangeAspect="1"/>
          </p:cNvPicPr>
          <p:nvPr/>
        </p:nvPicPr>
        <p:blipFill>
          <a:blip r:embed="rId2"/>
          <a:stretch>
            <a:fillRect/>
          </a:stretch>
        </p:blipFill>
        <p:spPr>
          <a:xfrm>
            <a:off x="8359775" y="0"/>
            <a:ext cx="3832225" cy="1472565"/>
          </a:xfrm>
          <a:prstGeom prst="rect">
            <a:avLst/>
          </a:prstGeom>
        </p:spPr>
      </p:pic>
    </p:spTree>
  </p:cSld>
  <p:clrMapOvr>
    <a:masterClrMapping/>
  </p:clrMapOvr>
</p:sld>
</file>

<file path=ppt/tags/tag1.xml><?xml version="1.0" encoding="utf-8"?>
<p:tagLst xmlns:p="http://schemas.openxmlformats.org/presentationml/2006/main">
  <p:tag name="KSO_WM_BEAUTIFY_FLAG" val="#fgm#"/>
  <p:tag name="KSO_WM_FIGMA_FLAG" val="#fgm#"/>
  <p:tag name="KSO_WM_UNIT_INDEX" val="1"/>
  <p:tag name="KSO_WM_UNIT_TYPE" val="a"/>
  <p:tag name="KSO_WM_LAYOUT_CHECK_HASH" val="fccd111189b7d2a890802631ca6427411a773ef2"/>
  <p:tag name="KSO_WM_NEWLAYOUT_GROUP_ID" val="layout_34"/>
  <p:tag name="KSO_WM_NEWLAYOUT_ID" val="slide_4ae229a2f1c7f65e"/>
</p:tagLst>
</file>

<file path=ppt/tags/tag2.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5.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8.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1.xml><?xml version="1.0" encoding="utf-8"?>
<p:tagLst xmlns:p="http://schemas.openxmlformats.org/presentationml/2006/main">
  <p:tag name="KSO_WM_BEAUTIFY_FLAG" val="#fgm#"/>
  <p:tag name="KSO_WM_DIAGRAM_GROUP_CODE" val="1"/>
  <p:tag name="KSO_WM_FIGMA_FLAG" val="#fgm#"/>
  <p:tag name="KSO_WM_UNIT_INDEX" val="1_4_1"/>
  <p:tag name="KSO_WM_UNIT_TYPE" val="l_h_d"/>
</p:tagLst>
</file>

<file path=ppt/tags/tag12.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13.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14.xml><?xml version="1.0" encoding="utf-8"?>
<p:tagLst xmlns:p="http://schemas.openxmlformats.org/presentationml/2006/main">
  <p:tag name="TABLE_ENDDRAG_ORIGIN_RECT" val="869*269"/>
  <p:tag name="TABLE_ENDDRAG_RECT" val="45*168*869*269"/>
</p:tagLst>
</file>

<file path=ppt/tags/tag15.xml><?xml version="1.0" encoding="utf-8"?>
<p:tagLst xmlns:p="http://schemas.openxmlformats.org/presentationml/2006/main">
  <p:tag name="KSO_DOCER_RESOURCE_TRACE_INFO" val="{&quot;id&quot;:&quot;50059433&quot;,&quot;origin&quot;:0,&quot;type&quot;:&quot;icons&quot;,&quot;user&quot;:&quot;20358827511810&quot;}"/>
</p:tagLst>
</file>

<file path=ppt/tags/tag16.xml><?xml version="1.0" encoding="utf-8"?>
<p:tagLst xmlns:p="http://schemas.openxmlformats.org/presentationml/2006/main">
  <p:tag name="KSO_DOCER_RESOURCE_TRACE_INFO" val="{&quot;id&quot;:&quot;50059433&quot;,&quot;origin&quot;:0,&quot;type&quot;:&quot;icons&quot;,&quot;user&quot;:&quot;20358827511810&quot;}"/>
</p:tagLst>
</file>

<file path=ppt/tags/tag17.xml><?xml version="1.0" encoding="utf-8"?>
<p:tagLst xmlns:p="http://schemas.openxmlformats.org/presentationml/2006/main">
  <p:tag name="resource_record_key" val="{&quot;10&quot;:[50059433]}"/>
</p:tagLst>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7004</Words>
  <Application>WPS Presentation</Application>
  <PresentationFormat/>
  <Paragraphs>398</Paragraphs>
  <Slides>30</Slides>
  <Notes>0</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30</vt:i4>
      </vt:variant>
    </vt:vector>
  </HeadingPairs>
  <TitlesOfParts>
    <vt:vector size="51" baseType="lpstr">
      <vt:lpstr>Arial</vt:lpstr>
      <vt:lpstr>SimSun</vt:lpstr>
      <vt:lpstr>Wingdings</vt:lpstr>
      <vt:lpstr>Arial</vt:lpstr>
      <vt:lpstr>Calibri</vt:lpstr>
      <vt:lpstr>Times New Roman</vt:lpstr>
      <vt:lpstr>Lato</vt:lpstr>
      <vt:lpstr>Poppins</vt:lpstr>
      <vt:lpstr>Lato Light</vt:lpstr>
      <vt:lpstr>Poppins SemiBold</vt:lpstr>
      <vt:lpstr>Calibri</vt:lpstr>
      <vt:lpstr>Calibri</vt:lpstr>
      <vt:lpstr>Calibri</vt:lpstr>
      <vt:lpstr>Cambria</vt:lpstr>
      <vt:lpstr>Cambria</vt:lpstr>
      <vt:lpstr>Cambria</vt:lpstr>
      <vt:lpstr>Poppins</vt:lpstr>
      <vt:lpstr>Microsoft YaHei</vt:lpstr>
      <vt:lpstr>Arial Unicode MS</vt:lpstr>
      <vt:lpstr>Lato</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Conception &amp; Réalisation</vt:lpstr>
      <vt:lpstr>MéTHODOLOGIE</vt:lpstr>
      <vt:lpstr>PowerPoint 演示文稿</vt:lpstr>
      <vt:lpstr>PowerPoint 演示文稿</vt:lpstr>
      <vt:lpstr>PowerPoint 演示文稿</vt:lpstr>
      <vt:lpstr>Diagramme de contexte</vt:lpstr>
      <vt:lpstr>Diagramme de Package</vt:lpstr>
      <vt:lpstr>Diagramme de cas d’utilisation</vt:lpstr>
      <vt:lpstr>Diagramme d’activité : création d’un bail</vt:lpstr>
      <vt:lpstr>Diagramme de séquence : Paiement MOBILE</vt:lpstr>
      <vt:lpstr>Diagramme de classe</vt:lpstr>
      <vt:lpstr>Architecture logicielle du système</vt:lpstr>
      <vt:lpstr>Architecture matérielle du système</vt:lpstr>
      <vt:lpstr>PowerPoint 演示文稿</vt:lpstr>
      <vt:lpstr>PowerPoint 演示文稿</vt:lpstr>
      <vt:lpstr>PowerPoint 演示文稿</vt:lpstr>
      <vt:lpstr>Démonstration</vt:lpstr>
      <vt:lpstr>Conclusion &amp; perspectives</vt:lpstr>
      <vt:lpstr>Ce projet apporte une réponse concrète aux limites de la gestion artisanale en automatisant tout le cycle métier (de l'enregistrement du logement au paiement par Mobile Money via FedaPay). Portée par une architecture robuste (Spring Boot, Angular, Ionic), la plateforme sécurise les baux à long terme et garde une traçabilité de toutes les transactions.</vt:lpstr>
      <vt:lpstr>       Documents : Génération et signature électronique automatique des contrats de bail.         Génération d’un rapport financier annuel</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Xavier GBANDI</cp:lastModifiedBy>
  <cp:revision>22</cp:revision>
  <dcterms:created xsi:type="dcterms:W3CDTF">2026-07-17T19:21:00Z</dcterms:created>
  <dcterms:modified xsi:type="dcterms:W3CDTF">2026-07-30T16:31:44Z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1036-12.1.0.27458</vt:lpwstr>
  </property>
  <property fmtid="{D5CDD505-2E9C-101B-9397-08002B2CF9AE}" pid="3" name="ICV">
    <vt:lpwstr>DA5AD8D80E2F47F58CD50CA50F7FB14F_12</vt:lpwstr>
  </property>
</Properties>
</file>